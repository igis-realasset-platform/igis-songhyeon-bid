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3조 달러 시대 이지스의 글로벌 도약과 IOTA 프로젝트 마스터플랜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Executive Summary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본 프레젠테이션 기획서는 이지스자산운용이 운용자산(AUM) 100조 원을 돌파하고 진정한 글로벌 탑티어 운용사로 도약하기 위한 로드맵을 구조화한 마스터플랜입니다. 본 전략의 궁극적인 목표는 한국 상업용 부동산 역사상 최대 규모인 7조 원 규모의 IOTA 서울 프로젝트 파이낸싱(PF)을 성공적으로 실행하고, 이를 지렛대 삼아 글로벌 LP 자본을 성공적으로 유치하는 데 있습니다. 이를 위해 본 프레젠테이션은 CEO 및 핵심 의사결정권자들을 위해 다음과 같은 4단계의 논리적 흐름(4-Part Logical Flow)을 제시합니다.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Part 1 역사적 분석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한국 경제가 1조 달러에서 2조 달러로 팽창하는 지난 20년간의 산업·자본시장 진화와 서울 프라임 오피스의 구조적 가치 상승을 데이터로 입증합니다.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Part 2 미래 시나리오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3조 달러 시대로 진입하는 향후 15년(2027~2040)의 거시경제, 인구 구조, 신성장 산업의 지형도를 예측하고 프라임 부동산의 임대료 수렴(Convergence) 논리를 도출합니다.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Part 3 이지스 전략 포지셔닝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데이터센터, 시니어 하우징, 프라임 융복합 개발이라는 3대 플랫폼에 AI 워크플로우를 접목하여 100조 AUM을 달성하기 위한 구체적 자본 및 운영 체계를 설계합니다.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Part 4 IOTA Seoul의 역할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전략의 실체인 IOTA 서울의 투자가치, 거버넌스 리스크, 자본 조달, 그리고 위기 상황 돌파를 위한 비상 대응책(Contingency Plan)을 제시하며, 당면한 핵심 과제를 12개월 타임라인으로 환산하여 즉각적인 행동을 촉구합니다.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Disclaimer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본 문서는 전략적 정보 제공 및 내부 기획을 목적으로 작성되었으며, 재무적, 법률적, 또는 전문적인 투자 자문을 구성하지 않습니다. 문서에 포함된 시장 전망, 수익률 추정치, 펀딩 목표 및 특정 기업/기관과 관련된 미래 예측 진술(Forward-looking statements)은 작성 시점의 거시경제 데이터와 분석을 바탕으로 한 시나리오이며, 실제 시장 상황, 금리 변동, 규제 변화 및 예기치 못한 리스크에 따라 크게 달라질 수 있습니다. 의사결정 시 반드시 개별적인 법무·회계·재무 실사(Due Diligence)를 거쳐야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Prologue.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본 고민의 전략적 위치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3조 달러 시대, 이지스자산운용의 전략적 좌표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한국 경제 1조 → 2조 → 3조 달러 궤적, 이지스자산운용은 어디에 서 있는가?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글로벌 운용사로의 도약 분기점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73조 원 AUM의 압도적 1위에서, Blackstone·Brookfield급 글로벌 플랫폼으로의 전환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IOTA 서울 프로젝트의 문명사적 의미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7조 원 규모 단일 PF 한국 상업용 부동산 역사상 최대의 트로피 자산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이지스 2030 마스터플랜의 4대 핵심 축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거시 경제, 산업 모멘텀, 자본 구조 혁신, 그리고 트로피 에셋의 융합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시대의 리듬과 이지스의 결단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역사적 변곡점마다 도시는 스스로를 재창조한다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Part 1.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한국 GDP 1조 → 2조 달러 시대 역사적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1.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1조 달러에서 2조 달러로 거시 좌표의 이동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1조 달러 시대의 개막과 담금질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2007년 KOSPI 2000 돌파와 금융위기를 극복한 1조 경제의 안착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마침내 도달할 GDP 2조 달러 고지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1조에서 2조 달러로 2배 성장, 대한민국의 20년 도약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10대 산업 듀얼 엔진의 위력과 양면성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중후장대와 신성장 산업의 결합, 그리고 심화된 단일 종목 종속성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2.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산업별 모멘텀 한국 1조→2조 달러를 만든 10대 엔진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AI 슈퍼사이클과 반도체의 독주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삼성·SK 하이닉스가 주도하는 GDP 성장의 절대적 중추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Samsung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매출 폭발적 확장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2007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100조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333조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GDP Share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22.4%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단일 그룹 종속성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HBM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SK Hynix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사상 최대 영업이익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2007 Rev.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8.6조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2025 Q-Profit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10조 원+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가장 결정적 엔진임. 삼성전자 매출은 2007년 약 100조 원에서 2025년 약 333조 원 으로 3배 이상 확대. : The most crucial engine. Samsung Electronics revenue expanded over 3x from ~$100T KRW in 2007 to ~$333T KRW in 2025. } ▪ {lang === 'kr' ? SK하이닉스는 2025년 사상 처음 분기 영업이익 10조 원 을 돌파하며 AI 슈퍼사이클의 가장 큰 수혜자가 됨. : SK Hynix surpassed 10T KRW in quarterly operating profit for the first time in 2025 , becoming the biggest beneficiary of the AI super cycle. } ▪ {lang === 'kr' ? 'Bloomberg는 2024년 삼성전자 단독으로 한국 GDP 성장의 약 절반을 설명한다고 분석함.' : 'Bloomberg analyzed that Samsung Electronics alone accounted for about half of Korea\'s GDP growth in 2024.'} ▪ {lang === 'kr' ? 삼성그룹 매출의 GDP 비중이 2007년 15%에서 2022년 22.4% 까지 상승하여 단일 그룹 매크로 종속성이 오히려 심화됨. : Samsung Group revenue to GDP ratio rose from 15% in 2007 to 22.4% in 2022 , deepening macroeconomic dependency on a single group.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모빌리티를 넘어선 자동차 산업의 진화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로봇과 AI 인프라로 비즈니스 영토를 전면 확장하는 현대차그룹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Auto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Global Top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4M 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7.23M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2007~2024 글로벌 판매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Robotics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UAM &amp; Droids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Boston Dynamics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인수 및 슈퍼널 설립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AI Infra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Data Center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NVIDIA Partner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AI 인프라 혁신(2026)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{lang === 'kr' ? 2007년 글로벌 판매 약 400만 대에서 2024년 약 723만 대 로 도요타·폭스바겐에 이은 글로벌 3위 그룹 으로 확립. : Established as the global 3rd largest group following Toyota and Volkswagen, from ~4M units in 2007 to ~7.23M units in 2024 . } ▪ {lang === 'kr' ? '전기차 전환에서 아이오닉·EV9 라인업으로 테슬라·BYD 다음 그룹에 안정적으로 안착함.' : 'Stably positioned in the group following Tesla and BYD with IONIQ and EV9 lineups in the EV transition.'} ▪ {lang === 'kr' ? '보스턴 다이내믹스 인수(2021) 및 슈퍼널(UAM) 설립으로 모빌리티의 경계를 허묾.' : 'Breaking mobility boundaries by acquiring Boston Dynamics (2021) and establishing Supernal (UAM).'} ▪ {lang === 'kr' ? NVIDIA 협력 AI 데이터센터 건립을 통해 자동차 ➔ 로봇 ➔ AI 인프라 까지 비즈니스 영역을 전면 확장 중. : Fully expanding business scope from Automobiles ➔ Robotics ➔ AI Infrastructure through NVIDIA-partnered AI data centers.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글로벌 패권 경쟁 속 조선업의 부활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MASGA 흐름을 올라탄 K-조선 빅3의 압도적 시장 지배력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K-조선 BIG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HD현대중공업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삼성중공업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한화오션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2025년 수출 증가율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+24.9%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반도체와 유일한 두 자릿수 성장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DOMINANCE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고부가가치선 점유율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60%+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LNG / Ammonia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Offshore Plants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미·중 패권 수혜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MASGA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Make American Shipbuilding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Great Again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HD현대중공업·삼성중공업·한화오션의 압도적 빅3 체제 . : Overwhelming Big 3 system of HD Hyundai Heavy Industries, Samsung Heavy Industries, and Hanwha Ocean. } ▪ {lang === 'kr' ? 2025년 한국 조선 수출은 전년 대비 24.9% 증가 하며, 반도체(+22.2%)와 함께 두 자릿수 성장을 기록한 유일한 업종임. : Korea\'s shipbuilding exports in 2025 increased 24.9% YoY , the only sector along with semiconductors (+22.2%) to record double-digit growth. } ▪ {lang === 'kr' ? LNG 운반선·암모니아 운반선·해양플랜트 등 고부가가치 선박에서 글로벌 점유율 60% 이상 을 차지함. : Occupies over 60% global market share in high value-added vessels like LNG/Ammonia carriers and offshore plants. } ▪ {lang === 'kr' ? 미·중 패권 경쟁이 촉발한 MASGA(Make American Shipbuilding Great Again) 흐름의 직접적 수혜 산업. : Direct beneficiary of the MASGA (Make American Shipbuilding Great Again) trend triggered by US-China hegemony competition.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구조적 한계에 봉착한 석유화학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중국 자급률 상승이 촉발한 전통 에너지 섹터의 다운사이클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2007 Era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정유 4강 체제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Innovation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Caltex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S-Oil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Hyundai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Oilbank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구조적 다운사이클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중국 자급률 상승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Mid 2020s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후반부\n성장 둔화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2007년에는 SK이노베이션·GS칼텍스·에쓰오일·현대오일뱅크 4강 이 명확히 시장을 주도함. : In 2007, the Big 4 (SK Innovation, GS Caltex, S-Oil, Hyundai Oilbank) clearly dominated the market. } ▪ {lang === 'kr' ? 그러나 2020년대 중반 들어 중국의 자급률 상승 으로 인해 구조적 다운사이클에 진입함. : However, entered a structural downcycle in the mid-2020s due to China's rising self-sufficiency . } ▪ 결과적으로 1조 ➔ 2조 달러 구간 후반부에는 상대적 둔화 섹터 로 분류해야 하는 상황임.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철강 산업의 생존을 위한 대전환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2차전지 소재 밸류체인으로의 피벗팅을 증명한 POSCO홀딩스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Traditional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STEEL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중국 과잉공급 마진 압박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PIVOTING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POSCO Holdings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Battery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Materials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양극재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리튬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{lang === 'kr' ? 철강(POSCO)은 1조 달러 시대 초입 한국 경제의 상징 이었으나, 중국의 과잉 공급으로 마진 압박에 직면함. : Steel (POSCO) was a symbol of the Korean economy in the early $1T era, but faced margin pressure from China's oversupply. } ▪ {lang === 'kr' ? 이러한 위기를 타개하기 위해 2차전지 소재(양극재·리튬 등) 밸류체인 으로 과감한 피벗팅(Pivoting)을 단행함. : To overcome this, executed a bold pivot to the secondary battery material (cathode, lithium, etc.) value chain . } ▪ {lang === 'kr' ? POSCO홀딩스의 진화는 1조 ➔ 2조 달러 구간에서 일어난 가장 대표적인 산업 전환 케이스 임. : The evolution of POSCO Holdings is the most representative industrial transition case in the $1T to $2T period. 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코리아 프리미엄을 낳은 K-콘텐츠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하이브, CJ ENM 등이 구축한 자본시장 리레이팅의 무형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자본시장 리레이팅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Korea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Premium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4대 엔터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HYBE(BTS)·SM·JYP·YG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CJ ENM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기생충 · 오징어 게임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Netflix 투자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$2.5B+ (2016~2025)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K-콘텐츠는 1조 ➔ 2조 달러 구간의 숨겨진 진주. HYBE 등 4대 엔터와 CJ ENM 이 글로벌 흥행을 주도함. : K-Content is the hidden gem of the $1T to $2T period. Big 4 agencies (e.g. HYBE) and CJ ENM lead global hits. } ▪ {lang === 'kr' ? 넷플릭스의 한국 콘텐츠 누적 투자(2016~2025)가 25억 달러 이상 을 기록하며 산업 파이를 키움. : Netflix's cumulative investment in Korean content (2016-2025) recorded over $2.5B , growing the industry pie. } ▪ {lang === 'kr' ? 명목 GDP 기여도는 1~2%대지만, 국가 브랜드 코리아 프리미엄(Korea Premium) 의 핵심 동력으로 작용함. : Nominal GDP contribution is ~1-2%, but acts as the core driver of the national brand Korea Premium . } ▪ {lang === 'kr' ? 과거 1980년대 일본 버블기 소니·세가가 구축한 J-Brand 프리미엄 과 유사한 거대한 무형 자산임. : A massive intangible asset similar to the J-Brand Premium built by Sony/Sega in the 1980s Japan bubble era. 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K-바이오 클러스터의 성공적 안착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1조 달러 초입에는 존재하지 않았던 CDMO 글로벌 1위의 탄생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2007 Era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산업 존재감 미미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Samsung Biologics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Global #1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CDMO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매출 4조+ / 시총 50조+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+ Celltrion Biosimilars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바이오/제약 산업은 1조 달러 시대 초입(2007년 경)에는 글로벌 존재감이 거의 없었던 새로운 산업 임. : Bio/Pharma was a new industry with almost no global presence in the early $1T era (around 2007). } ▪ {lang === 'kr' ? 현재 삼성바이오로직스는 CDMO(위탁개발생산) 분야 글로벌 1위 (매출 4조 원+, 시총 50조 원+)로 등극함. : Samsung Biologics is now Global #1 in CDMO (Revenue 4T KRW+, Market Cap 50T KRW+). } ▪ {lang === 'kr' ? 셀트리온의 바이오시밀러 글로벌 진출 등과 맞물려 K-바이오 클러스터 가 한국 경제의 신성장 동력으로 안착함. : Coupled with Celltrion's global biosimilar expansion, the K-Bio Cluster settled as Korea's new growth engine. 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2차전지 산업의 팽창과 숨고르기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국내 IPO 붐을 견인한 EV 배터리 시장의 구조적 조정기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점유율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LG Energy Solution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Samsung SDI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SK 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2020 IPO 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2024~2026 사이클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중국·미국 정책 변동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구조적 조정기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2차전지(LG엔솔·삼성SDI·SK온)는 2020년 국내 IPO 붐 을 만든 핵심 엔진임. : Secondary batteries (LG Energy Solution, Samsung SDI, SK On) were the core engines driving the 2020 domestic IPO boom . } ▪ {lang === 'kr' ? K-배터리 3사는 합계 글로벌 EV 배터리 점유율 20% 내외 를 안정적으로 확보함. : The Big 3 K-Battery makers stably secure a combined ~20% global EV battery market share . } ▪ {lang === 'kr' ? 다만 2024~2026년 사이 중국과 미국의 정책 변동 및 전기차 수요 둔화로 인해 사이클 조정기(숨고르기) 에 진입함. : However, entered a cycle adjustment phase (breather) due to US-China policy shifts and EV demand slowdown between 2024-2026. 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플랫폼 빅테크의 물류 지형 재편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네이버, 쿠팡 등 IT 플랫폼이 촉발한 국가급 물류 수요의 폭발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Naver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Cap 30T+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Kakao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Cap ~30T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Coupang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NYSE Cap 30T+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Rocket Delivery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Logistics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Real Estate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가장 큰 단일 변수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{lang === 'kr' ? 네이버, 카카오, 쿠팡 등 IT 플랫폼 빅테크 들은 각각 시총 30조 원 이상을 기록하며 거대 기업으로 성장함. : IT Platform Big Techs like Naver, Kakao, and Coupang grew into giant corporations, each exceeding 30T KRW in market cap. } ▪ {lang === 'kr' ? 네이버의 일본 LINE 야후 통합, 쿠팡의 로켓배송 전국화 등이 물류 지형을 근본적으로 재편 함. : Naver's integration with LINE Yahoo in Japan and Coupang's nationwide Rocket Delivery fundamentally reshaped the logistics landscape . } ▪ {lang === 'kr' ? 플랫폼이 촉발한 이커머스 혁명은 국내 물류 부동산 수요 폭발의 가장 큰 단일 변수 로 작용함. : The e-commerce revolution triggered by platforms acted as the largest single variable for the explosion in domestic logistics real estate demand .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지정학적 위기가 낳은 K-디펜스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글로벌 수출 폭발을 기록하며 급부상한 방위산업의 신데렐라 서사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Core Lineup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Hanwha / Rotem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K9 / K2 Tanks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KAI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FA-50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LIG Nex1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Cheongung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Global Export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Poland, UAE, MENA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2022 Record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$17.3B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사상 최고치 달성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지정학적 위기 고조로 폴란드·UAE·호주·중동 등에서 글로벌 방산 수출이 폭발함. : Heightened geopolitical crises triggered explosive global defense exports to Poland, UAE, Australia, and the Middle East . } ▪ {lang === 'kr' ? 2022년 한국 방산 수출은 173억 달러(약 23조 원)로 사상 최고치 를 기록함. : Korea's defense exports recorded an all-time high of $17.3B (~23T KRW) in 2022. } ▪ {lang === 'kr' ? 한화, LIG넥스원, KAI, 현대로템의 K2 전차·K9 자주포·FA-50·천궁 이 수출을 견인하는 핵심 라인업임. : K2 Tanks, K9 Howitzers, FA-50s, and Cheongung from Hanwha, LIG Nex1, KAI, and Hyundai Rotem are the core lineups driving exports. } ▪ {lang === 'kr' ? 1조 ➔ 2조 달러 구간 후반부에 급부상한 명실상부한 대한민국 산업의 신데렐라 섹터 임. : The undisputed Cinderella sector of Korean industry that rapidly emerged in the latter half of the $1T to $2T period. 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3.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자본시장 구조의 변화 KOSPI 2,000에서 5,000으로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박스피(Boxpi)를 뚫어낸 역사적 랠리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2007년 2,000선 돌파 이후 마침내 열린 KOSPI 5,000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2017 ~ 2024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BOXPI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1,800 - 2,400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코리아 디스카운트 고착화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2025.07 ~ 12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75.6% 폭등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2026.01.22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사상 처음 돌파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5,000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KOSPI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지수 1위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금융위기 이후 2017~2020년 장기 박스피(1,800~2,400) 에 갇히며 '코리아 디스카운트'가 고착화됨. : Entrenched 'Korea Discount' trapped in a long-term Boxpi (1,800-2,400) from 2017-2020 after the financial crisis. } ▪ {lang === 'kr' ? 2021년 3,000선 돌파 후 다시 박스권에 머물렀으나, 2025년 하반기 약 75.6% 폭등 하며 글로벌 지수 상승률 1위 기록. : After breaking 3,000 in 2021, returned to a box range, but surged ~75.6% in 2H 2025 , ranking 1st in global index growth. } ▪ {lang === 'kr' ? 랠리가 지속되며 2026년 1월 22일, 역사상 최초로 KOSPI 5,000선 을 돌파하는 기념비적 성과 달성. : As the rally continued, achieved a monumental milestone of breaking KOSPI 5,000 for the first time in history on Jan 22, 2026 . 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글로벌 IB들의 KOSPI 6,000 낙관론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메모리 슈퍼사이클과 조기 달성된 5,000 시대 공약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JP Morgan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Kospi 5000 on the Cards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6,000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풀불(Full Bull) 시나리오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Macquarie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2026 Target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6,000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메모리 슈퍼사이클 근거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NH &amp; HMC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2026 Domestic Target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5,500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국내 주요 증권사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JP모건, 맥쿼리 등 글로벌 IB , 메모리 슈퍼사이클을 근거로 2026년 KOSPI 목표를 최고 6,000선(Full Bull) 으로 상향 제시. : Global IBs like JP Morgan and Macquarie raised 2026 KOSPI targets up to 6,000 (Full Bull) citing the memory super cycle. } ▪ {lang === 'kr' ? NH투자·HMC증권 등 국내 주요 증권사 역시 5,500선을 목표치 로 상향 조정하며 강세장에 힘을 실음. : Major domestic securities firms like NH Investment and HMC Securities also raised targets to 5,500 , supporting the bull market. } ▪ {lang === 'kr' ? 현 정부의 '임기 내 KOSPI 5,000' 공약이 폭발적 랠리로 조기 달성 되며 자본시장의 새로운 국면 진입. : The current government's pledge of 'KOSPI 5,000 within term' was achieved early through an explosive rally , entering a new phase for capital markets. 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코리아 디스카운트의 구조적 종언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AI 수혜 노출과 밸류업 정책이 주도할 아시아 평균 밸류에이션 수렴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5대 핵심 동력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반도체 슈퍼사이클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HBM 공급 부족 현상 지속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외국인 대규모 유입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공매도 재개 이후 패시브/액티브 자금 회귀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정부의 친주주 정책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밸류업 프로그램 및 자본시장법 개정안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AI 수혜 노출도 1위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전 세계에서 AI 수혜에 가장 직결된 시장 인식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2026.05 밸류에이션 비교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KOSPI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13.2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x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PER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1.34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x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PBR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VS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Asia Avg.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16.1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x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PER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2.15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x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PBR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핵심 상승 동력은 HBM 부족 현상 지속, 외국인 자금 회귀, 강력한 밸류업 정책 및 자본시장법 개정 . : Core drivers include persistent HBM shortage, return of foreign capital, strong Value-up policies, and Capital Markets Act revisions . } ▪ {lang === 'kr' ? 무엇보다 KOSPI가 글로벌 AI 밸류체인의 핵심 수혜 시장 이라는 외국인 투자자의 확고한 인식이 결정적 작용. : Above all, foreign investors' firm perception that KOSPI is the core beneficiary market of the global AI value chain played a decisive role. } ▪ {lang === 'kr' ? PER 13.2배로 상승했으나 아시아 평균 대비 여전히 저평가 상태. 향후 5년 내 "코리아 디스카운트"의 완전한 해소 전망 . : PER rose to 13.2x but remains undervalued compared to Asian averages. Expect complete resolution of the "Korea Discount" within 5 years . 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4.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서울 오피스 시장 진화 CBD·GBD·YBD 3축에서 +MBD·BBD 5축으로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3대 핵심 권역(CBD/GBD/YBD)의 골격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SFC부터 파크원까지 트로피 자산이 주도한 권역별 랜드마크 진화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도심권역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광화문·시청·종로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SFC (2002)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종로타워 / 그랑서울 (2014)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D타워 (2017) / 센트로폴리스 (2018)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강남권역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테헤란로 라인 핵심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GFC (2001)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파르나스타워 (2016)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캐피탈타워 (1998)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여의도권역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두 번의 거대한 변곡점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IFC 서울 (2012)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파크원 Parc1 (2020)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2007년 서울 오피스 시장은 CBD(광화문·시청·종로) 중심이었으며, SFC부터 센트로폴리스까지 핵심 랜드마크가 골격을 형성. : In 2007, Seoul's office market was centered around CBD (Gwanghwamun/City Hall/Jongno) , with core landmarks from SFC to Centropolis forming the framework. } ▪ {lang === 'kr' ? GBD(강남) 는 GFC와 파르나스타워 등 테헤란로 중심, YBD(여의도) 는 IFC와 파크원으로 거대한 변곡점을 맞이함. : GBD (Gangnam) centered around Teheran-ro with GFC and Parnas Tower, while YBD (Yeouido) reached massive inflection points with IFC and Parc1. 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MBD(마곡)와 BBD(판교)의 급부상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R&amp;D 테크 자본 집중으로 다극화된 서울 오피스 5대 권역 재편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마곡권역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R&amp;D 융복합 클러스터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LG사이언스파크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코오롱 One&amp;Only타워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분당·판교권역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한국의 실리콘밸리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판교테크노밸리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알파돔시티 / K-스퀘어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2010년대 중반 이후 MBD(마곡) 가 LG사이언스파크 등 거대 R&amp;D 자본을 흡수하며 융복합 클러스터로 형성됨. : Since the mid-2010s, MBD (Magok) formed into a convergence cluster by absorbing massive R&amp;D capital like LG Science Park. } ▪ {lang === 'kr' ? BBD(분당·판교) 는 IT·테크 기업의 폭발적 성장과 함께 알파돔시티 등으로 대규모 확장. : BBD (Bundang/Pangyo) underwent massive expansion through Alpha Dome City along with the explosive growth of IT/Tech companies. } ▪ {lang === 'kr' ? 결과적으로 1조→2조 달러 구간 동안 서울 오피스 시장은 전통 3대 권역에서 5대 권역으로 다극화 되며 질적 성장을 이룸. : Consequently, during the $1T to $2T period, Seoul's office market achieved qualitative growth by multipolarizing from 3 traditional axes to 5 axes . 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자연 공실률 하한선 돌파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코로나 이후의 급반등, 사실상 완전 임차에 도달하다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2007~2010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금융위기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8~10%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2013~2015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대형 공급(YBD)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18% 상승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2018~2019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점진적 안정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2020~2021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코로나 시기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일시 상승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2022~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급격히 하락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CBRE 2025년 3분기 기준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서울 Grade-A 오피스 평균 공실률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3.1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Full Occupancy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1.5%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3.6%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4.1%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2007~2010년 글로벌 금융위기로 8~10%대, 2013~2015년 대형 공급(IFC 등)으로 YBD 일시 18%까지 상승. : Rose to 8-10% during the 07-10 Global Financial Crisis, and YBD temporarily spiked to 18% due to large supplies (e.g. IFC) during 13-15. } ▪ {lang === 'kr' ? 2020~2021년 코로나 시기 일시 상승 후 2022년부터 급락, 2025년 서울 Grade-A 공실률은 3.1% 기록. : After a temporary rise during the 20-21 COVID period, plummeted since 2022, recording a 3.1% Grade-A vacancy rate in Seoul in 2025 . } ▪ {lang === 'kr' ? 1조→2조 달러 구간 종료 시점, 서울 프라임 오피스는 사실상 자연 공실률을 하회하는 완전 임차 상태 도달. : At the end of the $1T to $2T period, Seoul prime offices practically reached a fully leased state below the natural vacancy rate . 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도쿄와의 격차, 그리고 수렴의 법칙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누적 50% 상승에도 여전히 2배 높은 마루노우치가 제시하는 상승 여력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Seoul Prime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2025년 3분기 평균 명목임대료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13.2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/평·월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'2007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+50%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Gap-to-Tokyo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여전히 50% 이상 격차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Tokyo Marunouchi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프라임 임대료 (환산)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$+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/sqft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서울의 약 2배 수준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서울 프라임 명목임대료는 2007년 9만 원에서 2025년 3분기 13.2만 원 으로 18년간 누적 50% 상승. : Seoul prime nominal rent rose from 90K KRW in 2007 to 132K KRW in Q3 2025 , a cumulative 50% increase over 18 years. } ▪ {lang === 'kr' ? 그러나 도쿄 마루노우치 프라임 임대료는 약 200달러대까지 상승하며 서울의 약 2배 수준을 여전히 유지 . : However, Tokyo Marunouchi prime rents rose to the $200 range, still maintaining roughly double the level of Seoul . } ▪ {lang === 'kr' ? 이는 글로벌 갭(gap-to-Tokyo)이 여전히 50% 이상 남아있음을 의미하며, 향후 트로피 자산의 Rent Re-pricing 정량적 근거 가 됨. : This means the global gap (gap-to-Tokyo) remains over 50%, serving as the quantitative basis for future Rent Re-pricing of trophy assets . 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연간 거래량 30조 시대와 자본의 회귀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금리 인하 기대 속 외국인 유동성의 대규모 진입과 캡레이트 압축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2025년 서울 상업용 부동산 거래량 (예상)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2021 (저금리기)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21조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22조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2025 연말 (예상)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30조 원 돌파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2025 하반기 캡레이트 압축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4.2~4.5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2021 (저점)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3.5~4.0%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2023~2024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4.5~5.0%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외국인 자본 회귀 본격화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Q3 2025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Aberdeen, BentallGreenOak, PAG 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{lang === 'kr' ? 2025년 거래량은 9월 누적 25조 원을 기록, 연말 30조 원 돌파 예상 으로 과거 저금리기의 21조 원 기록을 크게 경신. : 2025 transaction volume hit 25T KRW by Sep, expected to break 30T KRW by year-end , shattering the 21T KRW record of the low-rate era. } ▪ {lang === 'kr' ? 캡레이트는 2023~2024년 4.5~5.0%에서 금리 인하 기대로 4.2~4.5%로 다시 압축 중. : Cap rates are compressing again to 4.2-4.5% on rate cut expectations from 4.5-5.0% in 2023-2024. } ▪ {lang === 'kr' ? Aberdeen, BentallGreenOak, PAG 등 외국인 자본 회귀가 본격화된 시점이 2025년 3분기 임. : Q3 2025 marks the full-scale return of foreign capital including Aberdeen, BentallGreenOak, and PAG.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5.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산업/물류 부동산 쿠팡 효과와 데이터센터의 부상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단일 임차인이 창조한 쿠팡 이펙트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수도권 외곽을 물류 허브로 둔갑시킨 국가급 라스트마일 네트워크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쿠팡 매출 폭발적 성장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2014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40배 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42조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최초의 국가급 물류 수요 창출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초대형 물류 허브 벨트 완성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콜드체인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라스트마일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풀필먼트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물류센터 공급 과잉의 소화와 정상화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신규공급 감소되며 정상화 진행중, 안성의 신규 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수도권 Grade-A 공실률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23~24 (과잉공급)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23%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2025 (공급 68%↓)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19~20%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정상화 국면 진입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&amp;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권역별 지형도 변화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안성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수도권 3대 물류권역 급부상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이천·용인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콜드체인 거점화 강세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공실률 피크아웃 : 과잉 공급으로 23%까지 치솟았던 공실률이 19~20%대로 하향 안정화 진행 : Vacancy Rate Peak-out : Vacancy rates that spiked to 23% due to oversupply are stabilizing downwards to 19-20%. } ▪ {lang === 'kr' ? 신규 공급 급감 : 2025년 예정된 신규 공급이 전년 대비 약 68% 감소하며 시장 정상화 가속 : New Supply Plunge : Planned new supply in 2025 dropped ~68% YoY, accelerating market normalization. } ▪ {lang === 'kr' ? 지형도 재편 : 안성이 3대 핵심 물류권역으로 도약했으며, 이천·용인은 콜드체인 거점 굳히기 돌입 : Landscape Reshaping : Anseong leaped into the Top 3 logistics regions, while Icheon/Yongin solidified as cold chain hubs. 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전력 병목이 낳은 데이터센터의 희소성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DC는 급격한 성장이 예상되지만 수도권 병목이 구조적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 데이터센터 IT 용량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CAGR 26.3%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1.96GW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(2025)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6.32GW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(2030)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* Mordor Intelligence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극심한 신규 공급 병목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서울/판교 핵심 권역 공실률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6%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미만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전력 인입 물리적 대기 시간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최소 5년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이지스 선제적 포지셔닝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병목을 뚫은 압도적 자산 확보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분당 Hostway IDC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북미 13개 IDC 포트폴리오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총 187MW 확보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{lang === 'kr' ? 폭발적 수요 성장 : 한국 IT 용량은 2030년까지 연평균 26.3% 고성장 전망 : Explosive Demand Growth : Korea's IT capacity is projected to grow at a high 26.3% CAGR until 2030. } ▪ {lang === 'kr' ? 구조적 공급 병목 : 서울/판교 공실률 6% 미만, 전력 인입 5년 대기로 신규 공급이 막힌 상태 : Structural Supply Bottleneck : Seoul/Pangyo vacancy under 6%, new supply blocked by 5-year wait for power connection. } ▪ {lang === 'kr' ? 압도적 선점 효과 : 187MW 규모의 우량 데이터센터를 선제 편입하여 공급 병목의 최대 수혜자로 등극 : Overwhelming Preemption Effect : Preemptively incorporated 187MW of prime data centers, becoming the biggest beneficiary of the supply bottleneck. 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6.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2007~2026 트로피 자산의 계보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트로피 자산 계보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2002년 SFC에서 2032년 IOTA 서울에 이르기까지의 트로피 시계열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1조→2조 달러 구간의 역사 : 서울의 주요 거점을 중심으로 글로벌 자본을 유입시킨 트로피 랜드마크들이 시계열적으로 등장 : History of $1T to $2T Period : Trophy landmarks that attracted global capital emerged chronologically across Seoul's major hubs. } ▪ {lang === 'kr' ? 권역별 거점 구축 : 2000년대 초반 원조 트로피(SFC/GFC)에서 시작해 IFC, 롯데월드타워, 파크원 등 메가 콤플렉스로 진화 : Regional Hub Construction : Evolved from early 2000s original trophies (SFC/GFC) to mega complexes like IFC, Lotte World Tower, and Parc1. } ▪ {lang === 'kr' ? 차세대 트로피 공급 : 2025년 이후 ONE CENTINEL 및 IOTA Seoul(2032) 등 신규 랜드마크 공급 예정 : Next-Gen Trophy Supply : New landmarks like ONE CENTINEL and IOTA Seoul (2032) scheduled for supply after 2025. 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IFC 서울이 남긴 글로벌 자본 유입의 유산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외인 자본 유치로 4.1조 퀀텀 점프한 IFC 모델을 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IFC 서울 자산 가치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2012년 준공 당시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9,500억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4배 이상 상승 (글로벌 LP 유입)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2022년 매각 시 (브룩필드)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4.1조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 Seoul의 명시적 포지셔닝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"IFC에 이어 한국 상업용 부동산 시장을 대표하는 새로운 트로피에셋"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상징적 가치 점프 : IFC 서울은 글로벌 LP 자본을 한국으로 유입시키며 가치가 4배 이상 폭발적으로 성장한 대표적 성공 모델 : Symbolic Value Jump : IFC Seoul is a prime success model where value exploded over 4x by bringing global LP capital into Korea. } ▪ {lang === 'kr' ? 트로피 계승의 선언 : 이지스자산운용은 IOTA Seoul을 통해 이 거대한 IFC 모델을 두 번째이자 더욱 압도적인 규모로 재현하고자 함 : Declaration of Trophy Succession : IGIS Asset Management aims to recreate this massive IFC model on a second, even more overwhelming scale through IOTA Seoul. 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Part 2.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한국 GDP 2조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3조 달러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2027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 시나리오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1.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Base · Bull · Bear 3개 시나리오 프레임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시나리오 핵심 변수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한국 GDP 3조 달러 달성을 좌우하는 4대 프레임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Base Scenario (확률 50%)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IMF·OECD·KDI 공통 컨센서스 기반 표준 성장 궤도 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2030년 예상 GDP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2.2 ~ 2.4조 달러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3조 달러 도달 시점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2037 ~ 2038년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핵심 전제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실질성장률 연 1.5~2.0%, 인플레 2~3% 유지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환율 KRW/USD 1,200~1,300 박스권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AI 생산성 향상(0.3~0.5%p 상향)으로 인구 감소 상쇄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Bull Scenario (확률 30%)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고급제조 + 콘텐츠 + 금융 "동아시아 스위스" 모델 재포지셔닝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2030년 예상 GDP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2.5 ~ 2.7조 달러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3조 달러 도달 시점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2034 ~ 2035년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핵심 전제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HBM/AI 인프라 패권 유지 및 대규모 외인 자본 유입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환율 KRW/USD 1,000~1,150 (원화 강세)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K-콘텐츠, K-방산, K-원전, K-조선 슈퍼사이클 진입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Bear Scenario (확률 20%)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지정학적 갈등 및 구조적 모순 심화에 따른 일본식 "잃어버린 10년" 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2030년 예상 GDP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2.0 ~ 2.1조 달러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3조 달러 도달 시점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2042년 이후 (또는 미달)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핵심 전제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2024년 정점 이후 가파른 인구 감소 (인구 절벽)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미·중 디커플링 심화 및 중국 반도체 자급 가속화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가계부채 누적 및 부동산 PF 부실 재발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미래 시나리오 종합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한국 GDP 3조 달러 도달 시나리오별 핵심 지표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Base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확률 50%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2030년 예상 GDP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2.2 ~ 2.4조 달러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3조 달러 도달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2037 ~ 2038년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핵심 전제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기관 컨센서스(IMF 등) 수렴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실질성장률 연 1.5~2.0% 유지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AI 향상이 인구 감소 효과 상쇄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확률 30%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2030년 예상 GDP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2.5 ~ 2.7조 달러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3조 달러 도달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2034 ~ 2035년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핵심 전제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"동아시아 스위스" 모델 안착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주력 산업 글로벌 슈퍼사이클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대규모 외국인 자본 유입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확률 20%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2030년 예상 GDP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2.0 ~ 2.1조 달러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3조 달러 도달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2042년 이후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핵심 전제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일본식 "잃어버린 10년" 진입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가파른 인구 절벽 현실화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•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미·중 디커플링 및 PF 부실 심화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2.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핵심 산업 모멘텀 시나리오별 전망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2.1 AI 반도체 / HBM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Base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Base 케이스에서도 한국이 HBM 글로벌 점유율 70%+ 유지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시 SK하이닉스·삼성전자 합산 영업이익이 2026년 200조 원 → 2030년 300~350조 원 도달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시 마이크론·CXMT 추격으로 점유율 50%대로 하락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AI 데이터센터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Base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Stock Farm Road(3GW), SK-AWS 확장, 삼성 2,300억 달러 등 거대 파이프라인 집중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단일 산업으로 GDP 10% 기여 목표라는 정부의 명시적 정책 의지 반영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전력 수급 한계 극복 여부가 최상의 Bull 시나리오 달성을 위한 핵심 트리거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로봇 / 휴머노이드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Base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현대차그룹, 삼성전자, 두산로보틱스가 주도하는 차세대 폼팩터 경쟁 심화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인간의 노동력을 대체하고 물리적 공간의 표준을 완전히 재정의할 거대 산업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2030~2035년 사이가 상용화의 진정한 Commercial Inflection Point로 작용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바이오 융합 / 장수의학 / 세포·유전자치료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Base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삼성바이오로직스 등 핵심 기업 매출 컨센서스 상향 및 K-바이오 글로벌 확장 가속화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세포 및 유전자 치료 CDMO에서 글로벌 두 자릿수 점유율을 차지할 수 있는 잠재력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매출 10조 시대를 여는 생산 역량이 창출할 거대한 연구시설 및 공장 부동산 실수요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방산·우주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Base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KAI, 한화, KARI가 주도하는 K-방산과 우주 산업의 구조적 퀀텀 점프 기대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1조 달러대 거대 글로벌 시장에서 지정학적 갈등을 기회로 삼는 새로운 신데렐라 산업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미·중 패권 경쟁 및 유라시아 긴장 국면이 오히려 수출의 장기 슈퍼사이클을 지지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K-콘텐츠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Base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HYBE, SM, CJ ENM 주도의 라이브 비주얼, IP 비즈니스, 게임 산업의 동반 팽창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음악(K-pop) 단일 장르를 넘어 Game, Film, Animation, Fashion 등 문화 영토 다변화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1조 달러대 K-pop 시장이 3조 달러대 거대 무형자산 제국으로 진화하는 변곡점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양자 / 수소 / 우주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Base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양자 컴퓨팅, 수소, 우주 등 딥테크 인프라의 파괴적 미래 잠재력에 선제적 대비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신산업 특성상 단기적인 거시 경제 기여도는 낮으나 장기적 파급력은 예측 불허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거시 경제의 지정학 및 기술 불확실성을 방어할 국가 차원의 필수적인 \'옵션 가치\'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시니어 케어 경제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Base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Bear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한국 시니어 하우징 침투율은 0.6%로 미국(11%), 호주(6%) 대비 극도로 저개발된 블루오션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전체 시니어 하우징 시장 규모는 2020년 72조 원에서 2030년 168조 원으로 폭발적 성장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 KB골든라이프케어 협력 실버타운 출시(국내 운용사 최초 펀드 통한 실버타운 공급)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Warburg Pincus·Invesco 한국 시니어 시장 진입(2026 발표)이 시작점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3.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인구·구조적 변수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혹독한 인구 다이어트의 시작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2024년 5,175만 정점 통과 후 직면할 가파른 국가 규모 축소의 현실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6,000만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4,000만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2,000만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5,175만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2024 (정점)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4,734만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4,300만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2050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3,664만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2060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1,100~3,000만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2100 (추정)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통계청·UN 중위 변동치 기준 2024년 5,175만 명 정점 이후 본격적인 감소 진입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2040년 약 4,734만 명, 2050년 약 4,300만 명, 2060년 3,664만 명으로 가파른 축소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Bayesian 확률 추정 기준 2100년에는 1,100만~3,000만 명 사이로 국가 규모 축소 불가피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생산 인구 35% 증발의 충격파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2035년 고령 비중 30% 돌파가 몰고 올 잠재성장률 하방 압력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고령 인구(65세 이상) 비중 급증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33%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생산가능인구(15~64세) 증발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3,738만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2020년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📉 -35%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2,419만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2050년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65세 이상 고령자 비중은 2025년 20%로 초고령사회 진입 후 2035년 30%를 돌파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생산가능인구(15~64세)는 2020년 3,738만 명에서 2050년 2,419만 명으로 약 35% 증발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극단적인 부양비 증가와 노동력 부족으로 거시 경제의 잠재성장률 하방 압력 가중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인구 역설이 창출할 자본의 대이동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가계 자산의 유동화가 열어젖힐 자산운용 및 시니어 하우징 수요의 빅뱅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인구 감소의 역설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가계 자산의 대규모 유동화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부동산 및 금융 자산 처분 가속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자산운용 산업으로의 폭발적 자본 이전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시니어 하우징 및 헬스케어 수요 빅뱅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'💡 글로벌 벤치마크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'거시 양면성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가계의 부동산·금융 자산 처분이 자산운용 산업으로 이전되며 거대한 자본 대이동 발생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일본이 잃어버린 30년에도 자산운용·시니어 케어·인바운드 관광에서 새 시장을 만들어낸 패턴과 유사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이민자 수용 및 AI로 방어하는 펀더멘털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외국인 10% 비중 확대와 기술적 생산성 상쇄를 통한 거시 연착륙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잠재성장률 하방 압력을 방어하기 위한 2대 핵심 전략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Strategy 01. 이민자 수용 확대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4.5%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2040년 목표 (싱가포르 모델 차용)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Strategy 02. AI 기술 상쇄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0.5~1.0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%p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생산성 향상을 통한 경제 방어 효과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한국 이민자 비중은 약 4.5% 수준이나, Bull 시나리오는 2040년 10%까지 끌어올리는 정책 전환을 전제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이는 싱가포르 모델(외국인 비중 30%+)을 부분 차용하여 노동력 감소를 적극 방어하는 전략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AI 기술 도입(BCG·McKinsey 보고서)으로 인한 생산성 향상이 인구 감소 효과를 최대 1.0%p 상쇄 가능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4.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서울 오피스 시장 2030~2040 전망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7축 메가 권역으로의 팽창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YSBD(용산/서울역)와 KBD(삼성/잠실)가 주도하는 권역 지도의 재편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기존 5축 권역 구조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MBD (마곡)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BBD (분당·판교)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진화된 7축 메가 권역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신규 메가 거점 편입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YSBD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(용산·서울역)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KBD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(삼성·잠실)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기존 5축 권역 병존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향후 15년간 가장 큰 구조 변화는 YSBD(용산역 + 서울역 IOTA 일대) 신규 권역의 등장과 GBD 동쪽 확장(GBC·잠실MICE·환승센터)임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기존 3대 핵심축(CBD, GBD, YBD)과 2대 확장축(MBD, BBD)에 2개의 신규 초대형 거점이 편입되며 7축 구조로 진화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Base 시나리오 임대료 전망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2040년 평당 34만 원을 돌파할 신규 트로피 자산(IOTA·GBC)의 프라이싱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2030년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2035년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CBD 프라임 평균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17~18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21~23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25~28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GBD 프라임 평균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18~20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24~27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30~34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IOTA 서울 트로피 오피스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23~26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USD 130~160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/sqft/yr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도쿄 수준의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65~80%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CBD 프라임은 2030년 약 17~18만 원에서 2040년 25~28만 원으로 상승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GBD 프라임은 2030년 약 18~20만 원에서 2040년 30~34만 원까지 수직 상승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IOTA 및 GBC 등 신규 트로피 자산은 도쿄 마루노우치(USD 200/sqft) 대비 65~80% 수준으로 수렴하며 압도적 프라이싱 형성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Bull 시나리오의 도쿄 마루노우치 수렴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평당 50만 원 시대, 글로벌 1선 도시의 핵심부와 어깨를 나란히 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IOTA·GBC 신규 트로피 자산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50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만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/ 평·월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환산 시 USD 200/sqft 돌파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Global Benchmark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글로벌 최고 수준 핵심 권역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도쿄 마루노우치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글로벌 1선 도시 코어 오피스와의 임대료 디커플링(Decoupling) 완전 해소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가장 낙관적인 Bull 시나리오 발동 시, GBD 프라임은 2040년 38~42만 원 수준 도달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IOTA 및 GBC 트로피 자산은 2035년 35만 원을 거쳐 2040년 45~50만 원/평·월 시대 개막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이는 도쿄 마루노우치 코어 오피스의 상징적 저항선인 USD 200/sqft와 완전히 수렴하는 역사적 분기점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극단적 양극화를 방어하는 트로피 자산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Bear 국면에서도 프리미엄을 사수할 신규 랜드마크의 탁월한 자산 방어력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2030년 정점 이후 인구·기업 통폐합 쇼크 (Bear Scenario)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가치 약세 및 횡보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일반 등급 클래스(Class B) 공실 누적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CBD 일부 노후 자산 임대료 약세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Safe Haven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🛡️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절대적 방어력 (프리미엄 사수)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IOTA · GBC 신규 트로피 자산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거시 하방 충격에도 GBD·삼성동 코어 수요 집중으로 견고한 가격 유지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Bear 시나리오 발동 시 2030년 정점 이후 인구 및 기업 본사 통폐합으로 전체 시장 임대료 횡보세 진입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CBD 일부 자산은 노후화와 수요 이탈로 약세를 보이며 극단적 양극화 현상 심화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반면 IOTA 등 삼성동 신규 랜드마크는 핵심 코어 자산으로서 자본의 \'안전 도피처(Safe Haven)\' 역할을 수행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공실률 전망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노후 자산의 도태 속에서 오직 프라임 등급만이 향유할 4% 이내 완전 임차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최상위 프라임 등급 (Trophy)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공실률 4% 이내 유지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▶ 완전 임차(Full Occupancy) 달성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서울 권역 평균 (Base 시나리오)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2035년 이후 6~8% 도달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▶ 인구 감소 충격 반영 (완충 구간)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일반 오피스 &amp; 노후 자산 (Class B 이하)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10%+ 의미 있는 심각한 공실 발생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▶ 자산 도태 가속화 (Flight-to-Quality)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권역 평균 공실률은 Base 시 2030년 5~7%, 2035년 이후 인구 감소가 반영되며 6~8%로 상승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Bear 시나리오 발동 시 권역 평균 10% 이상 도달 및 Class B 이하 노후 자산의 급격한 도태 우려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그러나 프라임 등급은 \'Flight-to-Quality\' 쏠림 현상으로 4% 이내의 완전 임차 상태를 구조적으로 향유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5.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산업/물류 부동산 2030~2040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데이터센터 수요 폭발과 분산화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전력인입 제약으로 지방 분산가속, 단일 부동산 카테고리로 향후 15년간 가장 큰 자본 흡수 예상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 데이터센터 전력 수요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6.3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GW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2030년 (Base)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GW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2035년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18~22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GW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수도권 전력 인입 제약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성장의 구조적 병목 (Bottleneck) 발생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지방 거점 분산 가속화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전남 · 경북 · 강원 중심의 신규 클러스터 조성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 데이터센터 수요는 2030년 6.3GW에서 2040년 최대 22GW까지 3.5배 이상 폭발적 성장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수도권 전력망 한계가 구조적 제약으로 작용하며, 풍부한 전력 확보가 가능한 지방으로의 입지 분산 필연적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결과적으로 데이터센터는 단일 산업 부동산 카테고리로서 향후 15년간 가장 거대한 자본을 흡수할 섹터로 부상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시니어 하우징 메가 트렌드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300조 원 거대 시장을 장악할 한국형 시니어 REIT 모델의 탄생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Market Cap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2030년 168조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↓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2040년 시장 규모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조 원+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침투율 0.6% ➔ 3~5% 확장 시 신규 공급 50만 호 이상 필요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이지스 시니어 플랫폼의 비전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블랙스톤 BREIT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압도적 펀딩·스케일업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미국 Welltower 모델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헬스케어·운영 전문성 결합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↓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한국형 압도적 시니어 REIT 모델 진화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 시니어 하우징 시장은 2030년 168조 원에서 2040년 300조 원 이상으로 폭발적 성장이 확정된 메가 섹터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현재 0.6%에 불과한 침투율이 글로벌 평균인 3~5% 수준으로 오를 경우 최소 50만 호의 신규 공급 필요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이지스는 블랙스톤(BREIT)의 자본력과 웰타워(Welltower)의 운영 전문성을 결합한 거대 시니어 REIT로 시장 장악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생명과학 및 콜드체인 물류 생태계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생명과학 클러스터와 콜드체인 제약 물류가 결합하는 신규 거점의 안착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생명과학 클러스터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송도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판교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마곡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K-바이오 클러스터 특화 부동산이 독립적인 우량 신규 카테고리로 안착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❄️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콜드체인 · 제약 물류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인구 고령화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바이오 직배송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의약품 수요 증가와 맞물려 특수 온도 제어 물류 수요의 지속적 성장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송도, 판교, 마곡 등 주요 거점을 중심으로 한 \'생명과학 클러스터\'가 새로운 핵심 카테고리로 부상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인구 고령화 및 바이오/의약품 직배송 트렌드와 결합하여 콜드체인(특수 제어) 물류 인프라 수요 급증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연구개발 거점과 특수 물류 인프라가 시너지를 내며 K-바이오 특화 밸류체인 부동산 완성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Grade-A 물류센터의 패러다임 전환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모든 신규 대형 물류센터의 절대적 설계 표준 로봇·AMR 친화형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Industry Leaders 주도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쿠팡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CJ대한통운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네이버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LG CNS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로봇 · AMR 친화 설계 (Robot-Friendly)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초평탄 바닥 구조 및 하중 강화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물류 로봇 전용 동선 최적화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고전력 인입 및 5G 통신망 완비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향후 모든 신규 Grade-A 물류센터의 절대적 표준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쿠팡, CJ대한통운, 네이버, LG CNS 등 물류 및 IT 거인들이 전면적인 자동화를 시장의 벤치마크로 주도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바닥 평탄도, 로봇 전용 통신/전력망, 하중 등 로봇(AMR/AGV) 운영에 최적화된 하드웨어 스펙 필수 요구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단순 창고를 넘어선 \'자동화 설비의 플랫폼\'으로서 로봇 친화 설계가 우량 물류센터의 생존 조건으로 정착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6.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트로피자산 파이프라인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GBD의 신규 절대 좌표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IOTA 서울 &amp; 현대차 GBC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🏛️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 서울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(2032 준공예정)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본 보고서의 핵심 대상이자, 트로피 자산의 새로운 기준점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🏗️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현대차 GBC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(삼성동, 2029~2030 준공 예정)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3개 54층 타워로 전면 재설계 확정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총사업비 약 4조 원 달하는 초대형 메가 프로젝트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현대차 자체 사용 및 일부 프라임 오피스 임대 병행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서울 메가 프로젝트 파이프라인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주요 도심에서 전개되는 차세대 트로피 공급망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🚆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용산국제업무지구 (YIBD)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코레일·서울시 마스터플랜 재가동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2027~2035년 단계적 개발 본격화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글로벌 거대 자본이 신규 진입할 핵심 무대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🏦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여의도 재개발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금융허브 스카이라인을 재편하는 트로피 사이클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한국거래소 부지 일대 대규모 재건축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옛 MBC 부지 및 사학연금 부지 등 코어 에셋 개발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🏟️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잠실 MICE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스포츠·마이스 복합 공간 조성 사업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한화 컨소시엄 주도, 약 6조 원 규모의 초대형 민자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강남권역 동진(Eastward) 트렌드를 가속화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외국인 자본의 트로피 매입 사이클 진입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한국판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1996~2000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IMF 외환위기 시대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자산 헐값 매각 (Fire Sale)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거시 경제의 붕괴로 인해 생존을 위해 알짜 자산과 빌딩들을 외국계 자본에 헐값으로 넘겨야 했던 시기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Reversal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2025~2030 (Now)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첫 프리미엄 매입 사이클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글로벌 자본의 핵심 트렌드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과거와 정반대로, 이제는 프리미엄 가격을 지불하고서라도 한국의 트로피 자산을 매입하려는 글로벌 펀드들의 본격 진입기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2025년 Aberdeen Pacific Tower, BentallGreenOak Tower 730, PAG·Koramco Digital Dream Tower 등 실사례 다수 포진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이는 1980년대 막강한 현금력을 바탕으로 미국 록펠러센터·Pebble Beach를 매입하던 일본 자본 사이클의 한국판 Reversal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7.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KOSPI 시나리오별 전망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KOSPI 10,000을 향한 Base 우상향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이익 성장과 밸류업이 창출할 자본시장의 거대한 체력 증진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5,500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~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6,500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7,500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~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9,000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2040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9,000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~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11,000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Korea Premium 진입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'PER 13배 디스카운트 해소 및 2040년 KOSPI 9,000~11,000 도달. 코리아 프리미엄 진입을 위한 안정적 Base 성장 모델' : 'Resolution of PER 13x discount and reaching KOSPI 9,000-11,000 by 2040. Stable Base growth model for entering Korea Premium.'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'전제 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'전제 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'Bull 시나리오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싱가포르·홍콩급 금융 허브로 도약하는 압도적 스케일업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7,000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~8,500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11,000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~13,000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Quantum Jump 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2040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15,000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~18,000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Market Deepening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시총 GDP 200% 달성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삼성전자 시총 2,000조+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SK하이닉스 시총 1,000조+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현재 110% 수준에서 폭발적 확장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'삼성전자 2천 조 원 시대 도래와 함께 1만 5천~1만 8천 선까지 폭주, 전체 시장 시총이 GDP 대비 200%에 달하는 폭발적 딥 마켓(Deep Market) 구축 전망' : 'Surge to 15,000-18,000 with the advent of the 2,000T KRW Samsung Electronics era, building an explosive Deep Market where total market cap reaches 200% of GDP.'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'Bear 시나리오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일본식 박스피에 짓눌린 인구 절벽 늪에서의 자본 이탈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Long-term Box Range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4,500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~5,200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Trap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4,500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~6,000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2040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5,500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~7,000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리스크 경고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lang === 'kr' ? '인구 충격과 지정학의 덫에 빠질 경우 KOSPI가 4천~6천 대 긴 박스권에 체류하며 밸류에이션 붕괴와 지독한 디플레 압력을 받을 리스크 경고' : 'Warning of risks where KOSPI stays in a long 4,000-6,000 box range, suffering valuation collapse and severe deflationary pressure if caught in demographic shocks and geopolitical traps.'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일본식 디플레 압력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인구 충격 동반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KOSPI 상승이 촉발할 부동산 리레이팅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주식 PER 팽창이 트로피 자산의 캡레이트 압축과 가치 급등을 강제하는 연쇄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📈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주식 PER 상승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KOSPI 5,000 이미 달성 완료, 코리아 프리미엄 시작 (컨센서스 이동)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부동산 캡레이트 압축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자본 시장 팽창이 실물 자산의 요구 수익률(Cap Rate)을 강력하게 끌어내림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🏆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트로피 자산 가치 상승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대규모 Valuation Lift 발생. 단일 최대 트로피 자산의 Re-rating 본격화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{lang === 'kr' ? 주가 상승 = 코리아 프리미엄 = 캡레이트 하락 : Stock Rise = Korea Premium = Cap Rate Drop }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8.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프라임 오피스 임대료 국제 비교 및 수렴 Thesis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여전히 싼 서울 프라임 오피스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서울은 글로벌 1선 도시 중 가장 낮은 프라임 임대료를 유지 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2026년 5월 기준 프라임 오피스 임대료 (USD/sqft/yr, 점유 비용 기준)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홍콩 센트럴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250~280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런던 웨스트엔드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200~220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도쿄 마루노우치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190~210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뉴욕 미드타운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180~200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싱가포르 라플즈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130~150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서울 GBD 프라임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80~90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홍콩 센트럴의 1/3 수준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'싱가포르보다 낮고 홍콩 센트럴 대비 3분의 1 수준의 서울 프라임 임대료' : 'Seoul prime rents lower than Singapore and at 1/3 the level of Hong Kong Central.'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Convergence Trade 2배 랠리의 명분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신규 트로피가 도쿄 수렴점인 USD 150 이상으로 도달할 것이라는 강력한 세일즈 논리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2026 (현재)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USD 80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터무니없는 저평가 현실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Convergence Trade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향후 15년간 가격 수렴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Convergence Trade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2040 (Tokyo Marunouchi 수준)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USD 150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~180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현재의 터무니없는 저평가가 역으로 IOTA를 글로벌 LP에게 "향후 15년간 가격이 2배로 수렴 가능하다고 세일즈할 수 있는 단일 최강 Thesis" : Current absurd undervaluation paradoxically provides the single strongest thesis to sell IOTA to global LPs: "Prices can converge to double over the next 15 years."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Part 3.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이지스자산운용 전략 포지셔닝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1.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글로벌 운용사로의 도약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이지스의 현재 좌표와 글로벌 비교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AUM 73조 원의 국내 1위, 그러나 글로벌 TOP 대비 9분의 1 수준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부동산 운용사 AUM 현황 (억 USD)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Blackstone RE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3,360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Brookfield RE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2,750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PGIM RE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2,100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Hines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950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IGIS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530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Blackstone의 약 1/9 수준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'국내 부동산 펀드·리츠 1위를 넘어 글로벌 무대에서의 객관적 위치 인식' : 'Recognizing our objective position on the global stage, beyond being #1 in domestic real estate funds/REITs.'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글로벌 1선 운용사 도약의 본질 조건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AUM 200~300조 도약을 위한 4대 핵심 요건과 플랫폼화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01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LP 베이스 확보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02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운용수수료 마진 구조 개선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03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영구 자본 확대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04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Multi-strategy 플랫폼화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'Reference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PE 출발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'단순한 규모 확장을 넘어 질적 체질 개선을 동반한 블랙스톤 압축 진화 모델' : 'A Blackstone compressed evolution model accompanied by qualitative improvement beyond simple scale expansion.'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이지스만의 한국적 차별점과 결합 모델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블랙스톤을 넘어선 In-house Vertical Integration의 완성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01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서울 프라임 압도적 지배력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단일 도시 프라임 자산에 대한 독보적인 인사이트와 막강한 딜 소싱(Deal Sourcing) 네트워크 보유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02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국내 기관 LP 신뢰 자본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NPS, 교직원공제회, 우정사업본부 등 핵심 기관투자자들과 오랜 기간 쌓아온 두터운 파트너십과 신뢰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03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In-house Vertical Integration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개발-구조화-운영의 내재화 (Factorial Builders, IGIS[X], 이지스네오밸류 등)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단순 자산 매입·매각 중심의 블랙스톤 모델을 넘어선 최적의 결합 모델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모리빌딩 (도쿄)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Hong Kong Land (센트럴)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Related (허드슨야드)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'단순 자산 매입·매각 모델을 넘어선 아시아 최고 수준의 부동산 가치 창출 플랫폼' : 'Asia\'s top-tier real estate value creation platform beyond simple asset buy/sell models.'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2.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3대 플랫폼 실행 로드맵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IGIS DC REIT의 상장 마스터플랜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전력망 선점과 빅테크 록인, 독자 상장형 DC REIT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현재 자산 기반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'이지스밸류플러스리츠 內 분당 Hostway IDC + 북미 13개 DC 포트폴리오(187MW)' : 'Bundang Hostway IDC + 13 North American DC Portfolios (187MW) within IGIS Value Plus REIT.'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GOAL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분사 목표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'향후 5년 내 독립 상장 DC REIT 분사 (2028~2030년)' : 'Spin-off of an independently listed DC REIT within 5 years (2028-2030).'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'미국 Digital Realty(시총 약 USD 500억), Equinix(약 USD 800억) 수준의 globalish DC REIT 빌드업' : 'Building a globalish DC REIT on par with US Digital Realty (~$50B) and Equinix (~$80B).'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국내 수도권 데이터센터 신규 개발 파이프라인 확보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전력 인입 권리가 곧 자산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동남아·일본 데이터센터 자산 인수로 지역 다각화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아시아 거점 연결을 통한 리스크 분산 및 스케일업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하이퍼스케일러 장기 임대 확약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AWS, MS, 구글, 네이버, 카카오 등 빅테크 고객 록인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북미 13개 포트폴리오를 넘어, 국내 신규 전력 인입 권리와 빅테크 임대 확약을 바탕으로 에퀴닉스에 버금갈 독자 상장형 DC REIT 플랫폼의 분사 로드맵을 띄운다. : Beyond the 13 NA portfolios, launching a spin-off roadmap for an independently listed DC REIT platform rivaling Equinix, based on domestic new power connection rights and Big Tech lease commitments.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IGIS Senior REIT의 300조 시장 점령전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연기금 D2C와 헬스케어를 결합한 시니어 하우징 블루오션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가장 확실한 메가 트렌드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'침투율 0.6% → 5% 갭의 구조적 미충족 수요가 향후 15년을 지배' : 'Structural unmet demand from the 0.6% → 5% penetration rate gap will dominate the next 15 years.'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시장 패러다임의 진화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'물류(쿠팡 효과) → 시니어 케어(주거) 효과로 대체' : 'Replacing Logistics (Coupang Effect) → Senior Care (Housing) Effect.'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'1조→2조 달러 구간의 성장 동력이었던 물류가, 2조→3조 달러 구간에서는 시니어 하우징으로 완벽히 전환됨' : 'Logistics, the growth engine of the $1T-$2T period, completely transitions to senior housing in the $2T-$3T period.'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최고 수준의 운영자 협업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메리어트 시니어 리빙(Marriott Senior Living) 등 검증된 글로벌 운영사와의 파트너십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의료기관 캡티브 연계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대형 병원 그룹과의 독점적 연계를 통한 강력한 헬스케어 인프라 구축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연금 가입자 다이렉트 마케팅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NPS, 공무원연금, 사학연금 등 확실한 자금력을 갖춘 은퇴자 대상 D2C 입주 마케팅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시니어 토탈 헬스케어 데이터 연동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시니어 하우징 + 헬스케어 + 데이터(웨어러블·AI 모니터링) 통합 솔루션 제공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KB골든라이프 모델을 시작으로, 글로벌 메리어트 운영과 연기금 퇴직자 D2C 마케팅을 결합해 외인 자본(Invesco 등)을 압도할 1위 시니어 하우징 플랫폼을 구축한다. : Starting with the KB Golden Life model, building the #1 senior housing platform to overwhelm foreign capital (e.g. Invesco) by combining global Marriott operations and D2C marketing to pension fund retirees.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Prime Mixed-Use 트로피 시리즈화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IOTA 기반 글로벌 LP 전용 패키지, '이지스 트로피 시리즈'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First Major Reference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 프로젝트 성공적 안착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Series Expansion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YIBD 일부 지구, 잠실, 여의도 재개발, 마곡 중대형 블록 등으로 무한 연쇄 확장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Brand Packaging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"이지스 트로피 시리즈" 단일 브랜드화 및 글로벌 LP 특화 패키지 판매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IOTA라는 앵커 메가 프로젝트를 지렛대 삼아 마곡, 여의도 개발로 무한 연쇄 확장할 글로벌 LP 전용 특화 패키지 '이지스 트로피 시리즈'를 상품화 한다. : Commercializing the 'IGIS Trophy Series', a specialized package exclusive to global LPs, for infinite chain expansion into Magok and Yeouido developments, leveraging the anchor mega-project IOTA.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3.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'운영 OS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공간 운영 플랫폼 진화의 핵심 매개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단순 자산운용사를 넘어, '공간 운영 플랫폼'으로의 진화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과거 (Past)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단순 임대수익 중심의 자산운용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OS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현재 및 미래 (Factorial Builders)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기업 운영 인프라를 제공하는 공간 운영 플랫폼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Tech-Ready Building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팩토리얼 성수 (로봇·IoT 친화)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삼성전자, 현대차그룹과의 공동개발을 통해 하드웨어와 소프트웨어가 결합된 미래형 빌딩 구현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Business Model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'Asset as a Service' (AaaS) 모델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삼일PwC와의 협업을 통해 자산을 단순한 임대 공간이 아닌, 기업 성장을 돕는 핵심 운영 인프라 서비스로 재정의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하드웨어(테크 레디)와 소프트웨어(AaaS)를 결합하여, 부동산을 기업에게 '서비스'로서 제공하는 진정한 공간 운영 OS 플랫폼 : A true spatial operations OS platform providing real estate as a 'service' to enterprises by combining hardware (Tech-Ready) and software (AaaS).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WeWork의 Institutional Version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WeWork의 구조적 한계 극복과 글로벌 벤치마크 '수직 도시'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Limit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WeWork 실패의 본질적 한계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(1) 자기 자본 미보유 &amp; (2) 단기-장기 임대료 미스매치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Solution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IGIS의 Institutional Version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Capital (거대 자본력)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Real Estate Ownership (실물 자산 보유)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Operating Layer (공간 운영 OS)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벤치마크 모델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Mori Building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모리빌딩, 토라노몬 &amp; 아자부다이 힐스 (2023)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글로벌 비교 시 모리빌딩의 운영 모델에 가장 근접. 압도적 자본력과 실물 자산, 그리고 섬세한 운영 역량을 완벽하게 결합한 성공 사례 : Closest to Mori Building's operating model in global comparison. A successful case perfectly combining overwhelming capital, physical assets, and delicate operational capabilities.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"수직 도시 (Vertical City)" 컨셉 차용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'임차 · 주거 · 문화 · F&amp;B를 하나로 묶어 통합 운영하는 Mori의 모델을 IOTA에 직접 적용' : 'Directly applying Mori\'s model of integrating leasing, residential, culture, and F&amp;B into unified operations to IOTA.'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자본력(Capital)과 소유권(Ownership), 그리고 운영(Operating) 역량을 모두 갖춘 이지스가 WeWork의 실패를 넘어서는 기관용(Institutional) 공간 운영 플랫폼 실현 가능 : IGIS, equipped with Capital, Ownership, and Operating capabilities, can realize an Institutional spatial operations platform transcending WeWork's failure.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4.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국제 LP 관계 구축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글로벌 코밍글드 펀드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이지스 1호 글로벌 코밍글드 펀드 조성을 통한 양방향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Decisive Turning Point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 1호 글로벌 코밍글드 펀드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Target: $1B USD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(1) 국내 자산의 글로벌화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이지스의 한국 자산을 글로벌 LP에게 패키지 매각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(2) 글로벌 자산의 국내 유치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한국 LP의 해외 위탁 및 글로벌 딜소싱 거점화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현재 국내 LP 비중이 압도적인 구조에서 탈피, 향후 5년 내 코밍글드 펀드 조성을 기점으로 양방향 플랫폼 도약 : Breaking away from the current structure overwhelmingly weighted towards domestic LPs, leaping into a two-way platform starting with commingled fund creation within 5 years.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전략적 우선 타겟 LP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글로벌 자본 지형도와 타겟팅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GIC, Temasek (싱가포르)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한국 트로피 자산에 이미 LP 참여 경험 보유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CPPIB (캐나다 연금)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MGRV와 코리빙 JV 사례 등 한국 시장에 적극적 스탠스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ADIA, Mubadala, QIA (중동)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AI 인프라 및 데이터센터 영역에 글로벌 Capacity 대규모 배치 중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NBIM (노르웨이)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부동산 직접 투자 비중 지속 확대 기조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AustralianSuper, CalPERS, ABP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인프라 및 실물 부동산 분야 강력한 글로벌 Mandate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6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Mitsubishi, Mitsui, Sumitomo (일본)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본격화되는 일본 자본의 한국 진입에 대한 주요 대응 채널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각 글로벌 LP의 고유한 투자 특성과 전략적 니즈에 맞춘 정교한 타겟팅으로 압도적인 국제적 자본 유치 가속화 : Accelerating overwhelming international capital attraction through sophisticated targeting tailored to the unique investment characteristics and strategic needs of each global LP.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글로벌 IB 협력 채널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최상위 글로벌 IB와의 Deeper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파트너십 통합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Korea PB &amp; Alternative Coverage 팀과의 강력한 전략적 결속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 앵커 케이스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일본, 유럽, 중동 지역 글로벌 로드쇼의 핵심 앵커(Anchor) 사례로 전면 활용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글로벌 최상위 IB 네트워크를 십분 활용하여, IOTA 프로젝트를 국제적 자본 유치의 핵심 동력으로 격상 : Fully leveraging top-tier global IB networks, elevating the IOTA project to the core driver of international capital attraction.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5.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AI 도입 워크플로우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Acquisition Underwriting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AI 기반 딜 소싱 및 투자심의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원천 데이터 수집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시장 보고서 / 매물 텍스트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실거래가 및 Cap Rate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Claude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/ GPT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시장 비교 및 시나리오 연산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초안 자동 생성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LOI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의향서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IC Memo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투자심의메모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단순 텍스트 매물 정보와 시장 데이터를 AI가 즉각적으로 파싱하여 재무 시나리오(Cap Rate)를 도출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Goldman Sachs, Blackstone 등 글로벌 Top-tier 운용사들이 이미 도입한 업무 혁신 워크플로우를 한국 시장에 적용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Asset Management &amp; CF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선제적 위험 관리 및 운용 대시보드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ALERT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공실 위험 조기 경보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Tenant B - 계약 연장 확률 &lt; 30%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임대료 연체 예측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High Risk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캡엑스(CAPEX) 최적화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Optimal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운용 효율 개선 효과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lang === 'kr' ? 이지스 73조 원 AUM 전체에 적용 시 캐시플로우 보호 및 막대한 비용 절감 기대 : When applied across IGIS's entire 73T KRW AUM, expected to protect cash flows and massively reduce costs.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사람의 직관에 의존하던 임차인 리스크 관리를 데이터 기반의 조기 경보 시스템으로 대체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임대료 연체 예측 및 CAPEX 최적화를 통해 거대 펀드의 누수 비용을 원천 차단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LP Reporting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다국어 리포트 동시 생성 및 데이터 통합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재무 데이터 통합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ESG 데이터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AI Gen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Engine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실시간 다국어 생성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영어 (English)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한국어 (Korean)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중국어 (Chinese)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일본어 (Japanese)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각종 재무 데이터와 ESG 지표를 자동으로 취합하여 글로벌 표준에 맞는 분기 리포트 생성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언어 장벽을 허무는 다국어(한·영·중·일) 동시 출력으로 글로벌 LP 베이스 확장 시 필수 인프라 확보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IPR Project REIT Structuring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초거대 PF 시나리오 및 민감도 분석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7조 원 PF 캐시플로우 트랜치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Equity (Common/Pref)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Mezzanine Loan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30%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Senior Loan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50%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AI 민감도 분석 시뮬레이터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Auto-Sync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금리 (Interest Rate)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공실률 (Vacancy)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임대료 (Rent)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IPO / 매각 시나리오 가치 평가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초거대 규모(7조 원) PF의 트랜치별 캐시플로우를 시뮬레이션하고 각종 변수(금리, 공실)에 대한 민감도 분석 자동화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시시각각 변하는 매크로 환경에 즉각 대응하여 최적의 IPO 및 매각 시나리오를 도출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6.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자본 구조 혁신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Cross-over 전략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부동산, 인프라, PE의 경계를 허무는 통합 투자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자산군 통합 운영 (Integration)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부동산, 인프라, PE를 하나로 결합하여 융복합 시너지 및 초과 수익(Alpha) 창출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RE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Infra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'💡 벤치마크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데이터센터 (Data Center)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부동산과 통신 인프라의 완벽한 융합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신재생 인프라 (Renewable)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수소 연료전지 및 ESS 블라인드펀드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시니어/헬스케어 (Healthcare)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부동산 공간과 오퍼레이션(PE)의 결합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블랙스톤(Blackstone)이 2014년 인프라 펀드 출시 후 AUM을 2배 도약시킨 패턴을 벤치마크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 역시 자산군 간의 경계(Cross-over)에서 발생하는 고수익 알파(Alpha)를 선점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SWF 파트너십 &amp; 보험사 자본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초장기 자본(Long-Duration Capital)의 트로피 자산 매칭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국부펀드 (SWF)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중동(ADIA, PIF) 및 싱가포르(GIC) 등 막대한 자금력을 갖춘 최상위 기관과의 파트너십 구축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&amp; 국내 보험사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'국내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'글로벌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Long-Duration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Capital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Target Destination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Trophy Assets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Core Equity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핵심 지분 투자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Senior Debt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선순위 대출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긴 듀레이션(Long-Duration)을 필요로 하는 보험사 자본의 특성을 정확히 공략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안정적 배당과 자본 보호가 확실한 핵심 도심 트로피 자산의 선순위 대출 및 코어 에쿼티에 최적화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패밀리오피스 &amp; 연기금 파트너십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새로운 자본 풀(Pool)과 거대 연기금의 전략적 동맹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Emerging Family Office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 신흥 패밀리오피스 자본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Coupang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HYBE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Celltrion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Kakao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향후 5년, 테크 창업자 자본의 거대한 신규 위탁 풀 형성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Mega Public Pensions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국가 주도 초거대 연기금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NPS (국민연금)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2026 AUM ~1,200T KRW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교직원공제회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행정공제회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우정사업본부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새마을금고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NPS 해외 부동산 확대 정책 ↔ 이지스 글로벌 펀드의 완벽한 얼라인먼트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전통적인 기관 자본(연기금)과 신흥 거대 자본(테크 패밀리오피스)을 아우르는 이중 포섭 전략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7.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Governance 태광그룹 인수와 인적자본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지배구조 전환 (Ownership Transition)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가족 운영에서 기관 소유로의 중대한 분기점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Family Ownership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창업자 김대영 회장 사후 상속 지분(12.4%) 등 가족 중심 운영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Institutional Ownership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태광그룹, 다이신, 한화 등 본입찰 참여를 통한 기관 소유 체제 확립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기업가치 약 8,000억 원 베이스. 단순 M&amp;A 이벤트가 아닌 이지스 브랜드의 넥스트 스텝 도약.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핵심 리스크 및 대응 (Retention &amp; Dual-Management)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운용사의 핵심 자본인 '인력'과 '트랙레코드' 보호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Opportunity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LP 신뢰 확장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Institutional Ownership으로의 전환은 글로벌 투자자들에게 투명하고 깨끗한 거버넌스 시그널로 작용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Core Risk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핵심 인재 이탈 리스크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자산운용사의 핵심 자본은 인력. 신규 대주주의 운용 자율성 보장과 강력한 인재 Retention 설계가 향후 5년 브랜드 가치를 결정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인재 보호를 위한 Dual-Management 구조 확보가 필수적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인수자 선정의 정치적 변수 (Political &amp; Security Risks)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국가 중요 인프라(데이터센터·물류) 운용의 안보적 관점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High Political Risk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중국계 자본 (Hillhouse 등)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데이터센터, 물류 등 Critical Infrastructure 운용사라는 점에서 해외/중국계 자본의 인수는 상당한 정치 및 국가 안보 리스크 야기 가능성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Politically Stable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국내 산업자본 및 다국적 기관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결과적으로 태광, 한화 등 국내 산업자본이나 GIC, Brookfield 등 다국적 Institutional 자본이 정치적으로 안정적인(Stable) 대안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이지스의 포트폴리오가 지닌 국가 안보적 중요성을 고려할 때, 인수자 선정의 핵심 변수로 작용할 전망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Part 4.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IOTA Seoul의 역할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1.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거시·도시적 포지셔닝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글로벌 도시 위계 상승의 분기점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글로벌 거점 도시들의 재개발 패턴 한국판 적용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Tokyo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마루노우치 재개발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1990년대부터 미츠비시 지소가 한 세대에 걸쳐 재개발하여 글로벌 금융 중심지 위상 공고화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London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King's Cross / St Pancras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2000년대 초중반 재개발을 통해 Google, Meta, AstraZeneca 등 글로벌 본사 라인 유치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New York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One Vanderbilt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2020년 Grand Central 일대를 완전히 재정의하며 Transit-Oriented Vertical City 구현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'IOTA 서울의 본질: 서울이 글로벌 도시 위계상 한 단계 도약하는 분기점이자 Transit-Oriented Vertical City의 한국판 적용' : 'The Essence of IOTA Seoul: A turning point for Seoul to leap forward in the global city hierarchy and the Korean application of a Transit-Oriented Vertical City'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국가 인프라급 교통 결절점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압도적인 광역 교통망과 도심 연결성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Transit Network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7개 철도 노선 교차점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KTX · SRT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1호선 · 4호선 · 공항철도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GTX-A (2024 개통)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GTX-B (2030 개통 예정)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Connectivity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보행 및 지하철 연결성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남산 (자연 녹지)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도심 (전통적 CBD)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용산국제업무지구 (예정)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마포 · 여의도 접근성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Global Entry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외국인 비즈니스 관광 진입점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{lang === 'kr' ? '인천국제공항과 공항철도로 직결되어' : 'Directly connected to Incheon Int\'l Airport via AREX,'} {lang === 'kr' ? '서울 진입 시 가장 먼저 마주하는 관문' : 'the first gateway upon entering Seoul'} {lang === 'kr' ? '(약 30분 소요)' : '(approx. 30 mins)'}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도쿄역(JR 라인 + 신칸센)에 비견되는 국가 인프라급 중심지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남산(녹지) + 도심(CBD) + 용산국제업무지구(예정) + 마포·여의도와의 보행/지하철 연결성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외국인 비즈니스 관광 진입점 (인천공항 직결, 30분)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단순 개발을 넘어선 도시 형성 (City-making)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"남산을 시민에게" - 퍼블릭 스페이스와 트로피 자산의 결합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Heritage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힐튼 아트리움 보존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SOM, Foster+Partners, DA그룹 등 세계적 설계사 참여 하에 힐튼 아트리움을 3D 디지털로 보존하여 역사적 가치 계승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Green Space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7,000m² 대규모 공개 녹지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축구장 1개 크기에 달하는 거대한 도심 속 오픈 스페이스를 조성하여 시민들에게 쾌적한 환경 제공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Public Flow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보행로 및 공공청사 기부채납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서울역 8번 출구에서 남산 백범공원으로 이어지는 에스컬레이터형 보행로 구축 및 공공청사 무상귀속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Trophy Asset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럭셔리 호텔 유치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메리어트 리츠칼튼 등 글로벌 최상위 럭셔리 브랜드를 유치하여 프로젝트의 트로피 자산(Trophy Asset) 위상 확보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'단순 부동산 개발이 아닌 도시 형성(city-making) 행위. 롯데월드타워 + 아자부다이힐스 + 허드슨야드의 결합 모델' : 'Not simple real estate development, but an act of city-making. A combined model of Lotte World Tower + Azabudai Hills + Hudson Yards'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2.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자본 구조와 실행 변수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프로젝트 펀더멘털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'두 개의 거대한 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YD427 PFV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 1 · 호텔 (힐튼 부지)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'시공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현대건설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'사업규모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총 사업비 약 6조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'조달현황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1차 본PF 2.2조 원 완료 (2025.5)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2차 본PF 4.5조 원 예정 (2027.5)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'용도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리츠칼튼 호텔 + 오피스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'준공목표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2031년 3월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YD816 PFV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 2 · 오피스 (메트로/서울로타워)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'시공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삼성물산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'사업규모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총 사업비 약 2조 1,963억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'인센티브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용적률 1,100% 확보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'규모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지하 9층 ~ 지상 34층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'운용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이지스일반사모부동산투자신탁421호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'한국 부동산 개발 역사상 최대 규모인 약 8조 원 규모의 거대한 통합 PF 프로젝트' : 'A massive integrated PF project worth approx. 8T KRW, the largest in the history of Korean real estate development'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총 사업비 구조와 자본 효율성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IPR 7조 원 통합 PF 자본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Capital Stack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7조 원 다층 자본 구조 (가정)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Senior Debt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5조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Mezzanine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1조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Junior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3,000억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Equity (10%)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7,000억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* Equity는 700억 원(10%) 베이스가 아닌 7,000억 원(10%) 가량의 Sponsor + LP Equity로 추정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Efficiency &amp; Risks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자본 효율성과 구조적 위험요소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가장 우수한 효율성 모델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Option C 신설 SPC + 현물출자 경로가 자본 효율성 측면에서 가장 우수함.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트랜치 B 우선매수권 리스크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한투리얼·HDC현산의 트랜치 B 우선매수권. IPR의 신규 자본 유치 시 Dilution 위험으로 작용.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'대응 방안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당면한 실행 변수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YD816 본PF 전환 리스크 및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Crisis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본PF 전환 실패 리스크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2026년 1월 17일 KB국민은행 선순위 채권 4,800억 원에 대해 EOD 통보.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메리츠증권과의 선순위 대주 교체 협상이 1·2차 투심에서 반려됨.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Timeline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공매 절차 데드라인 임박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잔여 협상 기간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약 2주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담보권 실행 유예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1개월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'3월 중순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Countermeasure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자금 조달 구조 보완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이지스는 SI로 대명소노그룹을 확보하여 자금 조달 구조 보완 진행 중.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삼성물산 책임임차(마스터리스 75%) 확약 연장 협상 동시 진행 중.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'2026년 4월 현 시점, YD816 PFV 약 1조원 규모 리파이낸싱 완료' : 'As of April 2026, YD816 PFV completed approx. 1T KRW refinancing'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핵심 액션 아이템 및 목표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성공적 클로징을 위한 3대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Task 01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YD816 본PF 즉시 클로징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공매 회피 인수자 확정 (메리츠증권 추가 협상 또는 대체 Senior 대주 확보)을 통한 급선무 해결.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Task 02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YD427 2차 PF 사전 Anchor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2027년 5월 2차 PF 4.5조 원 조달을 위한 사전 Anchor 확보. 7조 원 규모 한국 RE 사상 최대 PF의 핵심 게임.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Task 03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통합 가치 제고 스토리텔링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본PF 심사 시 금융권이 두 사업을 동일 선상에서 평가하지 않는 분위기 타파. 통합 가치 인정받지 못하면 IOTA 브랜드 분열 위험 방어.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lang === 'kr' ? '[2026.12 클로징 타겟] 성공 시 이지스의 글로벌 LP 확장 최강 레퍼런스, 실패 시 Brand Impairment 위험' : '[Dec 2026 Closing Target] If successful, IGIS\'s strongest reference for global LP expansion; if failed, risk of Brand Impairment'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3.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이지스 2030 전략 內 위치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2030 성장을 이끌 전략적 자산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앵커 트로피 자산과 글로벌 LP 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Asset 01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앵커 트로피 자산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향후 10년 이지스 브랜드의 단일 최대 PR 자산.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AUM 73조 → 100조 원 성장 경로에서 약 7조 원(10%)을 단일 프로젝트에 집중.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매우 높은 포트폴리오 집중도는 단점이자 압도적인 Strength.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Asset 02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LP 진입 Vehicle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IOTA를 매개로 GIC·CPPIB·QIA·Allianz·Mitsubishi Estate 등 글로벌 LP 신규 도입.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Reverse Mirror 효과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IFC 서울 인수 시 브룩필드의 입장이 이지스에게 외부 GP의 인식이 되었듯, 이번에는 이지스가 GP로서 글로벌 자본을 성공적으로 유치.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lang === 'kr' ? '단순한 딜(Deal)을 넘어선 글로벌 스탠다드 운용사(GP) 도약의 지렛대' : 'A lever to leap forward as a global standard General Partner (GP) beyond a simple Deal'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IOTA가 제시하는 미래 청사진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혁신 운영 쇼케이스와 트로피 시리즈 템플릿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Blueprint 01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Factorial Builders 운영 모델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'Asset as a Service' 모델 적용, AI, 로봇, IoT가 통합된 독자적 빌딩 OS 구축 글로벌 스탠다드 대비 확고한 초격차 운영 경쟁력 확보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4.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Value Creation Thesis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근원적 자산 가치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입지적 Land Value 및 NOI 창출력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4.1 VALUE DRIVER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토지 담보 가치 (Land Value)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+10~20% 추가 상승 여지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100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150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200+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2024 (Now)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2028 (GTX-A)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2031 (GTX-B)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서울역-인천공항 연결 효과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GTX-A/B 교차 입지의 프리미엄이 본격 반영되며 향후 5~10년간 구조적 우상향 전망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4.2 STABILIZATION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안정화 캐시플로우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2026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NOI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~3K억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Bull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~4.5K억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6조 ~ 10조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Target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Asset Value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준공 후 연면적 30만m² 기준, 평당 25만~35만 원 임대료 가정 시 캡레이트 4%대 자산 가치 도달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lang === 'kr' ? '압도적 입지와 규모가 만들어내는 견고한 Cash Flow 및 Value Add 잠재력' : 'Solid Cash Flow and Value-Add potential created by overwhelming location and scale'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프라임 프리미엄과 엑시트 전략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자산 프리미엄 및 자본 Recycling / 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4.3 ASSET PREMIUM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서울 프라임 대비 프리미엄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Base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Seoul Avg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+30~50%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IOTA Seoul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도쿄 마루노우치 갭 (~40%)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GTX 교차 및 럭셔리 복합시설 결합으로 도쿄 마루노우치 수준의 초격차 프리미엄 실현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4.4 &amp; 4.5 EXIT OPTIONALITY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안정화 이후 자본 회수 옵션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OPTION 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글로벌 코어 펀드 매각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GIC, Allianz 등 우량 기관 대상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OPTION B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영구 보유 (Permanent Hold)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도쿄역 GranSta 모델 (Trophy Asset 유지)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OPTION C (BASE CASE)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IOTA Office REIT IPO 분사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5~7조 원 규모의 단일 최대 리츠 상장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Best Scenario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lang === 'kr' ? '단일 최대 리츠 상장 가능성과 글로벌 자본의 초우량 엑시트 옵션 확보' : 'Possibility of listing the single largest REIT and securing prime exit options for global capital'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5.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리스크 분석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거시 경제 및 시장 환경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매크로 변수 및 PF 시장 유동성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RISK 1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금리 환경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한국 기준금리 2025년 2.25~2.50% 수준에서 2026~2027 추가 인하 예상되나 급격한 인하는 제한적.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PF Senior 조달 금리 6~7%에서 5~6%로 인하될 경우 IPR equity IRR 약 200~300bp 개선 효과 기대.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RISK 2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공사비 인플레이션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평당 5,000만 원 → 4,000만 원으로 하향 조정에도 불구하고 추가 변동 가능성 상존.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삼성물산·현대건설과의 단가 Lock-in이 시공 단계 핵심 통제 변수.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RISK 3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PF 시장 유동성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2024~2025년 PF 부실 사태 후 시장 신뢰 회복 진행 중이나, 신규 대형 PF에 대한 금융권 보수성 여전.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IOTA만큼 큰 초대형 PF는 단일 금융기관이 감당 불가. Club deal 신디케이션 필수.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lang === 'kr' ? '매크로 불확실성에 대응하는 철저한 금리/원가 통제 및 펀딩 구조 다각화' : 'Thorough interest rate/cost control and funding structure diversification responding to macro uncertainties'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정치·규제 및 자산 운영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인허가 변수 및 앵커 임차인 확보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RISK 4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규제 및 정치 변수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서울시 도시계획위원회 정비계획안 승인은 확보(2023.11). 그러나 향후 인허가·환경·교통영향평가·문화재 단계 잔여.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정권이나 서울시장 교체 시 도시계획 변동 가능성.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핵심 요구사항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향후 이재명 정부 후반기(2027~2030)의 부동산·도시계획 기조와의 철저한 Alignment 필요.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RISK 5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앵커 임차인 확보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삼성물산 마스터리스 75% 확약 및 리츠칼튼 호텔 운영 협약은 큰 진전이나, 삼성물산 확약 연장 협상이 본PF 전환의 변수.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Trophy Positioning의 핵심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오피스 잔여 25% 이상 공간에 대한 글로벌 다국적 본사(Google Korea, Microsoft Korea, Amazon Korea 등) 유치.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lang === 'kr' ? '정권·정책 변화에 유연하게 대응하고, 글로벌 앵커 테넌트로 자산 가치 극대화' : 'Flexibly responding to regime/policy changes and maximizing asset value with global anchor tenants'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글로벌 자본 및 거버넌스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외국인 자본 참여 및 지배구조 매각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RISK 6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외국인 자본 참여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IPR Equity에 글로벌 LP가 명시적으로 들어와야 Trophy 의미가 완성됨.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전략적 마일스톤 (Strategic Milestone)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2026년 12월 클로징 시점까지 최소 1~2개 글로벌 SWF/연기금 LP 확보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RISK 7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거버넌스 리스크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이지스 지배지분 매각 진행 중. 새 대주주의 IOTA 프로젝트에 대한 Commitment 확약이 LP 신뢰에 결정적 역할.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인수자 선정 일정과 IPR 클로징 일정 간의 완벽한 시간적 Alignment가 매우 중요.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FFFFFF"/>
                </a:solidFill>
                <a:latin typeface="Malgun Gothic"/>
              </a:defRPr>
            </a:pPr>
            <a:r>
              <a:t>•  lang === 'kr' ? '글로벌 자본 유치와 안정적 거버넌스 확립을 통한 IPR 클로징 완성' : 'Completing IPR closing through global capital attraction and establishment of stable governance'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6.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IOTA가 가진 역사적 상징성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4대 변곡점과 IOTA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1조 → 2조 달러 시대를 정의하는 새로운 트로피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패권과 시대적 변곡점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18C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산업혁명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증기기관 → 단일 기술 변곡점이 글로벌 패권 형성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20C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냉전기 (미·소)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핵무기·우주산업 → 새로운 지정학 형성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21C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대한민국 4대 변곡점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AI · 반도체 · 문화 · 인구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1조 → 2조 달러 시대의 마침표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새로운 랜드마크의 탄생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대한민국이 4대 변곡점을 지나며 맞이하는 새로운 시대. IOTA는 한국이 단일 빌딩 개발을 넘어 블록 스케일의 도시 개발로 도약하는 상징적 전환점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단순한 자산 가치를 넘어 국가 경제의 스케일업을 증명할 거대한 패러다임 시프트의 최전선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도심 권역의 장기 Stewardship 모델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단순 ROI를 넘어 세대를 건너는 자본 순환의 시작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단일 디벨로퍼의 30~50년 권역 마스터플랜 사례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TOKYO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마루노우치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미츠비시 지소 주도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LONDON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King's Cross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아르젠트(Argent)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NY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Hudson Yards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릴레이티드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Global Common Pattern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 운용사·디벨로퍼가 한 도시의 권역을 세대에 걸쳐 Stewardship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세대를 건너는 Capital Cycle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도시와 자본의 상생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단순히 건물을 짓고 파는 모델이 아닌, 30년~50년에 걸쳐 도심 공간을 지속적으로 관리하고 진화시키는 장기 Stewardship 모델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뉴욕 릴레이티드나 런던 아르젠트처럼, IOTA는 이지스가 단순한 개발 주체를 넘어 서울을 관리하는 장기적인 파트너로 거듭나는 시발점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상징성 및 강력한 브랜드 파급력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단일 빌딩을 넘어 서울의 정체성을 정의하는 랜드마크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단일 빌딩을 넘어선 블록 스케일 패러다임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1조 달러 시대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IFC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단일 빌딩 한계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3조 → 4~5조 달러 경제 도약기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향후 50년, 서울의 정체성을 정의하는 랜드마크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서울의 정체성을 정의하는 랜드마크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도시 브랜드 파급력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향후 50년 후 한국이 4~5조 달러 경제로 도약할 때, IOTA는 도쿄 미드타운이나 록폰기 힐스가 만든 강력한 도시 브랜드 이펙트와 동급의 상징물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단순한 부동산 개발이 아닌, 한국의 새로운 시대를 여는 도시 창조 과정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이지스가 단순 자산운용사가 아니라 도시를 만든 자본으로 한국 및 아시아 자본시장사에 기록될 단일 최대 프로젝트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A1A1A1"/>
                </a:solidFill>
                <a:latin typeface="Malgun Gothic"/>
              </a:defRPr>
            </a:pPr>
            <a:r>
              <a:t>Chapter 7.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실행전략 및 맺음말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실행 전략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향후 액션 아이템 우선순위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즉시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(2026.5 ~ 2026.9)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YD816 본PF 전환 클로징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또는 공매 회피 인수자 확정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메리츠증권 추가 협상 및 대체 Senior 대주(농협·하나·신한) 동시 진행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삼성물산 마스터리스 확약 연장 / 한투리얼·HDC현산 트랜치 B 우선매수권 사전 정리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단기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(2026.9 ~ 2026.12)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7조 원 통합 PF 컨센서스 구축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LP 1~2개사 IPR Equity 참여 LOI 확보 (GIC·CPPIB·QIA 우선 타겟)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Option C 신설 SPC 구조 확정 및 12월 클로징 Grand Stage 준비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중기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(2027 ~ 2028)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YD427 2차 PF 4.5조 원 조달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Successful Execution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IGIS DC REIT 분사 상장 준비 및 시니어 REIT 첫 자산 풀 구축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 1호 글로벌 코밍글드 펀드 $1B USD 1차 클로징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장기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(2029 ~ 2031)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IOTA 1·2 단계적 준공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및 트로피 시리즈 2호(YIBD 또는 잠실) Launch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LP 베이스 30%+로 확장 및 AUM 100조 원 돌파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핵심 Metric 추적</a:t>
            </a:r>
          </a:p>
          <a:p>
            <a:pPr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성공적인 중장기 전략 달성을 위한 3대 모니터링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거시 (Macro)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KOSPI 5,000~6,000 유지 여부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기준금리 경로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(PF 자본 비용)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KRW/USD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(글로벌 LP capital flow)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한국 GDP 성장률 2%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유지 여부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시장 (Market)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서울 프라임 오피스 공실률 4%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이하 유지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임대료 평당 15만 원 돌파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시점 (GBD 기준)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거래량 30조 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이상 유지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외국인 자본 유입 비중 25%+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도달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이지스 (IGIS)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AUM 분기 성장률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글로벌 LP 비중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운용 수수료 마진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인재 retention rate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>
                <a:solidFill>
                  <a:srgbClr val="1D1D1F"/>
                </a:solidFill>
                <a:latin typeface="Malgun Gothic"/>
              </a:defRPr>
            </a:pPr>
            <a:r>
              <a:t>•  IPR 본 PF 클로징 마일스톤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Malgun Gothic"/>
              </a:defRPr>
            </a:pPr>
            <a:r>
              <a:t>맺음말.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D1D1F"/>
                </a:solidFill>
                <a:latin typeface="Malgun Gothic"/>
              </a:defRPr>
            </a:pPr>
            <a:r>
              <a:t>한국 경제가 2007년 1조 달러를 처음 돌파한 시점에 IFC 서울이 막 첫 삽을 떴음. 2조 달러를 돌파하는 2027년 직전에 IOTA 서울이 본PF를 마무리하고 본격 시공에 들어가는 것은 단순한 우연이 아닌 역사의 리듬임. 3조 달러 시대(2035~2040)가 도래할 때 IOTA가 준공되어 안정화 cash flow를 만들어내는 것 또한 동일한 리듬임.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