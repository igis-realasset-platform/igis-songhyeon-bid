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400" b="1">
                <a:solidFill>
                  <a:srgbClr val="1D1D1F"/>
                </a:solidFill>
                <a:latin typeface="Pretendard"/>
              </a:rPr>
              <a:t>3조 달러 시대</a:t>
            </a:r>
          </a:p>
          <a:p>
            <a:pPr algn="ctr">
              <a:spcAft>
                <a:spcPts val="1400"/>
              </a:spcAft>
            </a:pPr>
            <a:r>
              <a:rPr sz="2400" b="1">
                <a:solidFill>
                  <a:srgbClr val="1D1D1F"/>
                </a:solidFill>
                <a:latin typeface="Pretendard"/>
              </a:rPr>
              <a:t>이지스의 글로벌 도약과 IOTA 프로젝트 마스터플랜</a:t>
            </a:r>
          </a:p>
          <a:p>
            <a:pPr algn="l">
              <a:spcAft>
                <a:spcPts val="1400"/>
              </a:spcAft>
            </a:pPr>
            <a:r>
              <a:rPr sz="1980">
                <a:solidFill>
                  <a:srgbClr val="1D1D1F"/>
                </a:solidFill>
                <a:latin typeface="Pretendard"/>
              </a:rPr>
              <a:t>IGIS Strategy Draft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본 프레젠테이션 기획서는 이지스자산운용이 운용자산(AUM) 100조 원을 돌파하고 진정한 글로벌 탑티어 운용사로 도약하기 위한 로드맵을 구조화한 마스터플랜입니다. 본 전략의 궁극적인 목표는 한국 상업용 부동산 역사상 최대 규모인 7조 원 규모의 IOTA 서울 프로젝트 파이낸싱(PF)을 성공적으로 실행하고, 이를 지렛대 삼아 글로벌 LP 자본을 성공적으로 유치하는 데 있습니다. 이를 위해 본 프레젠테이션은 CEO 및 핵심 의사결정권자들을 위해 다음과 같은 4단계의 논리적 흐름(4-Part Logical Flow)을 제시합니다.</a:t>
            </a:r>
          </a:p>
          <a:p>
            <a:pPr algn="ctr"/>
            <a:r>
              <a:rPr sz="3200" b="1">
                <a:solidFill>
                  <a:srgbClr val="1D1D1F"/>
                </a:solidFill>
                <a:latin typeface="Pretendard"/>
              </a:rPr>
              <a:t>Executive Summary</a:t>
            </a:r>
          </a:p>
        </p:txBody>
      </p:sp>
      <p:sp>
        <p:nvSpPr>
          <p:cNvPr id="3" name="TextBox 2"/>
          <p:cNvSpPr txBox="1"/>
          <p:nvPr/>
        </p:nvSpPr>
        <p:spPr>
          <a:xfrm>
            <a:off x="1371600" y="2194560"/>
            <a:ext cx="9448495" cy="3931920"/>
          </a:xfrm>
          <a:prstGeom prst="rect">
            <a:avLst/>
          </a:prstGeom>
          <a:noFill/>
        </p:spPr>
        <p:txBody>
          <a:bodyPr wrap="square" lIns="0" rIns="0" tIns="0" bIns="0">
            <a:spAutoFit/>
          </a:bodyPr>
          <a:lstStyle/>
          <a:p>
            <a:pPr algn="l">
              <a:spcAft>
                <a:spcPts val="1400"/>
              </a:spcAft>
            </a:pPr>
            <a:r>
              <a:rPr sz="1530">
                <a:solidFill>
                  <a:srgbClr val="1D1D1F"/>
                </a:solidFill>
                <a:latin typeface="Pretendard"/>
              </a:rPr>
              <a:t>한국 경제가 1조 달러에서 2조 달러로 팽창하는 지난 20년간의 산업·자본시장 진화와 서울 프라임 오피스의 구조적 가치 상승을 데이터로 입증합니다.</a:t>
            </a:r>
          </a:p>
          <a:p>
            <a:pPr algn="l">
              <a:spcAft>
                <a:spcPts val="1400"/>
              </a:spcAft>
            </a:pPr>
            <a:r>
              <a:rPr sz="1800" b="1">
                <a:solidFill>
                  <a:srgbClr val="1D1D1F"/>
                </a:solidFill>
                <a:latin typeface="Pretendard"/>
              </a:rPr>
              <a:t>Part 2 미래 시나리오</a:t>
            </a:r>
          </a:p>
          <a:p>
            <a:pPr algn="l">
              <a:spcAft>
                <a:spcPts val="1400"/>
              </a:spcAft>
            </a:pPr>
            <a:r>
              <a:rPr sz="1530">
                <a:solidFill>
                  <a:srgbClr val="1D1D1F"/>
                </a:solidFill>
                <a:latin typeface="Pretendard"/>
              </a:rPr>
              <a:t>3조 달러 시대로 진입하는 향후 15년(2027~2040)의 거시경제, 인구 구조, 신성장 산업의 지형도를 예측하고 프라임 부동산의 임대료 수렴(Convergence) 논리를 도출합니다.</a:t>
            </a:r>
          </a:p>
          <a:p>
            <a:pPr algn="l">
              <a:spcAft>
                <a:spcPts val="1400"/>
              </a:spcAft>
            </a:pPr>
            <a:r>
              <a:rPr sz="1800" b="1">
                <a:solidFill>
                  <a:srgbClr val="1D1D1F"/>
                </a:solidFill>
                <a:latin typeface="Pretendard"/>
              </a:rPr>
              <a:t>Part 3 이지스 전략 포지셔닝</a:t>
            </a:r>
          </a:p>
          <a:p>
            <a:pPr algn="l">
              <a:spcAft>
                <a:spcPts val="1400"/>
              </a:spcAft>
            </a:pPr>
            <a:r>
              <a:rPr sz="1530">
                <a:solidFill>
                  <a:srgbClr val="1D1D1F"/>
                </a:solidFill>
                <a:latin typeface="Pretendard"/>
              </a:rPr>
              <a:t>데이터센터, 시니어 하우징, 프라임 융복합 개발이라는 3대 플랫폼에 AI 워크플로우를 접목하여 100조 AUM을 달성하기 위한 구체적 자본 및 운영 체계를 설계합니다.</a:t>
            </a:r>
          </a:p>
          <a:p>
            <a:pPr algn="l">
              <a:spcAft>
                <a:spcPts val="1400"/>
              </a:spcAft>
            </a:pPr>
            <a:r>
              <a:rPr sz="1800" b="1">
                <a:solidFill>
                  <a:srgbClr val="1D1D1F"/>
                </a:solidFill>
                <a:latin typeface="Pretendard"/>
              </a:rPr>
              <a:t>Part 4 IOTA Seoul의 역할</a:t>
            </a:r>
          </a:p>
          <a:p>
            <a:pPr algn="l">
              <a:spcAft>
                <a:spcPts val="1400"/>
              </a:spcAft>
            </a:pPr>
            <a:r>
              <a:rPr sz="1530">
                <a:solidFill>
                  <a:srgbClr val="1D1D1F"/>
                </a:solidFill>
                <a:latin typeface="Pretendard"/>
              </a:rPr>
              <a:t>전략의 실체인 IOTA 서울의 투자가치, 거버넌스 리스크, 자본 조달, 그리고 위기 상황 돌파를 위한 비상 대응책(Contingency Plan)을 제시하며, 당면한 핵심 과제를 12개월 타임라인으로 환산하여 즉각적인 행동을 촉구합니다.</a:t>
            </a:r>
          </a:p>
          <a:p>
            <a:pPr algn="l">
              <a:spcAft>
                <a:spcPts val="1400"/>
              </a:spcAft>
            </a:pPr>
            <a:r>
              <a:rPr sz="1800" b="1">
                <a:solidFill>
                  <a:srgbClr val="1D1D1F"/>
                </a:solidFill>
                <a:latin typeface="Pretendard"/>
              </a:rPr>
              <a:t>DISCLAIMER</a:t>
            </a:r>
          </a:p>
          <a:p>
            <a:pPr algn="l">
              <a:spcAft>
                <a:spcPts val="1400"/>
              </a:spcAft>
            </a:pPr>
            <a:r>
              <a:rPr sz="1500">
                <a:solidFill>
                  <a:srgbClr val="1D1D1F"/>
                </a:solidFill>
                <a:latin typeface="Pretendard"/>
              </a:rPr>
              <a:t>본 문서는 전략적 정보 제공 및 내부 기획을 목적으로 작성되었으며, 재무적, 법률적, 또는 전문적인 투자 자문을 구성하지 않습니다. 문서에 포함된 시장 전망, 수익률 추정치, 펀딩 목표 및 특정 기업/기관과 관련된 미래 예측 진술(Forward-looking statements)은 작성 시점의 거시경제 데이터와 분석을 바탕으로 한 시나리오이며, 실제 시장 상황, 금리 변동, 규제 변화 및 예기치 못한 리스크에 따라 크게 달라질 수 있습니다. 의사결정 시 반드시 개별적인 법무·회계·재무 실사(Due Diligence)를 거쳐야 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400">
                <a:solidFill>
                  <a:srgbClr val="1D1D1F"/>
                </a:solidFill>
                <a:latin typeface="Pretendard"/>
              </a:rPr>
              <a:t>Prologue.</a:t>
            </a:r>
          </a:p>
          <a:p>
            <a:pPr algn="ctr">
              <a:spcAft>
                <a:spcPts val="1400"/>
              </a:spcAft>
            </a:pPr>
            <a:r>
              <a:rPr sz="2400" b="1">
                <a:solidFill>
                  <a:srgbClr val="1D1D1F"/>
                </a:solidFill>
                <a:latin typeface="Pretendard"/>
              </a:rPr>
              <a:t>본 고민의 전략적 위치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3조 달러 시대, 이지스자산운용의 전략적 좌표</a:t>
            </a:r>
          </a:p>
          <a:p>
            <a:pPr algn="ctr"/>
            <a:r>
              <a:rPr sz="3200" b="1">
                <a:solidFill>
                  <a:srgbClr val="1D1D1F"/>
                </a:solidFill>
                <a:latin typeface="Pretendard"/>
              </a:rPr>
              <a:t>한국 경제 1조 → 2조 → 3조 달러 궤적, 이지스자산운용은 어디에 서 있는가?</a:t>
            </a:r>
          </a:p>
        </p:txBody>
      </p:sp>
      <p:sp>
        <p:nvSpPr>
          <p:cNvPr id="3" name="Rounded Rectangle 2"/>
          <p:cNvSpPr/>
          <p:nvPr/>
        </p:nvSpPr>
        <p:spPr>
          <a:xfrm>
            <a:off x="914400" y="2194560"/>
            <a:ext cx="10362895"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10088575"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 한국 명목 GDP 1조 달러 돌파(2007년) 이후, 2조 달러 안착(2026~2027년)을 앞둔 거시적 변곡점</a:t>
            </a:r>
          </a:p>
          <a:p>
            <a:pPr algn="l">
              <a:spcAft>
                <a:spcPts val="600"/>
              </a:spcAft>
            </a:pPr>
            <a:r>
              <a:rPr sz="1800" b="1">
                <a:solidFill>
                  <a:srgbClr val="1D1D1F"/>
                </a:solidFill>
                <a:latin typeface="Pretendard"/>
              </a:rPr>
              <a:t>▪ 런던 시티와 뉴욕 미드타운의 진화 패턴을 바탕으로 서울 프라임 부동산의 미래 조망</a:t>
            </a:r>
          </a:p>
          <a:p>
            <a:pPr algn="l">
              <a:spcAft>
                <a:spcPts val="600"/>
              </a:spcAft>
            </a:pPr>
            <a:r>
              <a:rPr sz="1800" b="1">
                <a:solidFill>
                  <a:srgbClr val="1D1D1F"/>
                </a:solidFill>
                <a:latin typeface="Pretendard"/>
              </a:rPr>
              <a:t>▪ 새로운 패러다임 속에서 이지스자산운용의 전략적 좌표 재정립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글로벌 운용사로의 도약 분기점</a:t>
            </a:r>
          </a:p>
          <a:p>
            <a:pPr algn="ctr"/>
            <a:r>
              <a:rPr sz="3200" b="1">
                <a:solidFill>
                  <a:srgbClr val="1D1D1F"/>
                </a:solidFill>
                <a:latin typeface="Pretendard"/>
              </a:rPr>
              <a:t>73조 원 AUM의 압도적 1위에서, Blackstone·Brookfield급 글로벌 플랫폼으로의 전환</a:t>
            </a:r>
          </a:p>
        </p:txBody>
      </p:sp>
      <p:sp>
        <p:nvSpPr>
          <p:cNvPr id="3" name="Rounded Rectangle 2"/>
          <p:cNvSpPr/>
          <p:nvPr/>
        </p:nvSpPr>
        <p:spPr>
          <a:xfrm>
            <a:off x="914400" y="2194560"/>
            <a:ext cx="10362895"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10088575"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 아시아 정상급 부동산 자산운용사로 성장 (운용자산 미화 503억 달러 달성)</a:t>
            </a:r>
          </a:p>
          <a:p>
            <a:pPr algn="l">
              <a:spcAft>
                <a:spcPts val="600"/>
              </a:spcAft>
            </a:pPr>
            <a:r>
              <a:rPr sz="1800" b="1">
                <a:solidFill>
                  <a:srgbClr val="1D1D1F"/>
                </a:solidFill>
                <a:latin typeface="Pretendard"/>
              </a:rPr>
              <a:t>▪ AUM 200~300조 원 시대를 주도할 압도적 스케일 및 펀더멘털 확보</a:t>
            </a:r>
          </a:p>
          <a:p>
            <a:pPr algn="l">
              <a:spcAft>
                <a:spcPts val="600"/>
              </a:spcAft>
            </a:pPr>
            <a:r>
              <a:rPr sz="1800" b="1">
                <a:solidFill>
                  <a:srgbClr val="1D1D1F"/>
                </a:solidFill>
                <a:latin typeface="Pretendard"/>
              </a:rPr>
              <a:t>▪ 글로벌 LP 네트워크 확장 및 다전략(Multi-strategy) 플랫폼으로의 패러다임 전환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A0A0A0"/>
                </a:solidFill>
                <a:latin typeface="Pretendard"/>
              </a:rPr>
              <a:t>IOTA 서울 프로젝트의 문명사적 의미</a:t>
            </a:r>
          </a:p>
          <a:p>
            <a:pPr algn="ctr"/>
            <a:r>
              <a:rPr sz="3200" b="1">
                <a:solidFill>
                  <a:srgbClr val="FFFFFF"/>
                </a:solidFill>
                <a:latin typeface="Pretendard"/>
              </a:rPr>
              <a:t>7조 원 규모 단일 PF 한국 상업용 부동산 역사상 최대의 트로피 자산</a:t>
            </a:r>
          </a:p>
        </p:txBody>
      </p:sp>
      <p:sp>
        <p:nvSpPr>
          <p:cNvPr id="3" name="Rounded Rectangle 2"/>
          <p:cNvSpPr/>
          <p:nvPr/>
        </p:nvSpPr>
        <p:spPr>
          <a:xfrm>
            <a:off x="914400" y="2194560"/>
            <a:ext cx="4998567" cy="4023360"/>
          </a:xfrm>
          <a:prstGeom prst="round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4724247" cy="3749040"/>
          </a:xfrm>
          <a:prstGeom prst="rect">
            <a:avLst/>
          </a:prstGeom>
          <a:noFill/>
        </p:spPr>
        <p:txBody>
          <a:bodyPr wrap="square" lIns="0" rIns="0" tIns="0" bIns="0">
            <a:spAutoFit/>
          </a:bodyPr>
          <a:lstStyle/>
          <a:p>
            <a:pPr algn="ctr">
              <a:spcAft>
                <a:spcPts val="600"/>
              </a:spcAft>
            </a:pPr>
            <a:r>
              <a:rPr sz="1700" b="1">
                <a:solidFill>
                  <a:srgbClr val="FFFFFF"/>
                </a:solidFill>
                <a:latin typeface="Pretendard"/>
              </a:rPr>
              <a:t>1조 달러 시대의 상징</a:t>
            </a:r>
          </a:p>
          <a:p>
            <a:pPr algn="ctr">
              <a:spcAft>
                <a:spcPts val="600"/>
              </a:spcAft>
            </a:pPr>
            <a:r>
              <a:rPr sz="1800" b="1">
                <a:solidFill>
                  <a:srgbClr val="FFFFFF"/>
                </a:solidFill>
                <a:latin typeface="Pretendard"/>
              </a:rPr>
              <a:t>IFC 서울</a:t>
            </a:r>
          </a:p>
          <a:p>
            <a:pPr algn="l">
              <a:spcAft>
                <a:spcPts val="600"/>
              </a:spcAft>
            </a:pPr>
            <a:r>
              <a:rPr sz="1800" b="1">
                <a:solidFill>
                  <a:srgbClr val="FFFFFF"/>
                </a:solidFill>
                <a:latin typeface="Pretendard"/>
              </a:rPr>
              <a:t>▪ 단순한 오피스 개발을 넘어, 한국 자본시장의 가치를 글로벌 유동성에 재정의하는 상징적 매개체</a:t>
            </a:r>
          </a:p>
          <a:p>
            <a:pPr algn="l">
              <a:spcAft>
                <a:spcPts val="600"/>
              </a:spcAft>
            </a:pPr>
            <a:r>
              <a:rPr sz="1800" b="1">
                <a:solidFill>
                  <a:srgbClr val="FFFFFF"/>
                </a:solidFill>
                <a:latin typeface="Pretendard"/>
              </a:rPr>
              <a:t>▪ 1조 달러 시대의 상징이 IFC 서울이었다면, 3조 달러 시대를 정의할 절대 좌표는 IOTA 서울</a:t>
            </a:r>
          </a:p>
        </p:txBody>
      </p:sp>
      <p:sp>
        <p:nvSpPr>
          <p:cNvPr id="5" name="Rounded Rectangle 4"/>
          <p:cNvSpPr/>
          <p:nvPr/>
        </p:nvSpPr>
        <p:spPr>
          <a:xfrm>
            <a:off x="6278727" y="2194560"/>
            <a:ext cx="4998567" cy="4023360"/>
          </a:xfrm>
          <a:prstGeom prst="round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15887" y="2331720"/>
            <a:ext cx="4724247" cy="3749040"/>
          </a:xfrm>
          <a:prstGeom prst="rect">
            <a:avLst/>
          </a:prstGeom>
          <a:noFill/>
        </p:spPr>
        <p:txBody>
          <a:bodyPr wrap="square" lIns="0" rIns="0" tIns="0" bIns="0">
            <a:spAutoFit/>
          </a:bodyPr>
          <a:lstStyle/>
          <a:p>
            <a:pPr algn="ctr">
              <a:spcAft>
                <a:spcPts val="600"/>
              </a:spcAft>
            </a:pPr>
            <a:r>
              <a:rPr sz="1700" b="1">
                <a:solidFill>
                  <a:srgbClr val="FFFFFF"/>
                </a:solidFill>
                <a:latin typeface="Pretendard"/>
              </a:rPr>
              <a:t>3조 달러 시대를 정의할 절대 좌표</a:t>
            </a:r>
          </a:p>
          <a:p>
            <a:pPr algn="ctr">
              <a:spcAft>
                <a:spcPts val="600"/>
              </a:spcAft>
            </a:pPr>
            <a:r>
              <a:rPr sz="1800" b="1">
                <a:solidFill>
                  <a:srgbClr val="FFFFFF"/>
                </a:solidFill>
                <a:latin typeface="Pretendard"/>
              </a:rPr>
              <a:t>IOTA 서울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이지스 2030 마스터플랜의 4대 핵심 축</a:t>
            </a:r>
          </a:p>
          <a:p>
            <a:pPr algn="ctr"/>
            <a:r>
              <a:rPr sz="3200" b="1">
                <a:solidFill>
                  <a:srgbClr val="1D1D1F"/>
                </a:solidFill>
                <a:latin typeface="Pretendard"/>
              </a:rPr>
              <a:t>거시 경제, 산업 모멘텀, 자본 구조 혁신, 그리고 트로피 에셋의 융합</a:t>
            </a:r>
          </a:p>
        </p:txBody>
      </p:sp>
      <p:sp>
        <p:nvSpPr>
          <p:cNvPr id="3" name="Rounded Rectangle 2"/>
          <p:cNvSpPr/>
          <p:nvPr/>
        </p:nvSpPr>
        <p:spPr>
          <a:xfrm>
            <a:off x="914400" y="2194560"/>
            <a:ext cx="10362895"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10088575" cy="3749040"/>
          </a:xfrm>
          <a:prstGeom prst="rect">
            <a:avLst/>
          </a:prstGeom>
          <a:noFill/>
        </p:spPr>
        <p:txBody>
          <a:bodyPr wrap="square" lIns="0" rIns="0" tIns="0" bIns="0">
            <a:spAutoFit/>
          </a:bodyPr>
          <a:lstStyle/>
          <a:p>
            <a:pPr algn="l">
              <a:spcAft>
                <a:spcPts val="600"/>
              </a:spcAft>
            </a:pPr>
            <a:r>
              <a:rPr sz="1800" b="1">
                <a:solidFill>
                  <a:srgbClr val="1E3A8A"/>
                </a:solidFill>
                <a:latin typeface="Pretendard"/>
              </a:rPr>
              <a:t>1</a:t>
            </a:r>
            <a:r>
              <a:rPr sz="1800" b="1">
                <a:solidFill>
                  <a:srgbClr val="1D1D1F"/>
                </a:solidFill>
                <a:latin typeface="Pretendard"/>
              </a:rPr>
              <a:t>1조 → 2조 달러 역사적 분석</a:t>
            </a:r>
          </a:p>
          <a:p>
            <a:pPr algn="l">
              <a:spcAft>
                <a:spcPts val="600"/>
              </a:spcAft>
            </a:pPr>
            <a:r>
              <a:rPr sz="1800" b="1">
                <a:solidFill>
                  <a:srgbClr val="1D1D1F"/>
                </a:solidFill>
                <a:latin typeface="Pretendard"/>
              </a:rPr>
              <a:t>한국 자본·산업·부동산 성장의 궤적</a:t>
            </a:r>
          </a:p>
          <a:p>
            <a:pPr algn="l">
              <a:spcAft>
                <a:spcPts val="600"/>
              </a:spcAft>
            </a:pPr>
            <a:r>
              <a:rPr sz="1800" b="1">
                <a:solidFill>
                  <a:srgbClr val="1E3A8A"/>
                </a:solidFill>
                <a:latin typeface="Pretendard"/>
              </a:rPr>
              <a:t>2</a:t>
            </a:r>
            <a:r>
              <a:rPr sz="1800" b="1">
                <a:solidFill>
                  <a:srgbClr val="1D1D1F"/>
                </a:solidFill>
                <a:latin typeface="Pretendard"/>
              </a:rPr>
              <a:t>2조 → 3조 달러 시나리오 전망</a:t>
            </a:r>
          </a:p>
          <a:p>
            <a:pPr algn="l">
              <a:spcAft>
                <a:spcPts val="600"/>
              </a:spcAft>
            </a:pPr>
            <a:r>
              <a:rPr sz="1800" b="1">
                <a:solidFill>
                  <a:srgbClr val="1D1D1F"/>
                </a:solidFill>
                <a:latin typeface="Pretendard"/>
              </a:rPr>
              <a:t>미래 거시 경제와 프라임 공간의 구조적 변화</a:t>
            </a:r>
          </a:p>
          <a:p>
            <a:pPr algn="l">
              <a:spcAft>
                <a:spcPts val="600"/>
              </a:spcAft>
            </a:pPr>
            <a:r>
              <a:rPr sz="1800" b="1">
                <a:solidFill>
                  <a:srgbClr val="1E3A8A"/>
                </a:solidFill>
                <a:latin typeface="Pretendard"/>
              </a:rPr>
              <a:t>3</a:t>
            </a:r>
            <a:r>
              <a:rPr sz="1800" b="1">
                <a:solidFill>
                  <a:srgbClr val="1D1D1F"/>
                </a:solidFill>
                <a:latin typeface="Pretendard"/>
              </a:rPr>
              <a:t>이지스 글로벌 도약 전략 포지셔닝</a:t>
            </a:r>
          </a:p>
          <a:p>
            <a:pPr algn="l">
              <a:spcAft>
                <a:spcPts val="600"/>
              </a:spcAft>
            </a:pPr>
            <a:r>
              <a:rPr sz="1800" b="1">
                <a:solidFill>
                  <a:srgbClr val="1D1D1F"/>
                </a:solidFill>
                <a:latin typeface="Pretendard"/>
              </a:rPr>
              <a:t>3대 플랫폼 베팅과 다전략 아키텍처 구축</a:t>
            </a:r>
          </a:p>
          <a:p>
            <a:pPr algn="l">
              <a:spcAft>
                <a:spcPts val="600"/>
              </a:spcAft>
            </a:pPr>
            <a:r>
              <a:rPr sz="1800" b="1">
                <a:solidFill>
                  <a:srgbClr val="1E3A8A"/>
                </a:solidFill>
                <a:latin typeface="Pretendard"/>
              </a:rPr>
              <a:t>4</a:t>
            </a:r>
            <a:r>
              <a:rPr sz="1800" b="1">
                <a:solidFill>
                  <a:srgbClr val="1D1D1F"/>
                </a:solidFill>
                <a:latin typeface="Pretendard"/>
              </a:rPr>
              <a:t>IOTA 서울의 역할과 실행 변수</a:t>
            </a:r>
          </a:p>
          <a:p>
            <a:pPr algn="l">
              <a:spcAft>
                <a:spcPts val="600"/>
              </a:spcAft>
            </a:pPr>
            <a:r>
              <a:rPr sz="1800" b="1">
                <a:solidFill>
                  <a:srgbClr val="1D1D1F"/>
                </a:solidFill>
                <a:latin typeface="Pretendard"/>
              </a:rPr>
              <a:t>단일 최대 트로피 자산의 Re-rating 메커니즘</a:t>
            </a:r>
          </a:p>
        </p:txBody>
      </p:sp>
      <p:sp>
        <p:nvSpPr>
          <p:cNvPr id="5" name="Rectangle 4"/>
          <p:cNvSpPr/>
          <p:nvPr/>
        </p:nvSpPr>
        <p:spPr>
          <a:xfrm>
            <a:off x="914400" y="3456285"/>
            <a:ext cx="10362895" cy="12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4173835"/>
            <a:ext cx="10362895" cy="12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891388"/>
            <a:ext cx="10362895" cy="12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시대의 리듬과 이지스의 결단</a:t>
            </a:r>
          </a:p>
          <a:p>
            <a:pPr algn="ctr"/>
            <a:r>
              <a:rPr sz="3200" b="1">
                <a:solidFill>
                  <a:srgbClr val="1D1D1F"/>
                </a:solidFill>
                <a:latin typeface="Pretendard"/>
              </a:rPr>
              <a:t>역사적 변곡점마다 도시는 스스로를 재창조한다</a:t>
            </a:r>
          </a:p>
        </p:txBody>
      </p:sp>
      <p:sp>
        <p:nvSpPr>
          <p:cNvPr id="3" name="Rounded Rectangle 2"/>
          <p:cNvSpPr/>
          <p:nvPr/>
        </p:nvSpPr>
        <p:spPr>
          <a:xfrm>
            <a:off x="914400" y="2194560"/>
            <a:ext cx="4998567"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4724247"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도쿄의 심장 재창조</a:t>
            </a:r>
          </a:p>
          <a:p>
            <a:pPr algn="ctr">
              <a:spcAft>
                <a:spcPts val="600"/>
              </a:spcAft>
            </a:pPr>
            <a:r>
              <a:rPr sz="1800" b="1">
                <a:solidFill>
                  <a:srgbClr val="1D1D1F"/>
                </a:solidFill>
                <a:latin typeface="Pretendard"/>
              </a:rPr>
              <a:t>모리 빌딩 (Mori Building)</a:t>
            </a:r>
          </a:p>
          <a:p>
            <a:pPr algn="ctr">
              <a:spcAft>
                <a:spcPts val="600"/>
              </a:spcAft>
            </a:pPr>
            <a:r>
              <a:rPr sz="1700" b="1">
                <a:solidFill>
                  <a:srgbClr val="1D1D1F"/>
                </a:solidFill>
                <a:latin typeface="Pretendard"/>
              </a:rPr>
              <a:t>수직 도시 (Vertical City) 모델</a:t>
            </a:r>
          </a:p>
          <a:p>
            <a:pPr algn="l">
              <a:spcAft>
                <a:spcPts val="600"/>
              </a:spcAft>
            </a:pPr>
            <a:r>
              <a:rPr sz="1800" b="1">
                <a:solidFill>
                  <a:srgbClr val="1D1D1F"/>
                </a:solidFill>
                <a:latin typeface="Pretendard"/>
              </a:rPr>
              <a:t>▪ 도쿄의 심장을 재창조한 모리 빌딩의 수직 도시(Vertical City) 모델 벤치마킹</a:t>
            </a:r>
          </a:p>
          <a:p>
            <a:pPr algn="l">
              <a:spcAft>
                <a:spcPts val="600"/>
              </a:spcAft>
            </a:pPr>
            <a:r>
              <a:rPr sz="1800" b="1">
                <a:solidFill>
                  <a:srgbClr val="1D1D1F"/>
                </a:solidFill>
                <a:latin typeface="Pretendard"/>
              </a:rPr>
              <a:t>▪ 단일 건물을 넘어 서울역-남산 일대(YSBD)를 완전히 새로운 차원으로 연결 및 재창조</a:t>
            </a:r>
          </a:p>
          <a:p>
            <a:pPr algn="l">
              <a:spcAft>
                <a:spcPts val="600"/>
              </a:spcAft>
            </a:pPr>
            <a:r>
              <a:rPr sz="1800" b="1">
                <a:solidFill>
                  <a:srgbClr val="1D1D1F"/>
                </a:solidFill>
                <a:latin typeface="Pretendard"/>
              </a:rPr>
              <a:t>▪ 이지스자산운용은 단순 투자자가 아닌 도시의 미래를 설계하는 '마스터 디벨로퍼'로 진화</a:t>
            </a:r>
          </a:p>
        </p:txBody>
      </p:sp>
      <p:sp>
        <p:nvSpPr>
          <p:cNvPr id="5" name="Rounded Rectangle 4"/>
          <p:cNvSpPr/>
          <p:nvPr/>
        </p:nvSpPr>
        <p:spPr>
          <a:xfrm>
            <a:off x="6278727" y="2194560"/>
            <a:ext cx="4998567"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15887" y="2331720"/>
            <a:ext cx="4724247"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서울 YSBD의 재창조</a:t>
            </a:r>
          </a:p>
          <a:p>
            <a:pPr algn="ctr">
              <a:spcAft>
                <a:spcPts val="600"/>
              </a:spcAft>
            </a:pPr>
            <a:r>
              <a:rPr sz="1800" b="1">
                <a:solidFill>
                  <a:srgbClr val="1D1D1F"/>
                </a:solidFill>
                <a:latin typeface="Pretendard"/>
              </a:rPr>
              <a:t>이지스자산운용 (IGIS)</a:t>
            </a:r>
          </a:p>
          <a:p>
            <a:pPr algn="ctr">
              <a:spcAft>
                <a:spcPts val="600"/>
              </a:spcAft>
            </a:pPr>
            <a:r>
              <a:rPr sz="1700" b="1">
                <a:solidFill>
                  <a:srgbClr val="1D1D1F"/>
                </a:solidFill>
                <a:latin typeface="Pretendard"/>
              </a:rPr>
              <a:t>마스터 디벨로퍼 (Master Developer)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Part 1.</a:t>
            </a:r>
          </a:p>
          <a:p>
            <a:pPr algn="ctr">
              <a:spcAft>
                <a:spcPts val="1400"/>
              </a:spcAft>
            </a:pPr>
            <a:r>
              <a:rPr sz="2400" b="1">
                <a:solidFill>
                  <a:srgbClr val="FFFFFF"/>
                </a:solidFill>
                <a:latin typeface="Pretendard"/>
              </a:rPr>
              <a:t>한국 GDP 1조 → 2조 달러 시대 역사적 분석</a:t>
            </a:r>
            <a:r>
              <a:rPr sz="2400" b="1">
                <a:solidFill>
                  <a:srgbClr val="FFFFFF"/>
                </a:solidFill>
                <a:latin typeface="Pretendard"/>
              </a:rPr>
              <a:t>한국 GDP 1조 → 2조 달러 시대 역사적 분석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1.</a:t>
            </a:r>
          </a:p>
          <a:p>
            <a:pPr algn="ctr">
              <a:spcAft>
                <a:spcPts val="1400"/>
              </a:spcAft>
            </a:pPr>
            <a:r>
              <a:rPr sz="2400" b="1">
                <a:solidFill>
                  <a:srgbClr val="FFFFFF"/>
                </a:solidFill>
                <a:latin typeface="Pretendard"/>
              </a:rPr>
              <a:t>1조 달러에서 2조 달러로 거시 좌표의 이동</a:t>
            </a:r>
            <a:r>
              <a:rPr sz="2400" b="1">
                <a:solidFill>
                  <a:srgbClr val="FFFFFF"/>
                </a:solidFill>
                <a:latin typeface="Pretendard"/>
              </a:rPr>
              <a:t>1조 달러에서 2조 달러로 거시 좌표의 이동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1조 달러 시대의 개막과 담금질</a:t>
            </a:r>
          </a:p>
          <a:p>
            <a:pPr algn="ctr"/>
            <a:r>
              <a:rPr sz="3200" b="1">
                <a:solidFill>
                  <a:srgbClr val="1D1D1F"/>
                </a:solidFill>
                <a:latin typeface="Pretendard"/>
              </a:rPr>
              <a:t>2007년 KOSPI 2000 돌파와 금융위기를 극복한 1조 경제의 안착</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최초 1조 달러 돌파</a:t>
            </a:r>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2010~</a:t>
            </a:r>
          </a:p>
          <a:p>
            <a:pPr algn="ctr">
              <a:spcAft>
                <a:spcPts val="600"/>
              </a:spcAft>
            </a:pPr>
            <a:r>
              <a:rPr sz="1360" b="1">
                <a:solidFill>
                  <a:srgbClr val="1D1D1F"/>
                </a:solidFill>
                <a:latin typeface="Pretendard"/>
              </a:rPr>
              <a:t>완전한 안착</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핵심 지표</a:t>
            </a:r>
          </a:p>
          <a:p>
            <a:pPr algn="l">
              <a:spcAft>
                <a:spcPts val="600"/>
              </a:spcAft>
            </a:pPr>
            <a:r>
              <a:rPr sz="1200">
                <a:solidFill>
                  <a:srgbClr val="1D1D1F"/>
                </a:solidFill>
                <a:latin typeface="Pretendard"/>
              </a:rPr>
              <a:t>• 명목 GDP: 1.12조 달러</a:t>
            </a:r>
          </a:p>
          <a:p>
            <a:pPr algn="l">
              <a:spcAft>
                <a:spcPts val="600"/>
              </a:spcAft>
            </a:pPr>
            <a:r>
              <a:rPr sz="1200">
                <a:solidFill>
                  <a:srgbClr val="1D1D1F"/>
                </a:solidFill>
                <a:latin typeface="Pretendard"/>
              </a:rPr>
              <a:t>• 1인당 GDP: 2.4만 달러</a:t>
            </a:r>
          </a:p>
          <a:p>
            <a:pPr algn="l">
              <a:spcAft>
                <a:spcPts val="600"/>
              </a:spcAft>
            </a:pPr>
            <a:r>
              <a:rPr sz="1200">
                <a:solidFill>
                  <a:srgbClr val="1D1D1F"/>
                </a:solidFill>
                <a:latin typeface="Pretendard"/>
              </a:rPr>
              <a:t>• KOSPI: 최초 2,000선 돌파</a:t>
            </a:r>
          </a:p>
          <a:p>
            <a:pPr algn="l">
              <a:spcAft>
                <a:spcPts val="600"/>
              </a:spcAft>
            </a:pPr>
            <a:r>
              <a:rPr sz="1200">
                <a:solidFill>
                  <a:srgbClr val="1D1D1F"/>
                </a:solidFill>
                <a:latin typeface="Pretendard"/>
              </a:rPr>
              <a:t>• OECD 평균 소득의 70% 달성</a:t>
            </a:r>
          </a:p>
        </p:txBody>
      </p:sp>
      <p:sp>
        <p:nvSpPr>
          <p:cNvPr id="9" name="Rounded Rectangle 8"/>
          <p:cNvSpPr/>
          <p:nvPr/>
        </p:nvSpPr>
        <p:spPr>
          <a:xfrm>
            <a:off x="896089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안정적인 1조 달러 경제 정착</a:t>
            </a:r>
          </a:p>
          <a:p>
            <a:pPr algn="ctr">
              <a:spcAft>
                <a:spcPts val="600"/>
              </a:spcAft>
            </a:pPr>
            <a:r>
              <a:rPr sz="1200">
                <a:solidFill>
                  <a:srgbClr val="1D1D1F"/>
                </a:solidFill>
                <a:latin typeface="Pretendard"/>
              </a:rPr>
              <a:t>명목 GDP: 약 1.14조 달러</a:t>
            </a:r>
          </a:p>
        </p:txBody>
      </p:sp>
      <p:sp>
        <p:nvSpPr>
          <p:cNvPr id="11" name="Rounded Rectangle 10"/>
          <p:cNvSpPr/>
          <p:nvPr/>
        </p:nvSpPr>
        <p:spPr>
          <a:xfrm>
            <a:off x="914400" y="434340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$1 Trillion (명목 GDP 1조 달러 기준선)</a:t>
            </a:r>
          </a:p>
        </p:txBody>
      </p:sp>
      <p:sp>
        <p:nvSpPr>
          <p:cNvPr id="13" name="Rounded Rectangle 12"/>
          <p:cNvSpPr/>
          <p:nvPr/>
        </p:nvSpPr>
        <p:spPr>
          <a:xfrm>
            <a:off x="3596563"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2008~2009</a:t>
            </a:r>
          </a:p>
          <a:p>
            <a:pPr algn="ctr">
              <a:spcAft>
                <a:spcPts val="600"/>
              </a:spcAft>
            </a:pPr>
            <a:r>
              <a:rPr sz="1360" b="1">
                <a:solidFill>
                  <a:srgbClr val="1D1D1F"/>
                </a:solidFill>
                <a:latin typeface="Pretendard"/>
              </a:rPr>
              <a:t>글로벌 금융위기</a:t>
            </a:r>
          </a:p>
        </p:txBody>
      </p:sp>
      <p:sp>
        <p:nvSpPr>
          <p:cNvPr id="15" name="Rounded Rectangle 14"/>
          <p:cNvSpPr/>
          <p:nvPr/>
        </p:nvSpPr>
        <p:spPr>
          <a:xfrm>
            <a:off x="627872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4480560"/>
            <a:ext cx="2042083" cy="1600200"/>
          </a:xfrm>
          <a:prstGeom prst="rect">
            <a:avLst/>
          </a:prstGeom>
          <a:noFill/>
        </p:spPr>
        <p:txBody>
          <a:bodyPr wrap="square" lIns="0" rIns="0" tIns="0" bIns="0">
            <a:spAutoFit/>
          </a:bodyPr>
          <a:lstStyle/>
          <a:p>
            <a:pPr algn="ctr">
              <a:spcAft>
                <a:spcPts val="600"/>
              </a:spcAft>
            </a:pPr>
            <a:r>
              <a:rPr sz="1275" b="1">
                <a:solidFill>
                  <a:srgbClr val="1D1D1F"/>
                </a:solidFill>
                <a:latin typeface="Pretendard"/>
              </a:rPr>
              <a:t>GDP 1조 달러 아래로 후퇴 (약 0.94조 달러)</a:t>
            </a:r>
          </a:p>
          <a:p>
            <a:pPr algn="l">
              <a:spcAft>
                <a:spcPts val="600"/>
              </a:spcAft>
            </a:pPr>
            <a:r>
              <a:rPr sz="1614">
                <a:solidFill>
                  <a:srgbClr val="1D1D1F"/>
                </a:solidFill>
                <a:latin typeface="Pretendard"/>
              </a:rPr>
              <a:t>▪ 한국이 GDP 1조 달러를 처음 돌파한 해는 2007년임</a:t>
            </a:r>
          </a:p>
          <a:p>
            <a:pPr algn="l">
              <a:spcAft>
                <a:spcPts val="600"/>
              </a:spcAft>
            </a:pPr>
            <a:r>
              <a:rPr sz="1614">
                <a:solidFill>
                  <a:srgbClr val="1D1D1F"/>
                </a:solidFill>
                <a:latin typeface="Pretendard"/>
              </a:rPr>
              <a:t>▪ IMF 기준 명목 GDP 약 1.12조 달러, 1인당 GDP 약 2.4만 달러 기록</a:t>
            </a:r>
          </a:p>
          <a:p>
            <a:pPr algn="l">
              <a:spcAft>
                <a:spcPts val="600"/>
              </a:spcAft>
            </a:pPr>
            <a:r>
              <a:rPr sz="1614">
                <a:solidFill>
                  <a:srgbClr val="1D1D1F"/>
                </a:solidFill>
                <a:latin typeface="Pretendard"/>
              </a:rPr>
              <a:t>▪ KOSPI가 처음 2,000선을 돌파한 기념비적인 해</a:t>
            </a:r>
          </a:p>
          <a:p>
            <a:pPr algn="l">
              <a:spcAft>
                <a:spcPts val="600"/>
              </a:spcAft>
            </a:pPr>
            <a:r>
              <a:rPr sz="1614">
                <a:solidFill>
                  <a:srgbClr val="1D1D1F"/>
                </a:solidFill>
                <a:latin typeface="Pretendard"/>
              </a:rPr>
              <a:t>▪ 그러나 2008년 글로벌 금융위기로 1조 달러 아래로 후퇴하는 담금질을 겪음</a:t>
            </a:r>
          </a:p>
          <a:p>
            <a:pPr algn="l">
              <a:spcAft>
                <a:spcPts val="600"/>
              </a:spcAft>
            </a:pPr>
            <a:r>
              <a:rPr sz="1614">
                <a:solidFill>
                  <a:srgbClr val="1D1D1F"/>
                </a:solidFill>
                <a:latin typeface="Pretendard"/>
              </a:rPr>
              <a:t>▪ 2010년에 이르러서야 비로소 흔들림 없는 "안정적인 1조 달러 경제"로 정착함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마침내 도달할 GDP 2조 달러 고지</a:t>
            </a:r>
          </a:p>
          <a:p>
            <a:pPr algn="ctr"/>
            <a:r>
              <a:rPr sz="3200" b="1">
                <a:solidFill>
                  <a:srgbClr val="1D1D1F"/>
                </a:solidFill>
                <a:latin typeface="Pretendard"/>
              </a:rPr>
              <a:t>1조에서 2조 달러로 2배 성장, 대한민국의 20년 도약</a:t>
            </a:r>
          </a:p>
        </p:txBody>
      </p:sp>
      <p:sp>
        <p:nvSpPr>
          <p:cNvPr id="3" name="Rounded Rectangle 2"/>
          <p:cNvSpPr/>
          <p:nvPr/>
        </p:nvSpPr>
        <p:spPr>
          <a:xfrm>
            <a:off x="914400" y="2194560"/>
            <a:ext cx="4998567"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4724247"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2025~2027</a:t>
            </a:r>
          </a:p>
          <a:p>
            <a:pPr algn="ctr">
              <a:spcAft>
                <a:spcPts val="600"/>
              </a:spcAft>
            </a:pPr>
            <a:r>
              <a:rPr sz="1360" b="1">
                <a:solidFill>
                  <a:srgbClr val="1D1D1F"/>
                </a:solidFill>
                <a:latin typeface="Pretendard"/>
              </a:rPr>
              <a:t>2조 달러 달성 예상</a:t>
            </a:r>
          </a:p>
          <a:p>
            <a:pPr algn="ctr">
              <a:spcAft>
                <a:spcPts val="600"/>
              </a:spcAft>
            </a:pPr>
            <a:r>
              <a:rPr sz="1800" b="1">
                <a:solidFill>
                  <a:srgbClr val="1D1D1F"/>
                </a:solidFill>
                <a:latin typeface="Pretendard"/>
              </a:rPr>
              <a:t>$2T</a:t>
            </a:r>
          </a:p>
          <a:p>
            <a:pPr algn="ctr">
              <a:spcAft>
                <a:spcPts val="600"/>
              </a:spcAft>
            </a:pPr>
            <a:r>
              <a:rPr sz="1200" b="1">
                <a:solidFill>
                  <a:srgbClr val="1D1D1F"/>
                </a:solidFill>
                <a:latin typeface="Pretendard"/>
              </a:rPr>
              <a:t>명목 GDP: 약 2조 달러</a:t>
            </a:r>
          </a:p>
          <a:p>
            <a:pPr algn="l">
              <a:spcAft>
                <a:spcPts val="600"/>
              </a:spcAft>
            </a:pPr>
            <a:r>
              <a:rPr sz="1614">
                <a:solidFill>
                  <a:srgbClr val="1D1D1F"/>
                </a:solidFill>
                <a:latin typeface="Pretendard"/>
              </a:rPr>
              <a:t>▪ 2007년 1조 달러를 처음 돌파한 이후, 약 20년 만에 2조 달러 고지 달성이 가시화됨.</a:t>
            </a:r>
          </a:p>
          <a:p>
            <a:pPr algn="l">
              <a:spcAft>
                <a:spcPts val="600"/>
              </a:spcAft>
            </a:pPr>
            <a:r>
              <a:rPr sz="1614">
                <a:solidFill>
                  <a:srgbClr val="1D1D1F"/>
                </a:solidFill>
                <a:latin typeface="Pretendard"/>
              </a:rPr>
              <a:t>▪ 글로벌 경제의 변동성 속에서도 국가 경제 규모가 2배로 성장하는 거대한 사이클을 완성함.</a:t>
            </a:r>
          </a:p>
          <a:p>
            <a:pPr algn="l">
              <a:spcAft>
                <a:spcPts val="600"/>
              </a:spcAft>
            </a:pPr>
            <a:r>
              <a:rPr sz="1614">
                <a:solidFill>
                  <a:srgbClr val="1D1D1F"/>
                </a:solidFill>
                <a:latin typeface="Pretendard"/>
              </a:rPr>
              <a:t>▪ 단순한 양적 성장을 넘어, 산업 구조의 다변화와 글로벌 경쟁력 강화를 동반한 질적 도약의 시기였음.</a:t>
            </a:r>
          </a:p>
        </p:txBody>
      </p:sp>
      <p:sp>
        <p:nvSpPr>
          <p:cNvPr id="5" name="Rounded Rectangle 4"/>
          <p:cNvSpPr/>
          <p:nvPr/>
        </p:nvSpPr>
        <p:spPr>
          <a:xfrm>
            <a:off x="6278727" y="2194560"/>
            <a:ext cx="4998567"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15887" y="2331720"/>
            <a:ext cx="4724247"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2007</a:t>
            </a:r>
          </a:p>
          <a:p>
            <a:pPr algn="ctr">
              <a:spcAft>
                <a:spcPts val="600"/>
              </a:spcAft>
            </a:pPr>
            <a:r>
              <a:rPr sz="1200" b="1">
                <a:solidFill>
                  <a:srgbClr val="1D1D1F"/>
                </a:solidFill>
                <a:latin typeface="Pretendard"/>
              </a:rPr>
              <a:t>1조 달러 돌파</a:t>
            </a:r>
            <a:r>
              <a:t>                         </a:t>
            </a:r>
            <a:r>
              <a:rPr sz="1800" b="1">
                <a:solidFill>
                  <a:srgbClr val="1D1D1F"/>
                </a:solidFill>
                <a:latin typeface="Pretendard"/>
              </a:rPr>
              <a:t>X 2.0 배</a:t>
            </a:r>
          </a:p>
          <a:p>
            <a:pPr algn="ctr">
              <a:spcAft>
                <a:spcPts val="600"/>
              </a:spcAft>
            </a:pPr>
            <a:r>
              <a:rPr sz="1800" b="1">
                <a:solidFill>
                  <a:srgbClr val="1D1D1F"/>
                </a:solidFill>
                <a:latin typeface="Pretendard"/>
              </a:rPr>
              <a:t>$1T</a:t>
            </a:r>
            <a:r>
              <a:t>                    </a:t>
            </a:r>
            <a:r>
              <a:rPr sz="1200" b="1">
                <a:solidFill>
                  <a:srgbClr val="1D1D1F"/>
                </a:solidFill>
                <a:latin typeface="Pretendard"/>
              </a:rPr>
              <a:t>경제 규모 2배 성장 (약 20년 소요)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10대 산업 듀얼 엔진의 위력과 양면성</a:t>
            </a:r>
          </a:p>
          <a:p>
            <a:pPr algn="ctr"/>
            <a:r>
              <a:rPr sz="3200" b="1">
                <a:solidFill>
                  <a:srgbClr val="1D1D1F"/>
                </a:solidFill>
                <a:latin typeface="Pretendard"/>
              </a:rPr>
              <a:t>중후장대와 신성장 산업의 결합, 그리고 심화된 단일 종목 종속성</a:t>
            </a:r>
          </a:p>
        </p:txBody>
      </p:sp>
      <p:sp>
        <p:nvSpPr>
          <p:cNvPr id="3" name="Rounded Rectangle 2"/>
          <p:cNvSpPr/>
          <p:nvPr/>
        </p:nvSpPr>
        <p:spPr>
          <a:xfrm>
            <a:off x="914400" y="219456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52578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5대 중후장대</a:t>
            </a:r>
          </a:p>
          <a:p>
            <a:pPr algn="ctr">
              <a:spcAft>
                <a:spcPts val="600"/>
              </a:spcAft>
            </a:pPr>
            <a:r>
              <a:rPr sz="1200">
                <a:solidFill>
                  <a:srgbClr val="1D1D1F"/>
                </a:solidFill>
                <a:latin typeface="Pretendard"/>
              </a:rPr>
              <a:t>수출 제조업 슈퍼 사이클</a:t>
            </a:r>
          </a:p>
        </p:txBody>
      </p:sp>
      <p:sp>
        <p:nvSpPr>
          <p:cNvPr id="5" name="Rounded Rectangle 4"/>
          <p:cNvSpPr/>
          <p:nvPr/>
        </p:nvSpPr>
        <p:spPr>
          <a:xfrm>
            <a:off x="3596563" y="219456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52578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5대 신성장</a:t>
            </a:r>
          </a:p>
          <a:p>
            <a:pPr algn="ctr">
              <a:spcAft>
                <a:spcPts val="600"/>
              </a:spcAft>
            </a:pPr>
            <a:r>
              <a:rPr sz="1200">
                <a:solidFill>
                  <a:srgbClr val="1D1D1F"/>
                </a:solidFill>
                <a:latin typeface="Pretendard"/>
              </a:rPr>
              <a:t>신규 엔진 장착</a:t>
            </a:r>
          </a:p>
        </p:txBody>
      </p:sp>
      <p:sp>
        <p:nvSpPr>
          <p:cNvPr id="7" name="Rounded Rectangle 6"/>
          <p:cNvSpPr/>
          <p:nvPr/>
        </p:nvSpPr>
        <p:spPr>
          <a:xfrm>
            <a:off x="6278727" y="219456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52578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거시적 양면성</a:t>
            </a:r>
          </a:p>
          <a:p>
            <a:pPr algn="ctr">
              <a:spcAft>
                <a:spcPts val="600"/>
              </a:spcAft>
            </a:pPr>
            <a:r>
              <a:rPr sz="1800" b="1">
                <a:solidFill>
                  <a:srgbClr val="1D1D1F"/>
                </a:solidFill>
                <a:latin typeface="Pretendard"/>
              </a:rPr>
              <a:t>반도체 의존도 심화</a:t>
            </a:r>
          </a:p>
          <a:p>
            <a:pPr algn="ctr">
              <a:spcAft>
                <a:spcPts val="600"/>
              </a:spcAft>
            </a:pPr>
            <a:r>
              <a:rPr sz="1360" b="1">
                <a:solidFill>
                  <a:srgbClr val="1D1D1F"/>
                </a:solidFill>
                <a:latin typeface="Pretendard"/>
              </a:rPr>
              <a:t>높은 회복탄력성 (Resilience)</a:t>
            </a:r>
          </a:p>
          <a:p>
            <a:pPr algn="l">
              <a:spcAft>
                <a:spcPts val="600"/>
              </a:spcAft>
            </a:pPr>
            <a:r>
              <a:rPr sz="1614">
                <a:solidFill>
                  <a:srgbClr val="1D1D1F"/>
                </a:solidFill>
                <a:latin typeface="Pretendard"/>
              </a:rPr>
              <a:t>▪ 1조 → 2조 달러 20년 구간의 본질은 "수출 제조업 슈퍼 사이클 + 신규 엔진 장착"임</a:t>
            </a:r>
          </a:p>
          <a:p>
            <a:pPr algn="l">
              <a:spcAft>
                <a:spcPts val="600"/>
              </a:spcAft>
            </a:pPr>
            <a:r>
              <a:rPr sz="1614">
                <a:solidFill>
                  <a:srgbClr val="1D1D1F"/>
                </a:solidFill>
                <a:latin typeface="Pretendard"/>
              </a:rPr>
              <a:t>▪ 5대 중후장대(반도체·자동차·조선 등)와 5대 신성장(콘텐츠·바이오 등)의 10대 산업 듀얼 엔진으로 확장됨</a:t>
            </a:r>
          </a:p>
          <a:p>
            <a:pPr algn="l">
              <a:spcAft>
                <a:spcPts val="600"/>
              </a:spcAft>
            </a:pPr>
            <a:r>
              <a:rPr sz="1614">
                <a:solidFill>
                  <a:srgbClr val="1D1D1F"/>
                </a:solidFill>
                <a:latin typeface="Pretendard"/>
              </a:rPr>
              <a:t>▪ 단일 동력원에 의존하지 않아 높은 회복탄력성(Resilience)을 입증함</a:t>
            </a:r>
          </a:p>
          <a:p>
            <a:pPr algn="l">
              <a:spcAft>
                <a:spcPts val="600"/>
              </a:spcAft>
            </a:pPr>
            <a:r>
              <a:rPr sz="1614">
                <a:solidFill>
                  <a:srgbClr val="1D1D1F"/>
                </a:solidFill>
                <a:latin typeface="Pretendard"/>
              </a:rPr>
              <a:t>▪ 반대로 반도체 단일 종목에 대한 의존도 심화라는 거시적 양면성도 함께 가짐</a:t>
            </a:r>
          </a:p>
        </p:txBody>
      </p:sp>
      <p:sp>
        <p:nvSpPr>
          <p:cNvPr id="9" name="Rounded Rectangle 8"/>
          <p:cNvSpPr/>
          <p:nvPr/>
        </p:nvSpPr>
        <p:spPr>
          <a:xfrm>
            <a:off x="8960891" y="219456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52578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조선</a:t>
            </a:r>
          </a:p>
        </p:txBody>
      </p:sp>
      <p:sp>
        <p:nvSpPr>
          <p:cNvPr id="11" name="Rounded Rectangle 10"/>
          <p:cNvSpPr/>
          <p:nvPr/>
        </p:nvSpPr>
        <p:spPr>
          <a:xfrm>
            <a:off x="914400" y="326898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406140"/>
            <a:ext cx="2042083" cy="52578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2차전지</a:t>
            </a:r>
          </a:p>
        </p:txBody>
      </p:sp>
      <p:sp>
        <p:nvSpPr>
          <p:cNvPr id="13" name="Rounded Rectangle 12"/>
          <p:cNvSpPr/>
          <p:nvPr/>
        </p:nvSpPr>
        <p:spPr>
          <a:xfrm>
            <a:off x="3596563" y="3268980"/>
            <a:ext cx="2316403" cy="80010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406140"/>
            <a:ext cx="2042083" cy="52578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반도체</a:t>
            </a:r>
          </a:p>
        </p:txBody>
      </p:sp>
      <p:sp>
        <p:nvSpPr>
          <p:cNvPr id="15" name="Rounded Rectangle 14"/>
          <p:cNvSpPr/>
          <p:nvPr/>
        </p:nvSpPr>
        <p:spPr>
          <a:xfrm>
            <a:off x="6278727" y="3268980"/>
            <a:ext cx="2316403" cy="80010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406140"/>
            <a:ext cx="2042083" cy="52578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콘텐츠</a:t>
            </a:r>
          </a:p>
        </p:txBody>
      </p:sp>
      <p:sp>
        <p:nvSpPr>
          <p:cNvPr id="17" name="Rounded Rectangle 16"/>
          <p:cNvSpPr/>
          <p:nvPr/>
        </p:nvSpPr>
        <p:spPr>
          <a:xfrm>
            <a:off x="8960891" y="3268980"/>
            <a:ext cx="2316403" cy="80010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406140"/>
            <a:ext cx="2042083" cy="52578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자동차</a:t>
            </a:r>
          </a:p>
        </p:txBody>
      </p:sp>
      <p:sp>
        <p:nvSpPr>
          <p:cNvPr id="19" name="Rounded Rectangle 18"/>
          <p:cNvSpPr/>
          <p:nvPr/>
        </p:nvSpPr>
        <p:spPr>
          <a:xfrm>
            <a:off x="914400" y="4343400"/>
            <a:ext cx="2316403" cy="80010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480560"/>
            <a:ext cx="2042083" cy="52578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바이오</a:t>
            </a:r>
          </a:p>
        </p:txBody>
      </p:sp>
      <p:sp>
        <p:nvSpPr>
          <p:cNvPr id="21" name="Rounded Rectangle 20"/>
          <p:cNvSpPr/>
          <p:nvPr/>
        </p:nvSpPr>
        <p:spPr>
          <a:xfrm>
            <a:off x="3596563" y="4343400"/>
            <a:ext cx="2316403" cy="80010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33723" y="4480560"/>
            <a:ext cx="2042083" cy="525780"/>
          </a:xfrm>
          <a:prstGeom prst="rect">
            <a:avLst/>
          </a:prstGeom>
          <a:noFill/>
        </p:spPr>
        <p:txBody>
          <a:bodyPr wrap="square" lIns="0" rIns="0" tIns="0" bIns="0">
            <a:spAutoFit/>
          </a:bodyPr>
          <a:lstStyle/>
          <a:p/>
        </p:txBody>
      </p:sp>
      <p:sp>
        <p:nvSpPr>
          <p:cNvPr id="23" name="Rounded Rectangle 22"/>
          <p:cNvSpPr/>
          <p:nvPr/>
        </p:nvSpPr>
        <p:spPr>
          <a:xfrm>
            <a:off x="6278727" y="4343400"/>
            <a:ext cx="2316403" cy="80010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5887" y="4480560"/>
            <a:ext cx="2042083" cy="525780"/>
          </a:xfrm>
          <a:prstGeom prst="rect">
            <a:avLst/>
          </a:prstGeom>
          <a:noFill/>
        </p:spPr>
        <p:txBody>
          <a:bodyPr wrap="square" lIns="0" rIns="0" tIns="0" bIns="0">
            <a:spAutoFit/>
          </a:bodyPr>
          <a:lstStyle/>
          <a:p/>
        </p:txBody>
      </p:sp>
      <p:sp>
        <p:nvSpPr>
          <p:cNvPr id="25" name="Rounded Rectangle 24"/>
          <p:cNvSpPr/>
          <p:nvPr/>
        </p:nvSpPr>
        <p:spPr>
          <a:xfrm>
            <a:off x="8960891" y="4343400"/>
            <a:ext cx="2316403" cy="80010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051" y="4480560"/>
            <a:ext cx="2042083" cy="52578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석유화학</a:t>
            </a:r>
          </a:p>
          <a:p>
            <a:pPr algn="ctr">
              <a:spcAft>
                <a:spcPts val="600"/>
              </a:spcAft>
            </a:pPr>
            <a:r>
              <a:rPr sz="1530" b="1">
                <a:solidFill>
                  <a:srgbClr val="1D1D1F"/>
                </a:solidFill>
                <a:latin typeface="Pretendard"/>
              </a:rPr>
              <a:t>철강</a:t>
            </a:r>
          </a:p>
        </p:txBody>
      </p:sp>
      <p:sp>
        <p:nvSpPr>
          <p:cNvPr id="27" name="Rounded Rectangle 26"/>
          <p:cNvSpPr/>
          <p:nvPr/>
        </p:nvSpPr>
        <p:spPr>
          <a:xfrm>
            <a:off x="914400" y="5417820"/>
            <a:ext cx="2316403" cy="80010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554980"/>
            <a:ext cx="2042083" cy="52578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IT 플랫폼</a:t>
            </a:r>
          </a:p>
          <a:p>
            <a:pPr algn="ctr">
              <a:spcAft>
                <a:spcPts val="600"/>
              </a:spcAft>
            </a:pPr>
            <a:r>
              <a:rPr sz="1530" b="1">
                <a:solidFill>
                  <a:srgbClr val="1D1D1F"/>
                </a:solidFill>
                <a:latin typeface="Pretendard"/>
              </a:rPr>
              <a:t>방산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2.</a:t>
            </a:r>
          </a:p>
          <a:p>
            <a:pPr algn="ctr">
              <a:spcAft>
                <a:spcPts val="1400"/>
              </a:spcAft>
            </a:pPr>
            <a:r>
              <a:rPr sz="2400" b="1">
                <a:solidFill>
                  <a:srgbClr val="FFFFFF"/>
                </a:solidFill>
                <a:latin typeface="Pretendard"/>
              </a:rPr>
              <a:t>산업별 모멘텀 한국 1조→2조 달러를 만든 10대 엔진</a:t>
            </a:r>
            <a:r>
              <a:rPr sz="2400" b="1">
                <a:solidFill>
                  <a:srgbClr val="FFFFFF"/>
                </a:solidFill>
                <a:latin typeface="Pretendard"/>
              </a:rPr>
              <a:t>산업별 모멘텀 한국 1조→2조 달러를 만든 10대 엔진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AI 슈퍼사이클과 반도체의 독주</a:t>
            </a:r>
          </a:p>
          <a:p>
            <a:pPr algn="ctr"/>
            <a:r>
              <a:rPr sz="3200" b="1">
                <a:solidFill>
                  <a:srgbClr val="1D1D1F"/>
                </a:solidFill>
                <a:latin typeface="Pretendard"/>
              </a:rPr>
              <a:t>삼성·SK 하이닉스가 주도하는 GDP 성장의 절대적 중추</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l">
              <a:spcAft>
                <a:spcPts val="600"/>
              </a:spcAft>
            </a:pPr>
            <a:r>
              <a:rPr sz="1700" b="1">
                <a:solidFill>
                  <a:srgbClr val="1D1D1F"/>
                </a:solidFill>
                <a:latin typeface="Pretendard"/>
              </a:rPr>
              <a:t>AI</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HBM</a:t>
            </a:r>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GDP Share</a:t>
            </a:r>
          </a:p>
          <a:p>
            <a:pPr algn="ctr">
              <a:spcAft>
                <a:spcPts val="600"/>
              </a:spcAft>
            </a:pPr>
            <a:r>
              <a:rPr sz="1800" b="1">
                <a:solidFill>
                  <a:srgbClr val="1D1D1F"/>
                </a:solidFill>
                <a:latin typeface="Pretendard"/>
              </a:rPr>
              <a:t>22.4%</a:t>
            </a:r>
          </a:p>
          <a:p>
            <a:pPr algn="ctr">
              <a:spcAft>
                <a:spcPts val="600"/>
              </a:spcAft>
            </a:pPr>
            <a:r>
              <a:rPr sz="1200" b="1">
                <a:solidFill>
                  <a:srgbClr val="1D1D1F"/>
                </a:solidFill>
                <a:latin typeface="Pretendard"/>
              </a:rPr>
              <a:t>단일 그룹 종속성</a:t>
            </a:r>
          </a:p>
          <a:p>
            <a:pPr algn="l">
              <a:spcAft>
                <a:spcPts val="600"/>
              </a:spcAft>
            </a:pPr>
            <a:r>
              <a:rPr sz="1614">
                <a:solidFill>
                  <a:srgbClr val="1D1D1F"/>
                </a:solidFill>
                <a:latin typeface="Pretendard"/>
              </a:rPr>
              <a:t>▪ 가장 결정적 엔진임. 삼성전자 매출은 2007년 약 100조 원에서 2025년 약 333조 원으로 3배 이상 확대.</a:t>
            </a:r>
          </a:p>
          <a:p>
            <a:pPr algn="l">
              <a:spcAft>
                <a:spcPts val="600"/>
              </a:spcAft>
            </a:pPr>
            <a:r>
              <a:rPr sz="1614">
                <a:solidFill>
                  <a:srgbClr val="1D1D1F"/>
                </a:solidFill>
                <a:latin typeface="Pretendard"/>
              </a:rPr>
              <a:t>▪ SK하이닉스는 2025년 사상 처음 분기 영업이익 10조 원을 돌파하며 AI 슈퍼사이클의 가장 큰 수혜자가 됨.</a:t>
            </a:r>
          </a:p>
          <a:p>
            <a:pPr algn="l">
              <a:spcAft>
                <a:spcPts val="600"/>
              </a:spcAft>
            </a:pPr>
            <a:r>
              <a:rPr sz="1614">
                <a:solidFill>
                  <a:srgbClr val="1D1D1F"/>
                </a:solidFill>
                <a:latin typeface="Pretendard"/>
              </a:rPr>
              <a:t>▪ Bloomberg는 2024년 삼성전자 단독으로 한국 GDP 성장의 약 절반을 설명한다고 분석함.</a:t>
            </a:r>
          </a:p>
          <a:p>
            <a:pPr algn="l">
              <a:spcAft>
                <a:spcPts val="600"/>
              </a:spcAft>
            </a:pPr>
            <a:r>
              <a:rPr sz="1614">
                <a:solidFill>
                  <a:srgbClr val="1D1D1F"/>
                </a:solidFill>
                <a:latin typeface="Pretendard"/>
              </a:rPr>
              <a:t>▪ 삼성그룹 매출의 GDP 비중이 2007년 15%에서 2022년 22.4%까지 상승하여 단일 그룹 매크로 종속성이 오히려 심화됨.</a:t>
            </a:r>
          </a:p>
        </p:txBody>
      </p:sp>
      <p:sp>
        <p:nvSpPr>
          <p:cNvPr id="9" name="Rounded Rectangle 8"/>
          <p:cNvSpPr/>
          <p:nvPr/>
        </p:nvSpPr>
        <p:spPr>
          <a:xfrm>
            <a:off x="914400" y="434340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Samsung</a:t>
            </a:r>
          </a:p>
          <a:p>
            <a:pPr algn="l">
              <a:spcAft>
                <a:spcPts val="600"/>
              </a:spcAft>
            </a:pPr>
            <a:r>
              <a:rPr sz="1200">
                <a:solidFill>
                  <a:srgbClr val="1D1D1F"/>
                </a:solidFill>
                <a:latin typeface="Pretendard"/>
              </a:rPr>
              <a:t>매출 폭발적 확장</a:t>
            </a:r>
          </a:p>
          <a:p>
            <a:pPr algn="l">
              <a:spcAft>
                <a:spcPts val="600"/>
              </a:spcAft>
            </a:pPr>
            <a:r>
              <a:rPr sz="1360" b="1">
                <a:solidFill>
                  <a:srgbClr val="1D1D1F"/>
                </a:solidFill>
                <a:latin typeface="Pretendard"/>
              </a:rPr>
              <a:t>2007</a:t>
            </a:r>
            <a:r>
              <a:t>           </a:t>
            </a:r>
            <a:r>
              <a:rPr sz="1360" b="1">
                <a:solidFill>
                  <a:srgbClr val="1D1D1F"/>
                </a:solidFill>
                <a:latin typeface="Pretendard"/>
              </a:rPr>
              <a:t>약 100조 원</a:t>
            </a:r>
          </a:p>
          <a:p>
            <a:pPr algn="l">
              <a:spcAft>
                <a:spcPts val="600"/>
              </a:spcAft>
            </a:pPr>
            <a:r>
              <a:rPr sz="1700" b="1">
                <a:solidFill>
                  <a:srgbClr val="1D1D1F"/>
                </a:solidFill>
                <a:latin typeface="Pretendard"/>
              </a:rPr>
              <a:t>2025</a:t>
            </a:r>
            <a:r>
              <a:t>      </a:t>
            </a:r>
            <a:r>
              <a:rPr sz="1800" b="1">
                <a:solidFill>
                  <a:srgbClr val="1D1D1F"/>
                </a:solidFill>
                <a:latin typeface="Pretendard"/>
              </a:rPr>
              <a:t>약 333조 원</a:t>
            </a:r>
          </a:p>
        </p:txBody>
      </p:sp>
      <p:sp>
        <p:nvSpPr>
          <p:cNvPr id="11" name="Rounded Rectangle 10"/>
          <p:cNvSpPr/>
          <p:nvPr/>
        </p:nvSpPr>
        <p:spPr>
          <a:xfrm>
            <a:off x="62632170" y="434340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69330" y="448056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SK Hynix</a:t>
            </a:r>
          </a:p>
          <a:p>
            <a:pPr algn="l">
              <a:spcAft>
                <a:spcPts val="600"/>
              </a:spcAft>
            </a:pPr>
            <a:r>
              <a:rPr sz="1200">
                <a:solidFill>
                  <a:srgbClr val="1D1D1F"/>
                </a:solidFill>
                <a:latin typeface="Pretendard"/>
              </a:rPr>
              <a:t>사상 최대 영업이익</a:t>
            </a:r>
          </a:p>
          <a:p>
            <a:pPr algn="l">
              <a:spcAft>
                <a:spcPts val="600"/>
              </a:spcAft>
            </a:pPr>
            <a:r>
              <a:rPr sz="1360" b="1">
                <a:solidFill>
                  <a:srgbClr val="1D1D1F"/>
                </a:solidFill>
                <a:latin typeface="Pretendard"/>
              </a:rPr>
              <a:t>2007 Rev.</a:t>
            </a:r>
            <a:r>
              <a:t>          </a:t>
            </a:r>
            <a:r>
              <a:rPr sz="1360" b="1">
                <a:solidFill>
                  <a:srgbClr val="1D1D1F"/>
                </a:solidFill>
                <a:latin typeface="Pretendard"/>
              </a:rPr>
              <a:t>8.6조 원</a:t>
            </a:r>
          </a:p>
          <a:p>
            <a:pPr algn="l">
              <a:spcAft>
                <a:spcPts val="600"/>
              </a:spcAft>
            </a:pPr>
            <a:r>
              <a:rPr sz="1530" b="1">
                <a:solidFill>
                  <a:srgbClr val="1D1D1F"/>
                </a:solidFill>
                <a:latin typeface="Pretendard"/>
              </a:rPr>
              <a:t>2025 Q-Profit</a:t>
            </a:r>
            <a:r>
              <a:t>  </a:t>
            </a:r>
            <a:r>
              <a:rPr sz="1800" b="1">
                <a:solidFill>
                  <a:srgbClr val="1D1D1F"/>
                </a:solidFill>
                <a:latin typeface="Pretendard"/>
              </a:rPr>
              <a:t>10조 원+</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모빌리티를 넘어선 자동차 산업의 진화</a:t>
            </a:r>
          </a:p>
          <a:p>
            <a:pPr algn="ctr"/>
            <a:r>
              <a:rPr sz="3200" b="1">
                <a:solidFill>
                  <a:srgbClr val="1D1D1F"/>
                </a:solidFill>
                <a:latin typeface="Pretendard"/>
              </a:rPr>
              <a:t>로봇과 AI 인프라로 비즈니스 영토를 전면 확장하는 현대차그룹</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Auto</a:t>
            </a:r>
          </a:p>
          <a:p>
            <a:pPr algn="ctr">
              <a:spcAft>
                <a:spcPts val="600"/>
              </a:spcAft>
            </a:pPr>
            <a:r>
              <a:rPr sz="1360" b="1">
                <a:solidFill>
                  <a:srgbClr val="1D1D1F"/>
                </a:solidFill>
                <a:latin typeface="Pretendard"/>
              </a:rPr>
              <a:t>Global Top 3</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Robotics</a:t>
            </a:r>
          </a:p>
          <a:p>
            <a:pPr algn="ctr">
              <a:spcAft>
                <a:spcPts val="600"/>
              </a:spcAft>
            </a:pPr>
            <a:r>
              <a:rPr sz="1360" b="1">
                <a:solidFill>
                  <a:srgbClr val="1D1D1F"/>
                </a:solidFill>
                <a:latin typeface="Pretendard"/>
              </a:rPr>
              <a:t>UAM &amp; Droids</a:t>
            </a:r>
          </a:p>
        </p:txBody>
      </p:sp>
      <p:sp>
        <p:nvSpPr>
          <p:cNvPr id="7" name="Rounded Rectangle 6"/>
          <p:cNvSpPr/>
          <p:nvPr/>
        </p:nvSpPr>
        <p:spPr>
          <a:xfrm>
            <a:off x="8066836" y="219456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AI Infra</a:t>
            </a:r>
          </a:p>
          <a:p>
            <a:pPr algn="ctr">
              <a:spcAft>
                <a:spcPts val="600"/>
              </a:spcAft>
            </a:pPr>
            <a:r>
              <a:rPr sz="1360" b="1">
                <a:solidFill>
                  <a:srgbClr val="1D1D1F"/>
                </a:solidFill>
                <a:latin typeface="Pretendard"/>
              </a:rPr>
              <a:t>Data Center</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4M ➔ 7.23M</a:t>
            </a:r>
          </a:p>
          <a:p>
            <a:pPr algn="ctr">
              <a:spcAft>
                <a:spcPts val="600"/>
              </a:spcAft>
            </a:pPr>
            <a:r>
              <a:rPr sz="1200">
                <a:solidFill>
                  <a:srgbClr val="1D1D1F"/>
                </a:solidFill>
                <a:latin typeface="Pretendard"/>
              </a:rPr>
              <a:t>2007~2024 글로벌 판매</a:t>
            </a:r>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Boston Dynamics</a:t>
            </a:r>
          </a:p>
          <a:p>
            <a:pPr algn="ctr">
              <a:spcAft>
                <a:spcPts val="600"/>
              </a:spcAft>
            </a:pPr>
            <a:r>
              <a:rPr sz="1200">
                <a:solidFill>
                  <a:srgbClr val="1D1D1F"/>
                </a:solidFill>
                <a:latin typeface="Pretendard"/>
              </a:rPr>
              <a:t>인수 및 슈퍼널 설립</a:t>
            </a:r>
          </a:p>
          <a:p>
            <a:pPr algn="l">
              <a:spcAft>
                <a:spcPts val="600"/>
              </a:spcAft>
            </a:pPr>
            <a:r>
              <a:rPr sz="1614">
                <a:solidFill>
                  <a:srgbClr val="1D1D1F"/>
                </a:solidFill>
                <a:latin typeface="Pretendard"/>
              </a:rPr>
              <a:t>▪ 2007년 글로벌 판매 약 400만 대에서 2024년 약 723만 대로 도요타·폭스바겐에 이은 글로벌 3위 그룹으로 확립.</a:t>
            </a:r>
          </a:p>
          <a:p>
            <a:pPr algn="l">
              <a:spcAft>
                <a:spcPts val="600"/>
              </a:spcAft>
            </a:pPr>
            <a:r>
              <a:rPr sz="1614">
                <a:solidFill>
                  <a:srgbClr val="1D1D1F"/>
                </a:solidFill>
                <a:latin typeface="Pretendard"/>
              </a:rPr>
              <a:t>▪ 전기차 전환에서 아이오닉·EV9 라인업으로 테슬라·BYD 다음 그룹에 안정적으로 안착함.</a:t>
            </a:r>
          </a:p>
          <a:p>
            <a:pPr algn="l">
              <a:spcAft>
                <a:spcPts val="600"/>
              </a:spcAft>
            </a:pPr>
            <a:r>
              <a:rPr sz="1614">
                <a:solidFill>
                  <a:srgbClr val="1D1D1F"/>
                </a:solidFill>
                <a:latin typeface="Pretendard"/>
              </a:rPr>
              <a:t>▪ 보스턴 다이내믹스 인수(2021) 및 슈퍼널(UAM) 설립으로 모빌리티의 경계를 허묾.</a:t>
            </a:r>
          </a:p>
          <a:p>
            <a:pPr algn="l">
              <a:spcAft>
                <a:spcPts val="600"/>
              </a:spcAft>
            </a:pPr>
            <a:r>
              <a:rPr sz="1614">
                <a:solidFill>
                  <a:srgbClr val="1D1D1F"/>
                </a:solidFill>
                <a:latin typeface="Pretendard"/>
              </a:rPr>
              <a:t>▪ NVIDIA 협력 AI 데이터센터 건립을 통해 자동차 ➔ 로봇 ➔ AI 인프라까지 비즈니스 영역을 전면 확장 중.</a:t>
            </a:r>
          </a:p>
        </p:txBody>
      </p:sp>
      <p:sp>
        <p:nvSpPr>
          <p:cNvPr id="13" name="Rounded Rectangle 12"/>
          <p:cNvSpPr/>
          <p:nvPr/>
        </p:nvSpPr>
        <p:spPr>
          <a:xfrm>
            <a:off x="8066836"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3996" y="4480560"/>
            <a:ext cx="2936138"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NVIDIA Partner</a:t>
            </a:r>
          </a:p>
          <a:p>
            <a:pPr algn="ctr">
              <a:spcAft>
                <a:spcPts val="600"/>
              </a:spcAft>
            </a:pPr>
            <a:r>
              <a:rPr sz="1200">
                <a:solidFill>
                  <a:srgbClr val="1D1D1F"/>
                </a:solidFill>
                <a:latin typeface="Pretendard"/>
              </a:rPr>
              <a:t>AI 인프라 혁신(2026)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글로벌 패권 경쟁 속 조선업의 부활</a:t>
            </a:r>
          </a:p>
          <a:p>
            <a:pPr algn="ctr"/>
            <a:r>
              <a:rPr sz="3200" b="1">
                <a:solidFill>
                  <a:srgbClr val="1D1D1F"/>
                </a:solidFill>
                <a:latin typeface="Pretendard"/>
              </a:rPr>
              <a:t>MASGA 흐름을 올라탄 K-조선 빅3의 압도적 시장 지배력</a:t>
            </a:r>
          </a:p>
        </p:txBody>
      </p:sp>
      <p:sp>
        <p:nvSpPr>
          <p:cNvPr id="3" name="Rounded Rectangle 2"/>
          <p:cNvSpPr/>
          <p:nvPr/>
        </p:nvSpPr>
        <p:spPr>
          <a:xfrm>
            <a:off x="914400"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K-조선 BIG 3</a:t>
            </a:r>
          </a:p>
          <a:p>
            <a:pPr algn="ctr">
              <a:spcAft>
                <a:spcPts val="600"/>
              </a:spcAft>
            </a:pPr>
            <a:r>
              <a:rPr sz="1360" b="1">
                <a:solidFill>
                  <a:srgbClr val="1D1D1F"/>
                </a:solidFill>
                <a:latin typeface="Pretendard"/>
              </a:rPr>
              <a:t>HD현대중공업</a:t>
            </a:r>
          </a:p>
          <a:p>
            <a:pPr algn="ctr">
              <a:spcAft>
                <a:spcPts val="600"/>
              </a:spcAft>
            </a:pPr>
            <a:r>
              <a:rPr sz="1360" b="1">
                <a:solidFill>
                  <a:srgbClr val="1D1D1F"/>
                </a:solidFill>
                <a:latin typeface="Pretendard"/>
              </a:rPr>
              <a:t>삼성중공업</a:t>
            </a:r>
          </a:p>
          <a:p>
            <a:pPr algn="ctr">
              <a:spcAft>
                <a:spcPts val="600"/>
              </a:spcAft>
            </a:pPr>
            <a:r>
              <a:rPr sz="1360" b="1">
                <a:solidFill>
                  <a:srgbClr val="1D1D1F"/>
                </a:solidFill>
                <a:latin typeface="Pretendard"/>
              </a:rPr>
              <a:t>한화오션</a:t>
            </a:r>
          </a:p>
        </p:txBody>
      </p:sp>
      <p:sp>
        <p:nvSpPr>
          <p:cNvPr id="5" name="Rounded Rectangle 4"/>
          <p:cNvSpPr/>
          <p:nvPr/>
        </p:nvSpPr>
        <p:spPr>
          <a:xfrm>
            <a:off x="3596563"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374904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2025년 수출 증가율</a:t>
            </a:r>
          </a:p>
          <a:p>
            <a:pPr algn="ctr">
              <a:spcAft>
                <a:spcPts val="600"/>
              </a:spcAft>
            </a:pPr>
            <a:r>
              <a:rPr sz="1800" b="1">
                <a:solidFill>
                  <a:srgbClr val="1D1D1F"/>
                </a:solidFill>
                <a:latin typeface="Pretendard"/>
              </a:rPr>
              <a:t>+24.9%</a:t>
            </a:r>
          </a:p>
          <a:p>
            <a:pPr algn="ctr">
              <a:spcAft>
                <a:spcPts val="600"/>
              </a:spcAft>
            </a:pPr>
            <a:r>
              <a:rPr sz="1200" b="1">
                <a:solidFill>
                  <a:srgbClr val="1D1D1F"/>
                </a:solidFill>
                <a:latin typeface="Pretendard"/>
              </a:rPr>
              <a:t>반도체와 유일한 두 자릿수 성장</a:t>
            </a:r>
          </a:p>
        </p:txBody>
      </p:sp>
      <p:sp>
        <p:nvSpPr>
          <p:cNvPr id="7" name="Rounded Rectangle 6"/>
          <p:cNvSpPr/>
          <p:nvPr/>
        </p:nvSpPr>
        <p:spPr>
          <a:xfrm>
            <a:off x="6278727"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60%+</a:t>
            </a:r>
            <a:r>
              <a:t>           </a:t>
            </a:r>
            <a:r>
              <a:rPr sz="1800" b="1">
                <a:solidFill>
                  <a:srgbClr val="1D1D1F"/>
                </a:solidFill>
                <a:latin typeface="Pretendard"/>
              </a:rPr>
              <a:t>MASGA</a:t>
            </a:r>
          </a:p>
          <a:p>
            <a:pPr algn="ctr">
              <a:spcAft>
                <a:spcPts val="600"/>
              </a:spcAft>
            </a:pPr>
            <a:r>
              <a:rPr sz="1200" b="1">
                <a:solidFill>
                  <a:srgbClr val="1D1D1F"/>
                </a:solidFill>
                <a:latin typeface="Pretendard"/>
              </a:rPr>
              <a:t>LNG / Ammonia Offshore Plants</a:t>
            </a:r>
            <a:r>
              <a:t>            </a:t>
            </a:r>
            <a:r>
              <a:rPr sz="1200" b="1">
                <a:solidFill>
                  <a:srgbClr val="1D1D1F"/>
                </a:solidFill>
                <a:latin typeface="Pretendard"/>
              </a:rPr>
              <a:t>Make American Shipbuilding Great Again</a:t>
            </a:r>
          </a:p>
          <a:p>
            <a:pPr algn="l">
              <a:spcAft>
                <a:spcPts val="600"/>
              </a:spcAft>
            </a:pPr>
            <a:r>
              <a:rPr sz="1614">
                <a:solidFill>
                  <a:srgbClr val="1D1D1F"/>
                </a:solidFill>
                <a:latin typeface="Pretendard"/>
              </a:rPr>
              <a:t>▪ HD현대중공업·삼성중공업·한화오션의 압도적 빅3 체제.</a:t>
            </a:r>
          </a:p>
          <a:p>
            <a:pPr algn="l">
              <a:spcAft>
                <a:spcPts val="600"/>
              </a:spcAft>
            </a:pPr>
            <a:r>
              <a:rPr sz="1614">
                <a:solidFill>
                  <a:srgbClr val="1D1D1F"/>
                </a:solidFill>
                <a:latin typeface="Pretendard"/>
              </a:rPr>
              <a:t>▪ 2025년 한국 조선 수출은 전년 대비 24.9% 증가하며, 반도체(+22.2%)와 함께 두 자릿수 성장을 기록한 유일한 업종임.</a:t>
            </a:r>
          </a:p>
          <a:p>
            <a:pPr algn="l">
              <a:spcAft>
                <a:spcPts val="600"/>
              </a:spcAft>
            </a:pPr>
            <a:r>
              <a:rPr sz="1614">
                <a:solidFill>
                  <a:srgbClr val="1D1D1F"/>
                </a:solidFill>
                <a:latin typeface="Pretendard"/>
              </a:rPr>
              <a:t>▪ LNG 운반선·암모니아 운반선·해양플랜트 등 고부가가치 선박에서 글로벌 점유율 60% 이상을 차지함.</a:t>
            </a:r>
          </a:p>
          <a:p>
            <a:pPr algn="l">
              <a:spcAft>
                <a:spcPts val="600"/>
              </a:spcAft>
            </a:pPr>
            <a:r>
              <a:rPr sz="1614">
                <a:solidFill>
                  <a:srgbClr val="1D1D1F"/>
                </a:solidFill>
                <a:latin typeface="Pretendard"/>
              </a:rPr>
              <a:t>▪ 미·중 패권 경쟁이 촉발한 MASGA(Make American Shipbuilding Great Again) 흐름의 직접적 수혜 산업.</a:t>
            </a:r>
          </a:p>
        </p:txBody>
      </p:sp>
      <p:sp>
        <p:nvSpPr>
          <p:cNvPr id="9" name="Rounded Rectangle 8"/>
          <p:cNvSpPr/>
          <p:nvPr/>
        </p:nvSpPr>
        <p:spPr>
          <a:xfrm>
            <a:off x="340368450"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0505610" y="2331720"/>
            <a:ext cx="2042083" cy="374904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DOMINANCE</a:t>
            </a:r>
          </a:p>
          <a:p>
            <a:pPr algn="ctr">
              <a:spcAft>
                <a:spcPts val="600"/>
              </a:spcAft>
            </a:pPr>
            <a:r>
              <a:rPr sz="1530" b="1">
                <a:solidFill>
                  <a:srgbClr val="1D1D1F"/>
                </a:solidFill>
                <a:latin typeface="Pretendard"/>
              </a:rPr>
              <a:t>고부가가치선 점유율</a:t>
            </a:r>
            <a:r>
              <a:t>                </a:t>
            </a:r>
            <a:r>
              <a:rPr sz="1530" b="1">
                <a:solidFill>
                  <a:srgbClr val="1D1D1F"/>
                </a:solidFill>
                <a:latin typeface="Pretendard"/>
              </a:rPr>
              <a:t>미·중 패권 수혜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구조적 한계에 봉착한 석유화학</a:t>
            </a:r>
          </a:p>
          <a:p>
            <a:pPr algn="ctr"/>
            <a:r>
              <a:rPr sz="3200" b="1">
                <a:solidFill>
                  <a:srgbClr val="1D1D1F"/>
                </a:solidFill>
                <a:latin typeface="Pretendard"/>
              </a:rPr>
              <a:t>중국 자급률 상승이 촉발한 전통 에너지 섹터의 다운사이클</a:t>
            </a:r>
          </a:p>
        </p:txBody>
      </p:sp>
      <p:sp>
        <p:nvSpPr>
          <p:cNvPr id="3" name="Rounded Rectangle 2"/>
          <p:cNvSpPr/>
          <p:nvPr/>
        </p:nvSpPr>
        <p:spPr>
          <a:xfrm>
            <a:off x="914400" y="2194560"/>
            <a:ext cx="3210458"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정유 4강 체제</a:t>
            </a:r>
          </a:p>
          <a:p>
            <a:pPr algn="ctr">
              <a:spcAft>
                <a:spcPts val="600"/>
              </a:spcAft>
            </a:pPr>
            <a:r>
              <a:rPr sz="1200" b="1">
                <a:solidFill>
                  <a:srgbClr val="1D1D1F"/>
                </a:solidFill>
                <a:latin typeface="Pretendard"/>
              </a:rPr>
              <a:t>SK Innovation</a:t>
            </a:r>
            <a:r>
              <a:t> </a:t>
            </a:r>
            <a:r>
              <a:rPr sz="1200" b="1">
                <a:solidFill>
                  <a:srgbClr val="1D1D1F"/>
                </a:solidFill>
                <a:latin typeface="Pretendard"/>
              </a:rPr>
              <a:t>GS Caltex</a:t>
            </a:r>
          </a:p>
          <a:p>
            <a:pPr algn="ctr">
              <a:spcAft>
                <a:spcPts val="600"/>
              </a:spcAft>
            </a:pPr>
            <a:r>
              <a:rPr sz="1200" b="1">
                <a:solidFill>
                  <a:srgbClr val="1D1D1F"/>
                </a:solidFill>
                <a:latin typeface="Pretendard"/>
              </a:rPr>
              <a:t>S-Oil</a:t>
            </a:r>
            <a:r>
              <a:t> </a:t>
            </a:r>
            <a:r>
              <a:rPr sz="1200" b="1">
                <a:solidFill>
                  <a:srgbClr val="1D1D1F"/>
                </a:solidFill>
                <a:latin typeface="Pretendard"/>
              </a:rPr>
              <a:t>Hyundai Oilbank</a:t>
            </a:r>
          </a:p>
        </p:txBody>
      </p:sp>
      <p:sp>
        <p:nvSpPr>
          <p:cNvPr id="5" name="Rounded Rectangle 4"/>
          <p:cNvSpPr/>
          <p:nvPr/>
        </p:nvSpPr>
        <p:spPr>
          <a:xfrm>
            <a:off x="15097658" y="2194560"/>
            <a:ext cx="3210458"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234818" y="2331720"/>
            <a:ext cx="2936138"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후반부 성장 둔화</a:t>
            </a:r>
          </a:p>
        </p:txBody>
      </p:sp>
      <p:sp>
        <p:nvSpPr>
          <p:cNvPr id="7" name="Rounded Rectangle 6"/>
          <p:cNvSpPr/>
          <p:nvPr/>
        </p:nvSpPr>
        <p:spPr>
          <a:xfrm>
            <a:off x="29280916" y="2194560"/>
            <a:ext cx="3210458"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418076" y="2331720"/>
            <a:ext cx="2936138"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구조적 다운사이클</a:t>
            </a:r>
          </a:p>
          <a:p>
            <a:pPr algn="ctr">
              <a:spcAft>
                <a:spcPts val="600"/>
              </a:spcAft>
            </a:pPr>
            <a:r>
              <a:rPr sz="1530" b="1">
                <a:solidFill>
                  <a:srgbClr val="1D1D1F"/>
                </a:solidFill>
                <a:latin typeface="Pretendard"/>
              </a:rPr>
              <a:t>중국 자급률 상승</a:t>
            </a:r>
          </a:p>
          <a:p>
            <a:pPr algn="l">
              <a:spcAft>
                <a:spcPts val="600"/>
              </a:spcAft>
            </a:pPr>
            <a:r>
              <a:rPr sz="1614">
                <a:solidFill>
                  <a:srgbClr val="1D1D1F"/>
                </a:solidFill>
                <a:latin typeface="Pretendard"/>
              </a:rPr>
              <a:t>▪ 2007년에는 SK이노베이션·GS칼텍스·에쓰오일·현대오일뱅크 4강이 명확히 시장을 주도함.</a:t>
            </a:r>
          </a:p>
          <a:p>
            <a:pPr algn="l">
              <a:spcAft>
                <a:spcPts val="600"/>
              </a:spcAft>
            </a:pPr>
            <a:r>
              <a:rPr sz="1614">
                <a:solidFill>
                  <a:srgbClr val="1D1D1F"/>
                </a:solidFill>
                <a:latin typeface="Pretendard"/>
              </a:rPr>
              <a:t>▪ 그러나 2020년대 중반 들어 중국의 자급률 상승으로 인해 구조적 다운사이클에 진입함.</a:t>
            </a:r>
          </a:p>
          <a:p>
            <a:pPr algn="l">
              <a:spcAft>
                <a:spcPts val="600"/>
              </a:spcAft>
            </a:pPr>
            <a:r>
              <a:rPr sz="1614">
                <a:solidFill>
                  <a:srgbClr val="1D1D1F"/>
                </a:solidFill>
                <a:latin typeface="Pretendard"/>
              </a:rPr>
              <a:t>▪ 결과적으로 1조 ➔ 2조 달러 구간 후반부에는 상대적 둔화 섹터로 분류해야 하는 상황임.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철강 산업의 생존을 위한 대전환</a:t>
            </a:r>
          </a:p>
          <a:p>
            <a:pPr algn="ctr"/>
            <a:r>
              <a:rPr sz="3200" b="1">
                <a:solidFill>
                  <a:srgbClr val="1D1D1F"/>
                </a:solidFill>
                <a:latin typeface="Pretendard"/>
              </a:rPr>
              <a:t>2차전지 소재 밸류체인으로의 피벗팅을 증명한 POSCO홀딩스</a:t>
            </a:r>
          </a:p>
        </p:txBody>
      </p:sp>
      <p:sp>
        <p:nvSpPr>
          <p:cNvPr id="3" name="Rounded Rectangle 2"/>
          <p:cNvSpPr/>
          <p:nvPr/>
        </p:nvSpPr>
        <p:spPr>
          <a:xfrm>
            <a:off x="914400" y="2194560"/>
            <a:ext cx="4998567"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4724247" cy="374904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PIVOTING</a:t>
            </a:r>
            <a:r>
              <a:t>               </a:t>
            </a:r>
            <a:r>
              <a:rPr sz="1200" b="1">
                <a:solidFill>
                  <a:srgbClr val="1D1D1F"/>
                </a:solidFill>
                <a:latin typeface="Pretendard"/>
              </a:rPr>
              <a:t>POSCO Holdings</a:t>
            </a:r>
          </a:p>
          <a:p>
            <a:pPr algn="ctr">
              <a:spcAft>
                <a:spcPts val="600"/>
              </a:spcAft>
            </a:pPr>
            <a:r>
              <a:rPr sz="1800" b="1">
                <a:solidFill>
                  <a:srgbClr val="1D1D1F"/>
                </a:solidFill>
                <a:latin typeface="Pretendard"/>
              </a:rPr>
              <a:t>Battery Materials</a:t>
            </a:r>
          </a:p>
          <a:p>
            <a:pPr algn="ctr">
              <a:spcAft>
                <a:spcPts val="600"/>
              </a:spcAft>
            </a:pPr>
            <a:r>
              <a:rPr sz="1200" b="1">
                <a:solidFill>
                  <a:srgbClr val="1D1D1F"/>
                </a:solidFill>
                <a:latin typeface="Pretendard"/>
              </a:rPr>
              <a:t>양극재</a:t>
            </a:r>
            <a:r>
              <a:t> </a:t>
            </a:r>
            <a:r>
              <a:rPr sz="1200" b="1">
                <a:solidFill>
                  <a:srgbClr val="1D1D1F"/>
                </a:solidFill>
                <a:latin typeface="Pretendard"/>
              </a:rPr>
              <a:t>리튬</a:t>
            </a:r>
          </a:p>
          <a:p>
            <a:pPr algn="l">
              <a:spcAft>
                <a:spcPts val="600"/>
              </a:spcAft>
            </a:pPr>
            <a:r>
              <a:rPr sz="1614">
                <a:solidFill>
                  <a:srgbClr val="1D1D1F"/>
                </a:solidFill>
                <a:latin typeface="Pretendard"/>
              </a:rPr>
              <a:t>▪ 철강(POSCO)은 1조 달러 시대 초입 한국 경제의 상징이었으나, 중국의 과잉 공급으로 마진 압박에 직면함.</a:t>
            </a:r>
          </a:p>
          <a:p>
            <a:pPr algn="l">
              <a:spcAft>
                <a:spcPts val="600"/>
              </a:spcAft>
            </a:pPr>
            <a:r>
              <a:rPr sz="1614">
                <a:solidFill>
                  <a:srgbClr val="1D1D1F"/>
                </a:solidFill>
                <a:latin typeface="Pretendard"/>
              </a:rPr>
              <a:t>▪ 이러한 위기를 타개하기 위해 2차전지 소재(양극재·리튬 등) 밸류체인으로 과감한 피벗팅(Pivoting)을 단행함.</a:t>
            </a:r>
          </a:p>
          <a:p>
            <a:pPr algn="l">
              <a:spcAft>
                <a:spcPts val="600"/>
              </a:spcAft>
            </a:pPr>
            <a:r>
              <a:rPr sz="1614">
                <a:solidFill>
                  <a:srgbClr val="1D1D1F"/>
                </a:solidFill>
                <a:latin typeface="Pretendard"/>
              </a:rPr>
              <a:t>▪ POSCO홀딩스의 진화는 1조 ➔ 2조 달러 구간에서 일어난 가장 대표적인 산업 전환 케이스임.</a:t>
            </a:r>
          </a:p>
        </p:txBody>
      </p:sp>
      <p:sp>
        <p:nvSpPr>
          <p:cNvPr id="5" name="Rounded Rectangle 4"/>
          <p:cNvSpPr/>
          <p:nvPr/>
        </p:nvSpPr>
        <p:spPr>
          <a:xfrm>
            <a:off x="13228167" y="2194560"/>
            <a:ext cx="4998567"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365327" y="2331720"/>
            <a:ext cx="4724247"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Traditional</a:t>
            </a:r>
          </a:p>
          <a:p>
            <a:pPr algn="ctr">
              <a:spcAft>
                <a:spcPts val="600"/>
              </a:spcAft>
            </a:pPr>
            <a:r>
              <a:rPr sz="1360" b="1">
                <a:solidFill>
                  <a:srgbClr val="1D1D1F"/>
                </a:solidFill>
                <a:latin typeface="Pretendard"/>
              </a:rPr>
              <a:t>STEEL</a:t>
            </a:r>
          </a:p>
          <a:p>
            <a:pPr algn="ctr">
              <a:spcAft>
                <a:spcPts val="600"/>
              </a:spcAft>
            </a:pPr>
            <a:r>
              <a:rPr sz="1200">
                <a:solidFill>
                  <a:srgbClr val="1D1D1F"/>
                </a:solidFill>
                <a:latin typeface="Pretendard"/>
              </a:rPr>
              <a:t>중국 과잉공급 마진 압박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코리아 프리미엄을 낳은 K-콘텐츠</a:t>
            </a:r>
          </a:p>
          <a:p>
            <a:pPr algn="ctr"/>
            <a:r>
              <a:rPr sz="3200" b="1">
                <a:solidFill>
                  <a:srgbClr val="1D1D1F"/>
                </a:solidFill>
                <a:latin typeface="Pretendard"/>
              </a:rPr>
              <a:t>하이브, CJ ENM 등이 구축한 자본시장 리레이팅의 무형 자산</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자본시장 리레이팅</a:t>
            </a:r>
          </a:p>
          <a:p>
            <a:pPr algn="ctr">
              <a:spcAft>
                <a:spcPts val="600"/>
              </a:spcAft>
            </a:pPr>
            <a:r>
              <a:rPr sz="1800" b="1">
                <a:solidFill>
                  <a:srgbClr val="1D1D1F"/>
                </a:solidFill>
                <a:latin typeface="Pretendard"/>
              </a:rPr>
              <a:t>Korea Premium</a:t>
            </a:r>
          </a:p>
          <a:p>
            <a:pPr algn="l">
              <a:spcAft>
                <a:spcPts val="600"/>
              </a:spcAft>
            </a:pPr>
            <a:r>
              <a:rPr sz="1614">
                <a:solidFill>
                  <a:srgbClr val="1D1D1F"/>
                </a:solidFill>
                <a:latin typeface="Pretendard"/>
              </a:rPr>
              <a:t>▪ K-콘텐츠는 1조 ➔ 2조 달러 구간의 숨겨진 진주. HYBE 등 4대 엔터와 CJ ENM이 글로벌 흥행을 주도함.</a:t>
            </a:r>
          </a:p>
          <a:p>
            <a:pPr algn="l">
              <a:spcAft>
                <a:spcPts val="600"/>
              </a:spcAft>
            </a:pPr>
            <a:r>
              <a:rPr sz="1614">
                <a:solidFill>
                  <a:srgbClr val="1D1D1F"/>
                </a:solidFill>
                <a:latin typeface="Pretendard"/>
              </a:rPr>
              <a:t>▪ 넷플릭스의 한국 콘텐츠 누적 투자(2016~2025)가 25억 달러 이상을 기록하며 산업 파이를 키움.</a:t>
            </a:r>
          </a:p>
          <a:p>
            <a:pPr algn="l">
              <a:spcAft>
                <a:spcPts val="600"/>
              </a:spcAft>
            </a:pPr>
            <a:r>
              <a:rPr sz="1614">
                <a:solidFill>
                  <a:srgbClr val="1D1D1F"/>
                </a:solidFill>
                <a:latin typeface="Pretendard"/>
              </a:rPr>
              <a:t>▪ 명목 GDP 기여도는 1~2%대지만, 국가 브랜드 코리아 프리미엄(Korea Premium)의 핵심 동력으로 작용함.</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4대 엔터</a:t>
            </a:r>
          </a:p>
          <a:p>
            <a:pPr algn="ctr">
              <a:spcAft>
                <a:spcPts val="600"/>
              </a:spcAft>
            </a:pPr>
            <a:r>
              <a:rPr sz="1360" b="1">
                <a:solidFill>
                  <a:srgbClr val="1D1D1F"/>
                </a:solidFill>
                <a:latin typeface="Pretendard"/>
              </a:rPr>
              <a:t>HYBE(BTS)·SM·JYP·YG</a:t>
            </a:r>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Netflix 투자</a:t>
            </a:r>
          </a:p>
          <a:p>
            <a:pPr algn="ctr">
              <a:spcAft>
                <a:spcPts val="600"/>
              </a:spcAft>
            </a:pPr>
            <a:r>
              <a:rPr sz="1360" b="1">
                <a:solidFill>
                  <a:srgbClr val="1D1D1F"/>
                </a:solidFill>
                <a:latin typeface="Pretendard"/>
              </a:rPr>
              <a:t>$2.5B+ (2016~2025)</a:t>
            </a:r>
          </a:p>
        </p:txBody>
      </p:sp>
      <p:sp>
        <p:nvSpPr>
          <p:cNvPr id="9" name="Rounded Rectangle 8"/>
          <p:cNvSpPr/>
          <p:nvPr/>
        </p:nvSpPr>
        <p:spPr>
          <a:xfrm>
            <a:off x="914400" y="434340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CJ ENM</a:t>
            </a:r>
          </a:p>
          <a:p>
            <a:pPr algn="ctr">
              <a:spcAft>
                <a:spcPts val="600"/>
              </a:spcAft>
            </a:pPr>
            <a:r>
              <a:rPr sz="1360" b="1">
                <a:solidFill>
                  <a:srgbClr val="1D1D1F"/>
                </a:solidFill>
                <a:latin typeface="Pretendard"/>
              </a:rPr>
              <a:t>기생충 · 오징어 게임</a:t>
            </a:r>
          </a:p>
          <a:p>
            <a:pPr algn="l">
              <a:spcAft>
                <a:spcPts val="600"/>
              </a:spcAft>
            </a:pPr>
            <a:r>
              <a:rPr sz="1614">
                <a:solidFill>
                  <a:srgbClr val="1D1D1F"/>
                </a:solidFill>
                <a:latin typeface="Pretendard"/>
              </a:rPr>
              <a:t>▪ 과거 1980년대 일본 버블기 소니·세가가 구축한 J-Brand 프리미엄과 유사한 거대한 무형 자산임.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K-바이오 클러스터의 성공적 안착</a:t>
            </a:r>
          </a:p>
          <a:p>
            <a:pPr algn="ctr"/>
            <a:r>
              <a:rPr sz="3200" b="1">
                <a:solidFill>
                  <a:srgbClr val="1D1D1F"/>
                </a:solidFill>
                <a:latin typeface="Pretendard"/>
              </a:rPr>
              <a:t>1조 달러 초입에는 존재하지 않았던 CDMO 글로벌 1위의 탄생</a:t>
            </a:r>
          </a:p>
        </p:txBody>
      </p:sp>
      <p:sp>
        <p:nvSpPr>
          <p:cNvPr id="3" name="Rounded Rectangle 2"/>
          <p:cNvSpPr/>
          <p:nvPr/>
        </p:nvSpPr>
        <p:spPr>
          <a:xfrm>
            <a:off x="914400" y="2194560"/>
            <a:ext cx="3210458"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Samsung Biologics</a:t>
            </a:r>
          </a:p>
          <a:p>
            <a:pPr algn="ctr">
              <a:spcAft>
                <a:spcPts val="600"/>
              </a:spcAft>
            </a:pPr>
            <a:r>
              <a:rPr sz="1800" b="1">
                <a:solidFill>
                  <a:srgbClr val="1D1D1F"/>
                </a:solidFill>
                <a:latin typeface="Pretendard"/>
              </a:rPr>
              <a:t>Global #1</a:t>
            </a:r>
          </a:p>
          <a:p>
            <a:pPr algn="ctr">
              <a:spcAft>
                <a:spcPts val="600"/>
              </a:spcAft>
            </a:pPr>
            <a:r>
              <a:rPr sz="1700" b="1">
                <a:solidFill>
                  <a:srgbClr val="1D1D1F"/>
                </a:solidFill>
                <a:latin typeface="Pretendard"/>
              </a:rPr>
              <a:t>CDMO</a:t>
            </a:r>
          </a:p>
        </p:txBody>
      </p:sp>
      <p:sp>
        <p:nvSpPr>
          <p:cNvPr id="5" name="Rounded Rectangle 4"/>
          <p:cNvSpPr/>
          <p:nvPr/>
        </p:nvSpPr>
        <p:spPr>
          <a:xfrm>
            <a:off x="4490618" y="2194560"/>
            <a:ext cx="3210458"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2007 Era</a:t>
            </a:r>
          </a:p>
          <a:p>
            <a:pPr algn="ctr">
              <a:spcAft>
                <a:spcPts val="600"/>
              </a:spcAft>
            </a:pPr>
            <a:r>
              <a:rPr sz="1200" b="1">
                <a:solidFill>
                  <a:srgbClr val="1D1D1F"/>
                </a:solidFill>
                <a:latin typeface="Pretendard"/>
              </a:rPr>
              <a:t>산업 존재감 미미</a:t>
            </a:r>
          </a:p>
        </p:txBody>
      </p:sp>
      <p:sp>
        <p:nvSpPr>
          <p:cNvPr id="7" name="Rounded Rectangle 6"/>
          <p:cNvSpPr/>
          <p:nvPr/>
        </p:nvSpPr>
        <p:spPr>
          <a:xfrm>
            <a:off x="806683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374904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매출 4조+ / 시총 50조+</a:t>
            </a:r>
          </a:p>
          <a:p>
            <a:pPr algn="ctr">
              <a:spcAft>
                <a:spcPts val="600"/>
              </a:spcAft>
            </a:pPr>
            <a:r>
              <a:rPr sz="1200" b="1">
                <a:solidFill>
                  <a:srgbClr val="1D1D1F"/>
                </a:solidFill>
                <a:latin typeface="Pretendard"/>
              </a:rPr>
              <a:t>+ Celltrion Biosimilars</a:t>
            </a:r>
          </a:p>
          <a:p>
            <a:pPr algn="l">
              <a:spcAft>
                <a:spcPts val="600"/>
              </a:spcAft>
            </a:pPr>
            <a:r>
              <a:rPr sz="1614">
                <a:solidFill>
                  <a:srgbClr val="1D1D1F"/>
                </a:solidFill>
                <a:latin typeface="Pretendard"/>
              </a:rPr>
              <a:t>▪ 바이오/제약 산업은 1조 달러 시대 초입(2007년 경)에는 글로벌 존재감이 거의 없었던 새로운 산업임.</a:t>
            </a:r>
          </a:p>
          <a:p>
            <a:pPr algn="l">
              <a:spcAft>
                <a:spcPts val="600"/>
              </a:spcAft>
            </a:pPr>
            <a:r>
              <a:rPr sz="1614">
                <a:solidFill>
                  <a:srgbClr val="1D1D1F"/>
                </a:solidFill>
                <a:latin typeface="Pretendard"/>
              </a:rPr>
              <a:t>▪ 현재 삼성바이오로직스는 CDMO(위탁개발생산) 분야 글로벌 1위(매출 4조 원+, 시총 50조 원+)로 등극함.</a:t>
            </a:r>
          </a:p>
          <a:p>
            <a:pPr algn="l">
              <a:spcAft>
                <a:spcPts val="600"/>
              </a:spcAft>
            </a:pPr>
            <a:r>
              <a:rPr sz="1614">
                <a:solidFill>
                  <a:srgbClr val="1D1D1F"/>
                </a:solidFill>
                <a:latin typeface="Pretendard"/>
              </a:rPr>
              <a:t>▪ 셀트리온의 바이오시밀러 글로벌 진출 등과 맞물려 K-바이오 클러스터가 한국 경제의 신성장 동력으로 안착함.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2차전지 산업의 팽창과 숨고르기</a:t>
            </a:r>
          </a:p>
          <a:p>
            <a:pPr algn="ctr"/>
            <a:r>
              <a:rPr sz="3200" b="1">
                <a:solidFill>
                  <a:srgbClr val="1D1D1F"/>
                </a:solidFill>
                <a:latin typeface="Pretendard"/>
              </a:rPr>
              <a:t>국내 IPO 붐을 견인한 EV 배터리 시장의 구조적 조정기</a:t>
            </a:r>
          </a:p>
        </p:txBody>
      </p:sp>
      <p:sp>
        <p:nvSpPr>
          <p:cNvPr id="3" name="Rounded Rectangle 2"/>
          <p:cNvSpPr/>
          <p:nvPr/>
        </p:nvSpPr>
        <p:spPr>
          <a:xfrm>
            <a:off x="914400" y="2194560"/>
            <a:ext cx="4998567"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4724247"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20%</a:t>
            </a:r>
          </a:p>
          <a:p>
            <a:pPr algn="ctr">
              <a:spcAft>
                <a:spcPts val="600"/>
              </a:spcAft>
            </a:pPr>
            <a:r>
              <a:rPr sz="1700" b="1">
                <a:solidFill>
                  <a:srgbClr val="1D1D1F"/>
                </a:solidFill>
                <a:latin typeface="Pretendard"/>
              </a:rPr>
              <a:t>글로벌 점유율</a:t>
            </a:r>
          </a:p>
          <a:p>
            <a:pPr algn="ctr">
              <a:spcAft>
                <a:spcPts val="600"/>
              </a:spcAft>
            </a:pPr>
            <a:r>
              <a:rPr sz="1275" b="1">
                <a:solidFill>
                  <a:srgbClr val="1D1D1F"/>
                </a:solidFill>
                <a:latin typeface="Pretendard"/>
              </a:rPr>
              <a:t>LG Energy Solution</a:t>
            </a:r>
          </a:p>
          <a:p>
            <a:pPr algn="ctr">
              <a:spcAft>
                <a:spcPts val="600"/>
              </a:spcAft>
            </a:pPr>
            <a:r>
              <a:rPr sz="1275" b="1">
                <a:solidFill>
                  <a:srgbClr val="1D1D1F"/>
                </a:solidFill>
                <a:latin typeface="Pretendard"/>
              </a:rPr>
              <a:t>Samsung SDI</a:t>
            </a:r>
          </a:p>
          <a:p>
            <a:pPr algn="ctr">
              <a:spcAft>
                <a:spcPts val="600"/>
              </a:spcAft>
            </a:pPr>
            <a:r>
              <a:rPr sz="1275" b="1">
                <a:solidFill>
                  <a:srgbClr val="1D1D1F"/>
                </a:solidFill>
                <a:latin typeface="Pretendard"/>
              </a:rPr>
              <a:t>SK On</a:t>
            </a:r>
            <a:r>
              <a:t>              </a:t>
            </a:r>
            <a:r>
              <a:rPr sz="1700" b="1">
                <a:solidFill>
                  <a:srgbClr val="1D1D1F"/>
                </a:solidFill>
                <a:latin typeface="Pretendard"/>
              </a:rPr>
              <a:t>2024~2026 사이클</a:t>
            </a:r>
          </a:p>
          <a:p>
            <a:pPr algn="ctr">
              <a:spcAft>
                <a:spcPts val="600"/>
              </a:spcAft>
            </a:pPr>
            <a:r>
              <a:rPr sz="1800" b="1">
                <a:solidFill>
                  <a:srgbClr val="1D1D1F"/>
                </a:solidFill>
                <a:latin typeface="Pretendard"/>
              </a:rPr>
              <a:t>2020 IPO 붐</a:t>
            </a:r>
          </a:p>
          <a:p>
            <a:pPr algn="l">
              <a:spcAft>
                <a:spcPts val="600"/>
              </a:spcAft>
            </a:pPr>
            <a:r>
              <a:rPr sz="1614">
                <a:solidFill>
                  <a:srgbClr val="1D1D1F"/>
                </a:solidFill>
                <a:latin typeface="Pretendard"/>
              </a:rPr>
              <a:t>▪ 2차전지(LG엔솔·삼성SDI·SK온)는 2020년 국내 IPO 붐을 만든 핵심 엔진임.</a:t>
            </a:r>
          </a:p>
          <a:p>
            <a:pPr algn="l">
              <a:spcAft>
                <a:spcPts val="600"/>
              </a:spcAft>
            </a:pPr>
            <a:r>
              <a:rPr sz="1614">
                <a:solidFill>
                  <a:srgbClr val="1D1D1F"/>
                </a:solidFill>
                <a:latin typeface="Pretendard"/>
              </a:rPr>
              <a:t>▪ K-배터리 3사는 합계 글로벌 EV 배터리 점유율 20% 내외를 안정적으로 확보함.</a:t>
            </a:r>
          </a:p>
          <a:p>
            <a:pPr algn="l">
              <a:spcAft>
                <a:spcPts val="600"/>
              </a:spcAft>
            </a:pPr>
            <a:r>
              <a:rPr sz="1614">
                <a:solidFill>
                  <a:srgbClr val="1D1D1F"/>
                </a:solidFill>
                <a:latin typeface="Pretendard"/>
              </a:rPr>
              <a:t>▪ 다만 2024~2026년 사이 중국과 미국의 정책 변동 및 전기차 수요 둔화로 인해 사이클 조정기(숨고르기)에 진입함.</a:t>
            </a:r>
          </a:p>
        </p:txBody>
      </p:sp>
      <p:sp>
        <p:nvSpPr>
          <p:cNvPr id="5" name="Rounded Rectangle 4"/>
          <p:cNvSpPr/>
          <p:nvPr/>
        </p:nvSpPr>
        <p:spPr>
          <a:xfrm>
            <a:off x="136800755" y="2194560"/>
            <a:ext cx="4998567"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6937915" y="2331720"/>
            <a:ext cx="4724247"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중국·미국 정책 변동</a:t>
            </a:r>
          </a:p>
          <a:p>
            <a:pPr algn="ctr">
              <a:spcAft>
                <a:spcPts val="600"/>
              </a:spcAft>
            </a:pPr>
            <a:r>
              <a:rPr sz="1800" b="1">
                <a:solidFill>
                  <a:srgbClr val="1D1D1F"/>
                </a:solidFill>
                <a:latin typeface="Pretendard"/>
              </a:rPr>
              <a:t>구조적 조정기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플랫폼 빅테크의 물류 지형 재편</a:t>
            </a:r>
          </a:p>
          <a:p>
            <a:pPr algn="ctr"/>
            <a:r>
              <a:rPr sz="3200" b="1">
                <a:solidFill>
                  <a:srgbClr val="1D1D1F"/>
                </a:solidFill>
                <a:latin typeface="Pretendard"/>
              </a:rPr>
              <a:t>네이버, 쿠팡 등 IT 플랫폼이 촉발한 국가급 물류 수요의 폭발</a:t>
            </a:r>
          </a:p>
        </p:txBody>
      </p:sp>
      <p:sp>
        <p:nvSpPr>
          <p:cNvPr id="3" name="Rounded Rectangle 2"/>
          <p:cNvSpPr/>
          <p:nvPr/>
        </p:nvSpPr>
        <p:spPr>
          <a:xfrm>
            <a:off x="914400" y="2194560"/>
            <a:ext cx="2316403"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Logistics Real Estate</a:t>
            </a:r>
          </a:p>
          <a:p>
            <a:pPr algn="ctr">
              <a:spcAft>
                <a:spcPts val="600"/>
              </a:spcAft>
            </a:pPr>
            <a:r>
              <a:rPr sz="1200" b="1">
                <a:solidFill>
                  <a:srgbClr val="1D1D1F"/>
                </a:solidFill>
                <a:latin typeface="Pretendard"/>
              </a:rPr>
              <a:t>가장 큰 단일 변수</a:t>
            </a:r>
          </a:p>
        </p:txBody>
      </p:sp>
      <p:sp>
        <p:nvSpPr>
          <p:cNvPr id="5" name="Rounded Rectangle 4"/>
          <p:cNvSpPr/>
          <p:nvPr/>
        </p:nvSpPr>
        <p:spPr>
          <a:xfrm>
            <a:off x="3596563"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Naver</a:t>
            </a:r>
          </a:p>
          <a:p>
            <a:pPr algn="ctr">
              <a:spcAft>
                <a:spcPts val="600"/>
              </a:spcAft>
            </a:pPr>
            <a:r>
              <a:rPr sz="1200" b="1">
                <a:solidFill>
                  <a:srgbClr val="1D1D1F"/>
                </a:solidFill>
                <a:latin typeface="Pretendard"/>
              </a:rPr>
              <a:t>Cap 30T+</a:t>
            </a:r>
          </a:p>
        </p:txBody>
      </p:sp>
      <p:sp>
        <p:nvSpPr>
          <p:cNvPr id="7" name="Rounded Rectangle 6"/>
          <p:cNvSpPr/>
          <p:nvPr/>
        </p:nvSpPr>
        <p:spPr>
          <a:xfrm>
            <a:off x="6278727"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Kakao</a:t>
            </a:r>
          </a:p>
          <a:p>
            <a:pPr algn="ctr">
              <a:spcAft>
                <a:spcPts val="600"/>
              </a:spcAft>
            </a:pPr>
            <a:r>
              <a:rPr sz="1200" b="1">
                <a:solidFill>
                  <a:srgbClr val="1D1D1F"/>
                </a:solidFill>
                <a:latin typeface="Pretendard"/>
              </a:rPr>
              <a:t>Cap ~30T</a:t>
            </a:r>
          </a:p>
          <a:p>
            <a:pPr algn="ctr">
              <a:spcAft>
                <a:spcPts val="600"/>
              </a:spcAft>
            </a:pPr>
            <a:r>
              <a:rPr sz="1360" b="1">
                <a:solidFill>
                  <a:srgbClr val="1D1D1F"/>
                </a:solidFill>
                <a:latin typeface="Pretendard"/>
              </a:rPr>
              <a:t>Rocket Delivery</a:t>
            </a:r>
          </a:p>
        </p:txBody>
      </p:sp>
      <p:sp>
        <p:nvSpPr>
          <p:cNvPr id="9" name="Rounded Rectangle 8"/>
          <p:cNvSpPr/>
          <p:nvPr/>
        </p:nvSpPr>
        <p:spPr>
          <a:xfrm>
            <a:off x="8960891"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Coupang</a:t>
            </a:r>
          </a:p>
          <a:p>
            <a:pPr algn="ctr">
              <a:spcAft>
                <a:spcPts val="600"/>
              </a:spcAft>
            </a:pPr>
            <a:r>
              <a:rPr sz="1200" b="1">
                <a:solidFill>
                  <a:srgbClr val="1D1D1F"/>
                </a:solidFill>
                <a:latin typeface="Pretendard"/>
              </a:rPr>
              <a:t>NYSE Cap 30T+</a:t>
            </a:r>
          </a:p>
          <a:p>
            <a:pPr algn="l">
              <a:spcAft>
                <a:spcPts val="600"/>
              </a:spcAft>
            </a:pPr>
            <a:r>
              <a:rPr sz="1614">
                <a:solidFill>
                  <a:srgbClr val="1D1D1F"/>
                </a:solidFill>
                <a:latin typeface="Pretendard"/>
              </a:rPr>
              <a:t>▪ 네이버, 카카오, 쿠팡 등 IT 플랫폼 빅테크들은 각각 시총 30조 원 이상을 기록하며 거대 기업으로 성장함.</a:t>
            </a:r>
          </a:p>
          <a:p>
            <a:pPr algn="l">
              <a:spcAft>
                <a:spcPts val="600"/>
              </a:spcAft>
            </a:pPr>
            <a:r>
              <a:rPr sz="1614">
                <a:solidFill>
                  <a:srgbClr val="1D1D1F"/>
                </a:solidFill>
                <a:latin typeface="Pretendard"/>
              </a:rPr>
              <a:t>▪ 네이버의 일본 LINE 야후 통합, 쿠팡의 로켓배송 전국화 등이 물류 지형을 근본적으로 재편함.</a:t>
            </a:r>
          </a:p>
          <a:p>
            <a:pPr algn="l">
              <a:spcAft>
                <a:spcPts val="600"/>
              </a:spcAft>
            </a:pPr>
            <a:r>
              <a:rPr sz="1614">
                <a:solidFill>
                  <a:srgbClr val="1D1D1F"/>
                </a:solidFill>
                <a:latin typeface="Pretendard"/>
              </a:rPr>
              <a:t>▪ 플랫폼이 촉발한 이커머스 혁명은 국내 물류 부동산 수요 폭발의 가장 큰 단일 변수로 작용함.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지정학적 위기가 낳은 K-디펜스</a:t>
            </a:r>
          </a:p>
          <a:p>
            <a:pPr algn="ctr"/>
            <a:r>
              <a:rPr sz="3200" b="1">
                <a:solidFill>
                  <a:srgbClr val="1D1D1F"/>
                </a:solidFill>
                <a:latin typeface="Pretendard"/>
              </a:rPr>
              <a:t>글로벌 수출 폭발을 기록하며 급부상한 방위산업의 신데렐라 서사</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p:txBody>
      </p:sp>
      <p:sp>
        <p:nvSpPr>
          <p:cNvPr id="5" name="Rounded Rectangle 4"/>
          <p:cNvSpPr/>
          <p:nvPr/>
        </p:nvSpPr>
        <p:spPr>
          <a:xfrm>
            <a:off x="4490618" y="219456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2022 Record</a:t>
            </a:r>
          </a:p>
          <a:p>
            <a:pPr algn="ctr">
              <a:spcAft>
                <a:spcPts val="600"/>
              </a:spcAft>
            </a:pPr>
            <a:r>
              <a:rPr sz="1800" b="1">
                <a:solidFill>
                  <a:srgbClr val="1D1D1F"/>
                </a:solidFill>
                <a:latin typeface="Pretendard"/>
              </a:rPr>
              <a:t>$17.3B</a:t>
            </a:r>
          </a:p>
          <a:p>
            <a:pPr algn="ctr">
              <a:spcAft>
                <a:spcPts val="600"/>
              </a:spcAft>
            </a:pPr>
            <a:r>
              <a:rPr sz="1275" b="1">
                <a:solidFill>
                  <a:srgbClr val="1D1D1F"/>
                </a:solidFill>
                <a:latin typeface="Pretendard"/>
              </a:rPr>
              <a:t>사상 최고치 달성</a:t>
            </a:r>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Core Lineup</a:t>
            </a:r>
          </a:p>
          <a:p>
            <a:pPr algn="ctr">
              <a:spcAft>
                <a:spcPts val="600"/>
              </a:spcAft>
            </a:pPr>
            <a:r>
              <a:rPr sz="1275" b="1">
                <a:solidFill>
                  <a:srgbClr val="1D1D1F"/>
                </a:solidFill>
                <a:latin typeface="Pretendard"/>
              </a:rPr>
              <a:t>Hanwha / Rotem</a:t>
            </a:r>
            <a:r>
              <a:t>   </a:t>
            </a:r>
            <a:r>
              <a:rPr sz="1275" b="1">
                <a:solidFill>
                  <a:srgbClr val="1D1D1F"/>
                </a:solidFill>
                <a:latin typeface="Pretendard"/>
              </a:rPr>
              <a:t>K9 / K2 Tanks</a:t>
            </a:r>
          </a:p>
        </p:txBody>
      </p:sp>
      <p:sp>
        <p:nvSpPr>
          <p:cNvPr id="9" name="Rounded Rectangle 8"/>
          <p:cNvSpPr/>
          <p:nvPr/>
        </p:nvSpPr>
        <p:spPr>
          <a:xfrm>
            <a:off x="914400" y="434340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Global Export</a:t>
            </a:r>
          </a:p>
          <a:p>
            <a:pPr algn="ctr">
              <a:spcAft>
                <a:spcPts val="600"/>
              </a:spcAft>
            </a:pPr>
            <a:r>
              <a:rPr sz="1360" b="1">
                <a:solidFill>
                  <a:srgbClr val="1D1D1F"/>
                </a:solidFill>
                <a:latin typeface="Pretendard"/>
              </a:rPr>
              <a:t>Poland, UAE, MENA</a:t>
            </a:r>
          </a:p>
          <a:p>
            <a:pPr algn="l">
              <a:spcAft>
                <a:spcPts val="600"/>
              </a:spcAft>
            </a:pPr>
            <a:r>
              <a:rPr sz="1614">
                <a:solidFill>
                  <a:srgbClr val="1D1D1F"/>
                </a:solidFill>
                <a:latin typeface="Pretendard"/>
              </a:rPr>
              <a:t>▪ 지정학적 위기 고조로 폴란드·UAE·호주·중동 등에서 글로벌 방산 수출이 폭발함.</a:t>
            </a:r>
          </a:p>
          <a:p>
            <a:pPr algn="l">
              <a:spcAft>
                <a:spcPts val="600"/>
              </a:spcAft>
            </a:pPr>
            <a:r>
              <a:rPr sz="1614">
                <a:solidFill>
                  <a:srgbClr val="1D1D1F"/>
                </a:solidFill>
                <a:latin typeface="Pretendard"/>
              </a:rPr>
              <a:t>▪ 2022년 한국 방산 수출은 173억 달러(약 23조 원)로 사상 최고치를 기록함.</a:t>
            </a:r>
          </a:p>
          <a:p>
            <a:pPr algn="l">
              <a:spcAft>
                <a:spcPts val="600"/>
              </a:spcAft>
            </a:pPr>
            <a:r>
              <a:rPr sz="1614">
                <a:solidFill>
                  <a:srgbClr val="1D1D1F"/>
                </a:solidFill>
                <a:latin typeface="Pretendard"/>
              </a:rPr>
              <a:t>▪ 한화, LIG넥스원, KAI, 현대로템의 K2 전차·K9 자주포·FA-50·천궁이 수출을 견인하는 핵심 라인업임.</a:t>
            </a:r>
          </a:p>
          <a:p>
            <a:pPr algn="l">
              <a:spcAft>
                <a:spcPts val="600"/>
              </a:spcAft>
            </a:pPr>
            <a:r>
              <a:rPr sz="1614">
                <a:solidFill>
                  <a:srgbClr val="1D1D1F"/>
                </a:solidFill>
                <a:latin typeface="Pretendard"/>
              </a:rPr>
              <a:t>▪ 1조 ➔ 2조 달러 구간 후반부에 급부상한 명실상부한 대한민국 산업의 신데렐라 섹터임.</a:t>
            </a:r>
          </a:p>
        </p:txBody>
      </p:sp>
      <p:sp>
        <p:nvSpPr>
          <p:cNvPr id="11" name="Rounded Rectangle 10"/>
          <p:cNvSpPr/>
          <p:nvPr/>
        </p:nvSpPr>
        <p:spPr>
          <a:xfrm>
            <a:off x="38329133"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66293" y="4480560"/>
            <a:ext cx="2936138" cy="1600200"/>
          </a:xfrm>
          <a:prstGeom prst="rect">
            <a:avLst/>
          </a:prstGeom>
          <a:noFill/>
        </p:spPr>
        <p:txBody>
          <a:bodyPr wrap="square" lIns="0" rIns="0" tIns="0" bIns="0">
            <a:spAutoFit/>
          </a:bodyPr>
          <a:lstStyle/>
          <a:p>
            <a:pPr algn="ctr">
              <a:spcAft>
                <a:spcPts val="600"/>
              </a:spcAft>
            </a:pPr>
            <a:r>
              <a:rPr sz="1275" b="1">
                <a:solidFill>
                  <a:srgbClr val="1D1D1F"/>
                </a:solidFill>
                <a:latin typeface="Pretendard"/>
              </a:rPr>
              <a:t>KAI</a:t>
            </a:r>
            <a:r>
              <a:t>                 </a:t>
            </a:r>
            <a:r>
              <a:rPr sz="1275" b="1">
                <a:solidFill>
                  <a:srgbClr val="1D1D1F"/>
                </a:solidFill>
                <a:latin typeface="Pretendard"/>
              </a:rPr>
              <a:t>FA-50</a:t>
            </a:r>
          </a:p>
        </p:txBody>
      </p:sp>
      <p:sp>
        <p:nvSpPr>
          <p:cNvPr id="13" name="Rounded Rectangle 12"/>
          <p:cNvSpPr/>
          <p:nvPr/>
        </p:nvSpPr>
        <p:spPr>
          <a:xfrm>
            <a:off x="327146716"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7283876" y="4480560"/>
            <a:ext cx="2936138" cy="1600200"/>
          </a:xfrm>
          <a:prstGeom prst="rect">
            <a:avLst/>
          </a:prstGeom>
          <a:noFill/>
        </p:spPr>
        <p:txBody>
          <a:bodyPr wrap="square" lIns="0" rIns="0" tIns="0" bIns="0">
            <a:spAutoFit/>
          </a:bodyPr>
          <a:lstStyle/>
          <a:p>
            <a:pPr algn="ctr">
              <a:spcAft>
                <a:spcPts val="600"/>
              </a:spcAft>
            </a:pPr>
            <a:r>
              <a:rPr sz="1275" b="1">
                <a:solidFill>
                  <a:srgbClr val="1D1D1F"/>
                </a:solidFill>
                <a:latin typeface="Pretendard"/>
              </a:rPr>
              <a:t>LIG Nex1</a:t>
            </a:r>
            <a:r>
              <a:t>          </a:t>
            </a:r>
            <a:r>
              <a:rPr sz="1275" b="1">
                <a:solidFill>
                  <a:srgbClr val="1D1D1F"/>
                </a:solidFill>
                <a:latin typeface="Pretendard"/>
              </a:rPr>
              <a:t>Cheongung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3.</a:t>
            </a:r>
          </a:p>
          <a:p>
            <a:pPr algn="ctr">
              <a:spcAft>
                <a:spcPts val="1400"/>
              </a:spcAft>
            </a:pPr>
            <a:r>
              <a:rPr sz="2400" b="1">
                <a:solidFill>
                  <a:srgbClr val="FFFFFF"/>
                </a:solidFill>
                <a:latin typeface="Pretendard"/>
              </a:rPr>
              <a:t>자본시장 구조의 변화 KOSPI 2,000에서 5,000으로</a:t>
            </a:r>
            <a:r>
              <a:rPr sz="2400" b="1">
                <a:solidFill>
                  <a:srgbClr val="FFFFFF"/>
                </a:solidFill>
                <a:latin typeface="Pretendard"/>
              </a:rPr>
              <a:t>자본시장 구조의 변화 KOSPI 2,000에서 5,000으로</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박스피(BOXPI)를 뚫어낸 역사적 랠리</a:t>
            </a:r>
          </a:p>
          <a:p>
            <a:pPr algn="ctr"/>
            <a:r>
              <a:rPr sz="3200" b="1">
                <a:solidFill>
                  <a:srgbClr val="1D1D1F"/>
                </a:solidFill>
                <a:latin typeface="Pretendard"/>
              </a:rPr>
              <a:t>2007년 2,000선 돌파 이후 마침내 열린 KOSPI 5,000 시대</a:t>
            </a:r>
          </a:p>
        </p:txBody>
      </p:sp>
      <p:sp>
        <p:nvSpPr>
          <p:cNvPr id="3" name="Rounded Rectangle 2"/>
          <p:cNvSpPr/>
          <p:nvPr/>
        </p:nvSpPr>
        <p:spPr>
          <a:xfrm>
            <a:off x="914400" y="2194560"/>
            <a:ext cx="2316403"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2026.01.22</a:t>
            </a:r>
          </a:p>
          <a:p>
            <a:pPr algn="ctr">
              <a:spcAft>
                <a:spcPts val="600"/>
              </a:spcAft>
            </a:pPr>
            <a:r>
              <a:rPr sz="1800" b="1">
                <a:solidFill>
                  <a:srgbClr val="1D1D1F"/>
                </a:solidFill>
                <a:latin typeface="Pretendard"/>
              </a:rPr>
              <a:t>사상 처음 돌파</a:t>
            </a:r>
          </a:p>
          <a:p>
            <a:pPr algn="ctr">
              <a:spcAft>
                <a:spcPts val="600"/>
              </a:spcAft>
            </a:pPr>
            <a:r>
              <a:rPr sz="1800" b="1">
                <a:solidFill>
                  <a:srgbClr val="1D1D1F"/>
                </a:solidFill>
                <a:latin typeface="Pretendard"/>
              </a:rPr>
              <a:t>5,000</a:t>
            </a:r>
          </a:p>
          <a:p>
            <a:pPr algn="ctr">
              <a:spcAft>
                <a:spcPts val="600"/>
              </a:spcAft>
            </a:pPr>
            <a:r>
              <a:rPr sz="1200" b="1">
                <a:solidFill>
                  <a:srgbClr val="1D1D1F"/>
                </a:solidFill>
                <a:latin typeface="Pretendard"/>
              </a:rPr>
              <a:t>KOSPI</a:t>
            </a:r>
            <a:r>
              <a:t> </a:t>
            </a:r>
            <a:r>
              <a:rPr sz="1200" b="1">
                <a:solidFill>
                  <a:srgbClr val="1D1D1F"/>
                </a:solidFill>
                <a:latin typeface="Pretendard"/>
              </a:rPr>
              <a:t>글로벌 지수 1위</a:t>
            </a:r>
          </a:p>
        </p:txBody>
      </p:sp>
      <p:sp>
        <p:nvSpPr>
          <p:cNvPr id="5" name="Rounded Rectangle 4"/>
          <p:cNvSpPr/>
          <p:nvPr/>
        </p:nvSpPr>
        <p:spPr>
          <a:xfrm>
            <a:off x="10546003"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83163" y="2331720"/>
            <a:ext cx="2042083" cy="374904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2017 ~ 2024</a:t>
            </a:r>
          </a:p>
          <a:p>
            <a:pPr algn="ctr">
              <a:spcAft>
                <a:spcPts val="600"/>
              </a:spcAft>
            </a:pPr>
            <a:r>
              <a:rPr sz="1800" b="1">
                <a:solidFill>
                  <a:srgbClr val="1D1D1F"/>
                </a:solidFill>
                <a:latin typeface="Pretendard"/>
              </a:rPr>
              <a:t>BOXPI</a:t>
            </a:r>
          </a:p>
          <a:p>
            <a:pPr algn="ctr">
              <a:spcAft>
                <a:spcPts val="600"/>
              </a:spcAft>
            </a:pPr>
            <a:r>
              <a:rPr sz="1530" b="1">
                <a:solidFill>
                  <a:srgbClr val="1D1D1F"/>
                </a:solidFill>
                <a:latin typeface="Pretendard"/>
              </a:rPr>
              <a:t>1,800 - 2,400</a:t>
            </a:r>
          </a:p>
        </p:txBody>
      </p:sp>
      <p:sp>
        <p:nvSpPr>
          <p:cNvPr id="7" name="Rounded Rectangle 6"/>
          <p:cNvSpPr/>
          <p:nvPr/>
        </p:nvSpPr>
        <p:spPr>
          <a:xfrm>
            <a:off x="20177607" y="2194560"/>
            <a:ext cx="2316403"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314767" y="2331720"/>
            <a:ext cx="2042083"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2025.07 ~ 12</a:t>
            </a:r>
          </a:p>
          <a:p>
            <a:pPr algn="ctr">
              <a:spcAft>
                <a:spcPts val="600"/>
              </a:spcAft>
            </a:pPr>
            <a:r>
              <a:rPr sz="1360" b="1">
                <a:solidFill>
                  <a:srgbClr val="1D1D1F"/>
                </a:solidFill>
                <a:latin typeface="Pretendard"/>
              </a:rPr>
              <a:t>약 75.6% 폭등</a:t>
            </a:r>
          </a:p>
          <a:p>
            <a:pPr algn="l">
              <a:spcAft>
                <a:spcPts val="600"/>
              </a:spcAft>
            </a:pPr>
            <a:r>
              <a:rPr sz="1614">
                <a:solidFill>
                  <a:srgbClr val="1D1D1F"/>
                </a:solidFill>
                <a:latin typeface="Pretendard"/>
              </a:rPr>
              <a:t>▪ 금융위기 이후 2017~2020년 장기 박스피(1,800~2,400)에 갇히며 '코리아 디스카운트'가 고착화됨.</a:t>
            </a:r>
          </a:p>
          <a:p>
            <a:pPr algn="l">
              <a:spcAft>
                <a:spcPts val="600"/>
              </a:spcAft>
            </a:pPr>
            <a:r>
              <a:rPr sz="1614">
                <a:solidFill>
                  <a:srgbClr val="1D1D1F"/>
                </a:solidFill>
                <a:latin typeface="Pretendard"/>
              </a:rPr>
              <a:t>▪ 2021년 3,000선 돌파 후 다시 박스권에 머물렀으나, 2025년 하반기 약 75.6% 폭등하며 글로벌 지수 상승률 1위 기록.</a:t>
            </a:r>
          </a:p>
          <a:p>
            <a:pPr algn="l">
              <a:spcAft>
                <a:spcPts val="600"/>
              </a:spcAft>
            </a:pPr>
            <a:r>
              <a:rPr sz="1614">
                <a:solidFill>
                  <a:srgbClr val="1D1D1F"/>
                </a:solidFill>
                <a:latin typeface="Pretendard"/>
              </a:rPr>
              <a:t>▪ 랠리가 지속되며 2026년 1월 22일, 역사상 최초로 KOSPI 5,000선을 돌파하는 기념비적 성과 달성.</a:t>
            </a:r>
          </a:p>
        </p:txBody>
      </p:sp>
      <p:sp>
        <p:nvSpPr>
          <p:cNvPr id="9" name="Rounded Rectangle 8"/>
          <p:cNvSpPr/>
          <p:nvPr/>
        </p:nvSpPr>
        <p:spPr>
          <a:xfrm>
            <a:off x="29809211"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46371" y="2331720"/>
            <a:ext cx="2042083" cy="374904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코리아 디스카운트 고착화</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글로벌 IB들의 KOSPI 6,000 낙관론</a:t>
            </a:r>
          </a:p>
          <a:p>
            <a:pPr algn="ctr"/>
            <a:r>
              <a:rPr sz="3200" b="1">
                <a:solidFill>
                  <a:srgbClr val="1D1D1F"/>
                </a:solidFill>
                <a:latin typeface="Pretendard"/>
              </a:rPr>
              <a:t>메모리 슈퍼사이클과 조기 달성된 5,000 시대 공약</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NH &amp; HMC</a:t>
            </a:r>
          </a:p>
          <a:p>
            <a:pPr algn="ctr">
              <a:spcAft>
                <a:spcPts val="600"/>
              </a:spcAft>
            </a:pPr>
            <a:r>
              <a:rPr sz="1360" b="1">
                <a:solidFill>
                  <a:srgbClr val="1D1D1F"/>
                </a:solidFill>
                <a:latin typeface="Pretendard"/>
              </a:rPr>
              <a:t>2026 Domestic Target</a:t>
            </a:r>
          </a:p>
          <a:p>
            <a:pPr algn="ctr">
              <a:spcAft>
                <a:spcPts val="600"/>
              </a:spcAft>
            </a:pPr>
            <a:r>
              <a:rPr sz="1800" b="1">
                <a:solidFill>
                  <a:srgbClr val="1D1D1F"/>
                </a:solidFill>
                <a:latin typeface="Pretendard"/>
              </a:rPr>
              <a:t>5,500</a:t>
            </a:r>
          </a:p>
          <a:p>
            <a:pPr algn="ctr">
              <a:spcAft>
                <a:spcPts val="600"/>
              </a:spcAft>
            </a:pPr>
            <a:r>
              <a:rPr sz="1360" b="1">
                <a:solidFill>
                  <a:srgbClr val="1D1D1F"/>
                </a:solidFill>
                <a:latin typeface="Pretendard"/>
              </a:rPr>
              <a:t>국내 주요 증권사 전망</a:t>
            </a:r>
          </a:p>
        </p:txBody>
      </p:sp>
      <p:sp>
        <p:nvSpPr>
          <p:cNvPr id="5" name="Rounded Rectangle 4"/>
          <p:cNvSpPr/>
          <p:nvPr/>
        </p:nvSpPr>
        <p:spPr>
          <a:xfrm>
            <a:off x="4490618"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JP Morgan</a:t>
            </a:r>
          </a:p>
          <a:p>
            <a:pPr algn="ctr">
              <a:spcAft>
                <a:spcPts val="600"/>
              </a:spcAft>
            </a:pPr>
            <a:r>
              <a:rPr sz="1360" b="1">
                <a:solidFill>
                  <a:srgbClr val="1D1D1F"/>
                </a:solidFill>
                <a:latin typeface="Pretendard"/>
              </a:rPr>
              <a:t>'Kospi 5000 on the Cards'</a:t>
            </a:r>
          </a:p>
          <a:p>
            <a:pPr algn="ctr">
              <a:spcAft>
                <a:spcPts val="600"/>
              </a:spcAft>
            </a:pPr>
            <a:r>
              <a:rPr sz="1800" b="1">
                <a:solidFill>
                  <a:srgbClr val="1D1D1F"/>
                </a:solidFill>
                <a:latin typeface="Pretendard"/>
              </a:rPr>
              <a:t>6,000</a:t>
            </a:r>
          </a:p>
          <a:p>
            <a:pPr algn="ctr">
              <a:spcAft>
                <a:spcPts val="600"/>
              </a:spcAft>
            </a:pPr>
            <a:r>
              <a:rPr sz="1360" b="1">
                <a:solidFill>
                  <a:srgbClr val="1D1D1F"/>
                </a:solidFill>
                <a:latin typeface="Pretendard"/>
              </a:rPr>
              <a:t>풀불(Full Bull) 시나리오</a:t>
            </a:r>
          </a:p>
        </p:txBody>
      </p:sp>
      <p:sp>
        <p:nvSpPr>
          <p:cNvPr id="7" name="Rounded Rectangle 6"/>
          <p:cNvSpPr/>
          <p:nvPr/>
        </p:nvSpPr>
        <p:spPr>
          <a:xfrm>
            <a:off x="806683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Macquarie</a:t>
            </a:r>
          </a:p>
          <a:p>
            <a:pPr algn="ctr">
              <a:spcAft>
                <a:spcPts val="600"/>
              </a:spcAft>
            </a:pPr>
            <a:r>
              <a:rPr sz="1360" b="1">
                <a:solidFill>
                  <a:srgbClr val="1D1D1F"/>
                </a:solidFill>
                <a:latin typeface="Pretendard"/>
              </a:rPr>
              <a:t>2026 Target</a:t>
            </a:r>
          </a:p>
          <a:p>
            <a:pPr algn="ctr">
              <a:spcAft>
                <a:spcPts val="600"/>
              </a:spcAft>
            </a:pPr>
            <a:r>
              <a:rPr sz="1800" b="1">
                <a:solidFill>
                  <a:srgbClr val="1D1D1F"/>
                </a:solidFill>
                <a:latin typeface="Pretendard"/>
              </a:rPr>
              <a:t>6,000</a:t>
            </a:r>
          </a:p>
          <a:p>
            <a:pPr algn="ctr">
              <a:spcAft>
                <a:spcPts val="600"/>
              </a:spcAft>
            </a:pPr>
            <a:r>
              <a:rPr sz="1360" b="1">
                <a:solidFill>
                  <a:srgbClr val="1D1D1F"/>
                </a:solidFill>
                <a:latin typeface="Pretendard"/>
              </a:rPr>
              <a:t>메모리 슈퍼사이클 근거</a:t>
            </a:r>
          </a:p>
          <a:p>
            <a:pPr algn="l">
              <a:spcAft>
                <a:spcPts val="600"/>
              </a:spcAft>
            </a:pPr>
            <a:r>
              <a:rPr sz="1614">
                <a:solidFill>
                  <a:srgbClr val="1D1D1F"/>
                </a:solidFill>
                <a:latin typeface="Pretendard"/>
              </a:rPr>
              <a:t>▪ JP모건, 맥쿼리 등 글로벌 IB, 메모리 슈퍼사이클을 근거로 2026년 KOSPI 목표를 최고 6,000선(Full Bull)으로 상향 제시.</a:t>
            </a:r>
          </a:p>
          <a:p>
            <a:pPr algn="l">
              <a:spcAft>
                <a:spcPts val="600"/>
              </a:spcAft>
            </a:pPr>
            <a:r>
              <a:rPr sz="1614">
                <a:solidFill>
                  <a:srgbClr val="1D1D1F"/>
                </a:solidFill>
                <a:latin typeface="Pretendard"/>
              </a:rPr>
              <a:t>▪ NH투자·HMC증권 등 국내 주요 증권사 역시 5,500선을 목표치로 상향 조정하며 강세장에 힘을 실음.</a:t>
            </a:r>
          </a:p>
          <a:p>
            <a:pPr algn="l">
              <a:spcAft>
                <a:spcPts val="600"/>
              </a:spcAft>
            </a:pPr>
            <a:r>
              <a:rPr sz="1614">
                <a:solidFill>
                  <a:srgbClr val="1D1D1F"/>
                </a:solidFill>
                <a:latin typeface="Pretendard"/>
              </a:rPr>
              <a:t>▪ 현 정부의 '임기 내 KOSPI 5,000' 공약이 폭발적 랠리로 조기 달성되며 자본시장의 새로운 국면 진입.</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코리아 디스카운트의 구조적 종언</a:t>
            </a:r>
          </a:p>
          <a:p>
            <a:pPr algn="ctr"/>
            <a:r>
              <a:rPr sz="3200" b="1">
                <a:solidFill>
                  <a:srgbClr val="1D1D1F"/>
                </a:solidFill>
                <a:latin typeface="Pretendard"/>
              </a:rPr>
              <a:t>AI 수혜 노출과 밸류업 정책이 주도할 아시아 평균 밸류에이션 수렴</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반도체 슈퍼사이클</a:t>
            </a:r>
          </a:p>
          <a:p>
            <a:pPr algn="l">
              <a:spcAft>
                <a:spcPts val="600"/>
              </a:spcAft>
            </a:pPr>
            <a:r>
              <a:rPr sz="1200" b="1">
                <a:solidFill>
                  <a:srgbClr val="1D1D1F"/>
                </a:solidFill>
                <a:latin typeface="Pretendard"/>
              </a:rPr>
              <a:t>HBM 공급 부족 현상 지속</a:t>
            </a:r>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2026.05 밸류에이션 비교</a:t>
            </a:r>
          </a:p>
          <a:p>
            <a:pPr algn="ctr">
              <a:spcAft>
                <a:spcPts val="600"/>
              </a:spcAft>
            </a:pPr>
            <a:r>
              <a:rPr sz="1360" b="1">
                <a:solidFill>
                  <a:srgbClr val="1D1D1F"/>
                </a:solidFill>
                <a:latin typeface="Pretendard"/>
              </a:rPr>
              <a:t>KOSPI</a:t>
            </a:r>
            <a:r>
              <a:t>                  </a:t>
            </a:r>
            <a:r>
              <a:rPr sz="1360" b="1">
                <a:solidFill>
                  <a:srgbClr val="1D1D1F"/>
                </a:solidFill>
                <a:latin typeface="Pretendard"/>
              </a:rPr>
              <a:t>Asia Avg.</a:t>
            </a:r>
          </a:p>
          <a:p>
            <a:pPr algn="ctr">
              <a:spcAft>
                <a:spcPts val="600"/>
              </a:spcAft>
            </a:pPr>
            <a:r>
              <a:rPr sz="1800" b="1">
                <a:solidFill>
                  <a:srgbClr val="1D1D1F"/>
                </a:solidFill>
                <a:latin typeface="Pretendard"/>
              </a:rPr>
              <a:t>13.2x</a:t>
            </a:r>
            <a:r>
              <a:t>               </a:t>
            </a:r>
            <a:r>
              <a:rPr sz="1800" b="1">
                <a:solidFill>
                  <a:srgbClr val="1D1D1F"/>
                </a:solidFill>
                <a:latin typeface="Pretendard"/>
              </a:rPr>
              <a:t>16.1x</a:t>
            </a:r>
          </a:p>
          <a:p>
            <a:pPr algn="ctr">
              <a:spcAft>
                <a:spcPts val="600"/>
              </a:spcAft>
            </a:pPr>
            <a:r>
              <a:rPr sz="1200" b="1">
                <a:solidFill>
                  <a:srgbClr val="1D1D1F"/>
                </a:solidFill>
                <a:latin typeface="Pretendard"/>
              </a:rPr>
              <a:t>PER</a:t>
            </a:r>
            <a:r>
              <a:t>                     </a:t>
            </a:r>
            <a:r>
              <a:rPr sz="1200" b="1">
                <a:solidFill>
                  <a:srgbClr val="1D1D1F"/>
                </a:solidFill>
                <a:latin typeface="Pretendard"/>
              </a:rPr>
              <a:t>PER</a:t>
            </a:r>
          </a:p>
        </p:txBody>
      </p:sp>
      <p:sp>
        <p:nvSpPr>
          <p:cNvPr id="7" name="Rounded Rectangle 6"/>
          <p:cNvSpPr/>
          <p:nvPr/>
        </p:nvSpPr>
        <p:spPr>
          <a:xfrm>
            <a:off x="398996382"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9133542" y="2331720"/>
            <a:ext cx="2042083" cy="883920"/>
          </a:xfrm>
          <a:prstGeom prst="rect">
            <a:avLst/>
          </a:prstGeom>
          <a:noFill/>
        </p:spPr>
        <p:txBody>
          <a:bodyPr wrap="square" lIns="0" rIns="0" tIns="0" bIns="0">
            <a:spAutoFit/>
          </a:bodyPr>
          <a:lstStyle/>
          <a:p>
            <a:pPr algn="l">
              <a:spcAft>
                <a:spcPts val="600"/>
              </a:spcAft>
            </a:pPr>
            <a:r>
              <a:rPr sz="1800" b="1">
                <a:solidFill>
                  <a:srgbClr val="1E3A8A"/>
                </a:solidFill>
                <a:latin typeface="Pretendard"/>
              </a:rPr>
              <a:t>1</a:t>
            </a:r>
          </a:p>
        </p:txBody>
      </p:sp>
      <p:sp>
        <p:nvSpPr>
          <p:cNvPr id="9" name="Rounded Rectangle 8"/>
          <p:cNvSpPr/>
          <p:nvPr/>
        </p:nvSpPr>
        <p:spPr>
          <a:xfrm>
            <a:off x="59803737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8174533" y="233172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외국인 대규모 유입</a:t>
            </a:r>
          </a:p>
          <a:p>
            <a:pPr algn="l">
              <a:spcAft>
                <a:spcPts val="600"/>
              </a:spcAft>
            </a:pPr>
            <a:r>
              <a:rPr sz="1200" b="1">
                <a:solidFill>
                  <a:srgbClr val="1D1D1F"/>
                </a:solidFill>
                <a:latin typeface="Pretendard"/>
              </a:rPr>
              <a:t>공매도 재개 이후 패시브/액티브 자금 회귀</a:t>
            </a:r>
          </a:p>
        </p:txBody>
      </p:sp>
      <p:sp>
        <p:nvSpPr>
          <p:cNvPr id="11" name="Rounded Rectangle 10"/>
          <p:cNvSpPr/>
          <p:nvPr/>
        </p:nvSpPr>
        <p:spPr>
          <a:xfrm>
            <a:off x="914400"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a:pPr algn="l">
              <a:spcAft>
                <a:spcPts val="600"/>
              </a:spcAft>
            </a:pPr>
            <a:r>
              <a:rPr sz="1800" b="1">
                <a:solidFill>
                  <a:srgbClr val="1E3A8A"/>
                </a:solidFill>
                <a:latin typeface="Pretendard"/>
              </a:rPr>
              <a:t>2</a:t>
            </a:r>
          </a:p>
        </p:txBody>
      </p:sp>
      <p:sp>
        <p:nvSpPr>
          <p:cNvPr id="13" name="Rounded Rectangle 12"/>
          <p:cNvSpPr/>
          <p:nvPr/>
        </p:nvSpPr>
        <p:spPr>
          <a:xfrm>
            <a:off x="199955391"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0092551" y="376428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VS</a:t>
            </a:r>
          </a:p>
          <a:p>
            <a:pPr algn="ctr">
              <a:spcAft>
                <a:spcPts val="600"/>
              </a:spcAft>
            </a:pPr>
            <a:r>
              <a:rPr sz="1800" b="1">
                <a:solidFill>
                  <a:srgbClr val="1D1D1F"/>
                </a:solidFill>
                <a:latin typeface="Pretendard"/>
              </a:rPr>
              <a:t>1.34x</a:t>
            </a:r>
            <a:r>
              <a:t>               </a:t>
            </a:r>
            <a:r>
              <a:rPr sz="1800" b="1">
                <a:solidFill>
                  <a:srgbClr val="1D1D1F"/>
                </a:solidFill>
                <a:latin typeface="Pretendard"/>
              </a:rPr>
              <a:t>2.15x</a:t>
            </a:r>
          </a:p>
          <a:p>
            <a:pPr algn="ctr">
              <a:spcAft>
                <a:spcPts val="600"/>
              </a:spcAft>
            </a:pPr>
            <a:r>
              <a:rPr sz="1200" b="1">
                <a:solidFill>
                  <a:srgbClr val="1D1D1F"/>
                </a:solidFill>
                <a:latin typeface="Pretendard"/>
              </a:rPr>
              <a:t>PBR</a:t>
            </a:r>
            <a:r>
              <a:t>                     </a:t>
            </a:r>
            <a:r>
              <a:rPr sz="1200" b="1">
                <a:solidFill>
                  <a:srgbClr val="1D1D1F"/>
                </a:solidFill>
                <a:latin typeface="Pretendard"/>
              </a:rPr>
              <a:t>PBR</a:t>
            </a:r>
          </a:p>
        </p:txBody>
      </p:sp>
      <p:sp>
        <p:nvSpPr>
          <p:cNvPr id="15" name="Rounded Rectangle 14"/>
          <p:cNvSpPr/>
          <p:nvPr/>
        </p:nvSpPr>
        <p:spPr>
          <a:xfrm>
            <a:off x="39776765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7904817" y="376428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정부의 친주주 정책</a:t>
            </a:r>
          </a:p>
          <a:p>
            <a:pPr algn="l">
              <a:spcAft>
                <a:spcPts val="600"/>
              </a:spcAft>
            </a:pPr>
            <a:r>
              <a:rPr sz="1200" b="1">
                <a:solidFill>
                  <a:srgbClr val="1D1D1F"/>
                </a:solidFill>
                <a:latin typeface="Pretendard"/>
              </a:rPr>
              <a:t>밸류업 프로그램 및 자본시장법 개정안</a:t>
            </a:r>
          </a:p>
        </p:txBody>
      </p:sp>
      <p:sp>
        <p:nvSpPr>
          <p:cNvPr id="17" name="Rounded Rectangle 16"/>
          <p:cNvSpPr/>
          <p:nvPr/>
        </p:nvSpPr>
        <p:spPr>
          <a:xfrm>
            <a:off x="596194286"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331446" y="3764280"/>
            <a:ext cx="2042083" cy="883920"/>
          </a:xfrm>
          <a:prstGeom prst="rect">
            <a:avLst/>
          </a:prstGeom>
          <a:noFill/>
        </p:spPr>
        <p:txBody>
          <a:bodyPr wrap="square" lIns="0" rIns="0" tIns="0" bIns="0">
            <a:spAutoFit/>
          </a:bodyPr>
          <a:lstStyle/>
          <a:p>
            <a:pPr algn="l">
              <a:spcAft>
                <a:spcPts val="600"/>
              </a:spcAft>
            </a:pPr>
            <a:r>
              <a:rPr sz="1800" b="1">
                <a:solidFill>
                  <a:srgbClr val="1E3A8A"/>
                </a:solidFill>
                <a:latin typeface="Pretendard"/>
              </a:rPr>
              <a:t>3</a:t>
            </a:r>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글로벌 AI 수혜 노출도 1위</a:t>
            </a:r>
          </a:p>
          <a:p>
            <a:pPr algn="l">
              <a:spcAft>
                <a:spcPts val="600"/>
              </a:spcAft>
            </a:pPr>
            <a:r>
              <a:rPr sz="1200" b="1">
                <a:solidFill>
                  <a:srgbClr val="1D1D1F"/>
                </a:solidFill>
                <a:latin typeface="Pretendard"/>
              </a:rPr>
              <a:t>전 세계에서 AI 수혜에 가장 직결된 시장 인식</a:t>
            </a:r>
          </a:p>
          <a:p>
            <a:pPr algn="l">
              <a:spcAft>
                <a:spcPts val="600"/>
              </a:spcAft>
            </a:pPr>
            <a:r>
              <a:rPr sz="1614">
                <a:solidFill>
                  <a:srgbClr val="1D1D1F"/>
                </a:solidFill>
                <a:latin typeface="Pretendard"/>
              </a:rPr>
              <a:t>▪ 핵심 상승 동력은 HBM 부족 현상 지속, 외국인 자금 회귀, 강력한 밸류업 정책 및 자본시장법 개정.</a:t>
            </a:r>
          </a:p>
          <a:p>
            <a:pPr algn="l">
              <a:spcAft>
                <a:spcPts val="600"/>
              </a:spcAft>
            </a:pPr>
            <a:r>
              <a:rPr sz="1614">
                <a:solidFill>
                  <a:srgbClr val="1D1D1F"/>
                </a:solidFill>
                <a:latin typeface="Pretendard"/>
              </a:rPr>
              <a:t>▪ 무엇보다 KOSPI가 글로벌 AI 밸류체인의 핵심 수혜 시장이라는 외국인 투자자의 확고한 인식이 결정적 작용.</a:t>
            </a:r>
          </a:p>
          <a:p>
            <a:pPr algn="l">
              <a:spcAft>
                <a:spcPts val="600"/>
              </a:spcAft>
            </a:pPr>
            <a:r>
              <a:rPr sz="1614">
                <a:solidFill>
                  <a:srgbClr val="1D1D1F"/>
                </a:solidFill>
                <a:latin typeface="Pretendard"/>
              </a:rPr>
              <a:t>▪ PER 13.2배로 상승했으나 아시아 평균 대비 여전히 저평가 상태. 향후 5년 내 "코리아 디스카운트"의 완전한 해소 전망.</a:t>
            </a:r>
          </a:p>
        </p:txBody>
      </p:sp>
      <p:sp>
        <p:nvSpPr>
          <p:cNvPr id="21" name="Rounded Rectangle 20"/>
          <p:cNvSpPr/>
          <p:nvPr/>
        </p:nvSpPr>
        <p:spPr>
          <a:xfrm>
            <a:off x="199341028"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9478188" y="5196840"/>
            <a:ext cx="2042083" cy="883920"/>
          </a:xfrm>
          <a:prstGeom prst="rect">
            <a:avLst/>
          </a:prstGeom>
          <a:noFill/>
        </p:spPr>
        <p:txBody>
          <a:bodyPr wrap="square" lIns="0" rIns="0" tIns="0" bIns="0">
            <a:spAutoFit/>
          </a:bodyPr>
          <a:lstStyle/>
          <a:p>
            <a:pPr algn="l">
              <a:spcAft>
                <a:spcPts val="600"/>
              </a:spcAft>
            </a:pPr>
            <a:r>
              <a:rPr sz="1800" b="1">
                <a:solidFill>
                  <a:srgbClr val="1E3A8A"/>
                </a:solidFill>
                <a:latin typeface="Pretendard"/>
              </a:rPr>
              <a:t>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4.</a:t>
            </a:r>
          </a:p>
          <a:p>
            <a:pPr algn="ctr">
              <a:spcAft>
                <a:spcPts val="1400"/>
              </a:spcAft>
            </a:pPr>
            <a:r>
              <a:rPr sz="2400" b="1">
                <a:solidFill>
                  <a:srgbClr val="FFFFFF"/>
                </a:solidFill>
                <a:latin typeface="Pretendard"/>
              </a:rPr>
              <a:t>서울 오피스 시장 진화 CBD·GBD·YBD 3축에서 +MBD·BBD 5축으로</a:t>
            </a:r>
            <a:r>
              <a:rPr sz="2400" b="1">
                <a:solidFill>
                  <a:srgbClr val="FFFFFF"/>
                </a:solidFill>
                <a:latin typeface="Pretendard"/>
              </a:rPr>
              <a:t>서울 오피스 시장 진화 CBD·GBD·YBD 3축에서 +MBD·BBD 5축으로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3대 핵심 권역(CBD/GBD/YBD)의 골격</a:t>
            </a:r>
          </a:p>
          <a:p>
            <a:pPr algn="ctr"/>
            <a:r>
              <a:rPr sz="3200" b="1">
                <a:solidFill>
                  <a:srgbClr val="1D1D1F"/>
                </a:solidFill>
                <a:latin typeface="Pretendard"/>
              </a:rPr>
              <a:t>SFC부터 파크원까지 트로피 자산이 주도한 권역별 랜드마크 진화</a:t>
            </a:r>
          </a:p>
        </p:txBody>
      </p:sp>
      <p:sp>
        <p:nvSpPr>
          <p:cNvPr id="3" name="Rounded Rectangle 2"/>
          <p:cNvSpPr/>
          <p:nvPr/>
        </p:nvSpPr>
        <p:spPr>
          <a:xfrm>
            <a:off x="914400" y="219456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52578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도심권역</a:t>
            </a:r>
          </a:p>
          <a:p>
            <a:pPr algn="ctr">
              <a:spcAft>
                <a:spcPts val="600"/>
              </a:spcAft>
            </a:pPr>
            <a:r>
              <a:rPr sz="1530" b="1">
                <a:solidFill>
                  <a:srgbClr val="1D1D1F"/>
                </a:solidFill>
                <a:latin typeface="Pretendard"/>
              </a:rPr>
              <a:t>광화문·시청·종로</a:t>
            </a:r>
          </a:p>
        </p:txBody>
      </p:sp>
      <p:sp>
        <p:nvSpPr>
          <p:cNvPr id="5" name="Rounded Rectangle 4"/>
          <p:cNvSpPr/>
          <p:nvPr/>
        </p:nvSpPr>
        <p:spPr>
          <a:xfrm>
            <a:off x="3596563" y="219456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52578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강남권역</a:t>
            </a:r>
          </a:p>
          <a:p>
            <a:pPr algn="ctr">
              <a:spcAft>
                <a:spcPts val="600"/>
              </a:spcAft>
            </a:pPr>
            <a:r>
              <a:rPr sz="1530" b="1">
                <a:solidFill>
                  <a:srgbClr val="1D1D1F"/>
                </a:solidFill>
                <a:latin typeface="Pretendard"/>
              </a:rPr>
              <a:t>테헤란로 라인 핵심</a:t>
            </a:r>
          </a:p>
        </p:txBody>
      </p:sp>
      <p:sp>
        <p:nvSpPr>
          <p:cNvPr id="7" name="Rounded Rectangle 6"/>
          <p:cNvSpPr/>
          <p:nvPr/>
        </p:nvSpPr>
        <p:spPr>
          <a:xfrm>
            <a:off x="6278727" y="219456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52578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여의도권역</a:t>
            </a:r>
          </a:p>
          <a:p>
            <a:pPr algn="ctr">
              <a:spcAft>
                <a:spcPts val="600"/>
              </a:spcAft>
            </a:pPr>
            <a:r>
              <a:rPr sz="1530" b="1">
                <a:solidFill>
                  <a:srgbClr val="1D1D1F"/>
                </a:solidFill>
                <a:latin typeface="Pretendard"/>
              </a:rPr>
              <a:t>두 번의 거대한 변곡점</a:t>
            </a:r>
          </a:p>
        </p:txBody>
      </p:sp>
      <p:sp>
        <p:nvSpPr>
          <p:cNvPr id="9" name="Rounded Rectangle 8"/>
          <p:cNvSpPr/>
          <p:nvPr/>
        </p:nvSpPr>
        <p:spPr>
          <a:xfrm>
            <a:off x="8960891" y="219456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525780"/>
          </a:xfrm>
          <a:prstGeom prst="rect">
            <a:avLst/>
          </a:prstGeom>
          <a:noFill/>
        </p:spPr>
        <p:txBody>
          <a:bodyPr wrap="square" lIns="0" rIns="0" tIns="0" bIns="0">
            <a:spAutoFit/>
          </a:bodyPr>
          <a:lstStyle/>
          <a:p/>
        </p:txBody>
      </p:sp>
      <p:sp>
        <p:nvSpPr>
          <p:cNvPr id="11" name="Rounded Rectangle 10"/>
          <p:cNvSpPr/>
          <p:nvPr/>
        </p:nvSpPr>
        <p:spPr>
          <a:xfrm>
            <a:off x="914400" y="326898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406140"/>
            <a:ext cx="2042083" cy="525780"/>
          </a:xfrm>
          <a:prstGeom prst="rect">
            <a:avLst/>
          </a:prstGeom>
          <a:noFill/>
        </p:spPr>
        <p:txBody>
          <a:bodyPr wrap="square" lIns="0" rIns="0" tIns="0" bIns="0">
            <a:spAutoFit/>
          </a:bodyPr>
          <a:lstStyle/>
          <a:p/>
        </p:txBody>
      </p:sp>
      <p:sp>
        <p:nvSpPr>
          <p:cNvPr id="13" name="Rounded Rectangle 12"/>
          <p:cNvSpPr/>
          <p:nvPr/>
        </p:nvSpPr>
        <p:spPr>
          <a:xfrm>
            <a:off x="3596563" y="326898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406140"/>
            <a:ext cx="2042083" cy="525780"/>
          </a:xfrm>
          <a:prstGeom prst="rect">
            <a:avLst/>
          </a:prstGeom>
          <a:noFill/>
        </p:spPr>
        <p:txBody>
          <a:bodyPr wrap="square" lIns="0" rIns="0" tIns="0" bIns="0">
            <a:spAutoFit/>
          </a:bodyPr>
          <a:lstStyle/>
          <a:p/>
        </p:txBody>
      </p:sp>
      <p:sp>
        <p:nvSpPr>
          <p:cNvPr id="15" name="Rounded Rectangle 14"/>
          <p:cNvSpPr/>
          <p:nvPr/>
        </p:nvSpPr>
        <p:spPr>
          <a:xfrm>
            <a:off x="6278727" y="326898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406140"/>
            <a:ext cx="2042083" cy="52578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SFC (2002)</a:t>
            </a:r>
          </a:p>
        </p:txBody>
      </p:sp>
      <p:sp>
        <p:nvSpPr>
          <p:cNvPr id="17" name="Rounded Rectangle 16"/>
          <p:cNvSpPr/>
          <p:nvPr/>
        </p:nvSpPr>
        <p:spPr>
          <a:xfrm>
            <a:off x="8960891" y="326898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406140"/>
            <a:ext cx="2042083" cy="52578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GFC (2001)</a:t>
            </a:r>
          </a:p>
        </p:txBody>
      </p:sp>
      <p:sp>
        <p:nvSpPr>
          <p:cNvPr id="19" name="Rounded Rectangle 18"/>
          <p:cNvSpPr/>
          <p:nvPr/>
        </p:nvSpPr>
        <p:spPr>
          <a:xfrm>
            <a:off x="914400" y="434340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480560"/>
            <a:ext cx="2042083" cy="52578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IFC 서울 (2012)</a:t>
            </a:r>
          </a:p>
        </p:txBody>
      </p:sp>
      <p:sp>
        <p:nvSpPr>
          <p:cNvPr id="21" name="Rounded Rectangle 20"/>
          <p:cNvSpPr/>
          <p:nvPr/>
        </p:nvSpPr>
        <p:spPr>
          <a:xfrm>
            <a:off x="3596563" y="434340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33723" y="4480560"/>
            <a:ext cx="2042083" cy="52578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종로타워 / 그랑서울 (2014)</a:t>
            </a:r>
          </a:p>
        </p:txBody>
      </p:sp>
      <p:sp>
        <p:nvSpPr>
          <p:cNvPr id="23" name="Rounded Rectangle 22"/>
          <p:cNvSpPr/>
          <p:nvPr/>
        </p:nvSpPr>
        <p:spPr>
          <a:xfrm>
            <a:off x="6278727" y="434340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5887" y="4480560"/>
            <a:ext cx="2042083" cy="52578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파르나스타워 (2016)</a:t>
            </a:r>
          </a:p>
        </p:txBody>
      </p:sp>
      <p:sp>
        <p:nvSpPr>
          <p:cNvPr id="25" name="Rounded Rectangle 24"/>
          <p:cNvSpPr/>
          <p:nvPr/>
        </p:nvSpPr>
        <p:spPr>
          <a:xfrm>
            <a:off x="8960891" y="434340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051" y="4480560"/>
            <a:ext cx="2042083" cy="52578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파크원 Parc1 (2020)</a:t>
            </a:r>
          </a:p>
        </p:txBody>
      </p:sp>
      <p:sp>
        <p:nvSpPr>
          <p:cNvPr id="27" name="Rounded Rectangle 26"/>
          <p:cNvSpPr/>
          <p:nvPr/>
        </p:nvSpPr>
        <p:spPr>
          <a:xfrm>
            <a:off x="914400" y="541782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554980"/>
            <a:ext cx="2042083" cy="52578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D타워 (2017) / 센트로폴리스 (2018)</a:t>
            </a:r>
          </a:p>
        </p:txBody>
      </p:sp>
      <p:sp>
        <p:nvSpPr>
          <p:cNvPr id="29" name="Rounded Rectangle 28"/>
          <p:cNvSpPr/>
          <p:nvPr/>
        </p:nvSpPr>
        <p:spPr>
          <a:xfrm>
            <a:off x="3596563" y="541782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33723" y="5554980"/>
            <a:ext cx="2042083" cy="52578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캐피탈타워 (1998)</a:t>
            </a:r>
          </a:p>
          <a:p>
            <a:pPr algn="l">
              <a:spcAft>
                <a:spcPts val="600"/>
              </a:spcAft>
            </a:pPr>
            <a:r>
              <a:rPr sz="1614">
                <a:solidFill>
                  <a:srgbClr val="1D1D1F"/>
                </a:solidFill>
                <a:latin typeface="Pretendard"/>
              </a:rPr>
              <a:t>▪ 2007년 서울 오피스 시장은 CBD(광화문·시청·종로) 중심이었으며, SFC부터 센트로폴리스까지 핵심 랜드마크가 골격을 형성.</a:t>
            </a:r>
          </a:p>
          <a:p>
            <a:pPr algn="l">
              <a:spcAft>
                <a:spcPts val="600"/>
              </a:spcAft>
            </a:pPr>
            <a:r>
              <a:rPr sz="1614">
                <a:solidFill>
                  <a:srgbClr val="1D1D1F"/>
                </a:solidFill>
                <a:latin typeface="Pretendard"/>
              </a:rPr>
              <a:t>▪ GBD(강남)는 GFC와 파르나스타워 등 테헤란로 중심, YBD(여의도)는 IFC와 파크원으로 거대한 변곡점을 맞이함.</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MBD(마곡)와 BBD(판교)의 급부상</a:t>
            </a:r>
          </a:p>
          <a:p>
            <a:pPr algn="ctr"/>
            <a:r>
              <a:rPr sz="3200" b="1">
                <a:solidFill>
                  <a:srgbClr val="1D1D1F"/>
                </a:solidFill>
                <a:latin typeface="Pretendard"/>
              </a:rPr>
              <a:t>R&amp;D 테크 자본 집중으로 다극화된 서울 오피스 5대 권역 재편</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마곡권역</a:t>
            </a:r>
          </a:p>
          <a:p>
            <a:pPr algn="ctr">
              <a:spcAft>
                <a:spcPts val="600"/>
              </a:spcAft>
            </a:pPr>
            <a:r>
              <a:rPr sz="1530" b="1">
                <a:solidFill>
                  <a:srgbClr val="1D1D1F"/>
                </a:solidFill>
                <a:latin typeface="Pretendard"/>
              </a:rPr>
              <a:t>R&amp;D 융복합 클러스터</a:t>
            </a:r>
          </a:p>
          <a:p>
            <a:pPr algn="ctr">
              <a:spcAft>
                <a:spcPts val="600"/>
              </a:spcAft>
            </a:pPr>
            <a:r>
              <a:rPr sz="1800" b="1">
                <a:solidFill>
                  <a:srgbClr val="1D1D1F"/>
                </a:solidFill>
                <a:latin typeface="Pretendard"/>
              </a:rPr>
              <a:t>+</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분당·판교권역</a:t>
            </a:r>
          </a:p>
          <a:p>
            <a:pPr algn="ctr">
              <a:spcAft>
                <a:spcPts val="600"/>
              </a:spcAft>
            </a:pPr>
            <a:r>
              <a:rPr sz="1530" b="1">
                <a:solidFill>
                  <a:srgbClr val="1D1D1F"/>
                </a:solidFill>
                <a:latin typeface="Pretendard"/>
              </a:rPr>
              <a:t>한국의 실리콘밸리</a:t>
            </a:r>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LG사이언스파크</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판교테크노밸리</a:t>
            </a:r>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코오롱 One&amp;Only타워</a:t>
            </a:r>
          </a:p>
          <a:p>
            <a:pPr algn="l">
              <a:spcAft>
                <a:spcPts val="600"/>
              </a:spcAft>
            </a:pPr>
            <a:r>
              <a:rPr sz="1614">
                <a:solidFill>
                  <a:srgbClr val="1D1D1F"/>
                </a:solidFill>
                <a:latin typeface="Pretendard"/>
              </a:rPr>
              <a:t>▪ 2010년대 중반 이후 MBD(마곡)가 LG사이언스파크 등 거대 R&amp;D 자본을 흡수하며 융복합 클러스터로 형성됨.</a:t>
            </a:r>
          </a:p>
          <a:p>
            <a:pPr algn="l">
              <a:spcAft>
                <a:spcPts val="600"/>
              </a:spcAft>
            </a:pPr>
            <a:r>
              <a:rPr sz="1614">
                <a:solidFill>
                  <a:srgbClr val="1D1D1F"/>
                </a:solidFill>
                <a:latin typeface="Pretendard"/>
              </a:rPr>
              <a:t>▪ BBD(분당·판교)는 IT·테크 기업의 폭발적 성장과 함께 알파돔시티 등으로 대규모 확장.</a:t>
            </a:r>
          </a:p>
          <a:p>
            <a:pPr algn="l">
              <a:spcAft>
                <a:spcPts val="600"/>
              </a:spcAft>
            </a:pPr>
            <a:r>
              <a:rPr sz="1614">
                <a:solidFill>
                  <a:srgbClr val="1D1D1F"/>
                </a:solidFill>
                <a:latin typeface="Pretendard"/>
              </a:rPr>
              <a:t>▪ 결과적으로 1조→2조 달러 구간 동안 서울 오피스 시장은 전통 3대 권역에서 5대 권역으로 다극화되며 질적 성장을 이룸.</a:t>
            </a:r>
          </a:p>
        </p:txBody>
      </p:sp>
      <p:sp>
        <p:nvSpPr>
          <p:cNvPr id="13" name="Rounded Rectangle 12"/>
          <p:cNvSpPr/>
          <p:nvPr/>
        </p:nvSpPr>
        <p:spPr>
          <a:xfrm>
            <a:off x="8066836"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3996" y="448056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알파돔시티 / K-스퀘어</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자연 공실률 하한선 돌파</a:t>
            </a:r>
          </a:p>
          <a:p>
            <a:pPr algn="ctr"/>
            <a:r>
              <a:rPr sz="3200" b="1">
                <a:solidFill>
                  <a:srgbClr val="1D1D1F"/>
                </a:solidFill>
                <a:latin typeface="Pretendard"/>
              </a:rPr>
              <a:t>코로나 이후의 급반등, 사실상 완전 임차에 도달하다</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2007~2010</a:t>
            </a:r>
          </a:p>
          <a:p>
            <a:pPr algn="ctr">
              <a:spcAft>
                <a:spcPts val="600"/>
              </a:spcAft>
            </a:pPr>
            <a:r>
              <a:rPr sz="1275" b="1">
                <a:solidFill>
                  <a:srgbClr val="1D1D1F"/>
                </a:solidFill>
                <a:latin typeface="Pretendard"/>
              </a:rPr>
              <a:t>글로벌 금융위기</a:t>
            </a:r>
          </a:p>
          <a:p>
            <a:pPr algn="ctr">
              <a:spcAft>
                <a:spcPts val="600"/>
              </a:spcAft>
            </a:pPr>
            <a:r>
              <a:rPr sz="1360" b="1">
                <a:solidFill>
                  <a:srgbClr val="1D1D1F"/>
                </a:solidFill>
                <a:latin typeface="Pretendard"/>
              </a:rPr>
              <a:t>8~10%</a:t>
            </a:r>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2018~2019</a:t>
            </a:r>
          </a:p>
          <a:p>
            <a:pPr algn="ctr">
              <a:spcAft>
                <a:spcPts val="600"/>
              </a:spcAft>
            </a:pPr>
            <a:r>
              <a:rPr sz="1275" b="1">
                <a:solidFill>
                  <a:srgbClr val="1D1D1F"/>
                </a:solidFill>
                <a:latin typeface="Pretendard"/>
              </a:rPr>
              <a:t>점진적 안정</a:t>
            </a:r>
          </a:p>
          <a:p>
            <a:pPr algn="l">
              <a:spcAft>
                <a:spcPts val="600"/>
              </a:spcAft>
            </a:pPr>
            <a:r>
              <a:rPr sz="1530" b="1">
                <a:solidFill>
                  <a:srgbClr val="1D1D1F"/>
                </a:solidFill>
                <a:latin typeface="Pretendard"/>
              </a:rPr>
              <a:t>CBRE 2025년 3분기 기준</a:t>
            </a:r>
          </a:p>
        </p:txBody>
      </p:sp>
      <p:sp>
        <p:nvSpPr>
          <p:cNvPr id="9" name="Rounded Rectangle 8"/>
          <p:cNvSpPr/>
          <p:nvPr/>
        </p:nvSpPr>
        <p:spPr>
          <a:xfrm>
            <a:off x="8960891"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p:txBody>
      </p:sp>
      <p:sp>
        <p:nvSpPr>
          <p:cNvPr id="11" name="Rounded Rectangle 10"/>
          <p:cNvSpPr/>
          <p:nvPr/>
        </p:nvSpPr>
        <p:spPr>
          <a:xfrm>
            <a:off x="914400"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2022~</a:t>
            </a:r>
          </a:p>
          <a:p>
            <a:pPr algn="ctr">
              <a:spcAft>
                <a:spcPts val="600"/>
              </a:spcAft>
            </a:pPr>
            <a:r>
              <a:rPr sz="1360" b="1">
                <a:solidFill>
                  <a:srgbClr val="1D1D1F"/>
                </a:solidFill>
                <a:latin typeface="Pretendard"/>
              </a:rPr>
              <a:t>급격히 하락</a:t>
            </a:r>
          </a:p>
        </p:txBody>
      </p:sp>
      <p:sp>
        <p:nvSpPr>
          <p:cNvPr id="13" name="Rounded Rectangle 12"/>
          <p:cNvSpPr/>
          <p:nvPr/>
        </p:nvSpPr>
        <p:spPr>
          <a:xfrm>
            <a:off x="3596563"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76428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3.1%</a:t>
            </a:r>
          </a:p>
          <a:p>
            <a:pPr algn="ctr">
              <a:spcAft>
                <a:spcPts val="600"/>
              </a:spcAft>
            </a:pPr>
            <a:r>
              <a:rPr sz="1360" b="1">
                <a:solidFill>
                  <a:srgbClr val="1D1D1F"/>
                </a:solidFill>
                <a:latin typeface="Pretendard"/>
              </a:rPr>
              <a:t>Full Occupancy</a:t>
            </a:r>
          </a:p>
        </p:txBody>
      </p:sp>
      <p:sp>
        <p:nvSpPr>
          <p:cNvPr id="15" name="Rounded Rectangle 14"/>
          <p:cNvSpPr/>
          <p:nvPr/>
        </p:nvSpPr>
        <p:spPr>
          <a:xfrm>
            <a:off x="627872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764280"/>
            <a:ext cx="2042083" cy="883920"/>
          </a:xfrm>
          <a:prstGeom prst="rect">
            <a:avLst/>
          </a:prstGeom>
          <a:noFill/>
        </p:spPr>
        <p:txBody>
          <a:bodyPr wrap="square" lIns="0" rIns="0" tIns="0" bIns="0">
            <a:spAutoFit/>
          </a:bodyPr>
          <a:lstStyle/>
          <a:p>
            <a:pPr algn="ctr">
              <a:spcAft>
                <a:spcPts val="600"/>
              </a:spcAft>
            </a:pPr>
            <a:r>
              <a:rPr sz="1275" b="1">
                <a:solidFill>
                  <a:srgbClr val="1D1D1F"/>
                </a:solidFill>
                <a:latin typeface="Pretendard"/>
              </a:rPr>
              <a:t>GBD</a:t>
            </a:r>
          </a:p>
          <a:p>
            <a:pPr algn="ctr">
              <a:spcAft>
                <a:spcPts val="600"/>
              </a:spcAft>
            </a:pPr>
            <a:r>
              <a:rPr sz="1800" b="1">
                <a:solidFill>
                  <a:srgbClr val="1D1D1F"/>
                </a:solidFill>
                <a:latin typeface="Pretendard"/>
              </a:rPr>
              <a:t>1.5%</a:t>
            </a:r>
          </a:p>
        </p:txBody>
      </p:sp>
      <p:sp>
        <p:nvSpPr>
          <p:cNvPr id="17" name="Rounded Rectangle 16"/>
          <p:cNvSpPr/>
          <p:nvPr/>
        </p:nvSpPr>
        <p:spPr>
          <a:xfrm>
            <a:off x="8960891"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76428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서울 Grade-A 오피스 평균 공실률</a:t>
            </a:r>
          </a:p>
          <a:p>
            <a:pPr algn="ctr">
              <a:spcAft>
                <a:spcPts val="600"/>
              </a:spcAft>
            </a:pPr>
            <a:r>
              <a:rPr sz="1275" b="1">
                <a:solidFill>
                  <a:srgbClr val="1D1D1F"/>
                </a:solidFill>
                <a:latin typeface="Pretendard"/>
              </a:rPr>
              <a:t>YBD</a:t>
            </a:r>
          </a:p>
          <a:p>
            <a:pPr algn="ctr">
              <a:spcAft>
                <a:spcPts val="600"/>
              </a:spcAft>
            </a:pPr>
            <a:r>
              <a:rPr sz="1800" b="1">
                <a:solidFill>
                  <a:srgbClr val="1D1D1F"/>
                </a:solidFill>
                <a:latin typeface="Pretendard"/>
              </a:rPr>
              <a:t>3.6%</a:t>
            </a:r>
          </a:p>
          <a:p>
            <a:pPr algn="l">
              <a:spcAft>
                <a:spcPts val="600"/>
              </a:spcAft>
            </a:pPr>
            <a:r>
              <a:rPr sz="1614">
                <a:solidFill>
                  <a:srgbClr val="1D1D1F"/>
                </a:solidFill>
                <a:latin typeface="Pretendard"/>
              </a:rPr>
              <a:t>▪ 2007~2010년 글로벌 금융위기로 8~10%대, 2013~2015년 대형 공급(IFC 등)으로 YBD 일시 18%까지 상승.</a:t>
            </a:r>
          </a:p>
          <a:p>
            <a:pPr algn="l">
              <a:spcAft>
                <a:spcPts val="600"/>
              </a:spcAft>
            </a:pPr>
            <a:r>
              <a:rPr sz="1614">
                <a:solidFill>
                  <a:srgbClr val="1D1D1F"/>
                </a:solidFill>
                <a:latin typeface="Pretendard"/>
              </a:rPr>
              <a:t>▪ 2020~2021년 코로나 시기 일시 상승 후 2022년부터 급락, 2025년 서울 Grade-A 공실률은 3.1% 기록.</a:t>
            </a:r>
          </a:p>
          <a:p>
            <a:pPr algn="l">
              <a:spcAft>
                <a:spcPts val="600"/>
              </a:spcAft>
            </a:pPr>
            <a:r>
              <a:rPr sz="1614">
                <a:solidFill>
                  <a:srgbClr val="1D1D1F"/>
                </a:solidFill>
                <a:latin typeface="Pretendard"/>
              </a:rPr>
              <a:t>▪ 1조→2조 달러 구간 종료 시점, 서울 프라임 오피스는 사실상 자연 공실률을 하회하는 완전 임차 상태 도달.</a:t>
            </a:r>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ctr">
              <a:spcAft>
                <a:spcPts val="600"/>
              </a:spcAft>
            </a:pPr>
            <a:r>
              <a:rPr sz="1275" b="1">
                <a:solidFill>
                  <a:srgbClr val="1D1D1F"/>
                </a:solidFill>
                <a:latin typeface="Pretendard"/>
              </a:rPr>
              <a:t>CBD</a:t>
            </a:r>
          </a:p>
          <a:p>
            <a:pPr algn="ctr">
              <a:spcAft>
                <a:spcPts val="600"/>
              </a:spcAft>
            </a:pPr>
            <a:r>
              <a:rPr sz="1800" b="1">
                <a:solidFill>
                  <a:srgbClr val="1D1D1F"/>
                </a:solidFill>
                <a:latin typeface="Pretendard"/>
              </a:rPr>
              <a:t>4.1%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도쿄와의 격차, 그리고 수렴의 법칙</a:t>
            </a:r>
          </a:p>
          <a:p>
            <a:pPr algn="ctr"/>
            <a:r>
              <a:rPr sz="3200" b="1">
                <a:solidFill>
                  <a:srgbClr val="1D1D1F"/>
                </a:solidFill>
                <a:latin typeface="Pretendard"/>
              </a:rPr>
              <a:t>누적 50% 상승에도 여전히 2배 높은 마루노우치가 제시하는 상승 여력</a:t>
            </a:r>
          </a:p>
        </p:txBody>
      </p:sp>
      <p:sp>
        <p:nvSpPr>
          <p:cNvPr id="3" name="Rounded Rectangle 2"/>
          <p:cNvSpPr/>
          <p:nvPr/>
        </p:nvSpPr>
        <p:spPr>
          <a:xfrm>
            <a:off x="914400" y="219456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Gap-to-Tokyo</a:t>
            </a:r>
          </a:p>
          <a:p>
            <a:pPr algn="ctr">
              <a:spcAft>
                <a:spcPts val="600"/>
              </a:spcAft>
            </a:pPr>
            <a:r>
              <a:rPr sz="1360" b="1">
                <a:solidFill>
                  <a:srgbClr val="1D1D1F"/>
                </a:solidFill>
                <a:latin typeface="Pretendard"/>
              </a:rPr>
              <a:t>여전히 50% 이상 격차</a:t>
            </a:r>
          </a:p>
          <a:p>
            <a:pPr algn="l">
              <a:spcAft>
                <a:spcPts val="600"/>
              </a:spcAft>
            </a:pPr>
            <a:r>
              <a:rPr sz="1614">
                <a:solidFill>
                  <a:srgbClr val="1D1D1F"/>
                </a:solidFill>
                <a:latin typeface="Pretendard"/>
              </a:rPr>
              <a:t>▪ 서울 프라임 명목임대료는 2007년 9만 원에서 2025년 3분기 13.2만 원으로 18년간 누적 50% 상승.</a:t>
            </a:r>
          </a:p>
          <a:p>
            <a:pPr algn="l">
              <a:spcAft>
                <a:spcPts val="600"/>
              </a:spcAft>
            </a:pPr>
            <a:r>
              <a:rPr sz="1614">
                <a:solidFill>
                  <a:srgbClr val="1D1D1F"/>
                </a:solidFill>
                <a:latin typeface="Pretendard"/>
              </a:rPr>
              <a:t>▪ 그러나 도쿄 마루노우치 프라임 임대료는 약 200달러대까지 상승하며 서울의 약 2배 수준을 여전히 유지.</a:t>
            </a:r>
          </a:p>
          <a:p>
            <a:pPr algn="l">
              <a:spcAft>
                <a:spcPts val="600"/>
              </a:spcAft>
            </a:pPr>
            <a:r>
              <a:rPr sz="1614">
                <a:solidFill>
                  <a:srgbClr val="1D1D1F"/>
                </a:solidFill>
                <a:latin typeface="Pretendard"/>
              </a:rPr>
              <a:t>▪ 이는 글로벌 갭(gap-to-Tokyo)이 여전히 50% 이상 남아있음을 의미하며, 향후 트로피 자산의 Rent Re-pricing 정량적 근거가 됨.</a:t>
            </a:r>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Seoul Prime</a:t>
            </a:r>
          </a:p>
          <a:p>
            <a:pPr algn="ctr">
              <a:spcAft>
                <a:spcPts val="600"/>
              </a:spcAft>
            </a:pPr>
            <a:r>
              <a:rPr sz="1700" b="1">
                <a:solidFill>
                  <a:srgbClr val="1D1D1F"/>
                </a:solidFill>
                <a:latin typeface="Pretendard"/>
              </a:rPr>
              <a:t>2025년 3분기 평균 명목임대료</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Tokyo Marunouchi</a:t>
            </a:r>
          </a:p>
          <a:p>
            <a:pPr algn="l">
              <a:spcAft>
                <a:spcPts val="600"/>
              </a:spcAft>
            </a:pPr>
            <a:r>
              <a:rPr sz="1700" b="1">
                <a:solidFill>
                  <a:srgbClr val="1D1D1F"/>
                </a:solidFill>
                <a:latin typeface="Pretendard"/>
              </a:rPr>
              <a:t>프라임 임대료 (환산)</a:t>
            </a:r>
          </a:p>
          <a:p>
            <a:pPr algn="l">
              <a:spcAft>
                <a:spcPts val="600"/>
              </a:spcAft>
            </a:pPr>
            <a:r>
              <a:rPr sz="1800" b="1">
                <a:solidFill>
                  <a:srgbClr val="1D1D1F"/>
                </a:solidFill>
                <a:latin typeface="Pretendard"/>
              </a:rPr>
              <a:t>200$+/sqft</a:t>
            </a:r>
          </a:p>
        </p:txBody>
      </p:sp>
      <p:sp>
        <p:nvSpPr>
          <p:cNvPr id="9" name="Rounded Rectangle 8"/>
          <p:cNvSpPr/>
          <p:nvPr/>
        </p:nvSpPr>
        <p:spPr>
          <a:xfrm>
            <a:off x="896089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+50%</a:t>
            </a:r>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13.2만 원/평·월</a:t>
            </a:r>
          </a:p>
          <a:p>
            <a:pPr algn="ctr">
              <a:spcAft>
                <a:spcPts val="600"/>
              </a:spcAft>
            </a:pPr>
            <a:r>
              <a:rPr sz="1200" b="1">
                <a:solidFill>
                  <a:srgbClr val="1D1D1F"/>
                </a:solidFill>
                <a:latin typeface="Pretendard"/>
              </a:rPr>
              <a:t>2007: 9만 원</a:t>
            </a:r>
          </a:p>
        </p:txBody>
      </p:sp>
      <p:sp>
        <p:nvSpPr>
          <p:cNvPr id="13" name="Rounded Rectangle 12"/>
          <p:cNvSpPr/>
          <p:nvPr/>
        </p:nvSpPr>
        <p:spPr>
          <a:xfrm>
            <a:off x="3596563"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4480560"/>
            <a:ext cx="2042083" cy="1600200"/>
          </a:xfrm>
          <a:prstGeom prst="rect">
            <a:avLst/>
          </a:prstGeom>
          <a:noFill/>
        </p:spPr>
        <p:txBody>
          <a:bodyPr wrap="square" lIns="0" rIns="0" tIns="0" bIns="0">
            <a:spAutoFit/>
          </a:bodyPr>
          <a:lstStyle/>
          <a:p/>
        </p:txBody>
      </p:sp>
      <p:sp>
        <p:nvSpPr>
          <p:cNvPr id="15" name="Rounded Rectangle 14"/>
          <p:cNvSpPr/>
          <p:nvPr/>
        </p:nvSpPr>
        <p:spPr>
          <a:xfrm>
            <a:off x="627872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4480560"/>
            <a:ext cx="2042083" cy="160020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서울의 약 2배 수준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연간 거래량 30조 시대와 자본의 회귀</a:t>
            </a:r>
          </a:p>
          <a:p>
            <a:pPr algn="ctr"/>
            <a:r>
              <a:rPr sz="3200" b="1">
                <a:solidFill>
                  <a:srgbClr val="1D1D1F"/>
                </a:solidFill>
                <a:latin typeface="Pretendard"/>
              </a:rPr>
              <a:t>금리 인하 기대 속 외국인 유동성의 대규모 진입과 캡레이트 압축</a:t>
            </a:r>
          </a:p>
        </p:txBody>
      </p:sp>
      <p:sp>
        <p:nvSpPr>
          <p:cNvPr id="3" name="Rounded Rectangle 2"/>
          <p:cNvSpPr/>
          <p:nvPr/>
        </p:nvSpPr>
        <p:spPr>
          <a:xfrm>
            <a:off x="914400"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2025년 서울 상업용 부동산 거래량 (예상)</a:t>
            </a:r>
          </a:p>
          <a:p>
            <a:pPr algn="ctr">
              <a:spcAft>
                <a:spcPts val="600"/>
              </a:spcAft>
            </a:pPr>
            <a:r>
              <a:rPr sz="1800" b="1">
                <a:solidFill>
                  <a:srgbClr val="1D1D1F"/>
                </a:solidFill>
                <a:latin typeface="Pretendard"/>
              </a:rPr>
              <a:t>30조 원</a:t>
            </a:r>
          </a:p>
        </p:txBody>
      </p:sp>
      <p:sp>
        <p:nvSpPr>
          <p:cNvPr id="5" name="Rounded Rectangle 4"/>
          <p:cNvSpPr/>
          <p:nvPr/>
        </p:nvSpPr>
        <p:spPr>
          <a:xfrm>
            <a:off x="3596563"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2025 하반기 캡레이트 압축</a:t>
            </a:r>
          </a:p>
          <a:p>
            <a:pPr algn="ctr">
              <a:spcAft>
                <a:spcPts val="600"/>
              </a:spcAft>
            </a:pPr>
            <a:r>
              <a:rPr sz="1800" b="1">
                <a:solidFill>
                  <a:srgbClr val="1D1D1F"/>
                </a:solidFill>
                <a:latin typeface="Pretendard"/>
              </a:rPr>
              <a:t>4.2~4.5%</a:t>
            </a:r>
          </a:p>
          <a:p>
            <a:pPr algn="l">
              <a:spcAft>
                <a:spcPts val="600"/>
              </a:spcAft>
            </a:pPr>
            <a:r>
              <a:rPr sz="1360" b="1">
                <a:solidFill>
                  <a:srgbClr val="1D1D1F"/>
                </a:solidFill>
                <a:latin typeface="Pretendard"/>
              </a:rPr>
              <a:t>2021 (저점)</a:t>
            </a:r>
            <a:r>
              <a:t>                          </a:t>
            </a:r>
            <a:r>
              <a:rPr sz="1360" b="1">
                <a:solidFill>
                  <a:srgbClr val="1D1D1F"/>
                </a:solidFill>
                <a:latin typeface="Pretendard"/>
              </a:rPr>
              <a:t>3.5~4.0%</a:t>
            </a:r>
          </a:p>
        </p:txBody>
      </p:sp>
      <p:sp>
        <p:nvSpPr>
          <p:cNvPr id="7" name="Rounded Rectangle 6"/>
          <p:cNvSpPr/>
          <p:nvPr/>
        </p:nvSpPr>
        <p:spPr>
          <a:xfrm>
            <a:off x="495579882"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717042" y="2331720"/>
            <a:ext cx="2042083" cy="374904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2023~2024</a:t>
            </a:r>
            <a:r>
              <a:t>                         </a:t>
            </a:r>
            <a:r>
              <a:rPr sz="1360" b="1">
                <a:solidFill>
                  <a:srgbClr val="1D1D1F"/>
                </a:solidFill>
                <a:latin typeface="Pretendard"/>
              </a:rPr>
              <a:t>4.5~5.0%</a:t>
            </a:r>
          </a:p>
          <a:p>
            <a:pPr algn="l">
              <a:spcAft>
                <a:spcPts val="600"/>
              </a:spcAft>
            </a:pPr>
            <a:r>
              <a:rPr sz="1530" b="1">
                <a:solidFill>
                  <a:srgbClr val="1D1D1F"/>
                </a:solidFill>
                <a:latin typeface="Pretendard"/>
              </a:rPr>
              <a:t>외국인 자본 회귀 본격화</a:t>
            </a:r>
            <a:r>
              <a:t>                  </a:t>
            </a:r>
            <a:r>
              <a:rPr sz="1530" b="1">
                <a:solidFill>
                  <a:srgbClr val="1D1D1F"/>
                </a:solidFill>
                <a:latin typeface="Pretendard"/>
              </a:rPr>
              <a:t>Q3 2025</a:t>
            </a:r>
          </a:p>
          <a:p>
            <a:pPr algn="ctr">
              <a:spcAft>
                <a:spcPts val="600"/>
              </a:spcAft>
            </a:pPr>
            <a:r>
              <a:rPr sz="1200" b="1">
                <a:solidFill>
                  <a:srgbClr val="1D1D1F"/>
                </a:solidFill>
                <a:latin typeface="Pretendard"/>
              </a:rPr>
              <a:t>Aberdeen, BentallGreenOak, PAG 등</a:t>
            </a:r>
          </a:p>
        </p:txBody>
      </p:sp>
      <p:sp>
        <p:nvSpPr>
          <p:cNvPr id="9" name="Rounded Rectangle 8"/>
          <p:cNvSpPr/>
          <p:nvPr/>
        </p:nvSpPr>
        <p:spPr>
          <a:xfrm>
            <a:off x="506054448"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6191608" y="2331720"/>
            <a:ext cx="2042083" cy="374904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2021 (저금리기)</a:t>
            </a:r>
            <a:r>
              <a:t>                          </a:t>
            </a:r>
            <a:r>
              <a:rPr sz="1360" b="1">
                <a:solidFill>
                  <a:srgbClr val="1D1D1F"/>
                </a:solidFill>
                <a:latin typeface="Pretendard"/>
              </a:rPr>
              <a:t>21조 원</a:t>
            </a:r>
          </a:p>
          <a:p>
            <a:pPr algn="l">
              <a:spcAft>
                <a:spcPts val="600"/>
              </a:spcAft>
            </a:pPr>
            <a:r>
              <a:rPr sz="1360" b="1">
                <a:solidFill>
                  <a:srgbClr val="1D1D1F"/>
                </a:solidFill>
                <a:latin typeface="Pretendard"/>
              </a:rPr>
              <a:t>2024</a:t>
            </a:r>
            <a:r>
              <a:t>                                 </a:t>
            </a:r>
            <a:r>
              <a:rPr sz="1360" b="1">
                <a:solidFill>
                  <a:srgbClr val="1D1D1F"/>
                </a:solidFill>
                <a:latin typeface="Pretendard"/>
              </a:rPr>
              <a:t>22조 원</a:t>
            </a:r>
          </a:p>
          <a:p>
            <a:pPr algn="l">
              <a:spcAft>
                <a:spcPts val="600"/>
              </a:spcAft>
            </a:pPr>
            <a:r>
              <a:rPr sz="1530" b="1">
                <a:solidFill>
                  <a:srgbClr val="1D1D1F"/>
                </a:solidFill>
                <a:latin typeface="Pretendard"/>
              </a:rPr>
              <a:t>2025 연말 (예상)</a:t>
            </a:r>
            <a:r>
              <a:t>                   </a:t>
            </a:r>
            <a:r>
              <a:rPr sz="1530" b="1">
                <a:solidFill>
                  <a:srgbClr val="1D1D1F"/>
                </a:solidFill>
                <a:latin typeface="Pretendard"/>
              </a:rPr>
              <a:t>30조 원 돌파</a:t>
            </a:r>
          </a:p>
          <a:p>
            <a:pPr algn="l">
              <a:spcAft>
                <a:spcPts val="600"/>
              </a:spcAft>
            </a:pPr>
            <a:r>
              <a:rPr sz="1614">
                <a:solidFill>
                  <a:srgbClr val="1D1D1F"/>
                </a:solidFill>
                <a:latin typeface="Pretendard"/>
              </a:rPr>
              <a:t>▪ 2025년 거래량은 9월 누적 25조 원을 기록, 연말 30조 원 돌파 예상으로 과거 저금리기의 21조 원 기록을 크게 경신.</a:t>
            </a:r>
          </a:p>
          <a:p>
            <a:pPr algn="l">
              <a:spcAft>
                <a:spcPts val="600"/>
              </a:spcAft>
            </a:pPr>
            <a:r>
              <a:rPr sz="1614">
                <a:solidFill>
                  <a:srgbClr val="1D1D1F"/>
                </a:solidFill>
                <a:latin typeface="Pretendard"/>
              </a:rPr>
              <a:t>▪ 캡레이트는 2023~2024년 4.5~5.0%에서 금리 인하 기대로 4.2~4.5%로 다시 압축 중.</a:t>
            </a:r>
          </a:p>
          <a:p>
            <a:pPr algn="l">
              <a:spcAft>
                <a:spcPts val="600"/>
              </a:spcAft>
            </a:pPr>
            <a:r>
              <a:rPr sz="1614">
                <a:solidFill>
                  <a:srgbClr val="1D1D1F"/>
                </a:solidFill>
                <a:latin typeface="Pretendard"/>
              </a:rPr>
              <a:t>▪ Aberdeen, BentallGreenOak, PAG 등 외국인 자본 회귀가 본격화된 시점이 2025년 3분기임.</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5.</a:t>
            </a:r>
          </a:p>
          <a:p>
            <a:pPr algn="ctr">
              <a:spcAft>
                <a:spcPts val="1400"/>
              </a:spcAft>
            </a:pPr>
            <a:r>
              <a:rPr sz="2400" b="1">
                <a:solidFill>
                  <a:srgbClr val="FFFFFF"/>
                </a:solidFill>
                <a:latin typeface="Pretendard"/>
              </a:rPr>
              <a:t>산업/물류 부동산 쿠팡 효과와 데이터센터의 부상</a:t>
            </a:r>
            <a:r>
              <a:rPr sz="2400" b="1">
                <a:solidFill>
                  <a:srgbClr val="FFFFFF"/>
                </a:solidFill>
                <a:latin typeface="Pretendard"/>
              </a:rPr>
              <a:t>산업/물류 부동산 쿠팡 효과와 데이터센터의 부상</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단일 임차인이 창조한 쿠팡 이펙트</a:t>
            </a:r>
          </a:p>
          <a:p>
            <a:pPr algn="ctr"/>
            <a:r>
              <a:rPr sz="3200" b="1">
                <a:solidFill>
                  <a:srgbClr val="1D1D1F"/>
                </a:solidFill>
                <a:latin typeface="Pretendard"/>
              </a:rPr>
              <a:t>수도권 외곽을 물류 허브로 둔갑시킨 국가급 라스트마일 네트워크</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쿠팡 매출 폭발적 성장</a:t>
            </a:r>
          </a:p>
          <a:p>
            <a:pPr algn="ctr">
              <a:spcAft>
                <a:spcPts val="600"/>
              </a:spcAft>
            </a:pPr>
            <a:r>
              <a:rPr sz="1360" b="1">
                <a:solidFill>
                  <a:srgbClr val="1D1D1F"/>
                </a:solidFill>
                <a:latin typeface="Pretendard"/>
              </a:rPr>
              <a:t>2014</a:t>
            </a:r>
            <a:r>
              <a:t>                        </a:t>
            </a:r>
            <a:r>
              <a:rPr sz="1360" b="1">
                <a:solidFill>
                  <a:srgbClr val="1D1D1F"/>
                </a:solidFill>
                <a:latin typeface="Pretendard"/>
              </a:rPr>
              <a:t>2024</a:t>
            </a:r>
          </a:p>
          <a:p>
            <a:pPr algn="ctr">
              <a:spcAft>
                <a:spcPts val="600"/>
              </a:spcAft>
            </a:pPr>
            <a:r>
              <a:rPr sz="1800" b="1">
                <a:solidFill>
                  <a:srgbClr val="1D1D1F"/>
                </a:solidFill>
                <a:latin typeface="Pretendard"/>
              </a:rPr>
              <a:t>1조</a:t>
            </a:r>
            <a:r>
              <a:t>    </a:t>
            </a:r>
            <a:r>
              <a:rPr sz="1800" b="1">
                <a:solidFill>
                  <a:srgbClr val="1D1D1F"/>
                </a:solidFill>
                <a:latin typeface="Pretendard"/>
              </a:rPr>
              <a:t>40배 🚀</a:t>
            </a:r>
            <a:r>
              <a:t>    </a:t>
            </a:r>
            <a:r>
              <a:rPr sz="1800" b="1">
                <a:solidFill>
                  <a:srgbClr val="1D1D1F"/>
                </a:solidFill>
                <a:latin typeface="Pretendard"/>
              </a:rPr>
              <a:t>42조</a:t>
            </a:r>
          </a:p>
        </p:txBody>
      </p:sp>
      <p:sp>
        <p:nvSpPr>
          <p:cNvPr id="5" name="Rounded Rectangle 4"/>
          <p:cNvSpPr/>
          <p:nvPr/>
        </p:nvSpPr>
        <p:spPr>
          <a:xfrm>
            <a:off x="41872433"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09593"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초대형 물류 허브 벨트 완성</a:t>
            </a:r>
          </a:p>
          <a:p>
            <a:pPr algn="ctr">
              <a:spcAft>
                <a:spcPts val="600"/>
              </a:spcAft>
            </a:pPr>
            <a:r>
              <a:rPr sz="1360" b="1">
                <a:solidFill>
                  <a:srgbClr val="1D1D1F"/>
                </a:solidFill>
                <a:latin typeface="Pretendard"/>
              </a:rPr>
              <a:t>라스트마일</a:t>
            </a:r>
            <a:r>
              <a:t> </a:t>
            </a:r>
            <a:r>
              <a:rPr sz="1360" b="1">
                <a:solidFill>
                  <a:srgbClr val="1D1D1F"/>
                </a:solidFill>
                <a:latin typeface="Pretendard"/>
              </a:rPr>
              <a:t>풀필먼트</a:t>
            </a:r>
          </a:p>
          <a:p>
            <a:pPr algn="ctr">
              <a:spcAft>
                <a:spcPts val="600"/>
              </a:spcAft>
            </a:pPr>
            <a:r>
              <a:rPr sz="1800" b="1">
                <a:solidFill>
                  <a:srgbClr val="1D1D1F"/>
                </a:solidFill>
                <a:latin typeface="Pretendard"/>
              </a:rPr>
              <a:t>안성</a:t>
            </a:r>
            <a:r>
              <a:t>             </a:t>
            </a:r>
            <a:r>
              <a:rPr sz="1800" b="1">
                <a:solidFill>
                  <a:srgbClr val="1D1D1F"/>
                </a:solidFill>
                <a:latin typeface="Pretendard"/>
              </a:rPr>
              <a:t>평택</a:t>
            </a:r>
          </a:p>
        </p:txBody>
      </p:sp>
      <p:sp>
        <p:nvSpPr>
          <p:cNvPr id="7" name="Rounded Rectangle 6"/>
          <p:cNvSpPr/>
          <p:nvPr/>
        </p:nvSpPr>
        <p:spPr>
          <a:xfrm>
            <a:off x="262511183"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2648343" y="233172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최초의 국가급 물류 수요 창출</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용인</a:t>
            </a:r>
          </a:p>
          <a:p>
            <a:pPr algn="l">
              <a:spcAft>
                <a:spcPts val="600"/>
              </a:spcAft>
            </a:pPr>
            <a:r>
              <a:rPr sz="1614">
                <a:solidFill>
                  <a:srgbClr val="1D1D1F"/>
                </a:solidFill>
                <a:latin typeface="Pretendard"/>
              </a:rPr>
              <a:t>▪ 압도적 매출 폭증(40배): 1조→2조 달러 구간의 가장 극적인 신규 섹터 탄생</a:t>
            </a:r>
          </a:p>
          <a:p>
            <a:pPr algn="l">
              <a:spcAft>
                <a:spcPts val="600"/>
              </a:spcAft>
            </a:pPr>
            <a:r>
              <a:rPr sz="1614">
                <a:solidFill>
                  <a:srgbClr val="1D1D1F"/>
                </a:solidFill>
                <a:latin typeface="Pretendard"/>
              </a:rPr>
              <a:t>▪ 단일 임차인 파워: 쿠팡이 창출한 최초의 국가급 물류 수요 사례</a:t>
            </a:r>
          </a:p>
          <a:p>
            <a:pPr algn="l">
              <a:spcAft>
                <a:spcPts val="600"/>
              </a:spcAft>
            </a:pPr>
            <a:r>
              <a:rPr sz="1614">
                <a:solidFill>
                  <a:srgbClr val="1D1D1F"/>
                </a:solidFill>
                <a:latin typeface="Pretendard"/>
              </a:rPr>
              <a:t>▪ 허브 벨트 구축: 용인·이천·안성·평택을 잇는 거대한 풀필먼트·콜드체인 인프라 완성</a:t>
            </a:r>
          </a:p>
        </p:txBody>
      </p:sp>
      <p:sp>
        <p:nvSpPr>
          <p:cNvPr id="11" name="Rounded Rectangle 10"/>
          <p:cNvSpPr/>
          <p:nvPr/>
        </p:nvSpPr>
        <p:spPr>
          <a:xfrm>
            <a:off x="131712791"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1849951" y="4480560"/>
            <a:ext cx="2936138"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콜드체인</a:t>
            </a:r>
          </a:p>
          <a:p>
            <a:pPr algn="ctr">
              <a:spcAft>
                <a:spcPts val="600"/>
              </a:spcAft>
            </a:pPr>
            <a:r>
              <a:rPr sz="1800" b="1">
                <a:solidFill>
                  <a:srgbClr val="1D1D1F"/>
                </a:solidFill>
                <a:latin typeface="Pretendard"/>
              </a:rPr>
              <a:t>이천</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물류센터 공급 과잉의 소화와 정상화</a:t>
            </a:r>
          </a:p>
          <a:p>
            <a:pPr algn="ctr"/>
            <a:r>
              <a:rPr sz="3200" b="1">
                <a:solidFill>
                  <a:srgbClr val="1D1D1F"/>
                </a:solidFill>
                <a:latin typeface="Pretendard"/>
              </a:rPr>
              <a:t>신규공급 감소되며 정상화 진행중, 안성의 신규 부상</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안성</a:t>
            </a:r>
          </a:p>
          <a:p>
            <a:pPr algn="ctr">
              <a:spcAft>
                <a:spcPts val="600"/>
              </a:spcAft>
            </a:pPr>
            <a:r>
              <a:rPr sz="1530" b="1">
                <a:solidFill>
                  <a:srgbClr val="1D1D1F"/>
                </a:solidFill>
                <a:latin typeface="Pretendard"/>
              </a:rPr>
              <a:t>수도권 3대 물류권역 급부상</a:t>
            </a:r>
          </a:p>
          <a:p>
            <a:pPr algn="ctr">
              <a:spcAft>
                <a:spcPts val="600"/>
              </a:spcAft>
            </a:pPr>
            <a:r>
              <a:rPr sz="1800" b="1">
                <a:solidFill>
                  <a:srgbClr val="1D1D1F"/>
                </a:solidFill>
                <a:latin typeface="Pretendard"/>
              </a:rPr>
              <a:t>이천·용인</a:t>
            </a:r>
          </a:p>
          <a:p>
            <a:pPr algn="ctr">
              <a:spcAft>
                <a:spcPts val="600"/>
              </a:spcAft>
            </a:pPr>
            <a:r>
              <a:rPr sz="1360" b="1">
                <a:solidFill>
                  <a:srgbClr val="1D1D1F"/>
                </a:solidFill>
                <a:latin typeface="Pretendard"/>
              </a:rPr>
              <a:t>콜드체인 거점화 강세</a:t>
            </a:r>
          </a:p>
        </p:txBody>
      </p:sp>
      <p:sp>
        <p:nvSpPr>
          <p:cNvPr id="5" name="Rounded Rectangle 4"/>
          <p:cNvSpPr/>
          <p:nvPr/>
        </p:nvSpPr>
        <p:spPr>
          <a:xfrm>
            <a:off x="4490618"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수도권 Grade-A 공실률</a:t>
            </a:r>
          </a:p>
          <a:p>
            <a:pPr algn="ctr">
              <a:spcAft>
                <a:spcPts val="600"/>
              </a:spcAft>
            </a:pPr>
            <a:r>
              <a:rPr sz="1200" b="1">
                <a:solidFill>
                  <a:srgbClr val="1D1D1F"/>
                </a:solidFill>
                <a:latin typeface="Pretendard"/>
              </a:rPr>
              <a:t>23~24 (과잉공급)</a:t>
            </a:r>
            <a:r>
              <a:t>         </a:t>
            </a:r>
            <a:r>
              <a:rPr sz="1200" b="1">
                <a:solidFill>
                  <a:srgbClr val="1D1D1F"/>
                </a:solidFill>
                <a:latin typeface="Pretendard"/>
              </a:rPr>
              <a:t>2025 (공급 68%↓)</a:t>
            </a:r>
          </a:p>
          <a:p>
            <a:pPr algn="ctr">
              <a:spcAft>
                <a:spcPts val="600"/>
              </a:spcAft>
            </a:pPr>
            <a:r>
              <a:rPr sz="1800" b="1">
                <a:solidFill>
                  <a:srgbClr val="1D1D1F"/>
                </a:solidFill>
                <a:latin typeface="Pretendard"/>
              </a:rPr>
              <a:t>23%</a:t>
            </a:r>
            <a:r>
              <a:t>   </a:t>
            </a:r>
            <a:r>
              <a:rPr sz="1800" b="1">
                <a:solidFill>
                  <a:srgbClr val="1D1D1F"/>
                </a:solidFill>
                <a:latin typeface="Pretendard"/>
              </a:rPr>
              <a:t>→</a:t>
            </a:r>
            <a:r>
              <a:t>  </a:t>
            </a:r>
            <a:r>
              <a:rPr sz="1800" b="1">
                <a:solidFill>
                  <a:srgbClr val="1D1D1F"/>
                </a:solidFill>
                <a:latin typeface="Pretendard"/>
              </a:rPr>
              <a:t>19~20%</a:t>
            </a:r>
          </a:p>
          <a:p>
            <a:pPr algn="ctr">
              <a:spcAft>
                <a:spcPts val="600"/>
              </a:spcAft>
            </a:pPr>
            <a:r>
              <a:rPr sz="1800" b="1">
                <a:solidFill>
                  <a:srgbClr val="1D1D1F"/>
                </a:solidFill>
                <a:latin typeface="Pretendard"/>
              </a:rPr>
              <a:t>&amp;</a:t>
            </a:r>
          </a:p>
        </p:txBody>
      </p:sp>
      <p:sp>
        <p:nvSpPr>
          <p:cNvPr id="7" name="Rounded Rectangle 6"/>
          <p:cNvSpPr/>
          <p:nvPr/>
        </p:nvSpPr>
        <p:spPr>
          <a:xfrm>
            <a:off x="5099791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135076"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정상화 국면 진입</a:t>
            </a:r>
          </a:p>
          <a:p>
            <a:pPr algn="l">
              <a:spcAft>
                <a:spcPts val="600"/>
              </a:spcAft>
            </a:pPr>
            <a:r>
              <a:rPr sz="1614">
                <a:solidFill>
                  <a:srgbClr val="1D1D1F"/>
                </a:solidFill>
                <a:latin typeface="Pretendard"/>
              </a:rPr>
              <a:t>▪ 공실률 피크아웃: 과잉 공급으로 23%까지 치솟았던 공실률이 19~20%대로 하향 안정화 진행</a:t>
            </a:r>
          </a:p>
          <a:p>
            <a:pPr algn="l">
              <a:spcAft>
                <a:spcPts val="600"/>
              </a:spcAft>
            </a:pPr>
            <a:r>
              <a:rPr sz="1614">
                <a:solidFill>
                  <a:srgbClr val="1D1D1F"/>
                </a:solidFill>
                <a:latin typeface="Pretendard"/>
              </a:rPr>
              <a:t>▪ 신규 공급 급감: 2025년 예정된 신규 공급이 전년 대비 약 68% 감소하며 시장 정상화 가속</a:t>
            </a:r>
          </a:p>
          <a:p>
            <a:pPr algn="l">
              <a:spcAft>
                <a:spcPts val="600"/>
              </a:spcAft>
            </a:pPr>
            <a:r>
              <a:rPr sz="1614">
                <a:solidFill>
                  <a:srgbClr val="1D1D1F"/>
                </a:solidFill>
                <a:latin typeface="Pretendard"/>
              </a:rPr>
              <a:t>▪ 지형도 재편: 안성이 3대 핵심 물류권역으로 도약했으며, 이천·용인은 콜드체인 거점 굳히기 돌입</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전력 병목이 낳은 데이터센터의 희소성</a:t>
            </a:r>
          </a:p>
          <a:p>
            <a:pPr algn="ctr"/>
            <a:r>
              <a:rPr sz="3200" b="1">
                <a:solidFill>
                  <a:srgbClr val="1D1D1F"/>
                </a:solidFill>
                <a:latin typeface="Pretendard"/>
              </a:rPr>
              <a:t>DC는 급격한 성장이 예상되지만 수도권 병목이 구조적 문제</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한국 데이터센터 IT 용량 전망</a:t>
            </a:r>
          </a:p>
          <a:p>
            <a:pPr algn="ctr">
              <a:spcAft>
                <a:spcPts val="600"/>
              </a:spcAft>
            </a:pPr>
            <a:r>
              <a:rPr sz="1800" b="1">
                <a:solidFill>
                  <a:srgbClr val="1D1D1F"/>
                </a:solidFill>
                <a:latin typeface="Pretendard"/>
              </a:rPr>
              <a:t>CAGR 26.3%</a:t>
            </a:r>
          </a:p>
          <a:p>
            <a:pPr algn="ctr">
              <a:spcAft>
                <a:spcPts val="600"/>
              </a:spcAft>
            </a:pPr>
            <a:r>
              <a:rPr sz="1800" b="1">
                <a:solidFill>
                  <a:srgbClr val="1D1D1F"/>
                </a:solidFill>
                <a:latin typeface="Pretendard"/>
              </a:rPr>
              <a:t>1.96GW</a:t>
            </a:r>
            <a:r>
              <a:t> </a:t>
            </a:r>
            <a:r>
              <a:rPr sz="1800" b="1">
                <a:solidFill>
                  <a:srgbClr val="1D1D1F"/>
                </a:solidFill>
                <a:latin typeface="Pretendard"/>
              </a:rPr>
              <a:t>→</a:t>
            </a:r>
            <a:r>
              <a:t> </a:t>
            </a:r>
            <a:r>
              <a:rPr sz="1800" b="1">
                <a:solidFill>
                  <a:srgbClr val="1D1D1F"/>
                </a:solidFill>
                <a:latin typeface="Pretendard"/>
              </a:rPr>
              <a:t>6.32GW</a:t>
            </a:r>
          </a:p>
          <a:p>
            <a:pPr algn="ctr">
              <a:spcAft>
                <a:spcPts val="600"/>
              </a:spcAft>
            </a:pPr>
            <a:r>
              <a:rPr sz="1530" b="1">
                <a:solidFill>
                  <a:srgbClr val="1D1D1F"/>
                </a:solidFill>
                <a:latin typeface="Pretendard"/>
              </a:rPr>
              <a:t>(2025)</a:t>
            </a:r>
            <a:r>
              <a:t>              </a:t>
            </a:r>
            <a:r>
              <a:rPr sz="1530" b="1">
                <a:solidFill>
                  <a:srgbClr val="1D1D1F"/>
                </a:solidFill>
                <a:latin typeface="Pretendard"/>
              </a:rPr>
              <a:t>(2030)</a:t>
            </a:r>
          </a:p>
          <a:p>
            <a:pPr algn="ctr">
              <a:spcAft>
                <a:spcPts val="600"/>
              </a:spcAft>
            </a:pPr>
            <a:r>
              <a:rPr sz="1200">
                <a:solidFill>
                  <a:srgbClr val="1D1D1F"/>
                </a:solidFill>
                <a:latin typeface="Pretendard"/>
              </a:rPr>
              <a:t>* Mordor Intelligence</a:t>
            </a:r>
          </a:p>
        </p:txBody>
      </p:sp>
      <p:sp>
        <p:nvSpPr>
          <p:cNvPr id="5" name="Rounded Rectangle 4"/>
          <p:cNvSpPr/>
          <p:nvPr/>
        </p:nvSpPr>
        <p:spPr>
          <a:xfrm>
            <a:off x="13257554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2712701" y="2331720"/>
            <a:ext cx="2042083" cy="1600200"/>
          </a:xfrm>
          <a:prstGeom prst="rect">
            <a:avLst/>
          </a:prstGeom>
          <a:noFill/>
        </p:spPr>
        <p:txBody>
          <a:bodyPr wrap="square" lIns="0" rIns="0" tIns="0" bIns="0">
            <a:spAutoFit/>
          </a:bodyPr>
          <a:lstStyle/>
          <a:p/>
        </p:txBody>
      </p:sp>
      <p:sp>
        <p:nvSpPr>
          <p:cNvPr id="7" name="Rounded Rectangle 6"/>
          <p:cNvSpPr/>
          <p:nvPr/>
        </p:nvSpPr>
        <p:spPr>
          <a:xfrm>
            <a:off x="264236682"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4373842" y="2331720"/>
            <a:ext cx="2042083" cy="1600200"/>
          </a:xfrm>
          <a:prstGeom prst="rect">
            <a:avLst/>
          </a:prstGeom>
          <a:noFill/>
        </p:spPr>
        <p:txBody>
          <a:bodyPr wrap="square" lIns="0" rIns="0" tIns="0" bIns="0">
            <a:spAutoFit/>
          </a:bodyPr>
          <a:lstStyle/>
          <a:p/>
        </p:txBody>
      </p:sp>
      <p:sp>
        <p:nvSpPr>
          <p:cNvPr id="9" name="Rounded Rectangle 8"/>
          <p:cNvSpPr/>
          <p:nvPr/>
        </p:nvSpPr>
        <p:spPr>
          <a:xfrm>
            <a:off x="39589782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6034983"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극심한 신규 공급 병목</a:t>
            </a:r>
          </a:p>
          <a:p>
            <a:pPr algn="ctr">
              <a:spcAft>
                <a:spcPts val="600"/>
              </a:spcAft>
            </a:pPr>
            <a:r>
              <a:rPr sz="1360" b="1">
                <a:solidFill>
                  <a:srgbClr val="1D1D1F"/>
                </a:solidFill>
                <a:latin typeface="Pretendard"/>
              </a:rPr>
              <a:t>서울/판교 핵심 권역 공실률</a:t>
            </a:r>
          </a:p>
          <a:p>
            <a:pPr algn="ctr">
              <a:spcAft>
                <a:spcPts val="600"/>
              </a:spcAft>
            </a:pPr>
            <a:r>
              <a:rPr sz="1800" b="1">
                <a:solidFill>
                  <a:srgbClr val="1D1D1F"/>
                </a:solidFill>
                <a:latin typeface="Pretendard"/>
              </a:rPr>
              <a:t>6% 미만</a:t>
            </a:r>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이지스 선제적 포지셔닝</a:t>
            </a:r>
          </a:p>
          <a:p>
            <a:pPr algn="ctr">
              <a:spcAft>
                <a:spcPts val="600"/>
              </a:spcAft>
            </a:pPr>
            <a:r>
              <a:rPr sz="1275" b="1">
                <a:solidFill>
                  <a:srgbClr val="1D1D1F"/>
                </a:solidFill>
                <a:latin typeface="Pretendard"/>
              </a:rPr>
              <a:t>병목을 뚫은 압도적 자산 확보</a:t>
            </a:r>
          </a:p>
          <a:p>
            <a:pPr algn="ctr">
              <a:spcAft>
                <a:spcPts val="600"/>
              </a:spcAft>
            </a:pPr>
            <a:r>
              <a:rPr sz="1360" b="1">
                <a:solidFill>
                  <a:srgbClr val="1D1D1F"/>
                </a:solidFill>
                <a:latin typeface="Pretendard"/>
              </a:rPr>
              <a:t>분당 Hostway IDC</a:t>
            </a:r>
          </a:p>
        </p:txBody>
      </p:sp>
      <p:sp>
        <p:nvSpPr>
          <p:cNvPr id="13" name="Rounded Rectangle 12"/>
          <p:cNvSpPr/>
          <p:nvPr/>
        </p:nvSpPr>
        <p:spPr>
          <a:xfrm>
            <a:off x="132575541"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712701" y="448056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북미 13개 IDC 포트폴리오</a:t>
            </a:r>
          </a:p>
        </p:txBody>
      </p:sp>
      <p:sp>
        <p:nvSpPr>
          <p:cNvPr id="15" name="Rounded Rectangle 14"/>
          <p:cNvSpPr/>
          <p:nvPr/>
        </p:nvSpPr>
        <p:spPr>
          <a:xfrm>
            <a:off x="264236682"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4373842" y="448056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전력 인입 물리적 대기 시간</a:t>
            </a:r>
          </a:p>
          <a:p>
            <a:pPr algn="ctr">
              <a:spcAft>
                <a:spcPts val="600"/>
              </a:spcAft>
            </a:pPr>
            <a:r>
              <a:rPr sz="1800" b="1">
                <a:solidFill>
                  <a:srgbClr val="1D1D1F"/>
                </a:solidFill>
                <a:latin typeface="Pretendard"/>
              </a:rPr>
              <a:t>최소 5년</a:t>
            </a:r>
          </a:p>
          <a:p>
            <a:pPr algn="l">
              <a:spcAft>
                <a:spcPts val="600"/>
              </a:spcAft>
            </a:pPr>
            <a:r>
              <a:rPr sz="1614">
                <a:solidFill>
                  <a:srgbClr val="1D1D1F"/>
                </a:solidFill>
                <a:latin typeface="Pretendard"/>
              </a:rPr>
              <a:t>▪ 폭발적 수요 성장: 한국 IT 용량은 2030년까지 연평균 26.3% 고성장 전망</a:t>
            </a:r>
          </a:p>
          <a:p>
            <a:pPr algn="l">
              <a:spcAft>
                <a:spcPts val="600"/>
              </a:spcAft>
            </a:pPr>
            <a:r>
              <a:rPr sz="1614">
                <a:solidFill>
                  <a:srgbClr val="1D1D1F"/>
                </a:solidFill>
                <a:latin typeface="Pretendard"/>
              </a:rPr>
              <a:t>▪ 구조적 공급 병목: 서울/판교 공실률 6% 미만, 전력 인입 5년 대기로 신규 공급이 막힌 상태</a:t>
            </a:r>
          </a:p>
          <a:p>
            <a:pPr algn="l">
              <a:spcAft>
                <a:spcPts val="600"/>
              </a:spcAft>
            </a:pPr>
            <a:r>
              <a:rPr sz="1614">
                <a:solidFill>
                  <a:srgbClr val="1D1D1F"/>
                </a:solidFill>
                <a:latin typeface="Pretendard"/>
              </a:rPr>
              <a:t>▪ 압도적 선점 효과: 187MW 규모의 우량 데이터센터를 선제 편입하여 공급 병목의 최대 수혜자로 등극</a:t>
            </a:r>
          </a:p>
        </p:txBody>
      </p:sp>
      <p:sp>
        <p:nvSpPr>
          <p:cNvPr id="17" name="Rounded Rectangle 16"/>
          <p:cNvSpPr/>
          <p:nvPr/>
        </p:nvSpPr>
        <p:spPr>
          <a:xfrm>
            <a:off x="395897823"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34983"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총 187MW 확보</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6.</a:t>
            </a:r>
          </a:p>
          <a:p>
            <a:pPr algn="ctr">
              <a:spcAft>
                <a:spcPts val="1400"/>
              </a:spcAft>
            </a:pPr>
            <a:r>
              <a:rPr sz="2400" b="1">
                <a:solidFill>
                  <a:srgbClr val="FFFFFF"/>
                </a:solidFill>
                <a:latin typeface="Pretendard"/>
              </a:rPr>
              <a:t>2007~2026 트로피 자산의 계보</a:t>
            </a:r>
            <a:r>
              <a:rPr sz="2400" b="1">
                <a:solidFill>
                  <a:srgbClr val="FFFFFF"/>
                </a:solidFill>
                <a:latin typeface="Pretendard"/>
              </a:rPr>
              <a:t>2007~2026 트로피 자산의 계보</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트로피 자산 계보</a:t>
            </a:r>
          </a:p>
          <a:p>
            <a:pPr algn="ctr"/>
            <a:r>
              <a:rPr sz="3200" b="1">
                <a:solidFill>
                  <a:srgbClr val="1D1D1F"/>
                </a:solidFill>
                <a:latin typeface="Pretendard"/>
              </a:rPr>
              <a:t>2002년 SFC에서 2032년 IOTA 서울에 이르기까지의 트로피 시계열</a:t>
            </a:r>
          </a:p>
        </p:txBody>
      </p:sp>
      <p:sp>
        <p:nvSpPr>
          <p:cNvPr id="3" name="Rounded Rectangle 2"/>
          <p:cNvSpPr/>
          <p:nvPr/>
        </p:nvSpPr>
        <p:spPr>
          <a:xfrm>
            <a:off x="914400"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원조 트로피</a:t>
            </a:r>
          </a:p>
          <a:p>
            <a:pPr algn="ctr">
              <a:spcAft>
                <a:spcPts val="600"/>
              </a:spcAft>
            </a:pPr>
            <a:r>
              <a:rPr sz="1360" b="1">
                <a:solidFill>
                  <a:srgbClr val="1D1D1F"/>
                </a:solidFill>
                <a:latin typeface="Pretendard"/>
              </a:rPr>
              <a:t>2001~2002</a:t>
            </a:r>
          </a:p>
          <a:p>
            <a:pPr algn="ctr">
              <a:spcAft>
                <a:spcPts val="600"/>
              </a:spcAft>
            </a:pPr>
            <a:r>
              <a:rPr sz="1800" b="1">
                <a:solidFill>
                  <a:srgbClr val="1D1D1F"/>
                </a:solidFill>
                <a:latin typeface="Pretendard"/>
              </a:rPr>
              <a:t>SFC (CBD) GFC (GBD)</a:t>
            </a:r>
          </a:p>
        </p:txBody>
      </p:sp>
      <p:sp>
        <p:nvSpPr>
          <p:cNvPr id="5" name="Rounded Rectangle 4"/>
          <p:cNvSpPr/>
          <p:nvPr/>
        </p:nvSpPr>
        <p:spPr>
          <a:xfrm>
            <a:off x="3596563"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게임체인저 &amp; 랜드마크</a:t>
            </a:r>
          </a:p>
          <a:p>
            <a:pPr algn="ctr">
              <a:spcAft>
                <a:spcPts val="600"/>
              </a:spcAft>
            </a:pPr>
            <a:r>
              <a:rPr sz="1360" b="1">
                <a:solidFill>
                  <a:srgbClr val="1D1D1F"/>
                </a:solidFill>
                <a:latin typeface="Pretendard"/>
              </a:rPr>
              <a:t>2012~2018</a:t>
            </a:r>
          </a:p>
          <a:p>
            <a:pPr algn="ctr">
              <a:spcAft>
                <a:spcPts val="600"/>
              </a:spcAft>
            </a:pPr>
            <a:r>
              <a:rPr sz="1800" b="1">
                <a:solidFill>
                  <a:srgbClr val="1D1D1F"/>
                </a:solidFill>
                <a:latin typeface="Pretendard"/>
              </a:rPr>
              <a:t>IFC 서울 그랑서울 롯데월드타워 센트로폴리스</a:t>
            </a:r>
          </a:p>
          <a:p>
            <a:pPr algn="l">
              <a:spcAft>
                <a:spcPts val="600"/>
              </a:spcAft>
            </a:pPr>
            <a:r>
              <a:rPr sz="1614">
                <a:solidFill>
                  <a:srgbClr val="1D1D1F"/>
                </a:solidFill>
                <a:latin typeface="Pretendard"/>
              </a:rPr>
              <a:t>▪ 1조→2조 달러 구간의 역사: 서울의 주요 거점을 중심으로 글로벌 자본을 유입시킨 트로피 랜드마크들이 시계열적으로 등장</a:t>
            </a:r>
          </a:p>
          <a:p>
            <a:pPr algn="l">
              <a:spcAft>
                <a:spcPts val="600"/>
              </a:spcAft>
            </a:pPr>
            <a:r>
              <a:rPr sz="1614">
                <a:solidFill>
                  <a:srgbClr val="1D1D1F"/>
                </a:solidFill>
                <a:latin typeface="Pretendard"/>
              </a:rPr>
              <a:t>▪ 권역별 거점 구축: 2000년대 초반 원조 트로피(SFC/GFC)에서 시작해 IFC, 롯데월드타워, 파크원 등 메가 콤플렉스로 진화</a:t>
            </a:r>
          </a:p>
          <a:p>
            <a:pPr algn="l">
              <a:spcAft>
                <a:spcPts val="600"/>
              </a:spcAft>
            </a:pPr>
            <a:r>
              <a:rPr sz="1614">
                <a:solidFill>
                  <a:srgbClr val="1D1D1F"/>
                </a:solidFill>
                <a:latin typeface="Pretendard"/>
              </a:rPr>
              <a:t>▪ 차세대 트로피 공급: 2025년 이후 ONE CENTINEL 및 IOTA Seoul(2032) 등 신규 랜드마크 공급 예정</a:t>
            </a:r>
          </a:p>
        </p:txBody>
      </p:sp>
      <p:sp>
        <p:nvSpPr>
          <p:cNvPr id="7" name="Rounded Rectangle 6"/>
          <p:cNvSpPr/>
          <p:nvPr/>
        </p:nvSpPr>
        <p:spPr>
          <a:xfrm>
            <a:off x="6278727"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대규모 복합/프라임</a:t>
            </a:r>
          </a:p>
          <a:p>
            <a:pPr algn="ctr">
              <a:spcAft>
                <a:spcPts val="600"/>
              </a:spcAft>
            </a:pPr>
            <a:r>
              <a:rPr sz="1360" b="1">
                <a:solidFill>
                  <a:srgbClr val="1D1D1F"/>
                </a:solidFill>
                <a:latin typeface="Pretendard"/>
              </a:rPr>
              <a:t>2020~2022</a:t>
            </a:r>
          </a:p>
          <a:p>
            <a:pPr algn="ctr">
              <a:spcAft>
                <a:spcPts val="600"/>
              </a:spcAft>
            </a:pPr>
            <a:r>
              <a:rPr sz="1800" b="1">
                <a:solidFill>
                  <a:srgbClr val="1D1D1F"/>
                </a:solidFill>
                <a:latin typeface="Pretendard"/>
              </a:rPr>
              <a:t>파크원 알파돔시티 K-Square Citi Tower 8</a:t>
            </a:r>
          </a:p>
        </p:txBody>
      </p:sp>
      <p:sp>
        <p:nvSpPr>
          <p:cNvPr id="9" name="Rounded Rectangle 8"/>
          <p:cNvSpPr/>
          <p:nvPr/>
        </p:nvSpPr>
        <p:spPr>
          <a:xfrm>
            <a:off x="8960891"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차세대 랜드마크</a:t>
            </a:r>
          </a:p>
          <a:p>
            <a:pPr algn="ctr">
              <a:spcAft>
                <a:spcPts val="600"/>
              </a:spcAft>
            </a:pPr>
            <a:r>
              <a:rPr sz="1360" b="1">
                <a:solidFill>
                  <a:srgbClr val="1D1D1F"/>
                </a:solidFill>
                <a:latin typeface="Pretendard"/>
              </a:rPr>
              <a:t>2025~2031</a:t>
            </a:r>
          </a:p>
          <a:p>
            <a:pPr algn="ctr">
              <a:spcAft>
                <a:spcPts val="600"/>
              </a:spcAft>
            </a:pPr>
            <a:r>
              <a:rPr sz="1800" b="1">
                <a:solidFill>
                  <a:srgbClr val="1D1D1F"/>
                </a:solidFill>
                <a:latin typeface="Pretendard"/>
              </a:rPr>
              <a:t>ONE CENTINEL (2025) IOTA Seoul (2032)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IFC 서울이 남긴 글로벌 자본 유입의 유산</a:t>
            </a:r>
          </a:p>
          <a:p>
            <a:pPr algn="ctr"/>
            <a:r>
              <a:rPr sz="3200" b="1">
                <a:solidFill>
                  <a:srgbClr val="1D1D1F"/>
                </a:solidFill>
                <a:latin typeface="Pretendard"/>
              </a:rPr>
              <a:t>외인 자본 유치로 4.1조 퀀텀 점프한 IFC 모델을 재현</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IFC 서울 자산 가치</a:t>
            </a:r>
          </a:p>
          <a:p>
            <a:pPr algn="ctr">
              <a:spcAft>
                <a:spcPts val="600"/>
              </a:spcAft>
            </a:pPr>
            <a:r>
              <a:rPr sz="1360" b="1">
                <a:solidFill>
                  <a:srgbClr val="1D1D1F"/>
                </a:solidFill>
                <a:latin typeface="Pretendard"/>
              </a:rPr>
              <a:t>2012년 준공 당시</a:t>
            </a:r>
          </a:p>
          <a:p>
            <a:pPr algn="ctr">
              <a:spcAft>
                <a:spcPts val="600"/>
              </a:spcAft>
            </a:pPr>
            <a:r>
              <a:rPr sz="1800" b="1">
                <a:solidFill>
                  <a:srgbClr val="1D1D1F"/>
                </a:solidFill>
                <a:latin typeface="Pretendard"/>
              </a:rPr>
              <a:t>약 9,500억 원</a:t>
            </a:r>
          </a:p>
          <a:p>
            <a:pPr algn="ctr">
              <a:spcAft>
                <a:spcPts val="600"/>
              </a:spcAft>
            </a:pPr>
            <a:r>
              <a:rPr sz="1530" b="1">
                <a:solidFill>
                  <a:srgbClr val="1D1D1F"/>
                </a:solidFill>
                <a:latin typeface="Pretendard"/>
              </a:rPr>
              <a:t>4배 이상 상승 (글로벌 LP 유입)</a:t>
            </a:r>
          </a:p>
          <a:p>
            <a:pPr algn="ctr">
              <a:spcAft>
                <a:spcPts val="600"/>
              </a:spcAft>
            </a:pPr>
            <a:r>
              <a:rPr sz="1360" b="1">
                <a:solidFill>
                  <a:srgbClr val="1D1D1F"/>
                </a:solidFill>
                <a:latin typeface="Pretendard"/>
              </a:rPr>
              <a:t>2022년 매각 시 (브룩필드)</a:t>
            </a:r>
          </a:p>
          <a:p>
            <a:pPr algn="ctr">
              <a:spcAft>
                <a:spcPts val="600"/>
              </a:spcAft>
            </a:pPr>
            <a:r>
              <a:rPr sz="1800" b="1">
                <a:solidFill>
                  <a:srgbClr val="1D1D1F"/>
                </a:solidFill>
                <a:latin typeface="Pretendard"/>
              </a:rPr>
              <a:t>약 4.1조 원</a:t>
            </a:r>
          </a:p>
          <a:p>
            <a:pPr algn="l">
              <a:spcAft>
                <a:spcPts val="600"/>
              </a:spcAft>
            </a:pPr>
            <a:r>
              <a:rPr sz="1614">
                <a:solidFill>
                  <a:srgbClr val="1D1D1F"/>
                </a:solidFill>
                <a:latin typeface="Pretendard"/>
              </a:rPr>
              <a:t>▪ 상징적 가치 점프: IFC 서울은 글로벌 LP 자본을 한국으로 유입시키며 가치가 4배 이상 폭발적으로 성장한 대표적 성공 모델</a:t>
            </a:r>
          </a:p>
          <a:p>
            <a:pPr algn="l">
              <a:spcAft>
                <a:spcPts val="600"/>
              </a:spcAft>
            </a:pPr>
            <a:r>
              <a:rPr sz="1614">
                <a:solidFill>
                  <a:srgbClr val="1D1D1F"/>
                </a:solidFill>
                <a:latin typeface="Pretendard"/>
              </a:rPr>
              <a:t>▪ 트로피 계승의 선언: 이지스자산운용은 IOTA Seoul을 통해 이 거대한 IFC 모델을 두 번째이자 더욱 압도적인 규모로 재현하고자 함</a:t>
            </a:r>
          </a:p>
        </p:txBody>
      </p:sp>
      <p:sp>
        <p:nvSpPr>
          <p:cNvPr id="5" name="Rounded Rectangle 4"/>
          <p:cNvSpPr/>
          <p:nvPr/>
        </p:nvSpPr>
        <p:spPr>
          <a:xfrm>
            <a:off x="4490618" y="2194560"/>
            <a:ext cx="3210458" cy="402336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a:t>
            </a:r>
            <a:r>
              <a:t>                </a:t>
            </a:r>
            <a:r>
              <a:rPr sz="1800" b="1">
                <a:solidFill>
                  <a:srgbClr val="1D1D1F"/>
                </a:solidFill>
                <a:latin typeface="Pretendard"/>
              </a:rPr>
              <a:t>IOTA Seoul의 명시적 포지셔닝</a:t>
            </a:r>
          </a:p>
          <a:p>
            <a:pPr algn="ctr">
              <a:spcAft>
                <a:spcPts val="600"/>
              </a:spcAft>
            </a:pPr>
            <a:r>
              <a:rPr sz="1700">
                <a:solidFill>
                  <a:srgbClr val="1D1D1F"/>
                </a:solidFill>
                <a:latin typeface="Pretendard"/>
              </a:rPr>
              <a:t>"IFC에 이어 한국 상업용 부동산 시장을 대표하는 새로운 트로피에셋"</a:t>
            </a:r>
          </a:p>
        </p:txBody>
      </p:sp>
      <p:sp>
        <p:nvSpPr>
          <p:cNvPr id="7" name="Rounded Rectangle 6"/>
          <p:cNvSpPr/>
          <p:nvPr/>
        </p:nvSpPr>
        <p:spPr>
          <a:xfrm>
            <a:off x="31051606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0653226" y="2331720"/>
            <a:ext cx="2936138" cy="3749040"/>
          </a:xfrm>
          <a:prstGeom prst="rect">
            <a:avLst/>
          </a:prstGeom>
          <a:noFill/>
        </p:spPr>
        <p:txBody>
          <a:bodyPr wrap="square" lIns="0" rIns="0" tIns="0" bIns="0">
            <a:spAutoFit/>
          </a:bodyP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Part 2.</a:t>
            </a:r>
          </a:p>
          <a:p>
            <a:pPr algn="ctr">
              <a:spcAft>
                <a:spcPts val="1400"/>
              </a:spcAft>
            </a:pPr>
            <a:r>
              <a:rPr sz="2400" b="1">
                <a:solidFill>
                  <a:srgbClr val="FFFFFF"/>
                </a:solidFill>
                <a:latin typeface="Pretendard"/>
              </a:rPr>
              <a:t>한국 GDP 2조 → 3조 달러 2027 → 2040 시나리오</a:t>
            </a:r>
            <a:r>
              <a:rPr sz="2400" b="1">
                <a:solidFill>
                  <a:srgbClr val="FFFFFF"/>
                </a:solidFill>
                <a:latin typeface="Pretendard"/>
              </a:rPr>
              <a:t>한국 GDP 2조 → 3조 달러 2027 → 2040 시나리오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1.</a:t>
            </a:r>
          </a:p>
          <a:p>
            <a:pPr algn="ctr">
              <a:spcAft>
                <a:spcPts val="1400"/>
              </a:spcAft>
            </a:pPr>
            <a:r>
              <a:rPr sz="2400" b="1">
                <a:solidFill>
                  <a:srgbClr val="FFFFFF"/>
                </a:solidFill>
                <a:latin typeface="Pretendard"/>
              </a:rPr>
              <a:t>Base · Bull · Bear 3개 시나리오 프레임</a:t>
            </a:r>
            <a:r>
              <a:rPr sz="2400" b="1">
                <a:solidFill>
                  <a:srgbClr val="FFFFFF"/>
                </a:solidFill>
                <a:latin typeface="Pretendard"/>
              </a:rPr>
              <a:t>Base · Bull · Bear 3개 시나리오 프레임</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r>
              <a:rPr sz="3200" b="1">
                <a:solidFill>
                  <a:srgbClr val="1D1D1F"/>
                </a:solidFill>
                <a:latin typeface="Pretendard"/>
              </a:rPr>
              <a:t>시나리오 핵심 변수</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인구</a:t>
            </a:r>
          </a:p>
          <a:p>
            <a:pPr algn="ctr">
              <a:spcAft>
                <a:spcPts val="600"/>
              </a:spcAft>
            </a:pPr>
            <a:r>
              <a:rPr sz="1360" b="1">
                <a:solidFill>
                  <a:srgbClr val="1D1D1F"/>
                </a:solidFill>
                <a:latin typeface="Pretendard"/>
              </a:rPr>
              <a:t>POPULATION</a:t>
            </a:r>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생산성</a:t>
            </a:r>
          </a:p>
          <a:p>
            <a:pPr algn="ctr">
              <a:spcAft>
                <a:spcPts val="600"/>
              </a:spcAft>
            </a:pPr>
            <a:r>
              <a:rPr sz="1360" b="1">
                <a:solidFill>
                  <a:srgbClr val="1D1D1F"/>
                </a:solidFill>
                <a:latin typeface="Pretendard"/>
              </a:rPr>
              <a:t>PRODUCTIVITY</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지정학</a:t>
            </a:r>
          </a:p>
          <a:p>
            <a:pPr algn="ctr">
              <a:spcAft>
                <a:spcPts val="600"/>
              </a:spcAft>
            </a:pPr>
            <a:r>
              <a:rPr sz="1360" b="1">
                <a:solidFill>
                  <a:srgbClr val="1D1D1F"/>
                </a:solidFill>
                <a:latin typeface="Pretendard"/>
              </a:rPr>
              <a:t>GEOPOLITICS</a:t>
            </a:r>
          </a:p>
        </p:txBody>
      </p:sp>
      <p:sp>
        <p:nvSpPr>
          <p:cNvPr id="9" name="Rounded Rectangle 8"/>
          <p:cNvSpPr/>
          <p:nvPr/>
        </p:nvSpPr>
        <p:spPr>
          <a:xfrm>
            <a:off x="896089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기술 패권</a:t>
            </a:r>
          </a:p>
          <a:p>
            <a:pPr algn="ctr">
              <a:spcAft>
                <a:spcPts val="600"/>
              </a:spcAft>
            </a:pPr>
            <a:r>
              <a:rPr sz="1360" b="1">
                <a:solidFill>
                  <a:srgbClr val="1D1D1F"/>
                </a:solidFill>
                <a:latin typeface="Pretendard"/>
              </a:rPr>
              <a:t>TECH HEGEMONY</a:t>
            </a:r>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ctr">
              <a:spcAft>
                <a:spcPts val="600"/>
              </a:spcAft>
            </a:pPr>
            <a:r>
              <a:rPr sz="1530" b="1">
                <a:solidFill>
                  <a:srgbClr val="1E3A8A"/>
                </a:solidFill>
                <a:latin typeface="Pretendard"/>
              </a:rPr>
              <a:t>1</a:t>
            </a:r>
          </a:p>
        </p:txBody>
      </p:sp>
      <p:sp>
        <p:nvSpPr>
          <p:cNvPr id="13" name="Rounded Rectangle 12"/>
          <p:cNvSpPr/>
          <p:nvPr/>
        </p:nvSpPr>
        <p:spPr>
          <a:xfrm>
            <a:off x="3596563"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한국 GDP 3조 달러 달성을 좌우하는 4대 프레임</a:t>
            </a:r>
          </a:p>
          <a:p>
            <a:pPr algn="ctr">
              <a:spcAft>
                <a:spcPts val="600"/>
              </a:spcAft>
            </a:pPr>
            <a:r>
              <a:rPr sz="1530" b="1">
                <a:solidFill>
                  <a:srgbClr val="1E3A8A"/>
                </a:solidFill>
                <a:latin typeface="Pretendard"/>
              </a:rPr>
              <a:t>2</a:t>
            </a:r>
          </a:p>
        </p:txBody>
      </p:sp>
      <p:sp>
        <p:nvSpPr>
          <p:cNvPr id="15" name="Rounded Rectangle 14"/>
          <p:cNvSpPr/>
          <p:nvPr/>
        </p:nvSpPr>
        <p:spPr>
          <a:xfrm>
            <a:off x="627872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4480560"/>
            <a:ext cx="2042083" cy="1600200"/>
          </a:xfrm>
          <a:prstGeom prst="rect">
            <a:avLst/>
          </a:prstGeom>
          <a:noFill/>
        </p:spPr>
        <p:txBody>
          <a:bodyPr wrap="square" lIns="0" rIns="0" tIns="0" bIns="0">
            <a:spAutoFit/>
          </a:bodyPr>
          <a:lstStyle/>
          <a:p>
            <a:pPr algn="ctr">
              <a:spcAft>
                <a:spcPts val="600"/>
              </a:spcAft>
            </a:pPr>
            <a:r>
              <a:rPr sz="1530" b="1">
                <a:solidFill>
                  <a:srgbClr val="1E3A8A"/>
                </a:solidFill>
                <a:latin typeface="Pretendard"/>
              </a:rPr>
              <a:t>3</a:t>
            </a:r>
          </a:p>
        </p:txBody>
      </p:sp>
      <p:sp>
        <p:nvSpPr>
          <p:cNvPr id="17" name="Rounded Rectangle 16"/>
          <p:cNvSpPr/>
          <p:nvPr/>
        </p:nvSpPr>
        <p:spPr>
          <a:xfrm>
            <a:off x="8960891"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4480560"/>
            <a:ext cx="2042083" cy="1600200"/>
          </a:xfrm>
          <a:prstGeom prst="rect">
            <a:avLst/>
          </a:prstGeom>
          <a:noFill/>
        </p:spPr>
        <p:txBody>
          <a:bodyPr wrap="square" lIns="0" rIns="0" tIns="0" bIns="0">
            <a:spAutoFit/>
          </a:bodyPr>
          <a:lstStyle/>
          <a:p>
            <a:pPr algn="ctr">
              <a:spcAft>
                <a:spcPts val="600"/>
              </a:spcAft>
            </a:pPr>
            <a:r>
              <a:rPr sz="1530" b="1">
                <a:solidFill>
                  <a:srgbClr val="1E3A8A"/>
                </a:solidFill>
                <a:latin typeface="Pretendard"/>
              </a:rPr>
              <a:t>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2030년 예상 GDP</a:t>
            </a:r>
          </a:p>
          <a:p>
            <a:pPr algn="ctr"/>
            <a:r>
              <a:rPr sz="3200" b="1">
                <a:solidFill>
                  <a:srgbClr val="1D1D1F"/>
                </a:solidFill>
                <a:latin typeface="Pretendard"/>
              </a:rPr>
              <a:t>2.2 ~ 2.4조 달러</a:t>
            </a:r>
          </a:p>
        </p:txBody>
      </p:sp>
      <p:sp>
        <p:nvSpPr>
          <p:cNvPr id="3" name="Rounded Rectangle 2"/>
          <p:cNvSpPr/>
          <p:nvPr/>
        </p:nvSpPr>
        <p:spPr>
          <a:xfrm>
            <a:off x="914400" y="2194560"/>
            <a:ext cx="10362895"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10088575"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BASE SCENARIO (확률 50%)</a:t>
            </a:r>
          </a:p>
          <a:p>
            <a:pPr algn="l">
              <a:spcAft>
                <a:spcPts val="600"/>
              </a:spcAft>
            </a:pPr>
            <a:r>
              <a:rPr sz="1800" b="1">
                <a:solidFill>
                  <a:srgbClr val="1D1D1F"/>
                </a:solidFill>
                <a:latin typeface="Pretendard"/>
              </a:rPr>
              <a:t>IMF·OECD·KDI 공통 컨센서스 기반 표준 성장 궤도 진입</a:t>
            </a:r>
            <a:r>
              <a:t>            </a:t>
            </a:r>
            <a:r>
              <a:rPr sz="1445" b="1">
                <a:solidFill>
                  <a:srgbClr val="1D1D1F"/>
                </a:solidFill>
                <a:latin typeface="Pretendard"/>
              </a:rPr>
              <a:t>3조 달러 도달 시점</a:t>
            </a:r>
          </a:p>
          <a:p>
            <a:pPr algn="l">
              <a:spcAft>
                <a:spcPts val="600"/>
              </a:spcAft>
            </a:pPr>
            <a:r>
              <a:rPr sz="1800" b="1">
                <a:solidFill>
                  <a:srgbClr val="1D1D1F"/>
                </a:solidFill>
                <a:latin typeface="Pretendard"/>
              </a:rPr>
              <a:t>2037 ~ 2038년</a:t>
            </a:r>
          </a:p>
          <a:p>
            <a:pPr algn="l">
              <a:spcAft>
                <a:spcPts val="600"/>
              </a:spcAft>
            </a:pPr>
            <a:r>
              <a:rPr sz="1445" b="1">
                <a:solidFill>
                  <a:srgbClr val="1D1D1F"/>
                </a:solidFill>
                <a:latin typeface="Pretendard"/>
              </a:rPr>
              <a:t>핵심 전제</a:t>
            </a:r>
          </a:p>
          <a:p>
            <a:pPr algn="l">
              <a:spcAft>
                <a:spcPts val="600"/>
              </a:spcAft>
            </a:pPr>
            <a:r>
              <a:rPr sz="1784" b="1">
                <a:solidFill>
                  <a:srgbClr val="1D1D1F"/>
                </a:solidFill>
                <a:latin typeface="Pretendard"/>
              </a:rPr>
              <a:t>• 실질성장률 연 1.5~2.0%, 인플레 2~3% 유지</a:t>
            </a:r>
          </a:p>
          <a:p>
            <a:pPr algn="l">
              <a:spcAft>
                <a:spcPts val="600"/>
              </a:spcAft>
            </a:pPr>
            <a:r>
              <a:rPr sz="1784" b="1">
                <a:solidFill>
                  <a:srgbClr val="1D1D1F"/>
                </a:solidFill>
                <a:latin typeface="Pretendard"/>
              </a:rPr>
              <a:t>• 환율 KRW/USD 1,200~1,300 박스권</a:t>
            </a:r>
          </a:p>
          <a:p>
            <a:pPr algn="l">
              <a:spcAft>
                <a:spcPts val="600"/>
              </a:spcAft>
            </a:pPr>
            <a:r>
              <a:rPr sz="1784" b="1">
                <a:solidFill>
                  <a:srgbClr val="1D1D1F"/>
                </a:solidFill>
                <a:latin typeface="Pretendard"/>
              </a:rPr>
              <a:t>• AI 생산성 향상(0.3~0.5%p 상향)으로 인구 감소 상쇄</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2030년 예상 GDP</a:t>
            </a:r>
          </a:p>
          <a:p>
            <a:pPr algn="ctr"/>
            <a:r>
              <a:rPr sz="3200" b="1">
                <a:solidFill>
                  <a:srgbClr val="1D1D1F"/>
                </a:solidFill>
                <a:latin typeface="Pretendard"/>
              </a:rPr>
              <a:t>2.5 ~ 2.7조 달러</a:t>
            </a:r>
          </a:p>
        </p:txBody>
      </p:sp>
      <p:sp>
        <p:nvSpPr>
          <p:cNvPr id="3" name="Rounded Rectangle 2"/>
          <p:cNvSpPr/>
          <p:nvPr/>
        </p:nvSpPr>
        <p:spPr>
          <a:xfrm>
            <a:off x="914400" y="2194560"/>
            <a:ext cx="10362895"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10088575"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BULL SCENARIO (확률 30%)</a:t>
            </a:r>
          </a:p>
          <a:p>
            <a:pPr algn="l">
              <a:spcAft>
                <a:spcPts val="600"/>
              </a:spcAft>
            </a:pPr>
            <a:r>
              <a:rPr sz="1800" b="1">
                <a:solidFill>
                  <a:srgbClr val="1D1D1F"/>
                </a:solidFill>
                <a:latin typeface="Pretendard"/>
              </a:rPr>
              <a:t>고급제조 + 콘텐츠 + 금융 "동아시아 스위스" 모델 재포지셔닝</a:t>
            </a:r>
            <a:r>
              <a:t>            </a:t>
            </a:r>
            <a:r>
              <a:rPr sz="1445" b="1">
                <a:solidFill>
                  <a:srgbClr val="1D1D1F"/>
                </a:solidFill>
                <a:latin typeface="Pretendard"/>
              </a:rPr>
              <a:t>3조 달러 도달 시점</a:t>
            </a:r>
          </a:p>
          <a:p>
            <a:pPr algn="l">
              <a:spcAft>
                <a:spcPts val="600"/>
              </a:spcAft>
            </a:pPr>
            <a:r>
              <a:rPr sz="1800" b="1">
                <a:solidFill>
                  <a:srgbClr val="1D1D1F"/>
                </a:solidFill>
                <a:latin typeface="Pretendard"/>
              </a:rPr>
              <a:t>2034 ~ 2035년</a:t>
            </a:r>
          </a:p>
          <a:p>
            <a:pPr algn="l">
              <a:spcAft>
                <a:spcPts val="600"/>
              </a:spcAft>
            </a:pPr>
            <a:r>
              <a:rPr sz="1445" b="1">
                <a:solidFill>
                  <a:srgbClr val="1D1D1F"/>
                </a:solidFill>
                <a:latin typeface="Pretendard"/>
              </a:rPr>
              <a:t>핵심 전제</a:t>
            </a:r>
          </a:p>
          <a:p>
            <a:pPr algn="l">
              <a:spcAft>
                <a:spcPts val="600"/>
              </a:spcAft>
            </a:pPr>
            <a:r>
              <a:rPr sz="1784" b="1">
                <a:solidFill>
                  <a:srgbClr val="1D1D1F"/>
                </a:solidFill>
                <a:latin typeface="Pretendard"/>
              </a:rPr>
              <a:t>• HBM/AI 인프라 패권 유지 및 대규모 외인 자본 유입</a:t>
            </a:r>
          </a:p>
          <a:p>
            <a:pPr algn="l">
              <a:spcAft>
                <a:spcPts val="600"/>
              </a:spcAft>
            </a:pPr>
            <a:r>
              <a:rPr sz="1784" b="1">
                <a:solidFill>
                  <a:srgbClr val="1D1D1F"/>
                </a:solidFill>
                <a:latin typeface="Pretendard"/>
              </a:rPr>
              <a:t>• 환율 KRW/USD 1,000~1,150 (원화 강세)</a:t>
            </a:r>
          </a:p>
          <a:p>
            <a:pPr algn="l">
              <a:spcAft>
                <a:spcPts val="600"/>
              </a:spcAft>
            </a:pPr>
            <a:r>
              <a:rPr sz="1784" b="1">
                <a:solidFill>
                  <a:srgbClr val="1D1D1F"/>
                </a:solidFill>
                <a:latin typeface="Pretendard"/>
              </a:rPr>
              <a:t>• K-콘텐츠, K-방산, K-원전, K-조선 슈퍼사이클 진입</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2030년 예상 GDP</a:t>
            </a:r>
          </a:p>
          <a:p>
            <a:pPr algn="ctr"/>
            <a:r>
              <a:rPr sz="3200" b="1">
                <a:solidFill>
                  <a:srgbClr val="1D1D1F"/>
                </a:solidFill>
                <a:latin typeface="Pretendard"/>
              </a:rPr>
              <a:t>2.0 ~ 2.1조 달러</a:t>
            </a:r>
          </a:p>
        </p:txBody>
      </p:sp>
      <p:sp>
        <p:nvSpPr>
          <p:cNvPr id="3" name="Rounded Rectangle 2"/>
          <p:cNvSpPr/>
          <p:nvPr/>
        </p:nvSpPr>
        <p:spPr>
          <a:xfrm>
            <a:off x="914400" y="2194560"/>
            <a:ext cx="10362895"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10088575"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BEAR SCENARIO (확률 20%)</a:t>
            </a:r>
          </a:p>
          <a:p>
            <a:pPr algn="l">
              <a:spcAft>
                <a:spcPts val="600"/>
              </a:spcAft>
            </a:pPr>
            <a:r>
              <a:rPr sz="1800" b="1">
                <a:solidFill>
                  <a:srgbClr val="1D1D1F"/>
                </a:solidFill>
                <a:latin typeface="Pretendard"/>
              </a:rPr>
              <a:t>지정학적 갈등 및 구조적 모순 심화에 따른 일본식 "잃어버린 10년" 진입</a:t>
            </a:r>
            <a:r>
              <a:t>            </a:t>
            </a:r>
            <a:r>
              <a:rPr sz="1445" b="1">
                <a:solidFill>
                  <a:srgbClr val="1D1D1F"/>
                </a:solidFill>
                <a:latin typeface="Pretendard"/>
              </a:rPr>
              <a:t>3조 달러 도달 시점</a:t>
            </a:r>
          </a:p>
          <a:p>
            <a:pPr algn="l">
              <a:spcAft>
                <a:spcPts val="600"/>
              </a:spcAft>
            </a:pPr>
            <a:r>
              <a:rPr sz="1800" b="1">
                <a:solidFill>
                  <a:srgbClr val="1D1D1F"/>
                </a:solidFill>
                <a:latin typeface="Pretendard"/>
              </a:rPr>
              <a:t>2042년 이후 (또는 미달)</a:t>
            </a:r>
          </a:p>
          <a:p>
            <a:pPr algn="l">
              <a:spcAft>
                <a:spcPts val="600"/>
              </a:spcAft>
            </a:pPr>
            <a:r>
              <a:rPr sz="1445" b="1">
                <a:solidFill>
                  <a:srgbClr val="1D1D1F"/>
                </a:solidFill>
                <a:latin typeface="Pretendard"/>
              </a:rPr>
              <a:t>핵심 전제</a:t>
            </a:r>
          </a:p>
          <a:p>
            <a:pPr algn="l">
              <a:spcAft>
                <a:spcPts val="600"/>
              </a:spcAft>
            </a:pPr>
            <a:r>
              <a:rPr sz="1784" b="1">
                <a:solidFill>
                  <a:srgbClr val="1D1D1F"/>
                </a:solidFill>
                <a:latin typeface="Pretendard"/>
              </a:rPr>
              <a:t>• 2024년 정점 이후 가파른 인구 감소 (인구 절벽)</a:t>
            </a:r>
          </a:p>
          <a:p>
            <a:pPr algn="l">
              <a:spcAft>
                <a:spcPts val="600"/>
              </a:spcAft>
            </a:pPr>
            <a:r>
              <a:rPr sz="1784" b="1">
                <a:solidFill>
                  <a:srgbClr val="1D1D1F"/>
                </a:solidFill>
                <a:latin typeface="Pretendard"/>
              </a:rPr>
              <a:t>• 미·중 디커플링 심화 및 중국 반도체 자급 가속화</a:t>
            </a:r>
          </a:p>
          <a:p>
            <a:pPr algn="l">
              <a:spcAft>
                <a:spcPts val="600"/>
              </a:spcAft>
            </a:pPr>
            <a:r>
              <a:rPr sz="1784" b="1">
                <a:solidFill>
                  <a:srgbClr val="1D1D1F"/>
                </a:solidFill>
                <a:latin typeface="Pretendard"/>
              </a:rPr>
              <a:t>• 가계부채 누적 및 부동산 PF 부실 재발</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미래 시나리오 종합</a:t>
            </a:r>
          </a:p>
          <a:p>
            <a:pPr algn="ctr"/>
            <a:r>
              <a:rPr sz="3200" b="1">
                <a:solidFill>
                  <a:srgbClr val="1D1D1F"/>
                </a:solidFill>
                <a:latin typeface="Pretendard"/>
              </a:rPr>
              <a:t>한국 GDP 3조 달러 도달 시나리오별 핵심 지표 비교</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Base Scenario</a:t>
            </a:r>
          </a:p>
          <a:p>
            <a:pPr algn="l">
              <a:spcAft>
                <a:spcPts val="600"/>
              </a:spcAft>
            </a:pPr>
            <a:r>
              <a:rPr sz="1530" b="1">
                <a:solidFill>
                  <a:srgbClr val="1D1D1F"/>
                </a:solidFill>
                <a:latin typeface="Pretendard"/>
              </a:rPr>
              <a:t>확률 50%</a:t>
            </a:r>
          </a:p>
          <a:p>
            <a:pPr algn="l">
              <a:spcAft>
                <a:spcPts val="600"/>
              </a:spcAft>
            </a:pPr>
            <a:r>
              <a:rPr sz="1200" b="1">
                <a:solidFill>
                  <a:srgbClr val="1D1D1F"/>
                </a:solidFill>
                <a:latin typeface="Pretendard"/>
              </a:rPr>
              <a:t>2030년 예상 GDP</a:t>
            </a:r>
          </a:p>
          <a:p>
            <a:pPr algn="l">
              <a:spcAft>
                <a:spcPts val="600"/>
              </a:spcAft>
            </a:pPr>
            <a:r>
              <a:rPr sz="1800" b="1">
                <a:solidFill>
                  <a:srgbClr val="1D1D1F"/>
                </a:solidFill>
                <a:latin typeface="Pretendard"/>
              </a:rPr>
              <a:t>2.2 ~ 2.4조 달러</a:t>
            </a:r>
          </a:p>
          <a:p>
            <a:pPr algn="l">
              <a:spcAft>
                <a:spcPts val="600"/>
              </a:spcAft>
            </a:pPr>
            <a:r>
              <a:rPr sz="1200" b="1">
                <a:solidFill>
                  <a:srgbClr val="1D1D1F"/>
                </a:solidFill>
                <a:latin typeface="Pretendard"/>
              </a:rPr>
              <a:t>3조 달러 도달</a:t>
            </a:r>
          </a:p>
          <a:p>
            <a:pPr algn="l">
              <a:spcAft>
                <a:spcPts val="600"/>
              </a:spcAft>
            </a:pPr>
            <a:r>
              <a:rPr sz="1800" b="1">
                <a:solidFill>
                  <a:srgbClr val="1D1D1F"/>
                </a:solidFill>
                <a:latin typeface="Pretendard"/>
              </a:rPr>
              <a:t>2037 ~ 2038년</a:t>
            </a:r>
          </a:p>
          <a:p>
            <a:pPr algn="l">
              <a:spcAft>
                <a:spcPts val="600"/>
              </a:spcAft>
            </a:pPr>
            <a:r>
              <a:rPr sz="1200" b="1">
                <a:solidFill>
                  <a:srgbClr val="1D1D1F"/>
                </a:solidFill>
                <a:latin typeface="Pretendard"/>
              </a:rPr>
              <a:t>핵심 전제</a:t>
            </a:r>
          </a:p>
          <a:p>
            <a:pPr algn="l">
              <a:spcAft>
                <a:spcPts val="600"/>
              </a:spcAft>
            </a:pPr>
            <a:r>
              <a:rPr sz="1530" b="1">
                <a:solidFill>
                  <a:srgbClr val="1D1D1F"/>
                </a:solidFill>
                <a:latin typeface="Pretendard"/>
              </a:rPr>
              <a:t>• 기관 컨센서스(IMF 등) 수렴</a:t>
            </a:r>
          </a:p>
          <a:p>
            <a:pPr algn="l">
              <a:spcAft>
                <a:spcPts val="600"/>
              </a:spcAft>
            </a:pPr>
            <a:r>
              <a:rPr sz="1530" b="1">
                <a:solidFill>
                  <a:srgbClr val="1D1D1F"/>
                </a:solidFill>
                <a:latin typeface="Pretendard"/>
              </a:rPr>
              <a:t>• 실질성장률 연 1.5~2.0% 유지</a:t>
            </a:r>
          </a:p>
          <a:p>
            <a:pPr algn="l">
              <a:spcAft>
                <a:spcPts val="600"/>
              </a:spcAft>
            </a:pPr>
            <a:r>
              <a:rPr sz="1530" b="1">
                <a:solidFill>
                  <a:srgbClr val="1D1D1F"/>
                </a:solidFill>
                <a:latin typeface="Pretendard"/>
              </a:rPr>
              <a:t>• AI 향상이 인구 감소 효과 상쇄</a:t>
            </a:r>
          </a:p>
        </p:txBody>
      </p:sp>
      <p:sp>
        <p:nvSpPr>
          <p:cNvPr id="5" name="Rounded Rectangle 4"/>
          <p:cNvSpPr/>
          <p:nvPr/>
        </p:nvSpPr>
        <p:spPr>
          <a:xfrm>
            <a:off x="4490618"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Bull Scenario</a:t>
            </a:r>
          </a:p>
          <a:p>
            <a:pPr algn="l">
              <a:spcAft>
                <a:spcPts val="600"/>
              </a:spcAft>
            </a:pPr>
            <a:r>
              <a:rPr sz="1530" b="1">
                <a:solidFill>
                  <a:srgbClr val="1D1D1F"/>
                </a:solidFill>
                <a:latin typeface="Pretendard"/>
              </a:rPr>
              <a:t>확률 30%</a:t>
            </a:r>
          </a:p>
          <a:p>
            <a:pPr algn="l">
              <a:spcAft>
                <a:spcPts val="600"/>
              </a:spcAft>
            </a:pPr>
            <a:r>
              <a:rPr sz="1200" b="1">
                <a:solidFill>
                  <a:srgbClr val="1D1D1F"/>
                </a:solidFill>
                <a:latin typeface="Pretendard"/>
              </a:rPr>
              <a:t>2030년 예상 GDP</a:t>
            </a:r>
          </a:p>
          <a:p>
            <a:pPr algn="l">
              <a:spcAft>
                <a:spcPts val="600"/>
              </a:spcAft>
            </a:pPr>
            <a:r>
              <a:rPr sz="1800" b="1">
                <a:solidFill>
                  <a:srgbClr val="1D1D1F"/>
                </a:solidFill>
                <a:latin typeface="Pretendard"/>
              </a:rPr>
              <a:t>2.5 ~ 2.7조 달러</a:t>
            </a:r>
          </a:p>
          <a:p>
            <a:pPr algn="l">
              <a:spcAft>
                <a:spcPts val="600"/>
              </a:spcAft>
            </a:pPr>
            <a:r>
              <a:rPr sz="1200" b="1">
                <a:solidFill>
                  <a:srgbClr val="1D1D1F"/>
                </a:solidFill>
                <a:latin typeface="Pretendard"/>
              </a:rPr>
              <a:t>3조 달러 도달</a:t>
            </a:r>
          </a:p>
          <a:p>
            <a:pPr algn="l">
              <a:spcAft>
                <a:spcPts val="600"/>
              </a:spcAft>
            </a:pPr>
            <a:r>
              <a:rPr sz="1800" b="1">
                <a:solidFill>
                  <a:srgbClr val="1D1D1F"/>
                </a:solidFill>
                <a:latin typeface="Pretendard"/>
              </a:rPr>
              <a:t>2034 ~ 2035년</a:t>
            </a:r>
          </a:p>
          <a:p>
            <a:pPr algn="l">
              <a:spcAft>
                <a:spcPts val="600"/>
              </a:spcAft>
            </a:pPr>
            <a:r>
              <a:rPr sz="1200" b="1">
                <a:solidFill>
                  <a:srgbClr val="1D1D1F"/>
                </a:solidFill>
                <a:latin typeface="Pretendard"/>
              </a:rPr>
              <a:t>핵심 전제</a:t>
            </a:r>
          </a:p>
          <a:p>
            <a:pPr algn="l">
              <a:spcAft>
                <a:spcPts val="600"/>
              </a:spcAft>
            </a:pPr>
            <a:r>
              <a:rPr sz="1530" b="1">
                <a:solidFill>
                  <a:srgbClr val="1D1D1F"/>
                </a:solidFill>
                <a:latin typeface="Pretendard"/>
              </a:rPr>
              <a:t>• "동아시아 스위스" 모델 안착</a:t>
            </a:r>
          </a:p>
          <a:p>
            <a:pPr algn="l">
              <a:spcAft>
                <a:spcPts val="600"/>
              </a:spcAft>
            </a:pPr>
            <a:r>
              <a:rPr sz="1530" b="1">
                <a:solidFill>
                  <a:srgbClr val="1D1D1F"/>
                </a:solidFill>
                <a:latin typeface="Pretendard"/>
              </a:rPr>
              <a:t>• 주력 산업 글로벌 슈퍼사이클</a:t>
            </a:r>
          </a:p>
          <a:p>
            <a:pPr algn="l">
              <a:spcAft>
                <a:spcPts val="600"/>
              </a:spcAft>
            </a:pPr>
            <a:r>
              <a:rPr sz="1530" b="1">
                <a:solidFill>
                  <a:srgbClr val="1D1D1F"/>
                </a:solidFill>
                <a:latin typeface="Pretendard"/>
              </a:rPr>
              <a:t>• 대규모 외국인 자본 유입</a:t>
            </a:r>
          </a:p>
        </p:txBody>
      </p:sp>
      <p:sp>
        <p:nvSpPr>
          <p:cNvPr id="7" name="Rounded Rectangle 6"/>
          <p:cNvSpPr/>
          <p:nvPr/>
        </p:nvSpPr>
        <p:spPr>
          <a:xfrm>
            <a:off x="806683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Bear Scenario</a:t>
            </a:r>
          </a:p>
          <a:p>
            <a:pPr algn="l">
              <a:spcAft>
                <a:spcPts val="600"/>
              </a:spcAft>
            </a:pPr>
            <a:r>
              <a:rPr sz="1530" b="1">
                <a:solidFill>
                  <a:srgbClr val="1D1D1F"/>
                </a:solidFill>
                <a:latin typeface="Pretendard"/>
              </a:rPr>
              <a:t>확률 20%</a:t>
            </a:r>
          </a:p>
          <a:p>
            <a:pPr algn="l">
              <a:spcAft>
                <a:spcPts val="600"/>
              </a:spcAft>
            </a:pPr>
            <a:r>
              <a:rPr sz="1200" b="1">
                <a:solidFill>
                  <a:srgbClr val="1D1D1F"/>
                </a:solidFill>
                <a:latin typeface="Pretendard"/>
              </a:rPr>
              <a:t>2030년 예상 GDP</a:t>
            </a:r>
          </a:p>
          <a:p>
            <a:pPr algn="l">
              <a:spcAft>
                <a:spcPts val="600"/>
              </a:spcAft>
            </a:pPr>
            <a:r>
              <a:rPr sz="1800" b="1">
                <a:solidFill>
                  <a:srgbClr val="1D1D1F"/>
                </a:solidFill>
                <a:latin typeface="Pretendard"/>
              </a:rPr>
              <a:t>2.0 ~ 2.1조 달러</a:t>
            </a:r>
          </a:p>
          <a:p>
            <a:pPr algn="l">
              <a:spcAft>
                <a:spcPts val="600"/>
              </a:spcAft>
            </a:pPr>
            <a:r>
              <a:rPr sz="1200" b="1">
                <a:solidFill>
                  <a:srgbClr val="1D1D1F"/>
                </a:solidFill>
                <a:latin typeface="Pretendard"/>
              </a:rPr>
              <a:t>3조 달러 도달</a:t>
            </a:r>
          </a:p>
          <a:p>
            <a:pPr algn="l">
              <a:spcAft>
                <a:spcPts val="600"/>
              </a:spcAft>
            </a:pPr>
            <a:r>
              <a:rPr sz="1800" b="1">
                <a:solidFill>
                  <a:srgbClr val="1D1D1F"/>
                </a:solidFill>
                <a:latin typeface="Pretendard"/>
              </a:rPr>
              <a:t>2042년 이후</a:t>
            </a:r>
          </a:p>
          <a:p>
            <a:pPr algn="l">
              <a:spcAft>
                <a:spcPts val="600"/>
              </a:spcAft>
            </a:pPr>
            <a:r>
              <a:rPr sz="1200" b="1">
                <a:solidFill>
                  <a:srgbClr val="1D1D1F"/>
                </a:solidFill>
                <a:latin typeface="Pretendard"/>
              </a:rPr>
              <a:t>핵심 전제</a:t>
            </a:r>
          </a:p>
          <a:p>
            <a:pPr algn="l">
              <a:spcAft>
                <a:spcPts val="600"/>
              </a:spcAft>
            </a:pPr>
            <a:r>
              <a:rPr sz="1530" b="1">
                <a:solidFill>
                  <a:srgbClr val="1D1D1F"/>
                </a:solidFill>
                <a:latin typeface="Pretendard"/>
              </a:rPr>
              <a:t>• 일본식 "잃어버린 10년" 진입</a:t>
            </a:r>
          </a:p>
          <a:p>
            <a:pPr algn="l">
              <a:spcAft>
                <a:spcPts val="600"/>
              </a:spcAft>
            </a:pPr>
            <a:r>
              <a:rPr sz="1530" b="1">
                <a:solidFill>
                  <a:srgbClr val="1D1D1F"/>
                </a:solidFill>
                <a:latin typeface="Pretendard"/>
              </a:rPr>
              <a:t>• 가파른 인구 절벽 현실화</a:t>
            </a:r>
          </a:p>
          <a:p>
            <a:pPr algn="l">
              <a:spcAft>
                <a:spcPts val="600"/>
              </a:spcAft>
            </a:pPr>
            <a:r>
              <a:rPr sz="1530" b="1">
                <a:solidFill>
                  <a:srgbClr val="1D1D1F"/>
                </a:solidFill>
                <a:latin typeface="Pretendard"/>
              </a:rPr>
              <a:t>• 미·중 디커플링 및 PF 부실 심화</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2.</a:t>
            </a:r>
          </a:p>
          <a:p>
            <a:pPr algn="ctr">
              <a:spcAft>
                <a:spcPts val="1400"/>
              </a:spcAft>
            </a:pPr>
            <a:r>
              <a:rPr sz="2400" b="1">
                <a:solidFill>
                  <a:srgbClr val="FFFFFF"/>
                </a:solidFill>
                <a:latin typeface="Pretendard"/>
              </a:rPr>
              <a:t>핵심 산업 모멘텀 시나리오별 전망</a:t>
            </a:r>
            <a:r>
              <a:rPr sz="2400" b="1">
                <a:solidFill>
                  <a:srgbClr val="FFFFFF"/>
                </a:solidFill>
                <a:latin typeface="Pretendard"/>
              </a:rPr>
              <a:t>핵심 산업 모멘텀 시나리오별 전망</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AI 반도체 / 메모리</a:t>
            </a:r>
          </a:p>
          <a:p>
            <a:pPr algn="ctr"/>
            <a:r>
              <a:rPr sz="3200" b="1">
                <a:solidFill>
                  <a:srgbClr val="1D1D1F"/>
                </a:solidFill>
                <a:latin typeface="Pretendard"/>
              </a:rPr>
              <a:t>모든 시나리오에서 메모리는 한국 경제의 최대 변수</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BASE SCENARIO</a:t>
            </a:r>
          </a:p>
          <a:p>
            <a:pPr algn="ctr">
              <a:spcAft>
                <a:spcPts val="600"/>
              </a:spcAft>
            </a:pPr>
            <a:r>
              <a:rPr sz="1800" b="1">
                <a:solidFill>
                  <a:srgbClr val="1D1D1F"/>
                </a:solidFill>
                <a:latin typeface="Pretendard"/>
              </a:rPr>
              <a:t>모든 시나리오에서 메모리는 한국 경제의 최대 변수</a:t>
            </a:r>
          </a:p>
        </p:txBody>
      </p:sp>
      <p:sp>
        <p:nvSpPr>
          <p:cNvPr id="5" name="Rounded Rectangle 4"/>
          <p:cNvSpPr/>
          <p:nvPr/>
        </p:nvSpPr>
        <p:spPr>
          <a:xfrm>
            <a:off x="4490618"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BULL SCENARIO</a:t>
            </a:r>
          </a:p>
          <a:p>
            <a:pPr algn="ctr">
              <a:spcAft>
                <a:spcPts val="600"/>
              </a:spcAft>
            </a:pPr>
            <a:r>
              <a:rPr sz="1800" b="1">
                <a:solidFill>
                  <a:srgbClr val="1D1D1F"/>
                </a:solidFill>
                <a:latin typeface="Pretendard"/>
              </a:rPr>
              <a:t>모든 시나리오에서 메모리는 한국 경제의 최대 변수</a:t>
            </a:r>
          </a:p>
          <a:p>
            <a:pPr algn="l">
              <a:spcAft>
                <a:spcPts val="600"/>
              </a:spcAft>
            </a:pPr>
            <a:r>
              <a:rPr sz="1700" b="1">
                <a:solidFill>
                  <a:srgbClr val="1D1D1F"/>
                </a:solidFill>
                <a:latin typeface="Pretendard"/>
              </a:rPr>
              <a:t>▪ Base 케이스에서도 한국이 HBM 글로벌 점유율 70%+ 유지</a:t>
            </a:r>
          </a:p>
          <a:p>
            <a:pPr algn="l">
              <a:spcAft>
                <a:spcPts val="600"/>
              </a:spcAft>
            </a:pPr>
            <a:r>
              <a:rPr sz="1700" b="1">
                <a:solidFill>
                  <a:srgbClr val="1D1D1F"/>
                </a:solidFill>
                <a:latin typeface="Pretendard"/>
              </a:rPr>
              <a:t>▪ Bull 시 SK하이닉스·삼성전자 합산 영업이익 폭증 전망 (2030년 300조+)</a:t>
            </a:r>
          </a:p>
          <a:p>
            <a:pPr algn="l">
              <a:spcAft>
                <a:spcPts val="600"/>
              </a:spcAft>
            </a:pPr>
            <a:r>
              <a:rPr sz="1700" b="1">
                <a:solidFill>
                  <a:srgbClr val="1D1D1F"/>
                </a:solidFill>
                <a:latin typeface="Pretendard"/>
              </a:rPr>
              <a:t>▪ 그러나 모든 시나리오에서 메모리는 한국 경제의 단일 최대 변수로 잔존</a:t>
            </a:r>
          </a:p>
        </p:txBody>
      </p:sp>
      <p:sp>
        <p:nvSpPr>
          <p:cNvPr id="7" name="Rounded Rectangle 6"/>
          <p:cNvSpPr/>
          <p:nvPr/>
        </p:nvSpPr>
        <p:spPr>
          <a:xfrm>
            <a:off x="806683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BEAR SCENARIO</a:t>
            </a:r>
          </a:p>
          <a:p>
            <a:pPr algn="ctr">
              <a:spcAft>
                <a:spcPts val="600"/>
              </a:spcAft>
            </a:pPr>
            <a:r>
              <a:rPr sz="1800" b="1">
                <a:solidFill>
                  <a:srgbClr val="1D1D1F"/>
                </a:solidFill>
                <a:latin typeface="Pretendard"/>
              </a:rPr>
              <a:t>모든 시나리오에서 메모리는 한국 경제의 최대 변수</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AI 데이터센터</a:t>
            </a:r>
          </a:p>
          <a:p>
            <a:pPr algn="ctr"/>
            <a:r>
              <a:rPr sz="3200" b="1">
                <a:solidFill>
                  <a:srgbClr val="1D1D1F"/>
                </a:solidFill>
                <a:latin typeface="Pretendard"/>
              </a:rPr>
              <a:t>데이터센터 10GW 시대를 여는 글로벌 하이퍼스케일러의 집결</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BASE SCENARIO</a:t>
            </a:r>
          </a:p>
          <a:p>
            <a:pPr algn="ctr">
              <a:spcAft>
                <a:spcPts val="600"/>
              </a:spcAft>
            </a:pPr>
            <a:r>
              <a:rPr sz="1800" b="1">
                <a:solidFill>
                  <a:srgbClr val="1D1D1F"/>
                </a:solidFill>
                <a:latin typeface="Pretendard"/>
              </a:rPr>
              <a:t>2030년 한국 IT 용량 6.3GW (현재 3배)</a:t>
            </a:r>
          </a:p>
        </p:txBody>
      </p:sp>
      <p:sp>
        <p:nvSpPr>
          <p:cNvPr id="5" name="Rounded Rectangle 4"/>
          <p:cNvSpPr/>
          <p:nvPr/>
        </p:nvSpPr>
        <p:spPr>
          <a:xfrm>
            <a:off x="4490618"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BULL SCENARIO</a:t>
            </a:r>
          </a:p>
          <a:p>
            <a:pPr algn="ctr">
              <a:spcAft>
                <a:spcPts val="600"/>
              </a:spcAft>
            </a:pPr>
            <a:r>
              <a:rPr sz="1800" b="1">
                <a:solidFill>
                  <a:srgbClr val="1D1D1F"/>
                </a:solidFill>
                <a:latin typeface="Pretendard"/>
              </a:rPr>
              <a:t>글로벌 허브 집중 10GW+ 도달 가능</a:t>
            </a:r>
          </a:p>
          <a:p>
            <a:pPr algn="l">
              <a:spcAft>
                <a:spcPts val="600"/>
              </a:spcAft>
            </a:pPr>
            <a:r>
              <a:rPr sz="1700" b="1">
                <a:solidFill>
                  <a:srgbClr val="1D1D1F"/>
                </a:solidFill>
                <a:latin typeface="Pretendard"/>
              </a:rPr>
              <a:t>▪ Stock Farm Road(3GW), SK-AWS 확장, 삼성 2,300억 달러 등 거대 파이프라인 집중</a:t>
            </a:r>
          </a:p>
          <a:p>
            <a:pPr algn="l">
              <a:spcAft>
                <a:spcPts val="600"/>
              </a:spcAft>
            </a:pPr>
            <a:r>
              <a:rPr sz="1700" b="1">
                <a:solidFill>
                  <a:srgbClr val="1D1D1F"/>
                </a:solidFill>
                <a:latin typeface="Pretendard"/>
              </a:rPr>
              <a:t>▪ 단일 산업으로 GDP 10% 기여 목표라는 정부의 명시적 정책 의지 반영</a:t>
            </a:r>
          </a:p>
          <a:p>
            <a:pPr algn="l">
              <a:spcAft>
                <a:spcPts val="600"/>
              </a:spcAft>
            </a:pPr>
            <a:r>
              <a:rPr sz="1700" b="1">
                <a:solidFill>
                  <a:srgbClr val="1D1D1F"/>
                </a:solidFill>
                <a:latin typeface="Pretendard"/>
              </a:rPr>
              <a:t>▪ 전력 수급 한계 극복 여부가 최상의 Bull 시나리오 달성을 위한 핵심 트리거</a:t>
            </a:r>
          </a:p>
        </p:txBody>
      </p:sp>
      <p:sp>
        <p:nvSpPr>
          <p:cNvPr id="7" name="Rounded Rectangle 6"/>
          <p:cNvSpPr/>
          <p:nvPr/>
        </p:nvSpPr>
        <p:spPr>
          <a:xfrm>
            <a:off x="806683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BEAR SCENARIO</a:t>
            </a:r>
          </a:p>
          <a:p>
            <a:pPr algn="ctr">
              <a:spcAft>
                <a:spcPts val="600"/>
              </a:spcAft>
            </a:pPr>
            <a:r>
              <a:rPr sz="1800" b="1">
                <a:solidFill>
                  <a:srgbClr val="1D1D1F"/>
                </a:solidFill>
                <a:latin typeface="Pretendard"/>
              </a:rPr>
              <a:t>국가 이니셔티브 지연 시 성장 둔화</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로봇 / 휴머노이드</a:t>
            </a:r>
          </a:p>
          <a:p>
            <a:pPr algn="ctr"/>
            <a:r>
              <a:rPr sz="3200" b="1">
                <a:solidFill>
                  <a:srgbClr val="1D1D1F"/>
                </a:solidFill>
                <a:latin typeface="Pretendard"/>
              </a:rPr>
              <a:t>공간의 표준을 재정의할 2030년대 100조 원 규모 로봇 산업의 폭발</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BASE SCENARIO</a:t>
            </a:r>
          </a:p>
          <a:p>
            <a:pPr algn="ctr">
              <a:spcAft>
                <a:spcPts val="600"/>
              </a:spcAft>
            </a:pPr>
            <a:r>
              <a:rPr sz="1800" b="1">
                <a:solidFill>
                  <a:srgbClr val="1D1D1F"/>
                </a:solidFill>
                <a:latin typeface="Pretendard"/>
              </a:rPr>
              <a:t>2030년대 산업 규모 50조 원 안착</a:t>
            </a:r>
          </a:p>
        </p:txBody>
      </p:sp>
      <p:sp>
        <p:nvSpPr>
          <p:cNvPr id="5" name="Rounded Rectangle 4"/>
          <p:cNvSpPr/>
          <p:nvPr/>
        </p:nvSpPr>
        <p:spPr>
          <a:xfrm>
            <a:off x="4490618"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BULL SCENARIO</a:t>
            </a:r>
          </a:p>
          <a:p>
            <a:pPr algn="ctr">
              <a:spcAft>
                <a:spcPts val="600"/>
              </a:spcAft>
            </a:pPr>
            <a:r>
              <a:rPr sz="1800" b="1">
                <a:solidFill>
                  <a:srgbClr val="1D1D1F"/>
                </a:solidFill>
                <a:latin typeface="Pretendard"/>
              </a:rPr>
              <a:t>상용화 가속으로 100조 원+ 폭발</a:t>
            </a:r>
          </a:p>
          <a:p>
            <a:pPr algn="l">
              <a:spcAft>
                <a:spcPts val="600"/>
              </a:spcAft>
            </a:pPr>
            <a:r>
              <a:rPr sz="1700" b="1">
                <a:solidFill>
                  <a:srgbClr val="1D1D1F"/>
                </a:solidFill>
                <a:latin typeface="Pretendard"/>
              </a:rPr>
              <a:t>▪ 현대차그룹, 삼성전자, 두산로보틱스가 주도하는 차세대 폼팩터 경쟁 심화</a:t>
            </a:r>
          </a:p>
          <a:p>
            <a:pPr algn="l">
              <a:spcAft>
                <a:spcPts val="600"/>
              </a:spcAft>
            </a:pPr>
            <a:r>
              <a:rPr sz="1700" b="1">
                <a:solidFill>
                  <a:srgbClr val="1D1D1F"/>
                </a:solidFill>
                <a:latin typeface="Pretendard"/>
              </a:rPr>
              <a:t>▪ 인간의 노동력을 대체하고 물리적 공간의 표준을 완전히 재정의할 거대 산업</a:t>
            </a:r>
          </a:p>
          <a:p>
            <a:pPr algn="l">
              <a:spcAft>
                <a:spcPts val="600"/>
              </a:spcAft>
            </a:pPr>
            <a:r>
              <a:rPr sz="1700" b="1">
                <a:solidFill>
                  <a:srgbClr val="1D1D1F"/>
                </a:solidFill>
                <a:latin typeface="Pretendard"/>
              </a:rPr>
              <a:t>▪ 2030~2035년 사이가 상용화의 진정한 Commercial Inflection Point로 작용</a:t>
            </a:r>
          </a:p>
        </p:txBody>
      </p:sp>
      <p:sp>
        <p:nvSpPr>
          <p:cNvPr id="7" name="Rounded Rectangle 6"/>
          <p:cNvSpPr/>
          <p:nvPr/>
        </p:nvSpPr>
        <p:spPr>
          <a:xfrm>
            <a:off x="806683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BEAR SCENARIO</a:t>
            </a:r>
          </a:p>
          <a:p>
            <a:pPr algn="ctr">
              <a:spcAft>
                <a:spcPts val="600"/>
              </a:spcAft>
            </a:pPr>
            <a:r>
              <a:rPr sz="1800" b="1">
                <a:solidFill>
                  <a:srgbClr val="1D1D1F"/>
                </a:solidFill>
                <a:latin typeface="Pretendard"/>
              </a:rPr>
              <a:t>티핑 포인트 지연 (2035년 이후)</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바이오 융합 / 장수의학 / 세포·유전자치료</a:t>
            </a:r>
          </a:p>
          <a:p>
            <a:pPr algn="ctr"/>
            <a:r>
              <a:rPr sz="3200" b="1">
                <a:solidFill>
                  <a:srgbClr val="1D1D1F"/>
                </a:solidFill>
                <a:latin typeface="Pretendard"/>
              </a:rPr>
              <a:t>매출 10조 시대를 여는 CDMO 역량이 창출할 거대 부동산 실수요</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BASE SCENARIO</a:t>
            </a:r>
          </a:p>
          <a:p>
            <a:pPr algn="ctr">
              <a:spcAft>
                <a:spcPts val="600"/>
              </a:spcAft>
            </a:pPr>
            <a:r>
              <a:rPr sz="1800" b="1">
                <a:solidFill>
                  <a:srgbClr val="1D1D1F"/>
                </a:solidFill>
                <a:latin typeface="Pretendard"/>
              </a:rPr>
              <a:t>삼성바이오 2030년 매출 10조 원+ 전망</a:t>
            </a:r>
          </a:p>
        </p:txBody>
      </p:sp>
      <p:sp>
        <p:nvSpPr>
          <p:cNvPr id="5" name="Rounded Rectangle 4"/>
          <p:cNvSpPr/>
          <p:nvPr/>
        </p:nvSpPr>
        <p:spPr>
          <a:xfrm>
            <a:off x="4490618"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BULL SCENARIO</a:t>
            </a:r>
          </a:p>
          <a:p>
            <a:pPr algn="ctr">
              <a:spcAft>
                <a:spcPts val="600"/>
              </a:spcAft>
            </a:pPr>
            <a:r>
              <a:rPr sz="1800" b="1">
                <a:solidFill>
                  <a:srgbClr val="1D1D1F"/>
                </a:solidFill>
                <a:latin typeface="Pretendard"/>
              </a:rPr>
              <a:t>글로벌 CDMO 시장 두 자릿수 점유 조기 달성</a:t>
            </a:r>
          </a:p>
          <a:p>
            <a:pPr algn="l">
              <a:spcAft>
                <a:spcPts val="600"/>
              </a:spcAft>
            </a:pPr>
            <a:r>
              <a:rPr sz="1700" b="1">
                <a:solidFill>
                  <a:srgbClr val="1D1D1F"/>
                </a:solidFill>
                <a:latin typeface="Pretendard"/>
              </a:rPr>
              <a:t>▪ 삼성바이오로직스 등 핵심 기업 매출 컨센서스 상향 및 K-바이오 글로벌 확장 가속화</a:t>
            </a:r>
          </a:p>
          <a:p>
            <a:pPr algn="l">
              <a:spcAft>
                <a:spcPts val="600"/>
              </a:spcAft>
            </a:pPr>
            <a:r>
              <a:rPr sz="1700" b="1">
                <a:solidFill>
                  <a:srgbClr val="1D1D1F"/>
                </a:solidFill>
                <a:latin typeface="Pretendard"/>
              </a:rPr>
              <a:t>▪ 세포 및 유전자 치료 CDMO에서 글로벌 두 자릿수 점유율을 차지할 수 있는 잠재력</a:t>
            </a:r>
          </a:p>
          <a:p>
            <a:pPr algn="l">
              <a:spcAft>
                <a:spcPts val="600"/>
              </a:spcAft>
            </a:pPr>
            <a:r>
              <a:rPr sz="1700" b="1">
                <a:solidFill>
                  <a:srgbClr val="1D1D1F"/>
                </a:solidFill>
                <a:latin typeface="Pretendard"/>
              </a:rPr>
              <a:t>▪ 매출 10조 시대를 여는 생산 역량이 창출할 거대한 연구시설 및 공장 부동산 실수요</a:t>
            </a:r>
          </a:p>
        </p:txBody>
      </p:sp>
      <p:sp>
        <p:nvSpPr>
          <p:cNvPr id="7" name="Rounded Rectangle 6"/>
          <p:cNvSpPr/>
          <p:nvPr/>
        </p:nvSpPr>
        <p:spPr>
          <a:xfrm>
            <a:off x="806683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BEAR SCENARIO</a:t>
            </a:r>
          </a:p>
          <a:p>
            <a:pPr algn="ctr">
              <a:spcAft>
                <a:spcPts val="600"/>
              </a:spcAft>
            </a:pPr>
            <a:r>
              <a:rPr sz="1800" b="1">
                <a:solidFill>
                  <a:srgbClr val="1D1D1F"/>
                </a:solidFill>
                <a:latin typeface="Pretendard"/>
              </a:rPr>
              <a:t>글로벌 규제 및 경쟁 심화로 수익성 둔화</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방산·우주</a:t>
            </a:r>
          </a:p>
          <a:p>
            <a:pPr algn="ctr"/>
            <a:r>
              <a:rPr sz="3200" b="1">
                <a:solidFill>
                  <a:srgbClr val="1D1D1F"/>
                </a:solidFill>
                <a:latin typeface="Pretendard"/>
              </a:rPr>
              <a:t>2030년 500억 달러 수출을 겨냥하는 K-디펜스의 퀀텀 점프</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BASE SCENARIO</a:t>
            </a:r>
          </a:p>
          <a:p>
            <a:pPr algn="ctr">
              <a:spcAft>
                <a:spcPts val="600"/>
              </a:spcAft>
            </a:pPr>
            <a:r>
              <a:rPr sz="1800" b="1">
                <a:solidFill>
                  <a:srgbClr val="1D1D1F"/>
                </a:solidFill>
                <a:latin typeface="Pretendard"/>
              </a:rPr>
              <a:t>우주·방산 글로벌 진출 안정적 시장 확보</a:t>
            </a:r>
          </a:p>
        </p:txBody>
      </p:sp>
      <p:sp>
        <p:nvSpPr>
          <p:cNvPr id="5" name="Rounded Rectangle 4"/>
          <p:cNvSpPr/>
          <p:nvPr/>
        </p:nvSpPr>
        <p:spPr>
          <a:xfrm>
            <a:off x="4490618"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BULL SCENARIO</a:t>
            </a:r>
          </a:p>
          <a:p>
            <a:pPr algn="ctr">
              <a:spcAft>
                <a:spcPts val="600"/>
              </a:spcAft>
            </a:pPr>
            <a:r>
              <a:rPr sz="1800" b="1">
                <a:solidFill>
                  <a:srgbClr val="1D1D1F"/>
                </a:solidFill>
                <a:latin typeface="Pretendard"/>
              </a:rPr>
              <a:t>2030년 방산 수출 500억 달러 (현재 3배)</a:t>
            </a:r>
          </a:p>
          <a:p>
            <a:pPr algn="l">
              <a:spcAft>
                <a:spcPts val="600"/>
              </a:spcAft>
            </a:pPr>
            <a:r>
              <a:rPr sz="1700" b="1">
                <a:solidFill>
                  <a:srgbClr val="1D1D1F"/>
                </a:solidFill>
                <a:latin typeface="Pretendard"/>
              </a:rPr>
              <a:t>▪ KAI, 한화, KARI가 주도하는 K-방산과 우주 산업의 구조적 퀀텀 점프 기대</a:t>
            </a:r>
          </a:p>
          <a:p>
            <a:pPr algn="l">
              <a:spcAft>
                <a:spcPts val="600"/>
              </a:spcAft>
            </a:pPr>
            <a:r>
              <a:rPr sz="1700" b="1">
                <a:solidFill>
                  <a:srgbClr val="1D1D1F"/>
                </a:solidFill>
                <a:latin typeface="Pretendard"/>
              </a:rPr>
              <a:t>▪ 1조 달러대 거대 글로벌 시장에서 지정학적 갈등을 기회로 삼는 새로운 신데렐라 산업</a:t>
            </a:r>
          </a:p>
          <a:p>
            <a:pPr algn="l">
              <a:spcAft>
                <a:spcPts val="600"/>
              </a:spcAft>
            </a:pPr>
            <a:r>
              <a:rPr sz="1700" b="1">
                <a:solidFill>
                  <a:srgbClr val="1D1D1F"/>
                </a:solidFill>
                <a:latin typeface="Pretendard"/>
              </a:rPr>
              <a:t>▪ 미·중 패권 경쟁 및 유라시아 긴장 국면이 오히려 수출의 장기 슈퍼사이클을 지지</a:t>
            </a:r>
          </a:p>
        </p:txBody>
      </p:sp>
      <p:sp>
        <p:nvSpPr>
          <p:cNvPr id="7" name="Rounded Rectangle 6"/>
          <p:cNvSpPr/>
          <p:nvPr/>
        </p:nvSpPr>
        <p:spPr>
          <a:xfrm>
            <a:off x="806683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BEAR SCENARIO</a:t>
            </a:r>
          </a:p>
          <a:p>
            <a:pPr algn="ctr">
              <a:spcAft>
                <a:spcPts val="600"/>
              </a:spcAft>
            </a:pPr>
            <a:r>
              <a:rPr sz="1800" b="1">
                <a:solidFill>
                  <a:srgbClr val="1D1D1F"/>
                </a:solidFill>
                <a:latin typeface="Pretendard"/>
              </a:rPr>
              <a:t>지정학적 리스크 완화 시 모멘텀 축소</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K-콘텐츠</a:t>
            </a:r>
          </a:p>
          <a:p>
            <a:pPr algn="ctr"/>
            <a:r>
              <a:rPr sz="3200" b="1">
                <a:solidFill>
                  <a:srgbClr val="1D1D1F"/>
                </a:solidFill>
                <a:latin typeface="Pretendard"/>
              </a:rPr>
              <a:t>음악을 넘어 게임, 패션, 영상으로 확장될 새로운 문화 자본의 영토</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BASE SCENARIO</a:t>
            </a:r>
          </a:p>
          <a:p>
            <a:pPr algn="ctr">
              <a:spcAft>
                <a:spcPts val="600"/>
              </a:spcAft>
            </a:pPr>
            <a:r>
              <a:rPr sz="1800" b="1">
                <a:solidFill>
                  <a:srgbClr val="1D1D1F"/>
                </a:solidFill>
                <a:latin typeface="Pretendard"/>
              </a:rPr>
              <a:t>글로벌 OTT 내 점유율 지속 상승</a:t>
            </a:r>
          </a:p>
        </p:txBody>
      </p:sp>
      <p:sp>
        <p:nvSpPr>
          <p:cNvPr id="5" name="Rounded Rectangle 4"/>
          <p:cNvSpPr/>
          <p:nvPr/>
        </p:nvSpPr>
        <p:spPr>
          <a:xfrm>
            <a:off x="4490618"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BULL SCENARIO</a:t>
            </a:r>
          </a:p>
          <a:p>
            <a:pPr algn="ctr">
              <a:spcAft>
                <a:spcPts val="600"/>
              </a:spcAft>
            </a:pPr>
            <a:r>
              <a:rPr sz="1800" b="1">
                <a:solidFill>
                  <a:srgbClr val="1D1D1F"/>
                </a:solidFill>
                <a:latin typeface="Pretendard"/>
              </a:rPr>
              <a:t>다변화 융합 시장 2~3조 달러 진입</a:t>
            </a:r>
          </a:p>
          <a:p>
            <a:pPr algn="l">
              <a:spcAft>
                <a:spcPts val="600"/>
              </a:spcAft>
            </a:pPr>
            <a:r>
              <a:rPr sz="1700" b="1">
                <a:solidFill>
                  <a:srgbClr val="1D1D1F"/>
                </a:solidFill>
                <a:latin typeface="Pretendard"/>
              </a:rPr>
              <a:t>▪ HYBE, SM, CJ ENM 주도의 라이브 비주얼, IP 비즈니스, 게임 산업의 동반 팽창</a:t>
            </a:r>
          </a:p>
          <a:p>
            <a:pPr algn="l">
              <a:spcAft>
                <a:spcPts val="600"/>
              </a:spcAft>
            </a:pPr>
            <a:r>
              <a:rPr sz="1700" b="1">
                <a:solidFill>
                  <a:srgbClr val="1D1D1F"/>
                </a:solidFill>
                <a:latin typeface="Pretendard"/>
              </a:rPr>
              <a:t>▪ 음악(K-pop) 단일 장르를 넘어 Game, Film, Animation, Fashion 등 문화 영토 다변화</a:t>
            </a:r>
          </a:p>
          <a:p>
            <a:pPr algn="l">
              <a:spcAft>
                <a:spcPts val="600"/>
              </a:spcAft>
            </a:pPr>
            <a:r>
              <a:rPr sz="1700" b="1">
                <a:solidFill>
                  <a:srgbClr val="1D1D1F"/>
                </a:solidFill>
                <a:latin typeface="Pretendard"/>
              </a:rPr>
              <a:t>▪ 1조 달러대 K-pop 시장이 3조 달러대 거대 무형자산 제국으로 진화하는 변곡점</a:t>
            </a:r>
          </a:p>
        </p:txBody>
      </p:sp>
      <p:sp>
        <p:nvSpPr>
          <p:cNvPr id="7" name="Rounded Rectangle 6"/>
          <p:cNvSpPr/>
          <p:nvPr/>
        </p:nvSpPr>
        <p:spPr>
          <a:xfrm>
            <a:off x="806683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BEAR SCENARIO</a:t>
            </a:r>
          </a:p>
          <a:p>
            <a:pPr algn="ctr">
              <a:spcAft>
                <a:spcPts val="600"/>
              </a:spcAft>
            </a:pPr>
            <a:r>
              <a:rPr sz="1800" b="1">
                <a:solidFill>
                  <a:srgbClr val="1D1D1F"/>
                </a:solidFill>
                <a:latin typeface="Pretendard"/>
              </a:rPr>
              <a:t>글로벌 플랫폼 종속성 심화</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양자 / 수소 / 우주</a:t>
            </a:r>
          </a:p>
          <a:p>
            <a:pPr algn="ctr"/>
            <a:r>
              <a:rPr sz="3200" b="1">
                <a:solidFill>
                  <a:srgbClr val="1D1D1F"/>
                </a:solidFill>
                <a:latin typeface="Pretendard"/>
              </a:rPr>
              <a:t>양자 컴퓨팅, 수소, 우주 산업이 담보하는 국가 경제의 미래 방어막</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BASE SCENARIO</a:t>
            </a:r>
          </a:p>
          <a:p>
            <a:pPr algn="ctr">
              <a:spcAft>
                <a:spcPts val="600"/>
              </a:spcAft>
            </a:pPr>
            <a:r>
              <a:rPr sz="1800" b="1">
                <a:solidFill>
                  <a:srgbClr val="1D1D1F"/>
                </a:solidFill>
                <a:latin typeface="Pretendard"/>
              </a:rPr>
              <a:t>2030년까지 GDP 기여도 1% 미만</a:t>
            </a:r>
          </a:p>
        </p:txBody>
      </p:sp>
      <p:sp>
        <p:nvSpPr>
          <p:cNvPr id="5" name="Rounded Rectangle 4"/>
          <p:cNvSpPr/>
          <p:nvPr/>
        </p:nvSpPr>
        <p:spPr>
          <a:xfrm>
            <a:off x="4490618"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BULL SCENARIO</a:t>
            </a:r>
          </a:p>
          <a:p>
            <a:pPr algn="ctr">
              <a:spcAft>
                <a:spcPts val="600"/>
              </a:spcAft>
            </a:pPr>
            <a:r>
              <a:rPr sz="1800" b="1">
                <a:solidFill>
                  <a:srgbClr val="1D1D1F"/>
                </a:solidFill>
                <a:latin typeface="Pretendard"/>
              </a:rPr>
              <a:t>초기 딥테크 안착 (미래 방어막 실현)</a:t>
            </a:r>
          </a:p>
          <a:p>
            <a:pPr algn="l">
              <a:spcAft>
                <a:spcPts val="600"/>
              </a:spcAft>
            </a:pPr>
            <a:r>
              <a:rPr sz="1700" b="1">
                <a:solidFill>
                  <a:srgbClr val="1D1D1F"/>
                </a:solidFill>
                <a:latin typeface="Pretendard"/>
              </a:rPr>
              <a:t>▪ 양자 컴퓨팅, 수소, 우주 등 딥테크 인프라의 파괴적 미래 잠재력에 선제적 대비</a:t>
            </a:r>
          </a:p>
          <a:p>
            <a:pPr algn="l">
              <a:spcAft>
                <a:spcPts val="600"/>
              </a:spcAft>
            </a:pPr>
            <a:r>
              <a:rPr sz="1700" b="1">
                <a:solidFill>
                  <a:srgbClr val="1D1D1F"/>
                </a:solidFill>
                <a:latin typeface="Pretendard"/>
              </a:rPr>
              <a:t>▪ 신산업 특성상 단기적인 거시 경제 기여도는 낮으나 장기적 파급력은 예측 불허</a:t>
            </a:r>
          </a:p>
          <a:p>
            <a:pPr algn="l">
              <a:spcAft>
                <a:spcPts val="600"/>
              </a:spcAft>
            </a:pPr>
            <a:r>
              <a:rPr sz="1700" b="1">
                <a:solidFill>
                  <a:srgbClr val="1D1D1F"/>
                </a:solidFill>
                <a:latin typeface="Pretendard"/>
              </a:rPr>
              <a:t>▪ 거시 경제의 지정학 및 기술 불확실성을 방어할 국가 차원의 필수적인 '옵션 가치'</a:t>
            </a:r>
          </a:p>
        </p:txBody>
      </p:sp>
      <p:sp>
        <p:nvSpPr>
          <p:cNvPr id="7" name="Rounded Rectangle 6"/>
          <p:cNvSpPr/>
          <p:nvPr/>
        </p:nvSpPr>
        <p:spPr>
          <a:xfrm>
            <a:off x="806683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BEAR SCENARIO</a:t>
            </a:r>
          </a:p>
          <a:p>
            <a:pPr algn="ctr">
              <a:spcAft>
                <a:spcPts val="600"/>
              </a:spcAft>
            </a:pPr>
            <a:r>
              <a:rPr sz="1800" b="1">
                <a:solidFill>
                  <a:srgbClr val="1D1D1F"/>
                </a:solidFill>
                <a:latin typeface="Pretendard"/>
              </a:rPr>
              <a:t>옵션 가치 실현 불투명 (장기 정체)</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시니어 케어 경제</a:t>
            </a:r>
          </a:p>
          <a:p>
            <a:pPr algn="ctr"/>
            <a:r>
              <a:rPr sz="3200" b="1">
                <a:solidFill>
                  <a:srgbClr val="1D1D1F"/>
                </a:solidFill>
                <a:latin typeface="Pretendard"/>
              </a:rPr>
              <a:t>글로벌 펀드와 융합하여 침투율 0.6%의 블루오션을 선점할 시니어 케어</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BASE SCENARIO</a:t>
            </a:r>
          </a:p>
          <a:p>
            <a:pPr algn="ctr">
              <a:spcAft>
                <a:spcPts val="600"/>
              </a:spcAft>
            </a:pPr>
            <a:r>
              <a:rPr sz="1800" b="1">
                <a:solidFill>
                  <a:srgbClr val="1D1D1F"/>
                </a:solidFill>
                <a:latin typeface="Pretendard"/>
              </a:rPr>
              <a:t>2030년 시니어 하우징 168조 원 전망</a:t>
            </a:r>
          </a:p>
        </p:txBody>
      </p:sp>
      <p:sp>
        <p:nvSpPr>
          <p:cNvPr id="5" name="Rounded Rectangle 4"/>
          <p:cNvSpPr/>
          <p:nvPr/>
        </p:nvSpPr>
        <p:spPr>
          <a:xfrm>
            <a:off x="4490618"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BULL SCENARIO</a:t>
            </a:r>
          </a:p>
          <a:p>
            <a:pPr algn="ctr">
              <a:spcAft>
                <a:spcPts val="600"/>
              </a:spcAft>
            </a:pPr>
            <a:r>
              <a:rPr sz="1800" b="1">
                <a:solidFill>
                  <a:srgbClr val="1D1D1F"/>
                </a:solidFill>
                <a:latin typeface="Pretendard"/>
              </a:rPr>
              <a:t>글로벌 펀드 진입으로 침투율 급속 팽창</a:t>
            </a:r>
          </a:p>
          <a:p>
            <a:pPr algn="l">
              <a:spcAft>
                <a:spcPts val="600"/>
              </a:spcAft>
            </a:pPr>
            <a:r>
              <a:rPr sz="1700" b="1">
                <a:solidFill>
                  <a:srgbClr val="1D1D1F"/>
                </a:solidFill>
                <a:latin typeface="Pretendard"/>
              </a:rPr>
              <a:t>▪ 한국 시니어 하우징 침투율은 0.6%로 미국(11%), 호주(6%) 대비 극도로 저개발된 블루오션</a:t>
            </a:r>
          </a:p>
          <a:p>
            <a:pPr algn="l">
              <a:spcAft>
                <a:spcPts val="600"/>
              </a:spcAft>
            </a:pPr>
            <a:r>
              <a:rPr sz="1700" b="1">
                <a:solidFill>
                  <a:srgbClr val="1D1D1F"/>
                </a:solidFill>
                <a:latin typeface="Pretendard"/>
              </a:rPr>
              <a:t>▪ 전체 시니어 하우징 시장 규모는 2020년 72조 원에서 2030년 168조 원으로 폭발적 성장 전망</a:t>
            </a:r>
          </a:p>
          <a:p>
            <a:pPr algn="l">
              <a:spcAft>
                <a:spcPts val="600"/>
              </a:spcAft>
            </a:pPr>
            <a:r>
              <a:rPr sz="1700" b="1">
                <a:solidFill>
                  <a:srgbClr val="1D1D1F"/>
                </a:solidFill>
                <a:latin typeface="Pretendard"/>
              </a:rPr>
              <a:t>▪ 이지스 KB골든라이프케어 협력 실버타운 출시(국내 운용사 최초 펀드 통한 실버타운 공급)</a:t>
            </a:r>
          </a:p>
          <a:p>
            <a:pPr algn="l">
              <a:spcAft>
                <a:spcPts val="600"/>
              </a:spcAft>
            </a:pPr>
            <a:r>
              <a:rPr sz="1700" b="1">
                <a:solidFill>
                  <a:srgbClr val="1D1D1F"/>
                </a:solidFill>
                <a:latin typeface="Pretendard"/>
              </a:rPr>
              <a:t>▪ Warburg Pincus·Invesco 한국 시니어 시장 진입(2026 발표)이 시작점</a:t>
            </a:r>
          </a:p>
        </p:txBody>
      </p:sp>
      <p:sp>
        <p:nvSpPr>
          <p:cNvPr id="7" name="Rounded Rectangle 6"/>
          <p:cNvSpPr/>
          <p:nvPr/>
        </p:nvSpPr>
        <p:spPr>
          <a:xfrm>
            <a:off x="806683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BEAR SCENARIO</a:t>
            </a:r>
          </a:p>
          <a:p>
            <a:pPr algn="ctr">
              <a:spcAft>
                <a:spcPts val="600"/>
              </a:spcAft>
            </a:pPr>
            <a:r>
              <a:rPr sz="1800" b="1">
                <a:solidFill>
                  <a:srgbClr val="1D1D1F"/>
                </a:solidFill>
                <a:latin typeface="Pretendard"/>
              </a:rPr>
              <a:t>규제 및 인프라 한계로 0.6% 장기화</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3.</a:t>
            </a:r>
          </a:p>
          <a:p>
            <a:pPr algn="ctr">
              <a:spcAft>
                <a:spcPts val="1400"/>
              </a:spcAft>
            </a:pPr>
            <a:r>
              <a:rPr sz="2400" b="1">
                <a:solidFill>
                  <a:srgbClr val="FFFFFF"/>
                </a:solidFill>
                <a:latin typeface="Pretendard"/>
              </a:rPr>
              <a:t>인구·구조적 변수</a:t>
            </a:r>
            <a:r>
              <a:rPr sz="2400" b="1">
                <a:solidFill>
                  <a:srgbClr val="FFFFFF"/>
                </a:solidFill>
                <a:latin typeface="Pretendard"/>
              </a:rPr>
              <a:t>인구·구조적 변수</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혹독한 인구 다이어트의 시작</a:t>
            </a:r>
          </a:p>
          <a:p>
            <a:pPr algn="ctr"/>
            <a:r>
              <a:rPr sz="3200" b="1">
                <a:solidFill>
                  <a:srgbClr val="1D1D1F"/>
                </a:solidFill>
                <a:latin typeface="Pretendard"/>
              </a:rPr>
              <a:t>2024년 5,175만 정점 통과 후 직면할 가파른 국가 규모 축소의 현실</a:t>
            </a:r>
          </a:p>
        </p:txBody>
      </p:sp>
      <p:sp>
        <p:nvSpPr>
          <p:cNvPr id="3" name="Rounded Rectangle 2"/>
          <p:cNvSpPr/>
          <p:nvPr/>
        </p:nvSpPr>
        <p:spPr>
          <a:xfrm>
            <a:off x="914400" y="219456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4,300만</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6,000만</a:t>
            </a:r>
            <a:r>
              <a:t>    </a:t>
            </a:r>
            <a:r>
              <a:rPr sz="1800" b="1">
                <a:solidFill>
                  <a:srgbClr val="1D1D1F"/>
                </a:solidFill>
                <a:latin typeface="Pretendard"/>
              </a:rPr>
              <a:t>5,175만</a:t>
            </a:r>
          </a:p>
          <a:p>
            <a:pPr algn="ctr">
              <a:spcAft>
                <a:spcPts val="600"/>
              </a:spcAft>
            </a:pPr>
            <a:r>
              <a:rPr sz="1200" b="1">
                <a:solidFill>
                  <a:srgbClr val="1D1D1F"/>
                </a:solidFill>
                <a:latin typeface="Pretendard"/>
              </a:rPr>
              <a:t>4,000만</a:t>
            </a:r>
          </a:p>
          <a:p>
            <a:pPr algn="ctr">
              <a:spcAft>
                <a:spcPts val="600"/>
              </a:spcAft>
            </a:pPr>
            <a:r>
              <a:rPr sz="1200" b="1">
                <a:solidFill>
                  <a:srgbClr val="1D1D1F"/>
                </a:solidFill>
                <a:latin typeface="Pretendard"/>
              </a:rPr>
              <a:t>2,000만</a:t>
            </a:r>
          </a:p>
          <a:p>
            <a:pPr algn="ctr">
              <a:spcAft>
                <a:spcPts val="600"/>
              </a:spcAft>
            </a:pPr>
            <a:r>
              <a:rPr sz="1200" b="1">
                <a:solidFill>
                  <a:srgbClr val="1E3A8A"/>
                </a:solidFill>
                <a:latin typeface="Pretendard"/>
              </a:rPr>
              <a:t>0</a:t>
            </a:r>
          </a:p>
          <a:p>
            <a:pPr algn="ctr">
              <a:spcAft>
                <a:spcPts val="600"/>
              </a:spcAft>
            </a:pPr>
            <a:r>
              <a:rPr sz="1360" b="1">
                <a:solidFill>
                  <a:srgbClr val="1D1D1F"/>
                </a:solidFill>
                <a:latin typeface="Pretendard"/>
              </a:rPr>
              <a:t>2024 (정점)</a:t>
            </a:r>
          </a:p>
        </p:txBody>
      </p:sp>
      <p:sp>
        <p:nvSpPr>
          <p:cNvPr id="7" name="Rounded Rectangle 6"/>
          <p:cNvSpPr/>
          <p:nvPr/>
        </p:nvSpPr>
        <p:spPr>
          <a:xfrm>
            <a:off x="83316241"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453401"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4,734만</a:t>
            </a:r>
          </a:p>
          <a:p>
            <a:pPr algn="ctr">
              <a:spcAft>
                <a:spcPts val="600"/>
              </a:spcAft>
            </a:pPr>
            <a:r>
              <a:rPr sz="1360" b="1">
                <a:solidFill>
                  <a:srgbClr val="1D1D1F"/>
                </a:solidFill>
                <a:latin typeface="Pretendard"/>
              </a:rPr>
              <a:t>2040</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2050</a:t>
            </a:r>
          </a:p>
          <a:p>
            <a:pPr algn="l">
              <a:spcAft>
                <a:spcPts val="600"/>
              </a:spcAft>
            </a:pPr>
            <a:r>
              <a:rPr sz="1700" b="1">
                <a:solidFill>
                  <a:srgbClr val="1D1D1F"/>
                </a:solidFill>
                <a:latin typeface="Pretendard"/>
              </a:rPr>
              <a:t>▪ 통계청·UN 중위 변동치 기준 2024년 5,175만 명 정점 이후 본격적인 감소 진입</a:t>
            </a:r>
          </a:p>
          <a:p>
            <a:pPr algn="l">
              <a:spcAft>
                <a:spcPts val="600"/>
              </a:spcAft>
            </a:pPr>
            <a:r>
              <a:rPr sz="1700" b="1">
                <a:solidFill>
                  <a:srgbClr val="1D1D1F"/>
                </a:solidFill>
                <a:latin typeface="Pretendard"/>
              </a:rPr>
              <a:t>▪ 2040년 약 4,734만 명, 2050년 약 4,300만 명, 2060년 3,664만 명으로 가파른 축소</a:t>
            </a:r>
          </a:p>
          <a:p>
            <a:pPr algn="l">
              <a:spcAft>
                <a:spcPts val="600"/>
              </a:spcAft>
            </a:pPr>
            <a:r>
              <a:rPr sz="1700" b="1">
                <a:solidFill>
                  <a:srgbClr val="1D1D1F"/>
                </a:solidFill>
                <a:latin typeface="Pretendard"/>
              </a:rPr>
              <a:t>▪ Bayesian 확률 추정 기준 2100년에는 1,100만~3,000만 명 사이로 국가 규모 축소 불가피</a:t>
            </a:r>
          </a:p>
        </p:txBody>
      </p:sp>
      <p:sp>
        <p:nvSpPr>
          <p:cNvPr id="11" name="Rounded Rectangle 10"/>
          <p:cNvSpPr/>
          <p:nvPr/>
        </p:nvSpPr>
        <p:spPr>
          <a:xfrm>
            <a:off x="4211532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252480"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3,664만</a:t>
            </a:r>
          </a:p>
          <a:p>
            <a:pPr algn="ctr">
              <a:spcAft>
                <a:spcPts val="600"/>
              </a:spcAft>
            </a:pPr>
            <a:r>
              <a:rPr sz="1360" b="1">
                <a:solidFill>
                  <a:srgbClr val="1D1D1F"/>
                </a:solidFill>
                <a:latin typeface="Pretendard"/>
              </a:rPr>
              <a:t>2060</a:t>
            </a:r>
          </a:p>
        </p:txBody>
      </p:sp>
      <p:sp>
        <p:nvSpPr>
          <p:cNvPr id="13" name="Rounded Rectangle 12"/>
          <p:cNvSpPr/>
          <p:nvPr/>
        </p:nvSpPr>
        <p:spPr>
          <a:xfrm>
            <a:off x="83316241"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53401"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1,100~3,000만</a:t>
            </a:r>
          </a:p>
          <a:p>
            <a:pPr algn="ctr">
              <a:spcAft>
                <a:spcPts val="600"/>
              </a:spcAft>
            </a:pPr>
            <a:r>
              <a:rPr sz="1360" b="1">
                <a:solidFill>
                  <a:srgbClr val="1D1D1F"/>
                </a:solidFill>
                <a:latin typeface="Pretendard"/>
              </a:rPr>
              <a:t>2100 (추정)</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생산 인구 35% 증발의 충격파</a:t>
            </a:r>
          </a:p>
          <a:p>
            <a:pPr algn="ctr"/>
            <a:r>
              <a:rPr sz="3200" b="1">
                <a:solidFill>
                  <a:srgbClr val="1D1D1F"/>
                </a:solidFill>
                <a:latin typeface="Pretendard"/>
              </a:rPr>
              <a:t>2035년 고령 비중 30% 돌파가 몰고 올 잠재성장률 하방 압력</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고령 인구(65세 이상) 비중 급증</a:t>
            </a:r>
          </a:p>
          <a:p>
            <a:pPr algn="ctr">
              <a:spcAft>
                <a:spcPts val="600"/>
              </a:spcAft>
            </a:pPr>
            <a:r>
              <a:rPr sz="1800" b="1">
                <a:solidFill>
                  <a:srgbClr val="1D1D1F"/>
                </a:solidFill>
                <a:latin typeface="Pretendard"/>
              </a:rPr>
              <a:t>30%</a:t>
            </a:r>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생산가능인구(15~64세) 증발</a:t>
            </a:r>
          </a:p>
          <a:p>
            <a:pPr algn="ctr">
              <a:spcAft>
                <a:spcPts val="600"/>
              </a:spcAft>
            </a:pPr>
            <a:r>
              <a:rPr sz="1800" b="1">
                <a:solidFill>
                  <a:srgbClr val="1D1D1F"/>
                </a:solidFill>
                <a:latin typeface="Pretendard"/>
              </a:rPr>
              <a:t>📉 -35%</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3,738만</a:t>
            </a:r>
          </a:p>
          <a:p>
            <a:pPr algn="ctr">
              <a:spcAft>
                <a:spcPts val="600"/>
              </a:spcAft>
            </a:pPr>
            <a:r>
              <a:rPr sz="1360" b="1">
                <a:solidFill>
                  <a:srgbClr val="1D1D1F"/>
                </a:solidFill>
                <a:latin typeface="Pretendard"/>
              </a:rPr>
              <a:t>2020년</a:t>
            </a:r>
          </a:p>
        </p:txBody>
      </p:sp>
      <p:sp>
        <p:nvSpPr>
          <p:cNvPr id="9" name="Rounded Rectangle 8"/>
          <p:cNvSpPr/>
          <p:nvPr/>
        </p:nvSpPr>
        <p:spPr>
          <a:xfrm>
            <a:off x="896089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33%</a:t>
            </a:r>
          </a:p>
          <a:p>
            <a:pPr algn="ctr">
              <a:spcAft>
                <a:spcPts val="600"/>
              </a:spcAft>
            </a:pPr>
            <a:r>
              <a:rPr sz="1360" b="1">
                <a:solidFill>
                  <a:srgbClr val="1D1D1F"/>
                </a:solidFill>
                <a:latin typeface="Pretendard"/>
              </a:rPr>
              <a:t>2040</a:t>
            </a:r>
          </a:p>
          <a:p>
            <a:pPr algn="l">
              <a:spcAft>
                <a:spcPts val="600"/>
              </a:spcAft>
            </a:pPr>
            <a:r>
              <a:rPr sz="1700" b="1">
                <a:solidFill>
                  <a:srgbClr val="1D1D1F"/>
                </a:solidFill>
                <a:latin typeface="Pretendard"/>
              </a:rPr>
              <a:t>▪ 65세 이상 고령자 비중은 2025년 20%로 초고령사회 진입 후 2035년 30%를 돌파 전망</a:t>
            </a:r>
          </a:p>
          <a:p>
            <a:pPr algn="l">
              <a:spcAft>
                <a:spcPts val="600"/>
              </a:spcAft>
            </a:pPr>
            <a:r>
              <a:rPr sz="1700" b="1">
                <a:solidFill>
                  <a:srgbClr val="1D1D1F"/>
                </a:solidFill>
                <a:latin typeface="Pretendard"/>
              </a:rPr>
              <a:t>▪ 생산가능인구(15~64세)는 2020년 3,738만 명에서 2050년 2,419만 명으로 약 35% 증발</a:t>
            </a:r>
          </a:p>
          <a:p>
            <a:pPr algn="l">
              <a:spcAft>
                <a:spcPts val="600"/>
              </a:spcAft>
            </a:pPr>
            <a:r>
              <a:rPr sz="1700" b="1">
                <a:solidFill>
                  <a:srgbClr val="1D1D1F"/>
                </a:solidFill>
                <a:latin typeface="Pretendard"/>
              </a:rPr>
              <a:t>▪ 극단적인 부양비 증가와 노동력 부족으로 거시 경제의 잠재성장률 하방 압력 가중</a:t>
            </a:r>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2,419만</a:t>
            </a:r>
          </a:p>
          <a:p>
            <a:pPr algn="ctr">
              <a:spcAft>
                <a:spcPts val="600"/>
              </a:spcAft>
            </a:pPr>
            <a:r>
              <a:rPr sz="1360" b="1">
                <a:solidFill>
                  <a:srgbClr val="1D1D1F"/>
                </a:solidFill>
                <a:latin typeface="Pretendard"/>
              </a:rPr>
              <a:t>2050년</a:t>
            </a:r>
          </a:p>
        </p:txBody>
      </p:sp>
      <p:sp>
        <p:nvSpPr>
          <p:cNvPr id="13" name="Rounded Rectangle 12"/>
          <p:cNvSpPr/>
          <p:nvPr/>
        </p:nvSpPr>
        <p:spPr>
          <a:xfrm>
            <a:off x="3596563"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448056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2035</a:t>
            </a:r>
          </a:p>
        </p:txBody>
      </p:sp>
      <p:sp>
        <p:nvSpPr>
          <p:cNvPr id="15" name="Rounded Rectangle 14"/>
          <p:cNvSpPr/>
          <p:nvPr/>
        </p:nvSpPr>
        <p:spPr>
          <a:xfrm>
            <a:off x="627872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448056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20%</a:t>
            </a:r>
          </a:p>
          <a:p>
            <a:pPr algn="ctr">
              <a:spcAft>
                <a:spcPts val="600"/>
              </a:spcAft>
            </a:pPr>
            <a:r>
              <a:rPr sz="1360" b="1">
                <a:solidFill>
                  <a:srgbClr val="1D1D1F"/>
                </a:solidFill>
                <a:latin typeface="Pretendard"/>
              </a:rPr>
              <a:t>2025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인구 역설이 창출할 자본의 대이동</a:t>
            </a:r>
          </a:p>
          <a:p>
            <a:pPr algn="ctr"/>
            <a:r>
              <a:rPr sz="3200" b="1">
                <a:solidFill>
                  <a:srgbClr val="1D1D1F"/>
                </a:solidFill>
                <a:latin typeface="Pretendard"/>
              </a:rPr>
              <a:t>가계 자산의 유동화가 열어젖힐 자산운용 및 시니어 하우징 수요의 빅뱅</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자산운용 산업으로의 폭발적 자본 이전</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인구 감소의 역설</a:t>
            </a:r>
          </a:p>
          <a:p>
            <a:pPr algn="ctr">
              <a:spcAft>
                <a:spcPts val="600"/>
              </a:spcAft>
            </a:pPr>
            <a:r>
              <a:rPr sz="1800" b="1">
                <a:solidFill>
                  <a:srgbClr val="1D1D1F"/>
                </a:solidFill>
                <a:latin typeface="Pretendard"/>
              </a:rPr>
              <a:t>가계 자산의 대규모 유동화</a:t>
            </a:r>
          </a:p>
          <a:p>
            <a:pPr algn="ctr">
              <a:spcAft>
                <a:spcPts val="600"/>
              </a:spcAft>
            </a:pPr>
            <a:r>
              <a:rPr sz="1360">
                <a:solidFill>
                  <a:srgbClr val="1D1D1F"/>
                </a:solidFill>
                <a:latin typeface="Pretendard"/>
              </a:rPr>
              <a:t>부동산 및 금융 자산 처분 가속</a:t>
            </a:r>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l">
              <a:spcAft>
                <a:spcPts val="600"/>
              </a:spcAft>
            </a:pPr>
            <a:r>
              <a:rPr sz="1700" b="1">
                <a:solidFill>
                  <a:srgbClr val="1D1D1F"/>
                </a:solidFill>
                <a:latin typeface="Pretendard"/>
              </a:rPr>
              <a:t>▪ 거시 양면성: 노동력 부족이라는 부정 효과와 시니어 하우징 등 신규 시장 창출 효과 병존</a:t>
            </a:r>
          </a:p>
          <a:p>
            <a:pPr algn="l">
              <a:spcAft>
                <a:spcPts val="600"/>
              </a:spcAft>
            </a:pPr>
            <a:r>
              <a:rPr sz="1700" b="1">
                <a:solidFill>
                  <a:srgbClr val="1D1D1F"/>
                </a:solidFill>
                <a:latin typeface="Pretendard"/>
              </a:rPr>
              <a:t>▪ 가계의 부동산·금융 자산 처분이 자산운용 산업으로 이전되며 거대한 자본 대이동 발생</a:t>
            </a:r>
          </a:p>
          <a:p>
            <a:pPr algn="l">
              <a:spcAft>
                <a:spcPts val="600"/>
              </a:spcAft>
            </a:pPr>
            <a:r>
              <a:rPr sz="1700" b="1">
                <a:solidFill>
                  <a:srgbClr val="1D1D1F"/>
                </a:solidFill>
                <a:latin typeface="Pretendard"/>
              </a:rPr>
              <a:t>▪ 일본이 잃어버린 30년에도 자산운용·시니어 케어·인바운드 관광에서 새 시장을 만들어낸 패턴과 유사</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시니어 하우징 및 헬스케어 수요 빅뱅</a:t>
            </a:r>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 글로벌 벤치마크: 일본 '잃어버린 30년'의 신규 시장 패턴과 유사</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이민자 수용 및 AI로 방어하는 펀더멘털</a:t>
            </a:r>
          </a:p>
          <a:p>
            <a:pPr algn="ctr"/>
            <a:r>
              <a:rPr sz="3200" b="1">
                <a:solidFill>
                  <a:srgbClr val="1D1D1F"/>
                </a:solidFill>
                <a:latin typeface="Pretendard"/>
              </a:rPr>
              <a:t>외국인 10% 비중 확대와 기술적 생산성 상쇄를 통한 거시 연착륙 전략</a:t>
            </a:r>
          </a:p>
        </p:txBody>
      </p:sp>
      <p:sp>
        <p:nvSpPr>
          <p:cNvPr id="3" name="Rounded Rectangle 2"/>
          <p:cNvSpPr/>
          <p:nvPr/>
        </p:nvSpPr>
        <p:spPr>
          <a:xfrm>
            <a:off x="914400"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Strategy 01. 이민자 수용 확대</a:t>
            </a:r>
          </a:p>
          <a:p>
            <a:pPr algn="ctr">
              <a:spcAft>
                <a:spcPts val="600"/>
              </a:spcAft>
            </a:pPr>
            <a:r>
              <a:rPr sz="1800" b="1">
                <a:solidFill>
                  <a:srgbClr val="1D1D1F"/>
                </a:solidFill>
                <a:latin typeface="Pretendard"/>
              </a:rPr>
              <a:t>4.5% → 10%</a:t>
            </a:r>
          </a:p>
          <a:p>
            <a:pPr algn="ctr">
              <a:spcAft>
                <a:spcPts val="600"/>
              </a:spcAft>
            </a:pPr>
            <a:r>
              <a:rPr sz="1530" b="1">
                <a:solidFill>
                  <a:srgbClr val="1D1D1F"/>
                </a:solidFill>
                <a:latin typeface="Pretendard"/>
              </a:rPr>
              <a:t>2040년 목표 (싱가포르 모델 차용)</a:t>
            </a:r>
          </a:p>
        </p:txBody>
      </p:sp>
      <p:sp>
        <p:nvSpPr>
          <p:cNvPr id="5" name="Rounded Rectangle 4"/>
          <p:cNvSpPr/>
          <p:nvPr/>
        </p:nvSpPr>
        <p:spPr>
          <a:xfrm>
            <a:off x="3596563"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Strategy 02. AI 기술 상쇄</a:t>
            </a:r>
          </a:p>
          <a:p>
            <a:pPr algn="ctr">
              <a:spcAft>
                <a:spcPts val="600"/>
              </a:spcAft>
            </a:pPr>
            <a:r>
              <a:rPr sz="1800" b="1">
                <a:solidFill>
                  <a:srgbClr val="1D1D1F"/>
                </a:solidFill>
                <a:latin typeface="Pretendard"/>
              </a:rPr>
              <a:t>0.5~1.0%p</a:t>
            </a:r>
          </a:p>
          <a:p>
            <a:pPr algn="ctr">
              <a:spcAft>
                <a:spcPts val="600"/>
              </a:spcAft>
            </a:pPr>
            <a:r>
              <a:rPr sz="1530" b="1">
                <a:solidFill>
                  <a:srgbClr val="1D1D1F"/>
                </a:solidFill>
                <a:latin typeface="Pretendard"/>
              </a:rPr>
              <a:t>생산성 향상을 통한 경제 방어 효과</a:t>
            </a:r>
          </a:p>
        </p:txBody>
      </p:sp>
      <p:sp>
        <p:nvSpPr>
          <p:cNvPr id="7" name="Rounded Rectangle 6"/>
          <p:cNvSpPr/>
          <p:nvPr/>
        </p:nvSpPr>
        <p:spPr>
          <a:xfrm>
            <a:off x="6278727"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3749040"/>
          </a:xfrm>
          <a:prstGeom prst="rect">
            <a:avLst/>
          </a:prstGeom>
          <a:noFill/>
        </p:spPr>
        <p:txBody>
          <a:bodyPr wrap="square" lIns="0" rIns="0" tIns="0" bIns="0">
            <a:spAutoFit/>
          </a:bodyPr>
          <a:lstStyle/>
          <a:p/>
        </p:txBody>
      </p:sp>
      <p:sp>
        <p:nvSpPr>
          <p:cNvPr id="9" name="Rounded Rectangle 8"/>
          <p:cNvSpPr/>
          <p:nvPr/>
        </p:nvSpPr>
        <p:spPr>
          <a:xfrm>
            <a:off x="8960891"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잠재성장률 하방 압력을 방어하기 위한 2대 핵심 전략</a:t>
            </a:r>
          </a:p>
          <a:p>
            <a:pPr algn="l">
              <a:spcAft>
                <a:spcPts val="600"/>
              </a:spcAft>
            </a:pPr>
            <a:r>
              <a:rPr sz="1700" b="1">
                <a:solidFill>
                  <a:srgbClr val="1D1D1F"/>
                </a:solidFill>
                <a:latin typeface="Pretendard"/>
              </a:rPr>
              <a:t>▪ 한국 이민자 비중은 약 4.5% 수준이나, Bull 시나리오는 2040년 10%까지 끌어올리는 정책 전환을 전제</a:t>
            </a:r>
          </a:p>
          <a:p>
            <a:pPr algn="l">
              <a:spcAft>
                <a:spcPts val="600"/>
              </a:spcAft>
            </a:pPr>
            <a:r>
              <a:rPr sz="1700" b="1">
                <a:solidFill>
                  <a:srgbClr val="1D1D1F"/>
                </a:solidFill>
                <a:latin typeface="Pretendard"/>
              </a:rPr>
              <a:t>▪ 이는 싱가포르 모델(외국인 비중 30%+)을 부분 차용하여 노동력 감소를 적극 방어하는 전략</a:t>
            </a:r>
          </a:p>
          <a:p>
            <a:pPr algn="l">
              <a:spcAft>
                <a:spcPts val="600"/>
              </a:spcAft>
            </a:pPr>
            <a:r>
              <a:rPr sz="1700" b="1">
                <a:solidFill>
                  <a:srgbClr val="1D1D1F"/>
                </a:solidFill>
                <a:latin typeface="Pretendard"/>
              </a:rPr>
              <a:t>▪ AI 기술 도입(BCG·McKinsey 보고서)으로 인한 생산성 향상이 인구 감소 효과를 최대 1.0%p 상쇄 가능</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4.</a:t>
            </a:r>
          </a:p>
          <a:p>
            <a:pPr algn="ctr">
              <a:spcAft>
                <a:spcPts val="1400"/>
              </a:spcAft>
            </a:pPr>
            <a:r>
              <a:rPr sz="2400" b="1">
                <a:solidFill>
                  <a:srgbClr val="FFFFFF"/>
                </a:solidFill>
                <a:latin typeface="Pretendard"/>
              </a:rPr>
              <a:t>서울 오피스 시장 2030~2040 전망</a:t>
            </a:r>
            <a:r>
              <a:rPr sz="2400" b="1">
                <a:solidFill>
                  <a:srgbClr val="FFFFFF"/>
                </a:solidFill>
                <a:latin typeface="Pretendard"/>
              </a:rPr>
              <a:t>서울 오피스 시장 2030~2040 전망</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7축 메가 권역으로의 팽창</a:t>
            </a:r>
          </a:p>
          <a:p>
            <a:pPr algn="ctr"/>
            <a:r>
              <a:rPr sz="3200" b="1">
                <a:solidFill>
                  <a:srgbClr val="1D1D1F"/>
                </a:solidFill>
                <a:latin typeface="Pretendard"/>
              </a:rPr>
              <a:t>YSBD(용산/서울역)와 KBD(삼성/잠실)가 주도하는 권역 지도의 재편</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YSBD (용산·서울역)</a:t>
            </a:r>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진화된 7축 메가 권역</a:t>
            </a:r>
          </a:p>
          <a:p>
            <a:pPr algn="ctr">
              <a:spcAft>
                <a:spcPts val="600"/>
              </a:spcAft>
            </a:pPr>
            <a:r>
              <a:rPr sz="1200" b="1">
                <a:solidFill>
                  <a:srgbClr val="1D1D1F"/>
                </a:solidFill>
                <a:latin typeface="Pretendard"/>
              </a:rPr>
              <a:t>신규 메가 거점 편입</a:t>
            </a:r>
          </a:p>
        </p:txBody>
      </p:sp>
      <p:sp>
        <p:nvSpPr>
          <p:cNvPr id="9" name="Rounded Rectangle 8"/>
          <p:cNvSpPr/>
          <p:nvPr/>
        </p:nvSpPr>
        <p:spPr>
          <a:xfrm>
            <a:off x="8960891"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a:t>
            </a:r>
          </a:p>
          <a:p>
            <a:pPr algn="ctr">
              <a:spcAft>
                <a:spcPts val="600"/>
              </a:spcAft>
            </a:pPr>
            <a:r>
              <a:rPr sz="1800" b="1">
                <a:solidFill>
                  <a:srgbClr val="1D1D1F"/>
                </a:solidFill>
                <a:latin typeface="Pretendard"/>
              </a:rPr>
              <a:t>KBD (삼성·잠실)</a:t>
            </a:r>
          </a:p>
          <a:p>
            <a:pPr algn="ctr">
              <a:spcAft>
                <a:spcPts val="600"/>
              </a:spcAft>
            </a:pPr>
            <a:r>
              <a:rPr sz="1700" b="1">
                <a:solidFill>
                  <a:srgbClr val="1D1D1F"/>
                </a:solidFill>
                <a:latin typeface="Pretendard"/>
              </a:rPr>
              <a:t>+ 기존 5축 권역 병존</a:t>
            </a:r>
          </a:p>
        </p:txBody>
      </p:sp>
      <p:sp>
        <p:nvSpPr>
          <p:cNvPr id="11" name="Rounded Rectangle 10"/>
          <p:cNvSpPr/>
          <p:nvPr/>
        </p:nvSpPr>
        <p:spPr>
          <a:xfrm>
            <a:off x="914400"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CBD</a:t>
            </a:r>
          </a:p>
        </p:txBody>
      </p:sp>
      <p:sp>
        <p:nvSpPr>
          <p:cNvPr id="13" name="Rounded Rectangle 12"/>
          <p:cNvSpPr/>
          <p:nvPr/>
        </p:nvSpPr>
        <p:spPr>
          <a:xfrm>
            <a:off x="3596563"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76428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기존 5축 권역 구조</a:t>
            </a:r>
          </a:p>
          <a:p>
            <a:pPr algn="ctr">
              <a:spcAft>
                <a:spcPts val="600"/>
              </a:spcAft>
            </a:pPr>
            <a:r>
              <a:rPr sz="1800" b="1">
                <a:solidFill>
                  <a:srgbClr val="1D1D1F"/>
                </a:solidFill>
                <a:latin typeface="Pretendard"/>
              </a:rPr>
              <a:t>GBD</a:t>
            </a:r>
          </a:p>
        </p:txBody>
      </p:sp>
      <p:sp>
        <p:nvSpPr>
          <p:cNvPr id="15" name="Rounded Rectangle 14"/>
          <p:cNvSpPr/>
          <p:nvPr/>
        </p:nvSpPr>
        <p:spPr>
          <a:xfrm>
            <a:off x="627872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76428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YBD</a:t>
            </a:r>
            <a:r>
              <a:t>           </a:t>
            </a:r>
            <a:r>
              <a:rPr sz="1800" b="1">
                <a:solidFill>
                  <a:srgbClr val="1D1D1F"/>
                </a:solidFill>
                <a:latin typeface="Pretendard"/>
              </a:rPr>
              <a:t>→</a:t>
            </a:r>
          </a:p>
        </p:txBody>
      </p:sp>
      <p:sp>
        <p:nvSpPr>
          <p:cNvPr id="17" name="Rounded Rectangle 16"/>
          <p:cNvSpPr/>
          <p:nvPr/>
        </p:nvSpPr>
        <p:spPr>
          <a:xfrm>
            <a:off x="311201523"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1338683" y="3764280"/>
            <a:ext cx="2042083" cy="88392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MBD (마곡)</a:t>
            </a:r>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BBD (분당·판교)</a:t>
            </a:r>
          </a:p>
          <a:p>
            <a:pPr algn="l">
              <a:spcAft>
                <a:spcPts val="600"/>
              </a:spcAft>
            </a:pPr>
            <a:r>
              <a:rPr sz="1700" b="1">
                <a:solidFill>
                  <a:srgbClr val="1D1D1F"/>
                </a:solidFill>
                <a:latin typeface="Pretendard"/>
              </a:rPr>
              <a:t>▪ 향후 15년간 가장 큰 구조 변화는 YSBD(용산역 + 서울역 IOTA 일대) 신규 권역의 등장과 GBD 동쪽 확장(GBC·잠실MICE·환승센터)임</a:t>
            </a:r>
          </a:p>
          <a:p>
            <a:pPr algn="l">
              <a:spcAft>
                <a:spcPts val="600"/>
              </a:spcAft>
            </a:pPr>
            <a:r>
              <a:rPr sz="1700" b="1">
                <a:solidFill>
                  <a:srgbClr val="1D1D1F"/>
                </a:solidFill>
                <a:latin typeface="Pretendard"/>
              </a:rPr>
              <a:t>▪ 기존 3대 핵심축(CBD, GBD, YBD)과 2대 확장축(MBD, BBD)에 2개의 신규 초대형 거점이 편입되며 7축 구조로 진화</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BASE 시나리오 임대료 전망</a:t>
            </a:r>
          </a:p>
          <a:p>
            <a:pPr algn="ctr"/>
            <a:r>
              <a:rPr sz="3200" b="1">
                <a:solidFill>
                  <a:srgbClr val="1D1D1F"/>
                </a:solidFill>
                <a:latin typeface="Pretendard"/>
              </a:rPr>
              <a:t>2040년 평당 34만 원을 돌파할 신규 트로피 자산(IOTA·GBC)의 프라이싱</a:t>
            </a:r>
          </a:p>
        </p:txBody>
      </p:sp>
      <p:sp>
        <p:nvSpPr>
          <p:cNvPr id="3" name="Rounded Rectangle 2"/>
          <p:cNvSpPr/>
          <p:nvPr/>
        </p:nvSpPr>
        <p:spPr>
          <a:xfrm>
            <a:off x="914400" y="2194560"/>
            <a:ext cx="2316403" cy="80010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52578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2030년</a:t>
            </a:r>
          </a:p>
        </p:txBody>
      </p:sp>
      <p:sp>
        <p:nvSpPr>
          <p:cNvPr id="5" name="Rounded Rectangle 4"/>
          <p:cNvSpPr/>
          <p:nvPr/>
        </p:nvSpPr>
        <p:spPr>
          <a:xfrm>
            <a:off x="3596563" y="2194560"/>
            <a:ext cx="2316403" cy="80010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52578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2035년</a:t>
            </a:r>
          </a:p>
        </p:txBody>
      </p:sp>
      <p:sp>
        <p:nvSpPr>
          <p:cNvPr id="7" name="Rounded Rectangle 6"/>
          <p:cNvSpPr/>
          <p:nvPr/>
        </p:nvSpPr>
        <p:spPr>
          <a:xfrm>
            <a:off x="6278727" y="2194560"/>
            <a:ext cx="2316403" cy="80010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52578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2040년</a:t>
            </a:r>
          </a:p>
        </p:txBody>
      </p:sp>
      <p:sp>
        <p:nvSpPr>
          <p:cNvPr id="9" name="Rounded Rectangle 8"/>
          <p:cNvSpPr/>
          <p:nvPr/>
        </p:nvSpPr>
        <p:spPr>
          <a:xfrm>
            <a:off x="8960891" y="219456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52578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CBD 프라임 평균</a:t>
            </a:r>
          </a:p>
        </p:txBody>
      </p:sp>
      <p:sp>
        <p:nvSpPr>
          <p:cNvPr id="11" name="Rounded Rectangle 10"/>
          <p:cNvSpPr/>
          <p:nvPr/>
        </p:nvSpPr>
        <p:spPr>
          <a:xfrm>
            <a:off x="914400" y="326898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406140"/>
            <a:ext cx="2042083" cy="52578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17~18 만 원</a:t>
            </a:r>
          </a:p>
        </p:txBody>
      </p:sp>
      <p:sp>
        <p:nvSpPr>
          <p:cNvPr id="13" name="Rounded Rectangle 12"/>
          <p:cNvSpPr/>
          <p:nvPr/>
        </p:nvSpPr>
        <p:spPr>
          <a:xfrm>
            <a:off x="3596563" y="326898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406140"/>
            <a:ext cx="2042083" cy="52578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21~23 만 원</a:t>
            </a:r>
          </a:p>
        </p:txBody>
      </p:sp>
      <p:sp>
        <p:nvSpPr>
          <p:cNvPr id="15" name="Rounded Rectangle 14"/>
          <p:cNvSpPr/>
          <p:nvPr/>
        </p:nvSpPr>
        <p:spPr>
          <a:xfrm>
            <a:off x="6278727" y="326898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406140"/>
            <a:ext cx="2042083" cy="52578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25~28 만 원</a:t>
            </a:r>
          </a:p>
        </p:txBody>
      </p:sp>
      <p:sp>
        <p:nvSpPr>
          <p:cNvPr id="17" name="Rounded Rectangle 16"/>
          <p:cNvSpPr/>
          <p:nvPr/>
        </p:nvSpPr>
        <p:spPr>
          <a:xfrm>
            <a:off x="8960891" y="326898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406140"/>
            <a:ext cx="2042083" cy="52578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GBD 프라임 평균</a:t>
            </a:r>
          </a:p>
        </p:txBody>
      </p:sp>
      <p:sp>
        <p:nvSpPr>
          <p:cNvPr id="19" name="Rounded Rectangle 18"/>
          <p:cNvSpPr/>
          <p:nvPr/>
        </p:nvSpPr>
        <p:spPr>
          <a:xfrm>
            <a:off x="914400" y="434340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480560"/>
            <a:ext cx="2042083" cy="52578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18~20 만 원</a:t>
            </a:r>
          </a:p>
        </p:txBody>
      </p:sp>
      <p:sp>
        <p:nvSpPr>
          <p:cNvPr id="21" name="Rounded Rectangle 20"/>
          <p:cNvSpPr/>
          <p:nvPr/>
        </p:nvSpPr>
        <p:spPr>
          <a:xfrm>
            <a:off x="3596563" y="434340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33723" y="4480560"/>
            <a:ext cx="2042083" cy="52578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30~34 만 원</a:t>
            </a:r>
          </a:p>
        </p:txBody>
      </p:sp>
      <p:sp>
        <p:nvSpPr>
          <p:cNvPr id="23" name="Rounded Rectangle 22"/>
          <p:cNvSpPr/>
          <p:nvPr/>
        </p:nvSpPr>
        <p:spPr>
          <a:xfrm>
            <a:off x="6278727" y="434340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5887" y="4480560"/>
            <a:ext cx="2042083" cy="52578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24~27 만 원</a:t>
            </a:r>
          </a:p>
        </p:txBody>
      </p:sp>
      <p:sp>
        <p:nvSpPr>
          <p:cNvPr id="25" name="Rounded Rectangle 24"/>
          <p:cNvSpPr/>
          <p:nvPr/>
        </p:nvSpPr>
        <p:spPr>
          <a:xfrm>
            <a:off x="8960891" y="434340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051" y="4480560"/>
            <a:ext cx="2042083" cy="52578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IOTA 서울 트로피 오피스</a:t>
            </a:r>
          </a:p>
        </p:txBody>
      </p:sp>
      <p:sp>
        <p:nvSpPr>
          <p:cNvPr id="27" name="Rounded Rectangle 26"/>
          <p:cNvSpPr/>
          <p:nvPr/>
        </p:nvSpPr>
        <p:spPr>
          <a:xfrm>
            <a:off x="914400" y="541782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554980"/>
            <a:ext cx="2042083" cy="52578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USD 130~160 /sqft/yr</a:t>
            </a:r>
          </a:p>
          <a:p>
            <a:pPr algn="l">
              <a:spcAft>
                <a:spcPts val="600"/>
              </a:spcAft>
            </a:pPr>
            <a:r>
              <a:rPr sz="1700" b="1">
                <a:solidFill>
                  <a:srgbClr val="1D1D1F"/>
                </a:solidFill>
                <a:latin typeface="Pretendard"/>
              </a:rPr>
              <a:t>▪ CBD 프라임은 2030년 약 17~18만 원에서 2040년 25~28만 원으로 상승 전망</a:t>
            </a:r>
          </a:p>
          <a:p>
            <a:pPr algn="l">
              <a:spcAft>
                <a:spcPts val="600"/>
              </a:spcAft>
            </a:pPr>
            <a:r>
              <a:rPr sz="1700" b="1">
                <a:solidFill>
                  <a:srgbClr val="1D1D1F"/>
                </a:solidFill>
                <a:latin typeface="Pretendard"/>
              </a:rPr>
              <a:t>▪ GBD 프라임은 2030년 약 18~20만 원에서 2040년 30~34만 원까지 수직 상승 전망</a:t>
            </a:r>
          </a:p>
          <a:p>
            <a:pPr algn="l">
              <a:spcAft>
                <a:spcPts val="600"/>
              </a:spcAft>
            </a:pPr>
            <a:r>
              <a:rPr sz="1700" b="1">
                <a:solidFill>
                  <a:srgbClr val="1D1D1F"/>
                </a:solidFill>
                <a:latin typeface="Pretendard"/>
              </a:rPr>
              <a:t>▪ IOTA 및 GBC 등 신규 트로피 자산은 도쿄 마루노우치(USD 200/sqft) 대비 65~80% 수준으로 수렴하며 압도적 프라이싱 형성</a:t>
            </a:r>
          </a:p>
        </p:txBody>
      </p:sp>
      <p:sp>
        <p:nvSpPr>
          <p:cNvPr id="29" name="Rounded Rectangle 28"/>
          <p:cNvSpPr/>
          <p:nvPr/>
        </p:nvSpPr>
        <p:spPr>
          <a:xfrm>
            <a:off x="3596563" y="541782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33723" y="5554980"/>
            <a:ext cx="2042083" cy="52578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23~26 만 원</a:t>
            </a:r>
          </a:p>
        </p:txBody>
      </p:sp>
      <p:sp>
        <p:nvSpPr>
          <p:cNvPr id="31" name="Rounded Rectangle 30"/>
          <p:cNvSpPr/>
          <p:nvPr/>
        </p:nvSpPr>
        <p:spPr>
          <a:xfrm>
            <a:off x="6278727" y="541782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15887" y="5554980"/>
            <a:ext cx="2042083" cy="52578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도쿄 수준의 65~80%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BULL 시나리오의 도쿄 마루노우치 수렴</a:t>
            </a:r>
          </a:p>
          <a:p>
            <a:pPr algn="ctr"/>
            <a:r>
              <a:rPr sz="3200" b="1">
                <a:solidFill>
                  <a:srgbClr val="1D1D1F"/>
                </a:solidFill>
                <a:latin typeface="Pretendard"/>
              </a:rPr>
              <a:t>평당 50만 원 시대, 글로벌 1선 도시의 핵심부와 어깨를 나란히 하다</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IOTA·GBC 신규 트로피 자산</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글로벌 최고 수준 핵심 권역</a:t>
            </a:r>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ctr">
              <a:spcAft>
                <a:spcPts val="600"/>
              </a:spcAft>
            </a:pPr>
            <a:r>
              <a:rPr sz="1800" b="1">
                <a:solidFill>
                  <a:srgbClr val="1E3A8A"/>
                </a:solidFill>
                <a:latin typeface="Pretendard"/>
              </a:rPr>
              <a:t>50</a:t>
            </a:r>
          </a:p>
          <a:p>
            <a:pPr algn="ctr">
              <a:spcAft>
                <a:spcPts val="600"/>
              </a:spcAft>
            </a:pPr>
            <a:r>
              <a:rPr sz="1800" b="1">
                <a:solidFill>
                  <a:srgbClr val="1D1D1F"/>
                </a:solidFill>
                <a:latin typeface="Pretendard"/>
              </a:rPr>
              <a:t>만 원</a:t>
            </a:r>
            <a:r>
              <a:t>                   </a:t>
            </a:r>
            <a:r>
              <a:rPr sz="1800" b="1">
                <a:solidFill>
                  <a:srgbClr val="1D1D1F"/>
                </a:solidFill>
                <a:latin typeface="Pretendard"/>
              </a:rPr>
              <a:t>≒</a:t>
            </a:r>
          </a:p>
          <a:p>
            <a:pPr algn="ctr">
              <a:spcAft>
                <a:spcPts val="600"/>
              </a:spcAft>
            </a:pPr>
            <a:r>
              <a:rPr sz="1530" b="1">
                <a:solidFill>
                  <a:srgbClr val="1D1D1F"/>
                </a:solidFill>
                <a:latin typeface="Pretendard"/>
              </a:rPr>
              <a:t>/ 평·월</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도쿄 마루노우치</a:t>
            </a:r>
          </a:p>
          <a:p>
            <a:pPr algn="ctr">
              <a:spcAft>
                <a:spcPts val="600"/>
              </a:spcAft>
            </a:pPr>
            <a:r>
              <a:rPr sz="1700" b="1">
                <a:solidFill>
                  <a:srgbClr val="1D1D1F"/>
                </a:solidFill>
                <a:latin typeface="Pretendard"/>
              </a:rPr>
              <a:t>글로벌 1선 도시 코어 오피스와의 임대료 디커플링(Decoupling) 완전 해소</a:t>
            </a:r>
          </a:p>
        </p:txBody>
      </p:sp>
      <p:sp>
        <p:nvSpPr>
          <p:cNvPr id="11" name="Rounded Rectangle 10"/>
          <p:cNvSpPr/>
          <p:nvPr/>
        </p:nvSpPr>
        <p:spPr>
          <a:xfrm>
            <a:off x="17871810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8855268"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환산 시 USD 200/sqft 돌파</a:t>
            </a:r>
          </a:p>
          <a:p>
            <a:pPr algn="l">
              <a:spcAft>
                <a:spcPts val="600"/>
              </a:spcAft>
            </a:pPr>
            <a:r>
              <a:rPr sz="1700" b="1">
                <a:solidFill>
                  <a:srgbClr val="1D1D1F"/>
                </a:solidFill>
                <a:latin typeface="Pretendard"/>
              </a:rPr>
              <a:t>▪ 가장 낙관적인 Bull 시나리오 발동 시, GBD 프라임은 2040년 38~42만 원 수준 도달 전망</a:t>
            </a:r>
          </a:p>
          <a:p>
            <a:pPr algn="l">
              <a:spcAft>
                <a:spcPts val="600"/>
              </a:spcAft>
            </a:pPr>
            <a:r>
              <a:rPr sz="1700" b="1">
                <a:solidFill>
                  <a:srgbClr val="1D1D1F"/>
                </a:solidFill>
                <a:latin typeface="Pretendard"/>
              </a:rPr>
              <a:t>▪ IOTA 및 GBC 트로피 자산은 2035년 35만 원을 거쳐 2040년 45~50만 원/평·월 시대 개막</a:t>
            </a:r>
          </a:p>
          <a:p>
            <a:pPr algn="l">
              <a:spcAft>
                <a:spcPts val="600"/>
              </a:spcAft>
            </a:pPr>
            <a:r>
              <a:rPr sz="1700" b="1">
                <a:solidFill>
                  <a:srgbClr val="1D1D1F"/>
                </a:solidFill>
                <a:latin typeface="Pretendard"/>
              </a:rPr>
              <a:t>▪ 이는 도쿄 마루노우치 코어 오피스의 상징적 저항선인 USD 200/sqft와 완전히 수렴하는 역사적 분기점</a:t>
            </a:r>
          </a:p>
        </p:txBody>
      </p:sp>
      <p:sp>
        <p:nvSpPr>
          <p:cNvPr id="13" name="Rectangle 12"/>
          <p:cNvSpPr/>
          <p:nvPr/>
        </p:nvSpPr>
        <p:spPr>
          <a:xfrm>
            <a:off x="914400" y="4138195"/>
            <a:ext cx="10362895" cy="12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극단적 양극화를 방어하는 트로피 자산</a:t>
            </a:r>
          </a:p>
          <a:p>
            <a:pPr algn="ctr"/>
            <a:r>
              <a:rPr sz="3200" b="1">
                <a:solidFill>
                  <a:srgbClr val="1D1D1F"/>
                </a:solidFill>
                <a:latin typeface="Pretendard"/>
              </a:rPr>
              <a:t>Bear 국면에서도 프리미엄을 사수할 신규 랜드마크의 탁월한 자산 방어력</a:t>
            </a:r>
          </a:p>
        </p:txBody>
      </p:sp>
      <p:sp>
        <p:nvSpPr>
          <p:cNvPr id="3" name="Rounded Rectangle 2"/>
          <p:cNvSpPr/>
          <p:nvPr/>
        </p:nvSpPr>
        <p:spPr>
          <a:xfrm>
            <a:off x="914400"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2030년 정점 이후 인구·기업 통폐합 쇼크 (BEAR SCENARIO)</a:t>
            </a:r>
          </a:p>
        </p:txBody>
      </p:sp>
      <p:sp>
        <p:nvSpPr>
          <p:cNvPr id="5" name="Rounded Rectangle 4"/>
          <p:cNvSpPr/>
          <p:nvPr/>
        </p:nvSpPr>
        <p:spPr>
          <a:xfrm>
            <a:off x="3596563"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374904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SAFE HAVEN</a:t>
            </a:r>
          </a:p>
          <a:p>
            <a:pPr algn="ctr">
              <a:spcAft>
                <a:spcPts val="600"/>
              </a:spcAft>
            </a:pPr>
            <a:r>
              <a:rPr sz="1800">
                <a:solidFill>
                  <a:srgbClr val="1D1D1F"/>
                </a:solidFill>
                <a:latin typeface="Pretendard"/>
              </a:rPr>
              <a:t>🛡️</a:t>
            </a:r>
          </a:p>
        </p:txBody>
      </p:sp>
      <p:sp>
        <p:nvSpPr>
          <p:cNvPr id="7" name="Rounded Rectangle 6"/>
          <p:cNvSpPr/>
          <p:nvPr/>
        </p:nvSpPr>
        <p:spPr>
          <a:xfrm>
            <a:off x="6278727"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3749040"/>
          </a:xfrm>
          <a:prstGeom prst="rect">
            <a:avLst/>
          </a:prstGeom>
          <a:noFill/>
        </p:spPr>
        <p:txBody>
          <a:bodyPr wrap="square" lIns="0" rIns="0" tIns="0" bIns="0">
            <a:spAutoFit/>
          </a:bodyPr>
          <a:lstStyle/>
          <a:p>
            <a:pPr algn="ctr">
              <a:spcAft>
                <a:spcPts val="600"/>
              </a:spcAft>
            </a:pPr>
            <a:r>
              <a:rPr sz="1800">
                <a:solidFill>
                  <a:srgbClr val="1D1D1F"/>
                </a:solidFill>
                <a:latin typeface="Pretendard"/>
              </a:rPr>
              <a:t>📉</a:t>
            </a:r>
          </a:p>
          <a:p>
            <a:pPr algn="ctr">
              <a:spcAft>
                <a:spcPts val="600"/>
              </a:spcAft>
            </a:pPr>
            <a:r>
              <a:rPr sz="1800" b="1">
                <a:solidFill>
                  <a:srgbClr val="1D1D1F"/>
                </a:solidFill>
                <a:latin typeface="Pretendard"/>
              </a:rPr>
              <a:t>가치 약세 및 횡보</a:t>
            </a:r>
          </a:p>
          <a:p>
            <a:pPr algn="ctr">
              <a:spcAft>
                <a:spcPts val="600"/>
              </a:spcAft>
            </a:pPr>
            <a:r>
              <a:rPr sz="1700" b="1">
                <a:solidFill>
                  <a:srgbClr val="1D1D1F"/>
                </a:solidFill>
                <a:latin typeface="Pretendard"/>
              </a:rPr>
              <a:t>일반 등급 클래스(Class B) 공실 누적</a:t>
            </a:r>
          </a:p>
          <a:p>
            <a:pPr algn="ctr">
              <a:spcAft>
                <a:spcPts val="600"/>
              </a:spcAft>
            </a:pPr>
            <a:r>
              <a:rPr sz="1700" b="1">
                <a:solidFill>
                  <a:srgbClr val="1D1D1F"/>
                </a:solidFill>
                <a:latin typeface="Pretendard"/>
              </a:rPr>
              <a:t>CBD 일부 노후 자산 임대료 약세</a:t>
            </a:r>
          </a:p>
        </p:txBody>
      </p:sp>
      <p:sp>
        <p:nvSpPr>
          <p:cNvPr id="9" name="Rounded Rectangle 8"/>
          <p:cNvSpPr/>
          <p:nvPr/>
        </p:nvSpPr>
        <p:spPr>
          <a:xfrm>
            <a:off x="8960891"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절대적 방어력 (프리미엄 사수)</a:t>
            </a:r>
          </a:p>
          <a:p>
            <a:pPr algn="ctr">
              <a:spcAft>
                <a:spcPts val="600"/>
              </a:spcAft>
            </a:pPr>
            <a:r>
              <a:rPr sz="1800" b="1">
                <a:solidFill>
                  <a:srgbClr val="1D1D1F"/>
                </a:solidFill>
                <a:latin typeface="Pretendard"/>
              </a:rPr>
              <a:t>IOTA · GBC 신규 트로피 자산</a:t>
            </a:r>
          </a:p>
          <a:p>
            <a:pPr algn="ctr">
              <a:spcAft>
                <a:spcPts val="600"/>
              </a:spcAft>
            </a:pPr>
            <a:r>
              <a:rPr sz="1530" b="1">
                <a:solidFill>
                  <a:srgbClr val="1D1D1F"/>
                </a:solidFill>
                <a:latin typeface="Pretendard"/>
              </a:rPr>
              <a:t>거시 하방 충격에도 GBD·삼성동 코어 수요 집중으로 견고한 가격 유지</a:t>
            </a:r>
          </a:p>
          <a:p>
            <a:pPr algn="l">
              <a:spcAft>
                <a:spcPts val="600"/>
              </a:spcAft>
            </a:pPr>
            <a:r>
              <a:rPr sz="1700" b="1">
                <a:solidFill>
                  <a:srgbClr val="1D1D1F"/>
                </a:solidFill>
                <a:latin typeface="Pretendard"/>
              </a:rPr>
              <a:t>▪ Bear 시나리오 발동 시 2030년 정점 이후 인구 및 기업 본사 통폐합으로 전체 시장 임대료 횡보세 진입</a:t>
            </a:r>
          </a:p>
          <a:p>
            <a:pPr algn="l">
              <a:spcAft>
                <a:spcPts val="600"/>
              </a:spcAft>
            </a:pPr>
            <a:r>
              <a:rPr sz="1700" b="1">
                <a:solidFill>
                  <a:srgbClr val="1D1D1F"/>
                </a:solidFill>
                <a:latin typeface="Pretendard"/>
              </a:rPr>
              <a:t>▪ CBD 일부 자산은 노후화와 수요 이탈로 약세를 보이며 극단적 양극화 현상 심화</a:t>
            </a:r>
          </a:p>
          <a:p>
            <a:pPr algn="l">
              <a:spcAft>
                <a:spcPts val="600"/>
              </a:spcAft>
            </a:pPr>
            <a:r>
              <a:rPr sz="1700" b="1">
                <a:solidFill>
                  <a:srgbClr val="1D1D1F"/>
                </a:solidFill>
                <a:latin typeface="Pretendard"/>
              </a:rPr>
              <a:t>▪ 반면 IOTA 등 삼성동 신규 랜드마크는 핵심 코어 자산으로서 자본의 '안전 도피처(Safe Haven)' 역할을 수행</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공실률 전망</a:t>
            </a:r>
          </a:p>
          <a:p>
            <a:pPr algn="ctr"/>
            <a:r>
              <a:rPr sz="3200" b="1">
                <a:solidFill>
                  <a:srgbClr val="1D1D1F"/>
                </a:solidFill>
                <a:latin typeface="Pretendard"/>
              </a:rPr>
              <a:t>노후 자산의 도태 속에서 오직 프라임 등급만이 향유할 4% 이내 완전 임차</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최상위 프라임 등급 (Trophy)</a:t>
            </a:r>
          </a:p>
          <a:p>
            <a:pPr algn="ctr">
              <a:spcAft>
                <a:spcPts val="600"/>
              </a:spcAft>
            </a:pPr>
            <a:r>
              <a:rPr sz="1800" b="1">
                <a:solidFill>
                  <a:srgbClr val="1D1D1F"/>
                </a:solidFill>
                <a:latin typeface="Pretendard"/>
              </a:rPr>
              <a:t>공실률 4% 이내 유지</a:t>
            </a:r>
            <a:r>
              <a:t>    </a:t>
            </a:r>
            <a:r>
              <a:rPr sz="1700" b="1">
                <a:solidFill>
                  <a:srgbClr val="1D1D1F"/>
                </a:solidFill>
                <a:latin typeface="Pretendard"/>
              </a:rPr>
              <a:t>▶ 완전 임차(Full Occupancy) 달성</a:t>
            </a:r>
          </a:p>
        </p:txBody>
      </p:sp>
      <p:sp>
        <p:nvSpPr>
          <p:cNvPr id="5" name="Rounded Rectangle 4"/>
          <p:cNvSpPr/>
          <p:nvPr/>
        </p:nvSpPr>
        <p:spPr>
          <a:xfrm>
            <a:off x="48016058"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153218" y="2331720"/>
            <a:ext cx="2936138" cy="374904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서울 권역 평균 (Base 시나리오)</a:t>
            </a:r>
          </a:p>
          <a:p>
            <a:pPr algn="ctr">
              <a:spcAft>
                <a:spcPts val="600"/>
              </a:spcAft>
            </a:pPr>
            <a:r>
              <a:rPr sz="1800" b="1">
                <a:solidFill>
                  <a:srgbClr val="1D1D1F"/>
                </a:solidFill>
                <a:latin typeface="Pretendard"/>
              </a:rPr>
              <a:t>2035년 이후 6~8% 도달</a:t>
            </a:r>
            <a:r>
              <a:t>    </a:t>
            </a:r>
            <a:r>
              <a:rPr sz="1530" b="1">
                <a:solidFill>
                  <a:srgbClr val="1D1D1F"/>
                </a:solidFill>
                <a:latin typeface="Pretendard"/>
              </a:rPr>
              <a:t>▶ 인구 감소 충격 반영 (완충 구간)</a:t>
            </a:r>
          </a:p>
        </p:txBody>
      </p:sp>
      <p:sp>
        <p:nvSpPr>
          <p:cNvPr id="7" name="Rounded Rectangle 6"/>
          <p:cNvSpPr/>
          <p:nvPr/>
        </p:nvSpPr>
        <p:spPr>
          <a:xfrm>
            <a:off x="9511771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254876" y="2331720"/>
            <a:ext cx="2936138" cy="374904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일반 오피스 &amp; 노후 자산 (Class B 이하)</a:t>
            </a:r>
          </a:p>
          <a:p>
            <a:pPr algn="ctr">
              <a:spcAft>
                <a:spcPts val="600"/>
              </a:spcAft>
            </a:pPr>
            <a:r>
              <a:rPr sz="1800" b="1">
                <a:solidFill>
                  <a:srgbClr val="1D1D1F"/>
                </a:solidFill>
                <a:latin typeface="Pretendard"/>
              </a:rPr>
              <a:t>10%+ 의미 있는 심각한 공실 발생</a:t>
            </a:r>
            <a:r>
              <a:t>     </a:t>
            </a:r>
            <a:r>
              <a:rPr sz="1530" b="1">
                <a:solidFill>
                  <a:srgbClr val="1D1D1F"/>
                </a:solidFill>
                <a:latin typeface="Pretendard"/>
              </a:rPr>
              <a:t>▶ 자산 도태 가속화 (Flight-to-Quality)</a:t>
            </a:r>
          </a:p>
          <a:p>
            <a:pPr algn="l">
              <a:spcAft>
                <a:spcPts val="600"/>
              </a:spcAft>
            </a:pPr>
            <a:r>
              <a:rPr sz="1700" b="1">
                <a:solidFill>
                  <a:srgbClr val="1D1D1F"/>
                </a:solidFill>
                <a:latin typeface="Pretendard"/>
              </a:rPr>
              <a:t>▪ 권역 평균 공실률은 Base 시 2030년 5~7%, 2035년 이후 인구 감소가 반영되며 6~8%로 상승 전망</a:t>
            </a:r>
          </a:p>
          <a:p>
            <a:pPr algn="l">
              <a:spcAft>
                <a:spcPts val="600"/>
              </a:spcAft>
            </a:pPr>
            <a:r>
              <a:rPr sz="1700" b="1">
                <a:solidFill>
                  <a:srgbClr val="1D1D1F"/>
                </a:solidFill>
                <a:latin typeface="Pretendard"/>
              </a:rPr>
              <a:t>▪ Bear 시나리오 발동 시 권역 평균 10% 이상 도달 및 Class B 이하 노후 자산의 급격한 도태 우려</a:t>
            </a:r>
          </a:p>
          <a:p>
            <a:pPr algn="l">
              <a:spcAft>
                <a:spcPts val="600"/>
              </a:spcAft>
            </a:pPr>
            <a:r>
              <a:rPr sz="1700" b="1">
                <a:solidFill>
                  <a:srgbClr val="1D1D1F"/>
                </a:solidFill>
                <a:latin typeface="Pretendard"/>
              </a:rPr>
              <a:t>▪ 그러나 프라임 등급은 'Flight-to-Quality' 쏠림 현상으로 4% 이내의 완전 임차 상태를 구조적으로 향유</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5.</a:t>
            </a:r>
          </a:p>
          <a:p>
            <a:pPr algn="ctr">
              <a:spcAft>
                <a:spcPts val="1400"/>
              </a:spcAft>
            </a:pPr>
            <a:r>
              <a:rPr sz="2400" b="1">
                <a:solidFill>
                  <a:srgbClr val="FFFFFF"/>
                </a:solidFill>
                <a:latin typeface="Pretendard"/>
              </a:rPr>
              <a:t>산업/물류 부동산 2030~2040</a:t>
            </a:r>
            <a:r>
              <a:rPr sz="2400" b="1">
                <a:solidFill>
                  <a:srgbClr val="FFFFFF"/>
                </a:solidFill>
                <a:latin typeface="Pretendard"/>
              </a:rPr>
              <a:t>산업/물류 부동산 2030~2040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데이터센터 수요 폭발과 분산화</a:t>
            </a:r>
          </a:p>
          <a:p>
            <a:pPr algn="ctr"/>
            <a:r>
              <a:rPr sz="3200" b="1">
                <a:solidFill>
                  <a:srgbClr val="1D1D1F"/>
                </a:solidFill>
                <a:latin typeface="Pretendard"/>
              </a:rPr>
              <a:t>전력인입 제약으로 지방 분산가속, 단일 부동산 카테고리로 향후 15년간 가장 큰 자본 흡수 예상</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12GW</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2040년</a:t>
            </a:r>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2035년</a:t>
            </a:r>
          </a:p>
          <a:p>
            <a:pPr algn="ctr">
              <a:spcAft>
                <a:spcPts val="600"/>
              </a:spcAft>
            </a:pPr>
            <a:r>
              <a:rPr sz="1800" b="1">
                <a:solidFill>
                  <a:srgbClr val="1D1D1F"/>
                </a:solidFill>
                <a:latin typeface="Pretendard"/>
              </a:rPr>
              <a:t>→</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한국 데이터센터 전력 수요 전망</a:t>
            </a:r>
          </a:p>
          <a:p>
            <a:pPr algn="ctr">
              <a:spcAft>
                <a:spcPts val="600"/>
              </a:spcAft>
            </a:pPr>
            <a:r>
              <a:rPr sz="1800" b="1">
                <a:solidFill>
                  <a:srgbClr val="1D1D1F"/>
                </a:solidFill>
                <a:latin typeface="Pretendard"/>
              </a:rPr>
              <a:t>6.3GW</a:t>
            </a:r>
          </a:p>
          <a:p>
            <a:pPr algn="ctr">
              <a:spcAft>
                <a:spcPts val="600"/>
              </a:spcAft>
            </a:pPr>
            <a:r>
              <a:rPr sz="1700" b="1">
                <a:solidFill>
                  <a:srgbClr val="1D1D1F"/>
                </a:solidFill>
                <a:latin typeface="Pretendard"/>
              </a:rPr>
              <a:t>2030년 (Base)</a:t>
            </a:r>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수도권 전력 인입 제약</a:t>
            </a:r>
          </a:p>
          <a:p>
            <a:pPr algn="ctr">
              <a:spcAft>
                <a:spcPts val="600"/>
              </a:spcAft>
            </a:pPr>
            <a:r>
              <a:rPr sz="1530" b="1">
                <a:solidFill>
                  <a:srgbClr val="1D1D1F"/>
                </a:solidFill>
                <a:latin typeface="Pretendard"/>
              </a:rPr>
              <a:t>성장의 구조적 병목 (Bottleneck) 발생</a:t>
            </a:r>
          </a:p>
        </p:txBody>
      </p:sp>
      <p:sp>
        <p:nvSpPr>
          <p:cNvPr id="13" name="Rounded Rectangle 12"/>
          <p:cNvSpPr/>
          <p:nvPr/>
        </p:nvSpPr>
        <p:spPr>
          <a:xfrm>
            <a:off x="8066836"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3996"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지방 거점 분산 가속화</a:t>
            </a:r>
          </a:p>
          <a:p>
            <a:pPr algn="ctr">
              <a:spcAft>
                <a:spcPts val="600"/>
              </a:spcAft>
            </a:pPr>
            <a:r>
              <a:rPr sz="1530" b="1">
                <a:solidFill>
                  <a:srgbClr val="1D1D1F"/>
                </a:solidFill>
                <a:latin typeface="Pretendard"/>
              </a:rPr>
              <a:t>전남 · 경북 · 강원 중심의 신규 클러스터 조성</a:t>
            </a:r>
          </a:p>
          <a:p>
            <a:pPr algn="l">
              <a:spcAft>
                <a:spcPts val="600"/>
              </a:spcAft>
            </a:pPr>
            <a:r>
              <a:rPr sz="1700" b="1">
                <a:solidFill>
                  <a:srgbClr val="1D1D1F"/>
                </a:solidFill>
                <a:latin typeface="Pretendard"/>
              </a:rPr>
              <a:t>▪ 한국 데이터센터 수요는 2030년 6.3GW에서 2040년 최대 22GW까지 3.5배 이상 폭발적 성장 전망</a:t>
            </a:r>
          </a:p>
          <a:p>
            <a:pPr algn="l">
              <a:spcAft>
                <a:spcPts val="600"/>
              </a:spcAft>
            </a:pPr>
            <a:r>
              <a:rPr sz="1700" b="1">
                <a:solidFill>
                  <a:srgbClr val="1D1D1F"/>
                </a:solidFill>
                <a:latin typeface="Pretendard"/>
              </a:rPr>
              <a:t>▪ 수도권 전력망 한계가 구조적 제약으로 작용하며, 풍부한 전력 확보가 가능한 지방으로의 입지 분산 필연적</a:t>
            </a:r>
          </a:p>
          <a:p>
            <a:pPr algn="l">
              <a:spcAft>
                <a:spcPts val="600"/>
              </a:spcAft>
            </a:pPr>
            <a:r>
              <a:rPr sz="1700" b="1">
                <a:solidFill>
                  <a:srgbClr val="1D1D1F"/>
                </a:solidFill>
                <a:latin typeface="Pretendard"/>
              </a:rPr>
              <a:t>▪ 결과적으로 데이터센터는 단일 산업 부동산 카테고리로서 향후 15년간 가장 거대한 자본을 흡수할 섹터로 부상</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시니어 하우징 메가 트렌드</a:t>
            </a:r>
          </a:p>
          <a:p>
            <a:pPr algn="ctr"/>
            <a:r>
              <a:rPr sz="3200" b="1">
                <a:solidFill>
                  <a:srgbClr val="1D1D1F"/>
                </a:solidFill>
                <a:latin typeface="Pretendard"/>
              </a:rPr>
              <a:t>300조 원 거대 시장을 장악할 한국형 시니어 REIT 모델의 탄생</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2030년 168조 원</a:t>
            </a:r>
          </a:p>
          <a:p>
            <a:pPr algn="ctr">
              <a:spcAft>
                <a:spcPts val="600"/>
              </a:spcAft>
            </a:pPr>
            <a:r>
              <a:rPr sz="1800" b="1">
                <a:solidFill>
                  <a:srgbClr val="1D1D1F"/>
                </a:solidFill>
                <a:latin typeface="Pretendard"/>
              </a:rPr>
              <a:t>↓</a:t>
            </a:r>
          </a:p>
          <a:p>
            <a:pPr algn="ctr">
              <a:spcAft>
                <a:spcPts val="600"/>
              </a:spcAft>
            </a:pPr>
            <a:r>
              <a:rPr sz="1800" b="1">
                <a:solidFill>
                  <a:srgbClr val="1D1D1F"/>
                </a:solidFill>
                <a:latin typeface="Pretendard"/>
              </a:rPr>
              <a:t>2040년 시장 규모</a:t>
            </a:r>
          </a:p>
          <a:p>
            <a:pPr algn="ctr">
              <a:spcAft>
                <a:spcPts val="600"/>
              </a:spcAft>
            </a:pPr>
            <a:r>
              <a:rPr sz="1800" b="1">
                <a:solidFill>
                  <a:srgbClr val="1D1D1F"/>
                </a:solidFill>
                <a:latin typeface="Pretendard"/>
              </a:rPr>
              <a:t>300조 원+</a:t>
            </a:r>
          </a:p>
          <a:p>
            <a:pPr algn="ctr">
              <a:spcAft>
                <a:spcPts val="600"/>
              </a:spcAft>
            </a:pPr>
            <a:r>
              <a:rPr sz="1700" b="1">
                <a:solidFill>
                  <a:srgbClr val="1D1D1F"/>
                </a:solidFill>
                <a:latin typeface="Pretendard"/>
              </a:rPr>
              <a:t>침투율 0.6% ➔ 3~5% 확장 시 신규 공급 50만 호 이상 필요</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이지스 시니어 플랫폼의 비전</a:t>
            </a:r>
          </a:p>
          <a:p>
            <a:pPr algn="ctr">
              <a:spcAft>
                <a:spcPts val="600"/>
              </a:spcAft>
            </a:pPr>
            <a:r>
              <a:rPr sz="1800" b="1">
                <a:solidFill>
                  <a:srgbClr val="1D1D1F"/>
                </a:solidFill>
                <a:latin typeface="Pretendard"/>
              </a:rPr>
              <a:t>블랙스톤 BREIT</a:t>
            </a:r>
            <a:r>
              <a:t>                   </a:t>
            </a:r>
            <a:r>
              <a:rPr sz="1360" b="1">
                <a:solidFill>
                  <a:srgbClr val="1D1D1F"/>
                </a:solidFill>
                <a:latin typeface="Pretendard"/>
              </a:rPr>
              <a:t>압도적 펀딩·스케일업</a:t>
            </a:r>
          </a:p>
        </p:txBody>
      </p:sp>
      <p:sp>
        <p:nvSpPr>
          <p:cNvPr id="11" name="Rounded Rectangle 10"/>
          <p:cNvSpPr/>
          <p:nvPr/>
        </p:nvSpPr>
        <p:spPr>
          <a:xfrm>
            <a:off x="178289483"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8426643"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미국 Welltower 모델</a:t>
            </a:r>
            <a:r>
              <a:t>           </a:t>
            </a:r>
            <a:r>
              <a:rPr sz="1360" b="1">
                <a:solidFill>
                  <a:srgbClr val="1D1D1F"/>
                </a:solidFill>
                <a:latin typeface="Pretendard"/>
              </a:rPr>
              <a:t>헬스케어·운영 전문성 결합</a:t>
            </a:r>
          </a:p>
          <a:p>
            <a:pPr algn="ctr">
              <a:spcAft>
                <a:spcPts val="600"/>
              </a:spcAft>
            </a:pPr>
            <a:r>
              <a:rPr sz="1800" b="1">
                <a:solidFill>
                  <a:srgbClr val="1D1D1F"/>
                </a:solidFill>
                <a:latin typeface="Pretendard"/>
              </a:rPr>
              <a:t>↓</a:t>
            </a:r>
          </a:p>
        </p:txBody>
      </p:sp>
      <p:sp>
        <p:nvSpPr>
          <p:cNvPr id="13" name="Rounded Rectangle 12"/>
          <p:cNvSpPr/>
          <p:nvPr/>
        </p:nvSpPr>
        <p:spPr>
          <a:xfrm>
            <a:off x="208589041"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8726201"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한국형 압도적 시니어 REIT 모델 진화</a:t>
            </a:r>
          </a:p>
          <a:p>
            <a:pPr algn="l">
              <a:spcAft>
                <a:spcPts val="600"/>
              </a:spcAft>
            </a:pPr>
            <a:r>
              <a:rPr sz="1700" b="1">
                <a:solidFill>
                  <a:srgbClr val="1D1D1F"/>
                </a:solidFill>
                <a:latin typeface="Pretendard"/>
              </a:rPr>
              <a:t>▪ 한국 시니어 하우징 시장은 2030년 168조 원에서 2040년 300조 원 이상으로 폭발적 성장이 확정된 메가 섹터</a:t>
            </a:r>
          </a:p>
          <a:p>
            <a:pPr algn="l">
              <a:spcAft>
                <a:spcPts val="600"/>
              </a:spcAft>
            </a:pPr>
            <a:r>
              <a:rPr sz="1700" b="1">
                <a:solidFill>
                  <a:srgbClr val="1D1D1F"/>
                </a:solidFill>
                <a:latin typeface="Pretendard"/>
              </a:rPr>
              <a:t>▪ 현재 0.6%에 불과한 침투율이 글로벌 평균인 3~5% 수준으로 오를 경우 최소 50만 호의 신규 공급 필요</a:t>
            </a:r>
          </a:p>
          <a:p>
            <a:pPr algn="l">
              <a:spcAft>
                <a:spcPts val="600"/>
              </a:spcAft>
            </a:pPr>
            <a:r>
              <a:rPr sz="1700" b="1">
                <a:solidFill>
                  <a:srgbClr val="1D1D1F"/>
                </a:solidFill>
                <a:latin typeface="Pretendard"/>
              </a:rPr>
              <a:t>▪ 이지스는 블랙스톤(BREIT)의 자본력과 웰타워(Welltower)의 운영 전문성을 결합한 거대 시니어 REIT로 시장 장악</a:t>
            </a:r>
          </a:p>
        </p:txBody>
      </p:sp>
      <p:sp>
        <p:nvSpPr>
          <p:cNvPr id="15" name="Rectangle 14"/>
          <p:cNvSpPr/>
          <p:nvPr/>
        </p:nvSpPr>
        <p:spPr>
          <a:xfrm>
            <a:off x="914400" y="4045545"/>
            <a:ext cx="10362895" cy="12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생명과학 및 콜드체인 물류 생태계</a:t>
            </a:r>
          </a:p>
          <a:p>
            <a:pPr algn="ctr"/>
            <a:r>
              <a:rPr sz="3200" b="1">
                <a:solidFill>
                  <a:srgbClr val="1D1D1F"/>
                </a:solidFill>
                <a:latin typeface="Pretendard"/>
              </a:rPr>
              <a:t>생명과학 클러스터와 콜드체인 제약 물류가 결합하는 신규 거점의 안착</a:t>
            </a:r>
          </a:p>
        </p:txBody>
      </p:sp>
      <p:sp>
        <p:nvSpPr>
          <p:cNvPr id="3" name="Rounded Rectangle 2"/>
          <p:cNvSpPr/>
          <p:nvPr/>
        </p:nvSpPr>
        <p:spPr>
          <a:xfrm>
            <a:off x="914400"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3749040"/>
          </a:xfrm>
          <a:prstGeom prst="rect">
            <a:avLst/>
          </a:prstGeom>
          <a:noFill/>
        </p:spPr>
        <p:txBody>
          <a:bodyPr wrap="square" lIns="0" rIns="0" tIns="0" bIns="0">
            <a:spAutoFit/>
          </a:bodyPr>
          <a:lstStyle/>
          <a:p>
            <a:pPr algn="ctr">
              <a:spcAft>
                <a:spcPts val="600"/>
              </a:spcAft>
            </a:pPr>
            <a:r>
              <a:rPr sz="1800">
                <a:solidFill>
                  <a:srgbClr val="1D1D1F"/>
                </a:solidFill>
                <a:latin typeface="Pretendard"/>
              </a:rPr>
              <a:t>🧬</a:t>
            </a:r>
            <a:r>
              <a:t> </a:t>
            </a:r>
            <a:r>
              <a:rPr sz="1800" b="1">
                <a:solidFill>
                  <a:srgbClr val="1D1D1F"/>
                </a:solidFill>
                <a:latin typeface="Pretendard"/>
              </a:rPr>
              <a:t>생명과학 클러스터</a:t>
            </a:r>
          </a:p>
          <a:p>
            <a:pPr algn="ctr">
              <a:spcAft>
                <a:spcPts val="600"/>
              </a:spcAft>
            </a:pPr>
            <a:r>
              <a:rPr sz="1360" b="1">
                <a:solidFill>
                  <a:srgbClr val="1D1D1F"/>
                </a:solidFill>
                <a:latin typeface="Pretendard"/>
              </a:rPr>
              <a:t>송도</a:t>
            </a:r>
            <a:r>
              <a:t> </a:t>
            </a:r>
            <a:r>
              <a:rPr sz="1360" b="1">
                <a:solidFill>
                  <a:srgbClr val="1D1D1F"/>
                </a:solidFill>
                <a:latin typeface="Pretendard"/>
              </a:rPr>
              <a:t>판교</a:t>
            </a:r>
            <a:r>
              <a:t> </a:t>
            </a:r>
            <a:r>
              <a:rPr sz="1360" b="1">
                <a:solidFill>
                  <a:srgbClr val="1D1D1F"/>
                </a:solidFill>
                <a:latin typeface="Pretendard"/>
              </a:rPr>
              <a:t>마곡</a:t>
            </a:r>
          </a:p>
        </p:txBody>
      </p:sp>
      <p:sp>
        <p:nvSpPr>
          <p:cNvPr id="5" name="Rounded Rectangle 4"/>
          <p:cNvSpPr/>
          <p:nvPr/>
        </p:nvSpPr>
        <p:spPr>
          <a:xfrm>
            <a:off x="10546003"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83163" y="2331720"/>
            <a:ext cx="2042083" cy="3749040"/>
          </a:xfrm>
          <a:prstGeom prst="rect">
            <a:avLst/>
          </a:prstGeom>
          <a:noFill/>
        </p:spPr>
        <p:txBody>
          <a:bodyPr wrap="square" lIns="0" rIns="0" tIns="0" bIns="0">
            <a:spAutoFit/>
          </a:bodyPr>
          <a:lstStyle/>
          <a:p>
            <a:pPr algn="ctr">
              <a:spcAft>
                <a:spcPts val="600"/>
              </a:spcAft>
            </a:pPr>
            <a:r>
              <a:rPr sz="1800">
                <a:solidFill>
                  <a:srgbClr val="1D1D1F"/>
                </a:solidFill>
                <a:latin typeface="Pretendard"/>
              </a:rPr>
              <a:t>❄️</a:t>
            </a:r>
            <a:r>
              <a:t> </a:t>
            </a:r>
            <a:r>
              <a:rPr sz="1800" b="1">
                <a:solidFill>
                  <a:srgbClr val="1D1D1F"/>
                </a:solidFill>
                <a:latin typeface="Pretendard"/>
              </a:rPr>
              <a:t>콜드체인 · 제약 물류</a:t>
            </a:r>
          </a:p>
          <a:p>
            <a:pPr algn="ctr">
              <a:spcAft>
                <a:spcPts val="600"/>
              </a:spcAft>
            </a:pPr>
            <a:r>
              <a:rPr sz="1360" b="1">
                <a:solidFill>
                  <a:srgbClr val="1D1D1F"/>
                </a:solidFill>
                <a:latin typeface="Pretendard"/>
              </a:rPr>
              <a:t>인구 고령화</a:t>
            </a:r>
            <a:r>
              <a:t> </a:t>
            </a:r>
            <a:r>
              <a:rPr sz="1360" b="1">
                <a:solidFill>
                  <a:srgbClr val="1D1D1F"/>
                </a:solidFill>
                <a:latin typeface="Pretendard"/>
              </a:rPr>
              <a:t>바이오 직배송</a:t>
            </a:r>
          </a:p>
        </p:txBody>
      </p:sp>
      <p:sp>
        <p:nvSpPr>
          <p:cNvPr id="7" name="Rounded Rectangle 6"/>
          <p:cNvSpPr/>
          <p:nvPr/>
        </p:nvSpPr>
        <p:spPr>
          <a:xfrm>
            <a:off x="20177607"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314767"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K-바이오 클러스터 특화 부동산이 독립적인 우량 신규 카테고리로 안착</a:t>
            </a:r>
          </a:p>
        </p:txBody>
      </p:sp>
      <p:sp>
        <p:nvSpPr>
          <p:cNvPr id="9" name="Rounded Rectangle 8"/>
          <p:cNvSpPr/>
          <p:nvPr/>
        </p:nvSpPr>
        <p:spPr>
          <a:xfrm>
            <a:off x="29809211"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46371"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의약품 수요 증가와 맞물려 특수 온도 제어 물류 수요의 지속적 성장</a:t>
            </a:r>
          </a:p>
          <a:p>
            <a:pPr algn="l">
              <a:spcAft>
                <a:spcPts val="600"/>
              </a:spcAft>
            </a:pPr>
            <a:r>
              <a:rPr sz="1700" b="1">
                <a:solidFill>
                  <a:srgbClr val="1D1D1F"/>
                </a:solidFill>
                <a:latin typeface="Pretendard"/>
              </a:rPr>
              <a:t>▪ 송도, 판교, 마곡 등 주요 거점을 중심으로 한 '생명과학 클러스터'가 새로운 핵심 카테고리로 부상</a:t>
            </a:r>
          </a:p>
          <a:p>
            <a:pPr algn="l">
              <a:spcAft>
                <a:spcPts val="600"/>
              </a:spcAft>
            </a:pPr>
            <a:r>
              <a:rPr sz="1700" b="1">
                <a:solidFill>
                  <a:srgbClr val="1D1D1F"/>
                </a:solidFill>
                <a:latin typeface="Pretendard"/>
              </a:rPr>
              <a:t>▪ 인구 고령화 및 바이오/의약품 직배송 트렌드와 결합하여 콜드체인(특수 제어) 물류 인프라 수요 급증</a:t>
            </a:r>
          </a:p>
          <a:p>
            <a:pPr algn="l">
              <a:spcAft>
                <a:spcPts val="600"/>
              </a:spcAft>
            </a:pPr>
            <a:r>
              <a:rPr sz="1700" b="1">
                <a:solidFill>
                  <a:srgbClr val="1D1D1F"/>
                </a:solidFill>
                <a:latin typeface="Pretendard"/>
              </a:rPr>
              <a:t>▪ 연구개발 거점과 특수 물류 인프라가 시너지를 내며 K-바이오 특화 밸류체인 부동산 완성</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GRADE-A 물류센터의 패러다임 전환</a:t>
            </a:r>
          </a:p>
          <a:p>
            <a:pPr algn="ctr"/>
            <a:r>
              <a:rPr sz="3200" b="1">
                <a:solidFill>
                  <a:srgbClr val="1D1D1F"/>
                </a:solidFill>
                <a:latin typeface="Pretendard"/>
              </a:rPr>
              <a:t>모든 신규 대형 물류센터의 절대적 설계 표준 로봇·AMR 친화형</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INDUSTRY LEADERS 주도</a:t>
            </a:r>
          </a:p>
          <a:p>
            <a:pPr algn="ctr">
              <a:spcAft>
                <a:spcPts val="600"/>
              </a:spcAft>
            </a:pPr>
            <a:r>
              <a:rPr sz="1800" b="1">
                <a:solidFill>
                  <a:srgbClr val="1D1D1F"/>
                </a:solidFill>
                <a:latin typeface="Pretendard"/>
              </a:rPr>
              <a:t>CJ대한통운</a:t>
            </a:r>
            <a:r>
              <a:t>  </a:t>
            </a:r>
            <a:r>
              <a:rPr sz="1800" b="1">
                <a:solidFill>
                  <a:srgbClr val="1D1D1F"/>
                </a:solidFill>
                <a:latin typeface="Pretendard"/>
              </a:rPr>
              <a:t>네이버</a:t>
            </a:r>
            <a:r>
              <a:t>  </a:t>
            </a:r>
            <a:r>
              <a:rPr sz="1800" b="1">
                <a:solidFill>
                  <a:srgbClr val="1D1D1F"/>
                </a:solidFill>
                <a:latin typeface="Pretendard"/>
              </a:rPr>
              <a:t>LG CNS</a:t>
            </a:r>
          </a:p>
        </p:txBody>
      </p:sp>
      <p:sp>
        <p:nvSpPr>
          <p:cNvPr id="5" name="Rounded Rectangle 4"/>
          <p:cNvSpPr/>
          <p:nvPr/>
        </p:nvSpPr>
        <p:spPr>
          <a:xfrm>
            <a:off x="2607045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207618"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로봇 · AMR 친화 설계 (Robot-Friendly)</a:t>
            </a:r>
          </a:p>
        </p:txBody>
      </p:sp>
      <p:sp>
        <p:nvSpPr>
          <p:cNvPr id="7" name="Rounded Rectangle 6"/>
          <p:cNvSpPr/>
          <p:nvPr/>
        </p:nvSpPr>
        <p:spPr>
          <a:xfrm>
            <a:off x="5122651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363676"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쿠팡</a:t>
            </a:r>
          </a:p>
          <a:p>
            <a:pPr algn="ctr">
              <a:spcAft>
                <a:spcPts val="600"/>
              </a:spcAft>
            </a:pPr>
            <a:r>
              <a:rPr sz="1445" b="1">
                <a:solidFill>
                  <a:srgbClr val="1D1D1F"/>
                </a:solidFill>
                <a:latin typeface="Pretendard"/>
              </a:rPr>
              <a:t>초평탄 바닥 구조 및 하중 강화</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ctr">
              <a:spcAft>
                <a:spcPts val="600"/>
              </a:spcAft>
            </a:pPr>
            <a:r>
              <a:rPr sz="1445" b="1">
                <a:solidFill>
                  <a:srgbClr val="1D1D1F"/>
                </a:solidFill>
                <a:latin typeface="Pretendard"/>
              </a:rPr>
              <a:t>물류 로봇 전용 동선 최적화</a:t>
            </a:r>
          </a:p>
        </p:txBody>
      </p:sp>
      <p:sp>
        <p:nvSpPr>
          <p:cNvPr id="11" name="Rounded Rectangle 10"/>
          <p:cNvSpPr/>
          <p:nvPr/>
        </p:nvSpPr>
        <p:spPr>
          <a:xfrm>
            <a:off x="2607045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207618" y="4480560"/>
            <a:ext cx="2936138" cy="1600200"/>
          </a:xfrm>
          <a:prstGeom prst="rect">
            <a:avLst/>
          </a:prstGeom>
          <a:noFill/>
        </p:spPr>
        <p:txBody>
          <a:bodyPr wrap="square" lIns="0" rIns="0" tIns="0" bIns="0">
            <a:spAutoFit/>
          </a:bodyPr>
          <a:lstStyle/>
          <a:p>
            <a:pPr algn="ctr">
              <a:spcAft>
                <a:spcPts val="600"/>
              </a:spcAft>
            </a:pPr>
            <a:r>
              <a:rPr sz="1445" b="1">
                <a:solidFill>
                  <a:srgbClr val="1D1D1F"/>
                </a:solidFill>
                <a:latin typeface="Pretendard"/>
              </a:rPr>
              <a:t>고전력 인입 및 5G 통신망 완비</a:t>
            </a:r>
          </a:p>
        </p:txBody>
      </p:sp>
      <p:sp>
        <p:nvSpPr>
          <p:cNvPr id="13" name="Rounded Rectangle 12"/>
          <p:cNvSpPr/>
          <p:nvPr/>
        </p:nvSpPr>
        <p:spPr>
          <a:xfrm>
            <a:off x="51226516"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363676"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향후 모든 신규 Grade-A 물류센터의 절대적 표준</a:t>
            </a:r>
          </a:p>
          <a:p>
            <a:pPr algn="l">
              <a:spcAft>
                <a:spcPts val="600"/>
              </a:spcAft>
            </a:pPr>
            <a:r>
              <a:rPr sz="1700" b="1">
                <a:solidFill>
                  <a:srgbClr val="1D1D1F"/>
                </a:solidFill>
                <a:latin typeface="Pretendard"/>
              </a:rPr>
              <a:t>▪ 쿠팡, CJ대한통운, 네이버, LG CNS 등 물류 및 IT 거인들이 전면적인 자동화를 시장의 벤치마크로 주도</a:t>
            </a:r>
          </a:p>
          <a:p>
            <a:pPr algn="l">
              <a:spcAft>
                <a:spcPts val="600"/>
              </a:spcAft>
            </a:pPr>
            <a:r>
              <a:rPr sz="1700" b="1">
                <a:solidFill>
                  <a:srgbClr val="1D1D1F"/>
                </a:solidFill>
                <a:latin typeface="Pretendard"/>
              </a:rPr>
              <a:t>▪ 바닥 평탄도, 로봇 전용 통신/전력망, 하중 등 로봇(AMR/AGV) 운영에 최적화된 하드웨어 스펙 필수 요구</a:t>
            </a:r>
          </a:p>
          <a:p>
            <a:pPr algn="l">
              <a:spcAft>
                <a:spcPts val="600"/>
              </a:spcAft>
            </a:pPr>
            <a:r>
              <a:rPr sz="1700" b="1">
                <a:solidFill>
                  <a:srgbClr val="1D1D1F"/>
                </a:solidFill>
                <a:latin typeface="Pretendard"/>
              </a:rPr>
              <a:t>▪ 단순 창고를 넘어선 '자동화 설비의 플랫폼'으로서 로봇 친화 설계가 우량 물류센터의 생존 조건으로 정착</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6.</a:t>
            </a:r>
          </a:p>
          <a:p>
            <a:pPr algn="ctr">
              <a:spcAft>
                <a:spcPts val="1400"/>
              </a:spcAft>
            </a:pPr>
            <a:r>
              <a:rPr sz="2400" b="1">
                <a:solidFill>
                  <a:srgbClr val="FFFFFF"/>
                </a:solidFill>
                <a:latin typeface="Pretendard"/>
              </a:rPr>
              <a:t>트로피자산 파이프라인</a:t>
            </a:r>
            <a:r>
              <a:rPr sz="2400" b="1">
                <a:solidFill>
                  <a:srgbClr val="FFFFFF"/>
                </a:solidFill>
                <a:latin typeface="Pretendard"/>
              </a:rPr>
              <a:t>트로피자산 파이프라인</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GBD의 신규 절대 좌표</a:t>
            </a:r>
          </a:p>
          <a:p>
            <a:pPr algn="ctr"/>
            <a:r>
              <a:rPr sz="3200" b="1">
                <a:solidFill>
                  <a:srgbClr val="1D1D1F"/>
                </a:solidFill>
                <a:latin typeface="Pretendard"/>
              </a:rPr>
              <a:t>IOTA 서울 &amp; 현대차 GBC 파이프라인</a:t>
            </a:r>
          </a:p>
        </p:txBody>
      </p:sp>
      <p:sp>
        <p:nvSpPr>
          <p:cNvPr id="3" name="Rounded Rectangle 2"/>
          <p:cNvSpPr/>
          <p:nvPr/>
        </p:nvSpPr>
        <p:spPr>
          <a:xfrm>
            <a:off x="914400"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IOTA 서울</a:t>
            </a:r>
          </a:p>
          <a:p>
            <a:pPr algn="ctr">
              <a:spcAft>
                <a:spcPts val="600"/>
              </a:spcAft>
            </a:pPr>
            <a:r>
              <a:rPr sz="1530" b="1">
                <a:solidFill>
                  <a:srgbClr val="1D1D1F"/>
                </a:solidFill>
                <a:latin typeface="Pretendard"/>
              </a:rPr>
              <a:t>(2032 준공예정)</a:t>
            </a:r>
          </a:p>
          <a:p>
            <a:pPr algn="ctr">
              <a:spcAft>
                <a:spcPts val="600"/>
              </a:spcAft>
            </a:pPr>
            <a:r>
              <a:rPr sz="1700" b="1">
                <a:solidFill>
                  <a:srgbClr val="1D1D1F"/>
                </a:solidFill>
                <a:latin typeface="Pretendard"/>
              </a:rPr>
              <a:t>본 보고서의 핵심 대상이자, 트로피 자산의 새로운 기준점</a:t>
            </a:r>
          </a:p>
        </p:txBody>
      </p:sp>
      <p:sp>
        <p:nvSpPr>
          <p:cNvPr id="5" name="Rounded Rectangle 4"/>
          <p:cNvSpPr/>
          <p:nvPr/>
        </p:nvSpPr>
        <p:spPr>
          <a:xfrm>
            <a:off x="3596563"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현대차 GBC</a:t>
            </a:r>
          </a:p>
          <a:p>
            <a:pPr algn="ctr">
              <a:spcAft>
                <a:spcPts val="600"/>
              </a:spcAft>
            </a:pPr>
            <a:r>
              <a:rPr sz="1530" b="1">
                <a:solidFill>
                  <a:srgbClr val="1D1D1F"/>
                </a:solidFill>
                <a:latin typeface="Pretendard"/>
              </a:rPr>
              <a:t>(삼성동, 2029~2030 준공 예정)</a:t>
            </a:r>
          </a:p>
          <a:p>
            <a:pPr algn="l">
              <a:spcAft>
                <a:spcPts val="600"/>
              </a:spcAft>
            </a:pPr>
            <a:r>
              <a:rPr sz="1360">
                <a:solidFill>
                  <a:srgbClr val="1D1D1F"/>
                </a:solidFill>
                <a:latin typeface="Pretendard"/>
              </a:rPr>
              <a:t>▪ 3개 54층 타워로 전면 재설계 확정</a:t>
            </a:r>
          </a:p>
          <a:p>
            <a:pPr algn="l">
              <a:spcAft>
                <a:spcPts val="600"/>
              </a:spcAft>
            </a:pPr>
            <a:r>
              <a:rPr sz="1360">
                <a:solidFill>
                  <a:srgbClr val="1D1D1F"/>
                </a:solidFill>
                <a:latin typeface="Pretendard"/>
              </a:rPr>
              <a:t>▪ 총사업비 약 4조 원 달하는 초대형 메가 프로젝트</a:t>
            </a:r>
          </a:p>
          <a:p>
            <a:pPr algn="l">
              <a:spcAft>
                <a:spcPts val="600"/>
              </a:spcAft>
            </a:pPr>
            <a:r>
              <a:rPr sz="1360">
                <a:solidFill>
                  <a:srgbClr val="1D1D1F"/>
                </a:solidFill>
                <a:latin typeface="Pretendard"/>
              </a:rPr>
              <a:t>▪ 현대차 자체 사용 및 일부 프라임 오피스 임대 병행</a:t>
            </a:r>
          </a:p>
        </p:txBody>
      </p:sp>
      <p:sp>
        <p:nvSpPr>
          <p:cNvPr id="7" name="Rounded Rectangle 6"/>
          <p:cNvSpPr/>
          <p:nvPr/>
        </p:nvSpPr>
        <p:spPr>
          <a:xfrm>
            <a:off x="6278727"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3749040"/>
          </a:xfrm>
          <a:prstGeom prst="rect">
            <a:avLst/>
          </a:prstGeom>
          <a:noFill/>
        </p:spPr>
        <p:txBody>
          <a:bodyPr wrap="square" lIns="0" rIns="0" tIns="0" bIns="0">
            <a:spAutoFit/>
          </a:bodyPr>
          <a:lstStyle/>
          <a:p>
            <a:pPr algn="ctr">
              <a:spcAft>
                <a:spcPts val="600"/>
              </a:spcAft>
            </a:pPr>
            <a:r>
              <a:rPr sz="1800">
                <a:solidFill>
                  <a:srgbClr val="1D1D1F"/>
                </a:solidFill>
                <a:latin typeface="Pretendard"/>
              </a:rPr>
              <a:t>🏛️</a:t>
            </a:r>
          </a:p>
        </p:txBody>
      </p:sp>
      <p:sp>
        <p:nvSpPr>
          <p:cNvPr id="9" name="Rounded Rectangle 8"/>
          <p:cNvSpPr/>
          <p:nvPr/>
        </p:nvSpPr>
        <p:spPr>
          <a:xfrm>
            <a:off x="8960891"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3749040"/>
          </a:xfrm>
          <a:prstGeom prst="rect">
            <a:avLst/>
          </a:prstGeom>
          <a:noFill/>
        </p:spPr>
        <p:txBody>
          <a:bodyPr wrap="square" lIns="0" rIns="0" tIns="0" bIns="0">
            <a:spAutoFit/>
          </a:bodyPr>
          <a:lstStyle/>
          <a:p>
            <a:pPr algn="ctr">
              <a:spcAft>
                <a:spcPts val="600"/>
              </a:spcAft>
            </a:pPr>
            <a:r>
              <a:rPr sz="1800">
                <a:solidFill>
                  <a:srgbClr val="1D1D1F"/>
                </a:solidFill>
                <a:latin typeface="Pretendard"/>
              </a:rPr>
              <a: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서울 메가 프로젝트 파이프라인</a:t>
            </a:r>
          </a:p>
          <a:p>
            <a:pPr algn="ctr"/>
            <a:r>
              <a:rPr sz="3200" b="1">
                <a:solidFill>
                  <a:srgbClr val="1D1D1F"/>
                </a:solidFill>
                <a:latin typeface="Pretendard"/>
              </a:rPr>
              <a:t>주요 도심에서 전개되는 차세대 트로피 공급망</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800">
                <a:solidFill>
                  <a:srgbClr val="1D1D1F"/>
                </a:solidFill>
                <a:latin typeface="Pretendard"/>
              </a:rPr>
              <a:t>🚆</a:t>
            </a:r>
          </a:p>
          <a:p>
            <a:pPr algn="l">
              <a:spcAft>
                <a:spcPts val="600"/>
              </a:spcAft>
            </a:pPr>
            <a:r>
              <a:rPr sz="1800" b="1">
                <a:solidFill>
                  <a:srgbClr val="1D1D1F"/>
                </a:solidFill>
                <a:latin typeface="Pretendard"/>
              </a:rPr>
              <a:t>용산국제업무지구 (YIBD)</a:t>
            </a:r>
          </a:p>
          <a:p>
            <a:pPr algn="l">
              <a:spcAft>
                <a:spcPts val="600"/>
              </a:spcAft>
            </a:pPr>
            <a:r>
              <a:rPr sz="1360">
                <a:solidFill>
                  <a:srgbClr val="1D1D1F"/>
                </a:solidFill>
                <a:latin typeface="Pretendard"/>
              </a:rPr>
              <a:t>▪ 코레일·서울시 마스터플랜 재가동</a:t>
            </a:r>
          </a:p>
          <a:p>
            <a:pPr algn="l">
              <a:spcAft>
                <a:spcPts val="600"/>
              </a:spcAft>
            </a:pPr>
            <a:r>
              <a:rPr sz="1360">
                <a:solidFill>
                  <a:srgbClr val="1D1D1F"/>
                </a:solidFill>
                <a:latin typeface="Pretendard"/>
              </a:rPr>
              <a:t>▪ 2027~2035년 단계적 개발 본격화</a:t>
            </a:r>
          </a:p>
          <a:p>
            <a:pPr algn="l">
              <a:spcAft>
                <a:spcPts val="600"/>
              </a:spcAft>
            </a:pPr>
            <a:r>
              <a:rPr sz="1360">
                <a:solidFill>
                  <a:srgbClr val="1D1D1F"/>
                </a:solidFill>
                <a:latin typeface="Pretendard"/>
              </a:rPr>
              <a:t>▪ 글로벌 거대 자본이 신규 진입할 핵심 무대</a:t>
            </a:r>
          </a:p>
        </p:txBody>
      </p:sp>
      <p:sp>
        <p:nvSpPr>
          <p:cNvPr id="5" name="Rounded Rectangle 4"/>
          <p:cNvSpPr/>
          <p:nvPr/>
        </p:nvSpPr>
        <p:spPr>
          <a:xfrm>
            <a:off x="4490618"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ctr">
              <a:spcAft>
                <a:spcPts val="600"/>
              </a:spcAft>
            </a:pPr>
            <a:r>
              <a:rPr sz="1800">
                <a:solidFill>
                  <a:srgbClr val="1D1D1F"/>
                </a:solidFill>
                <a:latin typeface="Pretendard"/>
              </a:rPr>
              <a:t>🏦</a:t>
            </a:r>
          </a:p>
          <a:p>
            <a:pPr algn="l">
              <a:spcAft>
                <a:spcPts val="600"/>
              </a:spcAft>
            </a:pPr>
            <a:r>
              <a:rPr sz="1800" b="1">
                <a:solidFill>
                  <a:srgbClr val="1D1D1F"/>
                </a:solidFill>
                <a:latin typeface="Pretendard"/>
              </a:rPr>
              <a:t>여의도 재개발</a:t>
            </a:r>
          </a:p>
          <a:p>
            <a:pPr algn="l">
              <a:spcAft>
                <a:spcPts val="600"/>
              </a:spcAft>
            </a:pPr>
            <a:r>
              <a:rPr sz="1360">
                <a:solidFill>
                  <a:srgbClr val="1D1D1F"/>
                </a:solidFill>
                <a:latin typeface="Pretendard"/>
              </a:rPr>
              <a:t>▪ 금융허브 스카이라인을 재편하는 트로피 사이클</a:t>
            </a:r>
          </a:p>
          <a:p>
            <a:pPr algn="l">
              <a:spcAft>
                <a:spcPts val="600"/>
              </a:spcAft>
            </a:pPr>
            <a:r>
              <a:rPr sz="1360">
                <a:solidFill>
                  <a:srgbClr val="1D1D1F"/>
                </a:solidFill>
                <a:latin typeface="Pretendard"/>
              </a:rPr>
              <a:t>▪ 한국거래소 부지 일대 대규모 재건축</a:t>
            </a:r>
          </a:p>
          <a:p>
            <a:pPr algn="l">
              <a:spcAft>
                <a:spcPts val="600"/>
              </a:spcAft>
            </a:pPr>
            <a:r>
              <a:rPr sz="1360">
                <a:solidFill>
                  <a:srgbClr val="1D1D1F"/>
                </a:solidFill>
                <a:latin typeface="Pretendard"/>
              </a:rPr>
              <a:t>▪ 옛 MBC 부지 및 사학연금 부지 등 코어 에셋 개발</a:t>
            </a:r>
          </a:p>
        </p:txBody>
      </p:sp>
      <p:sp>
        <p:nvSpPr>
          <p:cNvPr id="7" name="Rounded Rectangle 6"/>
          <p:cNvSpPr/>
          <p:nvPr/>
        </p:nvSpPr>
        <p:spPr>
          <a:xfrm>
            <a:off x="806683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3749040"/>
          </a:xfrm>
          <a:prstGeom prst="rect">
            <a:avLst/>
          </a:prstGeom>
          <a:noFill/>
        </p:spPr>
        <p:txBody>
          <a:bodyPr wrap="square" lIns="0" rIns="0" tIns="0" bIns="0">
            <a:spAutoFit/>
          </a:bodyPr>
          <a:lstStyle/>
          <a:p>
            <a:pPr algn="ctr">
              <a:spcAft>
                <a:spcPts val="600"/>
              </a:spcAft>
            </a:pPr>
            <a:r>
              <a:rPr sz="1800">
                <a:solidFill>
                  <a:srgbClr val="1D1D1F"/>
                </a:solidFill>
                <a:latin typeface="Pretendard"/>
              </a:rPr>
              <a:t>🏟️</a:t>
            </a:r>
          </a:p>
          <a:p>
            <a:pPr algn="l">
              <a:spcAft>
                <a:spcPts val="600"/>
              </a:spcAft>
            </a:pPr>
            <a:r>
              <a:rPr sz="1800" b="1">
                <a:solidFill>
                  <a:srgbClr val="1D1D1F"/>
                </a:solidFill>
                <a:latin typeface="Pretendard"/>
              </a:rPr>
              <a:t>잠실 MICE</a:t>
            </a:r>
          </a:p>
          <a:p>
            <a:pPr algn="l">
              <a:spcAft>
                <a:spcPts val="600"/>
              </a:spcAft>
            </a:pPr>
            <a:r>
              <a:rPr sz="1360">
                <a:solidFill>
                  <a:srgbClr val="1D1D1F"/>
                </a:solidFill>
                <a:latin typeface="Pretendard"/>
              </a:rPr>
              <a:t>▪ 스포츠·마이스 복합 공간 조성 사업</a:t>
            </a:r>
          </a:p>
          <a:p>
            <a:pPr algn="l">
              <a:spcAft>
                <a:spcPts val="600"/>
              </a:spcAft>
            </a:pPr>
            <a:r>
              <a:rPr sz="1360">
                <a:solidFill>
                  <a:srgbClr val="1D1D1F"/>
                </a:solidFill>
                <a:latin typeface="Pretendard"/>
              </a:rPr>
              <a:t>▪ 한화 컨소시엄 주도, 약 6조 원 규모의 초대형 민자</a:t>
            </a:r>
          </a:p>
          <a:p>
            <a:pPr algn="l">
              <a:spcAft>
                <a:spcPts val="600"/>
              </a:spcAft>
            </a:pPr>
            <a:r>
              <a:rPr sz="1360">
                <a:solidFill>
                  <a:srgbClr val="1D1D1F"/>
                </a:solidFill>
                <a:latin typeface="Pretendard"/>
              </a:rPr>
              <a:t>▪ 강남권역 동진(Eastward) 트렌드를 가속화</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외국인 자본의 트로피 매입 사이클 진입</a:t>
            </a:r>
          </a:p>
          <a:p>
            <a:pPr algn="ctr"/>
            <a:r>
              <a:rPr sz="3200" b="1">
                <a:solidFill>
                  <a:srgbClr val="1D1D1F"/>
                </a:solidFill>
                <a:latin typeface="Pretendard"/>
              </a:rPr>
              <a:t>한국판 Reversal: 헐값 매각에서 프리미엄 매입 시대로</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2025~2030 (NOW)</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1996~2000</a:t>
            </a:r>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첫 프리미엄 매입 사이클</a:t>
            </a:r>
          </a:p>
          <a:p>
            <a:pPr algn="ctr">
              <a:spcAft>
                <a:spcPts val="600"/>
              </a:spcAft>
            </a:pPr>
            <a:r>
              <a:rPr sz="1700" b="1">
                <a:solidFill>
                  <a:srgbClr val="1D1D1F"/>
                </a:solidFill>
                <a:latin typeface="Pretendard"/>
              </a:rPr>
              <a:t>글로벌 자본의 핵심 트렌드</a:t>
            </a:r>
          </a:p>
          <a:p>
            <a:pPr algn="ctr">
              <a:spcAft>
                <a:spcPts val="600"/>
              </a:spcAft>
            </a:pPr>
            <a:r>
              <a:rPr sz="1530">
                <a:solidFill>
                  <a:srgbClr val="1D1D1F"/>
                </a:solidFill>
                <a:latin typeface="Pretendard"/>
              </a:rPr>
              <a:t>과거와 정반대로, 이제는 프리미엄 가격을 지불하고서라도 한국의 트로피 자산을 매입하려는 글로벌 펀드들의 본격 진입기</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IMF 외환위기 시대</a:t>
            </a:r>
          </a:p>
          <a:p>
            <a:pPr algn="ctr">
              <a:spcAft>
                <a:spcPts val="600"/>
              </a:spcAft>
            </a:pPr>
            <a:r>
              <a:rPr sz="1700" b="1">
                <a:solidFill>
                  <a:srgbClr val="1D1D1F"/>
                </a:solidFill>
                <a:latin typeface="Pretendard"/>
              </a:rPr>
              <a:t>자산 헐값 매각 (Fire Sale)</a:t>
            </a:r>
          </a:p>
          <a:p>
            <a:pPr algn="ctr">
              <a:spcAft>
                <a:spcPts val="600"/>
              </a:spcAft>
            </a:pPr>
            <a:r>
              <a:rPr sz="1530">
                <a:solidFill>
                  <a:srgbClr val="1D1D1F"/>
                </a:solidFill>
                <a:latin typeface="Pretendard"/>
              </a:rPr>
              <a:t>거시 경제의 붕괴로 인해 생존을 위해 알짜 자산과 빌딩들을 외국계 자본에 헐값으로 넘겨야 했던 시기</a:t>
            </a:r>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ctr">
              <a:spcAft>
                <a:spcPts val="600"/>
              </a:spcAft>
            </a:pPr>
            <a:r>
              <a:rPr sz="1800">
                <a:solidFill>
                  <a:srgbClr val="1D1D1F"/>
                </a:solidFill>
                <a:latin typeface="Pretendard"/>
              </a:rPr>
              <a:t>➔</a:t>
            </a:r>
          </a:p>
          <a:p>
            <a:pPr algn="ctr">
              <a:spcAft>
                <a:spcPts val="600"/>
              </a:spcAft>
            </a:pPr>
            <a:r>
              <a:rPr sz="1360" b="1">
                <a:solidFill>
                  <a:srgbClr val="1D1D1F"/>
                </a:solidFill>
                <a:latin typeface="Pretendard"/>
              </a:rPr>
              <a:t>REVERSAL</a:t>
            </a:r>
          </a:p>
          <a:p>
            <a:pPr algn="l">
              <a:spcAft>
                <a:spcPts val="600"/>
              </a:spcAft>
            </a:pPr>
            <a:r>
              <a:rPr sz="1700" b="1">
                <a:solidFill>
                  <a:srgbClr val="1D1D1F"/>
                </a:solidFill>
                <a:latin typeface="Pretendard"/>
              </a:rPr>
              <a:t>▪ 2025년 Aberdeen Pacific Tower, BentallGreenOak Tower 730, PAG·Koramco Digital Dream Tower 등 실사례 다수 포진</a:t>
            </a:r>
          </a:p>
          <a:p>
            <a:pPr algn="l">
              <a:spcAft>
                <a:spcPts val="600"/>
              </a:spcAft>
            </a:pPr>
            <a:r>
              <a:rPr sz="1700" b="1">
                <a:solidFill>
                  <a:srgbClr val="1D1D1F"/>
                </a:solidFill>
                <a:latin typeface="Pretendard"/>
              </a:rPr>
              <a:t>▪ 이는 1980년대 막강한 현금력을 바탕으로 미국 록펠러센터·Pebble Beach를 매입하던 일본 자본 사이클의 한국판 Reversal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7.</a:t>
            </a:r>
          </a:p>
          <a:p>
            <a:pPr algn="ctr">
              <a:spcAft>
                <a:spcPts val="1400"/>
              </a:spcAft>
            </a:pPr>
            <a:r>
              <a:rPr sz="2400" b="1">
                <a:solidFill>
                  <a:srgbClr val="FFFFFF"/>
                </a:solidFill>
                <a:latin typeface="Pretendard"/>
              </a:rPr>
              <a:t>KOSPI 시나리오별 전망</a:t>
            </a:r>
            <a:r>
              <a:rPr sz="2400" b="1">
                <a:solidFill>
                  <a:srgbClr val="FFFFFF"/>
                </a:solidFill>
                <a:latin typeface="Pretendard"/>
              </a:rPr>
              <a:t>KOSPI 시나리오별 전망</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KOSPI 10,000을 향한 BASE 우상향</a:t>
            </a:r>
          </a:p>
          <a:p>
            <a:pPr algn="ctr"/>
            <a:r>
              <a:rPr sz="3200" b="1">
                <a:solidFill>
                  <a:srgbClr val="1D1D1F"/>
                </a:solidFill>
                <a:latin typeface="Pretendard"/>
              </a:rPr>
              <a:t>이익 성장과 밸류업이 창출할 자본시장의 거대한 체력 증진</a:t>
            </a:r>
          </a:p>
        </p:txBody>
      </p:sp>
      <p:sp>
        <p:nvSpPr>
          <p:cNvPr id="3" name="Rounded Rectangle 2"/>
          <p:cNvSpPr/>
          <p:nvPr/>
        </p:nvSpPr>
        <p:spPr>
          <a:xfrm>
            <a:off x="914400" y="219456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2035</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2040</a:t>
            </a:r>
          </a:p>
          <a:p>
            <a:pPr algn="ctr">
              <a:spcAft>
                <a:spcPts val="600"/>
              </a:spcAft>
            </a:pPr>
            <a:r>
              <a:rPr sz="1800" b="1">
                <a:solidFill>
                  <a:srgbClr val="1D1D1F"/>
                </a:solidFill>
                <a:latin typeface="Pretendard"/>
              </a:rPr>
              <a:t>9,000~11,000</a:t>
            </a:r>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7,500~9,000</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2030</a:t>
            </a:r>
          </a:p>
          <a:p>
            <a:pPr algn="ctr">
              <a:spcAft>
                <a:spcPts val="600"/>
              </a:spcAft>
            </a:pPr>
            <a:r>
              <a:rPr sz="1800" b="1">
                <a:solidFill>
                  <a:srgbClr val="1D1D1F"/>
                </a:solidFill>
                <a:latin typeface="Pretendard"/>
              </a:rPr>
              <a:t>5,500~6,500</a:t>
            </a:r>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Korea Premium 진입</a:t>
            </a:r>
          </a:p>
        </p:txBody>
      </p:sp>
      <p:sp>
        <p:nvSpPr>
          <p:cNvPr id="13" name="Rounded Rectangle 12"/>
          <p:cNvSpPr/>
          <p:nvPr/>
        </p:nvSpPr>
        <p:spPr>
          <a:xfrm>
            <a:off x="8066836"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3996" y="4480560"/>
            <a:ext cx="2936138"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PER 13배 디스카운트 해소 및 2040년 KOSPI 9,000~11,000 도달. 코리아 프리미엄 진입을 위한 안정적 Base 성장 모델</a:t>
            </a:r>
          </a:p>
          <a:p>
            <a:pPr algn="ctr">
              <a:spcAft>
                <a:spcPts val="600"/>
              </a:spcAft>
            </a:pPr>
            <a:r>
              <a:rPr sz="1360" b="1">
                <a:solidFill>
                  <a:srgbClr val="1D1D1F"/>
                </a:solidFill>
                <a:latin typeface="Pretendard"/>
              </a:rPr>
              <a:t>전제 1: PER 13~15배</a:t>
            </a:r>
            <a:r>
              <a:t> </a:t>
            </a:r>
            <a:r>
              <a:rPr sz="1360" b="1">
                <a:solidFill>
                  <a:srgbClr val="1D1D1F"/>
                </a:solidFill>
                <a:latin typeface="Pretendard"/>
              </a:rPr>
              <a:t>전제 2: 기업이익 연 7~9% 성장</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BULL 시나리오: 시총 GDP 200% 달성과 퀀텀 점프</a:t>
            </a:r>
          </a:p>
          <a:p>
            <a:pPr algn="ctr"/>
            <a:r>
              <a:rPr sz="3200" b="1">
                <a:solidFill>
                  <a:srgbClr val="1D1D1F"/>
                </a:solidFill>
                <a:latin typeface="Pretendard"/>
              </a:rPr>
              <a:t>싱가포르·홍콩급 금융 허브로 도약하는 압도적 스케일업</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MARKET DEEPENING</a:t>
            </a:r>
          </a:p>
          <a:p>
            <a:pPr algn="ctr">
              <a:spcAft>
                <a:spcPts val="600"/>
              </a:spcAft>
            </a:pPr>
            <a:r>
              <a:rPr sz="1800" b="1">
                <a:solidFill>
                  <a:srgbClr val="1D1D1F"/>
                </a:solidFill>
                <a:latin typeface="Pretendard"/>
              </a:rPr>
              <a:t>시총 GDP 200% 달성</a:t>
            </a:r>
          </a:p>
          <a:p>
            <a:pPr algn="l">
              <a:spcAft>
                <a:spcPts val="600"/>
              </a:spcAft>
            </a:pPr>
            <a:r>
              <a:rPr sz="1360">
                <a:solidFill>
                  <a:srgbClr val="1D1D1F"/>
                </a:solidFill>
                <a:latin typeface="Pretendard"/>
              </a:rPr>
              <a:t>▪ 삼성전자 시총 2,000조+</a:t>
            </a:r>
          </a:p>
          <a:p>
            <a:pPr algn="l">
              <a:spcAft>
                <a:spcPts val="600"/>
              </a:spcAft>
            </a:pPr>
            <a:r>
              <a:rPr sz="1360">
                <a:solidFill>
                  <a:srgbClr val="1D1D1F"/>
                </a:solidFill>
                <a:latin typeface="Pretendard"/>
              </a:rPr>
              <a:t>▪ SK하이닉스 시총 1,000조+</a:t>
            </a:r>
          </a:p>
          <a:p>
            <a:pPr algn="l">
              <a:spcAft>
                <a:spcPts val="600"/>
              </a:spcAft>
            </a:pPr>
            <a:r>
              <a:rPr sz="1360">
                <a:solidFill>
                  <a:srgbClr val="1D1D1F"/>
                </a:solidFill>
                <a:latin typeface="Pretendard"/>
              </a:rPr>
              <a:t>▪ 현재 110% 수준에서 폭발적 확장</a:t>
            </a:r>
          </a:p>
        </p:txBody>
      </p:sp>
      <p:sp>
        <p:nvSpPr>
          <p:cNvPr id="5" name="Rounded Rectangle 4"/>
          <p:cNvSpPr/>
          <p:nvPr/>
        </p:nvSpPr>
        <p:spPr>
          <a:xfrm>
            <a:off x="4490618" y="219456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2035</a:t>
            </a:r>
          </a:p>
          <a:p>
            <a:pPr algn="ctr">
              <a:spcAft>
                <a:spcPts val="600"/>
              </a:spcAft>
            </a:pPr>
            <a:r>
              <a:rPr sz="1800" b="1">
                <a:solidFill>
                  <a:srgbClr val="1D1D1F"/>
                </a:solidFill>
                <a:latin typeface="Pretendard"/>
              </a:rPr>
              <a:t>11,000 ~13,000</a:t>
            </a:r>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15,000 ~18,000</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2030</a:t>
            </a:r>
          </a:p>
          <a:p>
            <a:pPr algn="ctr">
              <a:spcAft>
                <a:spcPts val="600"/>
              </a:spcAft>
            </a:pPr>
            <a:r>
              <a:rPr sz="1800" b="1">
                <a:solidFill>
                  <a:srgbClr val="1D1D1F"/>
                </a:solidFill>
                <a:latin typeface="Pretendard"/>
              </a:rPr>
              <a:t>7,000 ~8,500</a:t>
            </a:r>
          </a:p>
        </p:txBody>
      </p:sp>
      <p:sp>
        <p:nvSpPr>
          <p:cNvPr id="13" name="Rounded Rectangle 12"/>
          <p:cNvSpPr/>
          <p:nvPr/>
        </p:nvSpPr>
        <p:spPr>
          <a:xfrm>
            <a:off x="8066836"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3996" y="4480560"/>
            <a:ext cx="2936138"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삼성전자 2천 조 원 시대 도래와 함께 1만 5천~1만 8천 선까지 폭주, 전체 시장 시총이 GDP 대비 200%에 달하는 폭발적 딥 마켓(Deep Market) 구축 전망</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BEAR 시나리오: 짙은 디플레이션 그림자와 박스피</a:t>
            </a:r>
          </a:p>
          <a:p>
            <a:pPr algn="ctr"/>
            <a:r>
              <a:rPr sz="3200" b="1">
                <a:solidFill>
                  <a:srgbClr val="1D1D1F"/>
                </a:solidFill>
                <a:latin typeface="Pretendard"/>
              </a:rPr>
              <a:t>일본식 박스피에 짓눌린 인구 절벽 늪에서의 자본 이탈 리스크</a:t>
            </a:r>
          </a:p>
        </p:txBody>
      </p:sp>
      <p:sp>
        <p:nvSpPr>
          <p:cNvPr id="3" name="Rounded Rectangle 2"/>
          <p:cNvSpPr/>
          <p:nvPr/>
        </p:nvSpPr>
        <p:spPr>
          <a:xfrm>
            <a:off x="914400"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LONG-TERM BOX RANGE</a:t>
            </a:r>
            <a:r>
              <a:t>            </a:t>
            </a:r>
            <a:r>
              <a:rPr sz="1700" b="1">
                <a:solidFill>
                  <a:srgbClr val="1D1D1F"/>
                </a:solidFill>
                <a:latin typeface="Pretendard"/>
              </a:rPr>
              <a:t>2035</a:t>
            </a:r>
          </a:p>
          <a:p>
            <a:pPr algn="ctr">
              <a:spcAft>
                <a:spcPts val="600"/>
              </a:spcAft>
            </a:pPr>
            <a:r>
              <a:rPr sz="1700" b="1">
                <a:solidFill>
                  <a:srgbClr val="1D1D1F"/>
                </a:solidFill>
                <a:latin typeface="Pretendard"/>
              </a:rPr>
              <a:t>2030</a:t>
            </a:r>
          </a:p>
        </p:txBody>
      </p:sp>
      <p:sp>
        <p:nvSpPr>
          <p:cNvPr id="5" name="Rounded Rectangle 4"/>
          <p:cNvSpPr/>
          <p:nvPr/>
        </p:nvSpPr>
        <p:spPr>
          <a:xfrm>
            <a:off x="118330903"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468063" y="2331720"/>
            <a:ext cx="2042083" cy="374904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TRAP</a:t>
            </a:r>
            <a:r>
              <a:t>                          </a:t>
            </a:r>
            <a:r>
              <a:rPr sz="1700" b="1">
                <a:solidFill>
                  <a:srgbClr val="1D1D1F"/>
                </a:solidFill>
                <a:latin typeface="Pretendard"/>
              </a:rPr>
              <a:t>2040</a:t>
            </a:r>
          </a:p>
          <a:p>
            <a:pPr algn="ctr">
              <a:spcAft>
                <a:spcPts val="600"/>
              </a:spcAft>
            </a:pPr>
            <a:r>
              <a:rPr sz="1800" b="1">
                <a:solidFill>
                  <a:srgbClr val="1D1D1F"/>
                </a:solidFill>
                <a:latin typeface="Pretendard"/>
              </a:rPr>
              <a:t>5,500 ~7,000</a:t>
            </a:r>
          </a:p>
          <a:p>
            <a:pPr algn="ctr">
              <a:spcAft>
                <a:spcPts val="600"/>
              </a:spcAft>
            </a:pPr>
            <a:r>
              <a:rPr sz="1530" b="1">
                <a:solidFill>
                  <a:srgbClr val="1D1D1F"/>
                </a:solidFill>
                <a:latin typeface="Pretendard"/>
              </a:rPr>
              <a:t>일본식 디플레 압력</a:t>
            </a:r>
          </a:p>
          <a:p>
            <a:pPr algn="ctr">
              <a:spcAft>
                <a:spcPts val="600"/>
              </a:spcAft>
            </a:pPr>
            <a:r>
              <a:rPr sz="1530" b="1">
                <a:solidFill>
                  <a:srgbClr val="1D1D1F"/>
                </a:solidFill>
                <a:latin typeface="Pretendard"/>
              </a:rPr>
              <a:t>인구 충격 동반</a:t>
            </a:r>
          </a:p>
        </p:txBody>
      </p:sp>
      <p:sp>
        <p:nvSpPr>
          <p:cNvPr id="7" name="Rounded Rectangle 6"/>
          <p:cNvSpPr/>
          <p:nvPr/>
        </p:nvSpPr>
        <p:spPr>
          <a:xfrm>
            <a:off x="481575676"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1712836"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4,500 ~6,000</a:t>
            </a:r>
          </a:p>
        </p:txBody>
      </p:sp>
      <p:sp>
        <p:nvSpPr>
          <p:cNvPr id="9" name="Rounded Rectangle 8"/>
          <p:cNvSpPr/>
          <p:nvPr/>
        </p:nvSpPr>
        <p:spPr>
          <a:xfrm>
            <a:off x="721906315"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043475"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4,500 ~5,200</a:t>
            </a:r>
          </a:p>
          <a:p>
            <a:pPr algn="l">
              <a:spcAft>
                <a:spcPts val="600"/>
              </a:spcAft>
            </a:pPr>
            <a:r>
              <a:rPr sz="1530" b="1">
                <a:solidFill>
                  <a:srgbClr val="1D1D1F"/>
                </a:solidFill>
                <a:latin typeface="Pretendard"/>
              </a:rPr>
              <a:t>리스크 경고</a:t>
            </a:r>
          </a:p>
          <a:p>
            <a:pPr algn="l">
              <a:spcAft>
                <a:spcPts val="600"/>
              </a:spcAft>
            </a:pPr>
            <a:r>
              <a:rPr sz="1700" b="1">
                <a:solidFill>
                  <a:srgbClr val="1D1D1F"/>
                </a:solidFill>
                <a:latin typeface="Pretendard"/>
              </a:rPr>
              <a:t>인구 충격과 지정학의 덫에 빠질 경우 KOSPI가 4천~6천 대 긴 박스권에 체류하며 밸류에이션 붕괴와 지독한 디플레 압력을 받을 리스크 경고</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A0A0A0"/>
                </a:solidFill>
                <a:latin typeface="Pretendard"/>
              </a:rPr>
              <a:t>KOSPI 상승이 촉발할 부동산 리레이팅</a:t>
            </a:r>
          </a:p>
          <a:p>
            <a:pPr algn="ctr"/>
            <a:r>
              <a:rPr sz="3200" b="1">
                <a:solidFill>
                  <a:srgbClr val="FFFFFF"/>
                </a:solidFill>
                <a:latin typeface="Pretendard"/>
              </a:rPr>
              <a:t>주식 PER 팽창이 트로피 자산의 캡레이트 압축과 가치 급등을 강제하는 연쇄 효과</a:t>
            </a:r>
          </a:p>
        </p:txBody>
      </p:sp>
      <p:sp>
        <p:nvSpPr>
          <p:cNvPr id="3" name="Rounded Rectangle 2"/>
          <p:cNvSpPr/>
          <p:nvPr/>
        </p:nvSpPr>
        <p:spPr>
          <a:xfrm>
            <a:off x="914400" y="2194560"/>
            <a:ext cx="3210458" cy="1874520"/>
          </a:xfrm>
          <a:prstGeom prst="roundRect">
            <a:avLst/>
          </a:prstGeom>
          <a:no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800" b="1">
                <a:solidFill>
                  <a:srgbClr val="FFFFFF"/>
                </a:solidFill>
                <a:latin typeface="Pretendard"/>
              </a:rPr>
              <a:t>트로피 자산 가치 상승</a:t>
            </a:r>
          </a:p>
          <a:p>
            <a:pPr algn="ctr">
              <a:spcAft>
                <a:spcPts val="600"/>
              </a:spcAft>
            </a:pPr>
            <a:r>
              <a:rPr sz="1530" b="1">
                <a:solidFill>
                  <a:srgbClr val="FFFFFF"/>
                </a:solidFill>
                <a:latin typeface="Pretendard"/>
              </a:rPr>
              <a:t>대규모 Valuation Lift 발생. 단일 최대 트로피 자산의 Re-rating 본격화</a:t>
            </a:r>
          </a:p>
        </p:txBody>
      </p:sp>
      <p:sp>
        <p:nvSpPr>
          <p:cNvPr id="5" name="Rounded Rectangle 4"/>
          <p:cNvSpPr/>
          <p:nvPr/>
        </p:nvSpPr>
        <p:spPr>
          <a:xfrm>
            <a:off x="4490618" y="2194560"/>
            <a:ext cx="3210458" cy="1874520"/>
          </a:xfrm>
          <a:prstGeom prst="round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ctr">
              <a:spcAft>
                <a:spcPts val="600"/>
              </a:spcAft>
            </a:pPr>
            <a:r>
              <a:rPr sz="1800">
                <a:solidFill>
                  <a:srgbClr val="FFFFFF"/>
                </a:solidFill>
                <a:latin typeface="Pretendard"/>
              </a:rPr>
              <a:t>➔</a:t>
            </a:r>
          </a:p>
          <a:p>
            <a:pPr algn="ctr">
              <a:spcAft>
                <a:spcPts val="600"/>
              </a:spcAft>
            </a:pPr>
            <a:r>
              <a:rPr sz="1800" b="1">
                <a:solidFill>
                  <a:srgbClr val="FFFFFF"/>
                </a:solidFill>
                <a:latin typeface="Pretendard"/>
              </a:rPr>
              <a:t>주식 PER 상승</a:t>
            </a:r>
          </a:p>
          <a:p>
            <a:pPr algn="ctr">
              <a:spcAft>
                <a:spcPts val="600"/>
              </a:spcAft>
            </a:pPr>
            <a:r>
              <a:rPr sz="1530">
                <a:solidFill>
                  <a:srgbClr val="FFFFFF"/>
                </a:solidFill>
                <a:latin typeface="Pretendard"/>
              </a:rPr>
              <a:t>KOSPI 5,000 이미 달성 완료, 코리아 프리미엄 시작 (컨센서스 이동)</a:t>
            </a:r>
          </a:p>
        </p:txBody>
      </p:sp>
      <p:sp>
        <p:nvSpPr>
          <p:cNvPr id="7" name="Rounded Rectangle 6"/>
          <p:cNvSpPr/>
          <p:nvPr/>
        </p:nvSpPr>
        <p:spPr>
          <a:xfrm>
            <a:off x="8066836" y="2194560"/>
            <a:ext cx="3210458" cy="1874520"/>
          </a:xfrm>
          <a:prstGeom prst="round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ctr">
              <a:spcAft>
                <a:spcPts val="600"/>
              </a:spcAft>
            </a:pPr>
            <a:r>
              <a:rPr sz="1800">
                <a:solidFill>
                  <a:srgbClr val="FFFFFF"/>
                </a:solidFill>
                <a:latin typeface="Pretendard"/>
              </a:rPr>
              <a:t>➔</a:t>
            </a:r>
          </a:p>
          <a:p>
            <a:pPr algn="ctr">
              <a:spcAft>
                <a:spcPts val="600"/>
              </a:spcAft>
            </a:pPr>
            <a:r>
              <a:rPr sz="1800" b="1">
                <a:solidFill>
                  <a:srgbClr val="FFFFFF"/>
                </a:solidFill>
                <a:latin typeface="Pretendard"/>
              </a:rPr>
              <a:t>부동산 캡레이트 압축</a:t>
            </a:r>
          </a:p>
          <a:p>
            <a:pPr algn="ctr">
              <a:spcAft>
                <a:spcPts val="600"/>
              </a:spcAft>
            </a:pPr>
            <a:r>
              <a:rPr sz="1530">
                <a:solidFill>
                  <a:srgbClr val="FFFFFF"/>
                </a:solidFill>
                <a:latin typeface="Pretendard"/>
              </a:rPr>
              <a:t>자본 시장 팽창이 실물 자산의 요구 수익률(Cap Rate)을 강력하게 끌어내림</a:t>
            </a:r>
          </a:p>
          <a:p>
            <a:pPr algn="ctr">
              <a:spcAft>
                <a:spcPts val="600"/>
              </a:spcAft>
            </a:pPr>
            <a:r>
              <a:rPr sz="1800" b="1">
                <a:solidFill>
                  <a:srgbClr val="FFFFFF"/>
                </a:solidFill>
                <a:latin typeface="Pretendard"/>
              </a:rPr>
              <a:t>주가 상승 = 코리아 프리미엄 = 캡레이트 하락</a:t>
            </a:r>
          </a:p>
        </p:txBody>
      </p:sp>
      <p:sp>
        <p:nvSpPr>
          <p:cNvPr id="9" name="Rounded Rectangle 8"/>
          <p:cNvSpPr/>
          <p:nvPr/>
        </p:nvSpPr>
        <p:spPr>
          <a:xfrm>
            <a:off x="914400" y="4343400"/>
            <a:ext cx="3210458" cy="1874520"/>
          </a:xfrm>
          <a:prstGeom prst="round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ctr">
              <a:spcAft>
                <a:spcPts val="600"/>
              </a:spcAft>
            </a:pPr>
            <a:r>
              <a:rPr sz="1800">
                <a:solidFill>
                  <a:srgbClr val="FFFFFF"/>
                </a:solidFill>
                <a:latin typeface="Pretendard"/>
              </a:rPr>
              <a:t>📈</a:t>
            </a:r>
          </a:p>
        </p:txBody>
      </p:sp>
      <p:sp>
        <p:nvSpPr>
          <p:cNvPr id="11" name="Rounded Rectangle 10"/>
          <p:cNvSpPr/>
          <p:nvPr/>
        </p:nvSpPr>
        <p:spPr>
          <a:xfrm>
            <a:off x="4490618" y="4343400"/>
            <a:ext cx="3210458" cy="1874520"/>
          </a:xfrm>
          <a:prstGeom prst="round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ctr">
              <a:spcAft>
                <a:spcPts val="600"/>
              </a:spcAft>
            </a:pPr>
            <a:r>
              <a:rPr sz="1800">
                <a:solidFill>
                  <a:srgbClr val="FFFFFF"/>
                </a:solidFill>
                <a:latin typeface="Pretendard"/>
              </a:rPr>
              <a:t>⏬</a:t>
            </a:r>
          </a:p>
        </p:txBody>
      </p:sp>
      <p:sp>
        <p:nvSpPr>
          <p:cNvPr id="13" name="Rounded Rectangle 12"/>
          <p:cNvSpPr/>
          <p:nvPr/>
        </p:nvSpPr>
        <p:spPr>
          <a:xfrm>
            <a:off x="8066836" y="4343400"/>
            <a:ext cx="3210458" cy="1874520"/>
          </a:xfrm>
          <a:prstGeom prst="round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3996" y="4480560"/>
            <a:ext cx="2936138" cy="1600200"/>
          </a:xfrm>
          <a:prstGeom prst="rect">
            <a:avLst/>
          </a:prstGeom>
          <a:noFill/>
        </p:spPr>
        <p:txBody>
          <a:bodyPr wrap="square" lIns="0" rIns="0" tIns="0" bIns="0">
            <a:spAutoFit/>
          </a:bodyPr>
          <a:lstStyle/>
          <a:p>
            <a:pPr algn="ctr">
              <a:spcAft>
                <a:spcPts val="600"/>
              </a:spcAft>
            </a:pPr>
            <a:r>
              <a:rPr sz="1800">
                <a:solidFill>
                  <a:srgbClr val="FFFFFF"/>
                </a:solidFill>
                <a:latin typeface="Pretendard"/>
              </a:rPr>
              <a:t>🏆</a:t>
            </a:r>
          </a:p>
        </p:txBody>
      </p:sp>
      <p:sp>
        <p:nvSpPr>
          <p:cNvPr id="15" name="Rectangle 14"/>
          <p:cNvSpPr/>
          <p:nvPr/>
        </p:nvSpPr>
        <p:spPr>
          <a:xfrm>
            <a:off x="914400" y="4947245"/>
            <a:ext cx="10362895" cy="12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8.</a:t>
            </a:r>
          </a:p>
          <a:p>
            <a:pPr algn="ctr">
              <a:spcAft>
                <a:spcPts val="1400"/>
              </a:spcAft>
            </a:pPr>
            <a:r>
              <a:rPr sz="2400" b="1">
                <a:solidFill>
                  <a:srgbClr val="FFFFFF"/>
                </a:solidFill>
                <a:latin typeface="Pretendard"/>
              </a:rPr>
              <a:t>프라임 오피스 임대료 국제 비교 및 수렴 Thesis</a:t>
            </a:r>
            <a:r>
              <a:rPr sz="2400" b="1">
                <a:solidFill>
                  <a:srgbClr val="FFFFFF"/>
                </a:solidFill>
                <a:latin typeface="Pretendard"/>
              </a:rPr>
              <a:t>프라임 오피스 임대료 국제 비교 및 수렴 Thesis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여전히 싼 서울 프라임 오피스</a:t>
            </a:r>
          </a:p>
          <a:p>
            <a:pPr algn="ctr"/>
            <a:r>
              <a:rPr sz="3200" b="1">
                <a:solidFill>
                  <a:srgbClr val="1D1D1F"/>
                </a:solidFill>
                <a:latin typeface="Pretendard"/>
              </a:rPr>
              <a:t>서울은 글로벌 1선 도시 중 가장 낮은 프라임 임대료를 유지 중</a:t>
            </a:r>
          </a:p>
        </p:txBody>
      </p:sp>
      <p:sp>
        <p:nvSpPr>
          <p:cNvPr id="3" name="Rounded Rectangle 2"/>
          <p:cNvSpPr/>
          <p:nvPr/>
        </p:nvSpPr>
        <p:spPr>
          <a:xfrm>
            <a:off x="914400" y="219456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250~280</a:t>
            </a:r>
          </a:p>
          <a:p>
            <a:pPr algn="ctr">
              <a:spcAft>
                <a:spcPts val="600"/>
              </a:spcAft>
            </a:pPr>
            <a:r>
              <a:rPr sz="1800" b="1">
                <a:solidFill>
                  <a:srgbClr val="1D1D1F"/>
                </a:solidFill>
                <a:latin typeface="Pretendard"/>
              </a:rPr>
              <a:t>200~220</a:t>
            </a:r>
          </a:p>
          <a:p>
            <a:pPr algn="ctr">
              <a:spcAft>
                <a:spcPts val="600"/>
              </a:spcAft>
            </a:pPr>
            <a:r>
              <a:rPr sz="1800" b="1">
                <a:solidFill>
                  <a:srgbClr val="1D1D1F"/>
                </a:solidFill>
                <a:latin typeface="Pretendard"/>
              </a:rPr>
              <a:t>190~210</a:t>
            </a:r>
          </a:p>
          <a:p>
            <a:pPr algn="ctr">
              <a:spcAft>
                <a:spcPts val="600"/>
              </a:spcAft>
            </a:pPr>
            <a:r>
              <a:rPr sz="1800" b="1">
                <a:solidFill>
                  <a:srgbClr val="1D1D1F"/>
                </a:solidFill>
                <a:latin typeface="Pretendard"/>
              </a:rPr>
              <a:t>180~200</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p:txBody>
      </p:sp>
      <p:sp>
        <p:nvSpPr>
          <p:cNvPr id="9" name="Rounded Rectangle 8"/>
          <p:cNvSpPr/>
          <p:nvPr/>
        </p:nvSpPr>
        <p:spPr>
          <a:xfrm>
            <a:off x="896089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130~150</a:t>
            </a:r>
          </a:p>
        </p:txBody>
      </p:sp>
      <p:sp>
        <p:nvSpPr>
          <p:cNvPr id="13" name="Rounded Rectangle 12"/>
          <p:cNvSpPr/>
          <p:nvPr/>
        </p:nvSpPr>
        <p:spPr>
          <a:xfrm>
            <a:off x="3596563"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4480560"/>
            <a:ext cx="2042083" cy="1600200"/>
          </a:xfrm>
          <a:prstGeom prst="rect">
            <a:avLst/>
          </a:prstGeom>
          <a:noFill/>
        </p:spPr>
        <p:txBody>
          <a:bodyPr wrap="square" lIns="0" rIns="0" tIns="0" bIns="0">
            <a:spAutoFit/>
          </a:bodyPr>
          <a:lstStyle/>
          <a:p>
            <a:pPr algn="l">
              <a:spcAft>
                <a:spcPts val="600"/>
              </a:spcAft>
            </a:pPr>
            <a:r>
              <a:rPr sz="1700" b="1">
                <a:solidFill>
                  <a:srgbClr val="1D1D1F"/>
                </a:solidFill>
                <a:latin typeface="Pretendard"/>
              </a:rPr>
              <a:t>홍콩 센트럴</a:t>
            </a:r>
          </a:p>
          <a:p>
            <a:pPr algn="l">
              <a:spcAft>
                <a:spcPts val="600"/>
              </a:spcAft>
            </a:pPr>
            <a:r>
              <a:rPr sz="1700" b="1">
                <a:solidFill>
                  <a:srgbClr val="1D1D1F"/>
                </a:solidFill>
                <a:latin typeface="Pretendard"/>
              </a:rPr>
              <a:t>런던 웨스트엔드</a:t>
            </a:r>
          </a:p>
          <a:p>
            <a:pPr algn="l">
              <a:spcAft>
                <a:spcPts val="600"/>
              </a:spcAft>
            </a:pPr>
            <a:r>
              <a:rPr sz="1700" b="1">
                <a:solidFill>
                  <a:srgbClr val="1D1D1F"/>
                </a:solidFill>
                <a:latin typeface="Pretendard"/>
              </a:rPr>
              <a:t>도쿄 마루노우치</a:t>
            </a:r>
          </a:p>
          <a:p>
            <a:pPr algn="l">
              <a:spcAft>
                <a:spcPts val="600"/>
              </a:spcAft>
            </a:pPr>
            <a:r>
              <a:rPr sz="1700" b="1">
                <a:solidFill>
                  <a:srgbClr val="1D1D1F"/>
                </a:solidFill>
                <a:latin typeface="Pretendard"/>
              </a:rPr>
              <a:t>뉴욕 미드타운</a:t>
            </a:r>
          </a:p>
          <a:p>
            <a:pPr algn="l">
              <a:spcAft>
                <a:spcPts val="600"/>
              </a:spcAft>
            </a:pPr>
            <a:r>
              <a:rPr sz="1700" b="1">
                <a:solidFill>
                  <a:srgbClr val="1D1D1F"/>
                </a:solidFill>
                <a:latin typeface="Pretendard"/>
              </a:rPr>
              <a:t>싱가포르 라플즈</a:t>
            </a:r>
          </a:p>
          <a:p>
            <a:pPr algn="l">
              <a:spcAft>
                <a:spcPts val="600"/>
              </a:spcAft>
            </a:pPr>
            <a:r>
              <a:rPr sz="1800" b="1">
                <a:solidFill>
                  <a:srgbClr val="1D1D1F"/>
                </a:solidFill>
                <a:latin typeface="Pretendard"/>
              </a:rPr>
              <a:t>서울 GBD 프라임</a:t>
            </a:r>
            <a:r>
              <a:t>              </a:t>
            </a:r>
            <a:r>
              <a:rPr sz="1800" b="1">
                <a:solidFill>
                  <a:srgbClr val="1D1D1F"/>
                </a:solidFill>
                <a:latin typeface="Pretendard"/>
              </a:rPr>
              <a:t>80~90</a:t>
            </a:r>
          </a:p>
        </p:txBody>
      </p:sp>
      <p:sp>
        <p:nvSpPr>
          <p:cNvPr id="15" name="Rounded Rectangle 14"/>
          <p:cNvSpPr/>
          <p:nvPr/>
        </p:nvSpPr>
        <p:spPr>
          <a:xfrm>
            <a:off x="276409632"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546792" y="448056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홍콩 센트럴의 1/3 수준</a:t>
            </a:r>
          </a:p>
          <a:p>
            <a:pPr algn="ctr">
              <a:spcAft>
                <a:spcPts val="600"/>
              </a:spcAft>
            </a:pPr>
            <a:r>
              <a:rPr sz="1700" b="1">
                <a:solidFill>
                  <a:srgbClr val="1D1D1F"/>
                </a:solidFill>
                <a:latin typeface="Pretendard"/>
              </a:rPr>
              <a:t>싱가포르보다 낮고 홍콩 센트럴 대비 3분의 1 수준의 서울 프라임 임대료</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CONVERGENCE TRADE 2배 랠리의 명분</a:t>
            </a:r>
          </a:p>
          <a:p>
            <a:pPr algn="ctr"/>
            <a:r>
              <a:rPr sz="3200" b="1">
                <a:solidFill>
                  <a:srgbClr val="1D1D1F"/>
                </a:solidFill>
                <a:latin typeface="Pretendard"/>
              </a:rPr>
              <a:t>신규 트로피가 도쿄 수렴점인 USD 150 이상으로 도달할 것이라는 강력한 세일즈 논리</a:t>
            </a:r>
          </a:p>
        </p:txBody>
      </p:sp>
      <p:sp>
        <p:nvSpPr>
          <p:cNvPr id="3" name="Rounded Rectangle 2"/>
          <p:cNvSpPr/>
          <p:nvPr/>
        </p:nvSpPr>
        <p:spPr>
          <a:xfrm>
            <a:off x="914400"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2040 (Tokyo Marunouchi 수준)</a:t>
            </a:r>
          </a:p>
          <a:p>
            <a:pPr algn="ctr">
              <a:spcAft>
                <a:spcPts val="600"/>
              </a:spcAft>
            </a:pPr>
            <a:r>
              <a:rPr sz="1800" b="1">
                <a:solidFill>
                  <a:srgbClr val="1D1D1F"/>
                </a:solidFill>
                <a:latin typeface="Pretendard"/>
              </a:rPr>
              <a:t>USD 150~180</a:t>
            </a:r>
          </a:p>
        </p:txBody>
      </p:sp>
      <p:sp>
        <p:nvSpPr>
          <p:cNvPr id="5" name="Rounded Rectangle 4"/>
          <p:cNvSpPr/>
          <p:nvPr/>
        </p:nvSpPr>
        <p:spPr>
          <a:xfrm>
            <a:off x="3596563"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374904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2026 (현재)</a:t>
            </a:r>
          </a:p>
          <a:p>
            <a:pPr algn="ctr">
              <a:spcAft>
                <a:spcPts val="600"/>
              </a:spcAft>
            </a:pPr>
            <a:r>
              <a:rPr sz="1800" b="1">
                <a:solidFill>
                  <a:srgbClr val="1D1D1F"/>
                </a:solidFill>
                <a:latin typeface="Pretendard"/>
              </a:rPr>
              <a:t>USD 80대</a:t>
            </a:r>
          </a:p>
        </p:txBody>
      </p:sp>
      <p:sp>
        <p:nvSpPr>
          <p:cNvPr id="7" name="Rounded Rectangle 6"/>
          <p:cNvSpPr/>
          <p:nvPr/>
        </p:nvSpPr>
        <p:spPr>
          <a:xfrm>
            <a:off x="6278727"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374904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터무니없는 저평가 현실</a:t>
            </a:r>
          </a:p>
        </p:txBody>
      </p:sp>
      <p:sp>
        <p:nvSpPr>
          <p:cNvPr id="9" name="Rounded Rectangle 8"/>
          <p:cNvSpPr/>
          <p:nvPr/>
        </p:nvSpPr>
        <p:spPr>
          <a:xfrm>
            <a:off x="8960891" y="2194560"/>
            <a:ext cx="2316403"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Convergence Trade</a:t>
            </a:r>
          </a:p>
          <a:p>
            <a:pPr algn="ctr">
              <a:spcAft>
                <a:spcPts val="600"/>
              </a:spcAft>
            </a:pPr>
            <a:r>
              <a:rPr sz="1275" b="1">
                <a:solidFill>
                  <a:srgbClr val="1D1D1F"/>
                </a:solidFill>
                <a:latin typeface="Pretendard"/>
              </a:rPr>
              <a:t>향후 15년간 가격 수렴</a:t>
            </a:r>
          </a:p>
          <a:p>
            <a:pPr algn="ctr">
              <a:spcAft>
                <a:spcPts val="600"/>
              </a:spcAft>
            </a:pPr>
            <a:r>
              <a:rPr sz="1700" b="1">
                <a:solidFill>
                  <a:srgbClr val="1D1D1F"/>
                </a:solidFill>
                <a:latin typeface="Pretendard"/>
              </a:rPr>
              <a:t>현재의 터무니없는 저평가가 역으로 IOTA를 글로벌 LP에게 "향후 15년간 가격이 2배로 수렴 가능하다고 세일즈할 수 있는 단일 최강 Thesis"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Part 3.</a:t>
            </a:r>
          </a:p>
          <a:p>
            <a:pPr algn="ctr">
              <a:spcAft>
                <a:spcPts val="1400"/>
              </a:spcAft>
            </a:pPr>
            <a:r>
              <a:rPr sz="2400" b="1">
                <a:solidFill>
                  <a:srgbClr val="FFFFFF"/>
                </a:solidFill>
                <a:latin typeface="Pretendard"/>
              </a:rPr>
              <a:t>이지스자산운용 전략 포지셔닝</a:t>
            </a:r>
            <a:r>
              <a:rPr sz="2400" b="1">
                <a:solidFill>
                  <a:srgbClr val="FFFFFF"/>
                </a:solidFill>
                <a:latin typeface="Pretendard"/>
              </a:rPr>
              <a:t>이지스자산운용 전략 포지셔닝</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1.</a:t>
            </a:r>
          </a:p>
          <a:p>
            <a:pPr algn="ctr">
              <a:spcAft>
                <a:spcPts val="1400"/>
              </a:spcAft>
            </a:pPr>
            <a:r>
              <a:rPr sz="2400" b="1">
                <a:solidFill>
                  <a:srgbClr val="FFFFFF"/>
                </a:solidFill>
                <a:latin typeface="Pretendard"/>
              </a:rPr>
              <a:t>글로벌 운용사로의 도약</a:t>
            </a:r>
            <a:r>
              <a:rPr sz="2400" b="1">
                <a:solidFill>
                  <a:srgbClr val="FFFFFF"/>
                </a:solidFill>
                <a:latin typeface="Pretendard"/>
              </a:rPr>
              <a:t>글로벌 운용사로의 도약</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이지스의 현재 좌표와 글로벌 비교</a:t>
            </a:r>
          </a:p>
          <a:p>
            <a:pPr algn="ctr"/>
            <a:r>
              <a:rPr sz="3200" b="1">
                <a:solidFill>
                  <a:srgbClr val="1D1D1F"/>
                </a:solidFill>
                <a:latin typeface="Pretendard"/>
              </a:rPr>
              <a:t>AUM 73조 원의 국내 1위, 그러나 글로벌 TOP 대비 9분의 1 수준</a:t>
            </a:r>
          </a:p>
        </p:txBody>
      </p:sp>
      <p:sp>
        <p:nvSpPr>
          <p:cNvPr id="3" name="Rounded Rectangle 2"/>
          <p:cNvSpPr/>
          <p:nvPr/>
        </p:nvSpPr>
        <p:spPr>
          <a:xfrm>
            <a:off x="914400" y="219456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3,360</a:t>
            </a:r>
          </a:p>
          <a:p>
            <a:pPr algn="ctr">
              <a:spcAft>
                <a:spcPts val="600"/>
              </a:spcAft>
            </a:pPr>
            <a:r>
              <a:rPr sz="1800" b="1">
                <a:solidFill>
                  <a:srgbClr val="1D1D1F"/>
                </a:solidFill>
                <a:latin typeface="Pretendard"/>
              </a:rPr>
              <a:t>2,750</a:t>
            </a:r>
          </a:p>
          <a:p>
            <a:pPr algn="ctr">
              <a:spcAft>
                <a:spcPts val="600"/>
              </a:spcAft>
            </a:pPr>
            <a:r>
              <a:rPr sz="1800" b="1">
                <a:solidFill>
                  <a:srgbClr val="1D1D1F"/>
                </a:solidFill>
                <a:latin typeface="Pretendard"/>
              </a:rPr>
              <a:t>2,100</a:t>
            </a:r>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글로벌 부동산 운용사 AUM 현황 (억 USD)</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Blackstone의 약 1/9 수준</a:t>
            </a:r>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l">
              <a:spcAft>
                <a:spcPts val="600"/>
              </a:spcAft>
            </a:pPr>
            <a:r>
              <a:rPr sz="1700" b="1">
                <a:solidFill>
                  <a:srgbClr val="1D1D1F"/>
                </a:solidFill>
                <a:latin typeface="Pretendard"/>
              </a:rPr>
              <a:t>Blackstone RE</a:t>
            </a:r>
          </a:p>
          <a:p>
            <a:pPr algn="l">
              <a:spcAft>
                <a:spcPts val="600"/>
              </a:spcAft>
            </a:pPr>
            <a:r>
              <a:rPr sz="1700" b="1">
                <a:solidFill>
                  <a:srgbClr val="1D1D1F"/>
                </a:solidFill>
                <a:latin typeface="Pretendard"/>
              </a:rPr>
              <a:t>Brookfield RE</a:t>
            </a:r>
          </a:p>
          <a:p>
            <a:pPr algn="l">
              <a:spcAft>
                <a:spcPts val="600"/>
              </a:spcAft>
            </a:pPr>
            <a:r>
              <a:rPr sz="1700" b="1">
                <a:solidFill>
                  <a:srgbClr val="1D1D1F"/>
                </a:solidFill>
                <a:latin typeface="Pretendard"/>
              </a:rPr>
              <a:t>PGIM RE</a:t>
            </a:r>
          </a:p>
          <a:p>
            <a:pPr algn="l">
              <a:spcAft>
                <a:spcPts val="600"/>
              </a:spcAft>
            </a:pPr>
            <a:r>
              <a:rPr sz="1700" b="1">
                <a:solidFill>
                  <a:srgbClr val="1D1D1F"/>
                </a:solidFill>
                <a:latin typeface="Pretendard"/>
              </a:rPr>
              <a:t>Hines</a:t>
            </a:r>
            <a:r>
              <a:t>                 </a:t>
            </a:r>
            <a:r>
              <a:rPr sz="1800" b="1">
                <a:solidFill>
                  <a:srgbClr val="1E3A8A"/>
                </a:solidFill>
                <a:latin typeface="Pretendard"/>
              </a:rPr>
              <a:t>950</a:t>
            </a:r>
          </a:p>
          <a:p>
            <a:pPr algn="l">
              <a:spcAft>
                <a:spcPts val="600"/>
              </a:spcAft>
            </a:pPr>
            <a:r>
              <a:rPr sz="1800" b="1">
                <a:solidFill>
                  <a:srgbClr val="1D1D1F"/>
                </a:solidFill>
                <a:latin typeface="Pretendard"/>
              </a:rPr>
              <a:t>IGIS</a:t>
            </a:r>
            <a:r>
              <a:t>      </a:t>
            </a:r>
            <a:r>
              <a:rPr sz="1800" b="1">
                <a:solidFill>
                  <a:srgbClr val="1E3A8A"/>
                </a:solidFill>
                <a:latin typeface="Pretendard"/>
              </a:rPr>
              <a:t>530</a:t>
            </a:r>
          </a:p>
        </p:txBody>
      </p:sp>
      <p:sp>
        <p:nvSpPr>
          <p:cNvPr id="13" name="Rounded Rectangle 12"/>
          <p:cNvSpPr/>
          <p:nvPr/>
        </p:nvSpPr>
        <p:spPr>
          <a:xfrm>
            <a:off x="124721416"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4858576" y="4480560"/>
            <a:ext cx="2936138"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국내 부동산 펀드·리츠 1위를 넘어 글로벌 무대에서의 객관적 위치 인식</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글로벌 1선 운용사 도약의 본질 조건</a:t>
            </a:r>
          </a:p>
          <a:p>
            <a:pPr algn="ctr"/>
            <a:r>
              <a:rPr sz="3200" b="1">
                <a:solidFill>
                  <a:srgbClr val="1D1D1F"/>
                </a:solidFill>
                <a:latin typeface="Pretendard"/>
              </a:rPr>
              <a:t>AUM 200~300조 도약을 위한 4대 핵심 요건과 플랫폼화</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글로벌 LP 베이스 확보</a:t>
            </a:r>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운용수수료 마진 구조 개선</a:t>
            </a:r>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영구 자본 확대</a:t>
            </a:r>
          </a:p>
        </p:txBody>
      </p:sp>
      <p:sp>
        <p:nvSpPr>
          <p:cNvPr id="9" name="Rounded Rectangle 8"/>
          <p:cNvSpPr/>
          <p:nvPr/>
        </p:nvSpPr>
        <p:spPr>
          <a:xfrm>
            <a:off x="8960891"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Multi-strategy 플랫폼화</a:t>
            </a:r>
          </a:p>
        </p:txBody>
      </p:sp>
      <p:sp>
        <p:nvSpPr>
          <p:cNvPr id="11" name="Rounded Rectangle 10"/>
          <p:cNvSpPr/>
          <p:nvPr/>
        </p:nvSpPr>
        <p:spPr>
          <a:xfrm>
            <a:off x="914400"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Reference: 블랙스톤의 40년 진화 패턴 (한국 압축 버전 목표)</a:t>
            </a:r>
          </a:p>
        </p:txBody>
      </p:sp>
      <p:sp>
        <p:nvSpPr>
          <p:cNvPr id="13" name="Rounded Rectangle 12"/>
          <p:cNvSpPr/>
          <p:nvPr/>
        </p:nvSpPr>
        <p:spPr>
          <a:xfrm>
            <a:off x="3596563"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76428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1985</a:t>
            </a:r>
          </a:p>
          <a:p>
            <a:pPr algn="ctr">
              <a:spcAft>
                <a:spcPts val="600"/>
              </a:spcAft>
            </a:pPr>
            <a:r>
              <a:rPr sz="1275" b="1">
                <a:solidFill>
                  <a:srgbClr val="1D1D1F"/>
                </a:solidFill>
                <a:latin typeface="Pretendard"/>
              </a:rPr>
              <a:t>PE 출발</a:t>
            </a:r>
          </a:p>
        </p:txBody>
      </p:sp>
      <p:sp>
        <p:nvSpPr>
          <p:cNvPr id="15" name="Rounded Rectangle 14"/>
          <p:cNvSpPr/>
          <p:nvPr/>
        </p:nvSpPr>
        <p:spPr>
          <a:xfrm>
            <a:off x="627872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76428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1992</a:t>
            </a:r>
          </a:p>
          <a:p>
            <a:pPr algn="ctr">
              <a:spcAft>
                <a:spcPts val="600"/>
              </a:spcAft>
            </a:pPr>
            <a:r>
              <a:rPr sz="1275" b="1">
                <a:solidFill>
                  <a:srgbClr val="1D1D1F"/>
                </a:solidFill>
                <a:latin typeface="Pretendard"/>
              </a:rPr>
              <a:t>부동산 진입</a:t>
            </a:r>
          </a:p>
        </p:txBody>
      </p:sp>
      <p:sp>
        <p:nvSpPr>
          <p:cNvPr id="17" name="Rounded Rectangle 16"/>
          <p:cNvSpPr/>
          <p:nvPr/>
        </p:nvSpPr>
        <p:spPr>
          <a:xfrm>
            <a:off x="8960891"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76428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2007</a:t>
            </a:r>
          </a:p>
          <a:p>
            <a:pPr algn="ctr">
              <a:spcAft>
                <a:spcPts val="600"/>
              </a:spcAft>
            </a:pPr>
            <a:r>
              <a:rPr sz="1275" b="1">
                <a:solidFill>
                  <a:srgbClr val="1D1D1F"/>
                </a:solidFill>
                <a:latin typeface="Pretendard"/>
              </a:rPr>
              <a:t>IPO</a:t>
            </a:r>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2015</a:t>
            </a:r>
          </a:p>
          <a:p>
            <a:pPr algn="ctr">
              <a:spcAft>
                <a:spcPts val="600"/>
              </a:spcAft>
            </a:pPr>
            <a:r>
              <a:rPr sz="1275" b="1">
                <a:solidFill>
                  <a:srgbClr val="1D1D1F"/>
                </a:solidFill>
                <a:latin typeface="Pretendard"/>
              </a:rPr>
              <a:t>BREIT 출시</a:t>
            </a:r>
          </a:p>
        </p:txBody>
      </p:sp>
      <p:sp>
        <p:nvSpPr>
          <p:cNvPr id="21" name="Rounded Rectangle 20"/>
          <p:cNvSpPr/>
          <p:nvPr/>
        </p:nvSpPr>
        <p:spPr>
          <a:xfrm>
            <a:off x="3596563"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33723" y="519684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2023</a:t>
            </a:r>
          </a:p>
          <a:p>
            <a:pPr algn="ctr">
              <a:spcAft>
                <a:spcPts val="600"/>
              </a:spcAft>
            </a:pPr>
            <a:r>
              <a:rPr sz="1275" b="1">
                <a:solidFill>
                  <a:srgbClr val="1D1D1F"/>
                </a:solidFill>
                <a:latin typeface="Pretendard"/>
              </a:rPr>
              <a:t>인프라/생명과학</a:t>
            </a:r>
          </a:p>
        </p:txBody>
      </p:sp>
      <p:sp>
        <p:nvSpPr>
          <p:cNvPr id="23" name="Rounded Rectangle 22"/>
          <p:cNvSpPr/>
          <p:nvPr/>
        </p:nvSpPr>
        <p:spPr>
          <a:xfrm>
            <a:off x="6278727"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5887" y="519684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단순한 규모 확장을 넘어 질적 체질 개선을 동반한 블랙스톤 압축 진화 모델</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이지스만의 한국적 차별점과 결합 모델</a:t>
            </a:r>
          </a:p>
          <a:p>
            <a:pPr algn="ctr"/>
            <a:r>
              <a:rPr sz="3200" b="1">
                <a:solidFill>
                  <a:srgbClr val="1D1D1F"/>
                </a:solidFill>
                <a:latin typeface="Pretendard"/>
              </a:rPr>
              <a:t>블랙스톤을 넘어선 In-house Vertical Integration의 완성</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ctr">
              <a:spcAft>
                <a:spcPts val="600"/>
              </a:spcAft>
            </a:pPr>
            <a:r>
              <a:rPr sz="1200" b="1">
                <a:solidFill>
                  <a:srgbClr val="1E3A8A"/>
                </a:solidFill>
                <a:latin typeface="Pretendard"/>
              </a:rPr>
              <a:t>01</a:t>
            </a:r>
          </a:p>
          <a:p>
            <a:pPr algn="ctr">
              <a:spcAft>
                <a:spcPts val="600"/>
              </a:spcAft>
            </a:pPr>
            <a:r>
              <a:rPr sz="1800" b="1">
                <a:solidFill>
                  <a:srgbClr val="1D1D1F"/>
                </a:solidFill>
                <a:latin typeface="Pretendard"/>
              </a:rPr>
              <a:t>서울 프라임 압도적 지배력</a:t>
            </a:r>
          </a:p>
          <a:p>
            <a:pPr algn="ctr">
              <a:spcAft>
                <a:spcPts val="600"/>
              </a:spcAft>
            </a:pPr>
            <a:r>
              <a:rPr sz="1360">
                <a:solidFill>
                  <a:srgbClr val="1D1D1F"/>
                </a:solidFill>
                <a:latin typeface="Pretendard"/>
              </a:rPr>
              <a:t>단일 도시 프라임 자산에 대한 독보적인 인사이트와 막강한 딜 소싱(Deal Sourcing) 네트워크 보유</a:t>
            </a:r>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ctr">
              <a:spcAft>
                <a:spcPts val="600"/>
              </a:spcAft>
            </a:pPr>
            <a:r>
              <a:rPr sz="1200" b="1">
                <a:solidFill>
                  <a:srgbClr val="1E3A8A"/>
                </a:solidFill>
                <a:latin typeface="Pretendard"/>
              </a:rPr>
              <a:t>02</a:t>
            </a:r>
          </a:p>
          <a:p>
            <a:pPr algn="ctr">
              <a:spcAft>
                <a:spcPts val="600"/>
              </a:spcAft>
            </a:pPr>
            <a:r>
              <a:rPr sz="1800" b="1">
                <a:solidFill>
                  <a:srgbClr val="1D1D1F"/>
                </a:solidFill>
                <a:latin typeface="Pretendard"/>
              </a:rPr>
              <a:t>국내 기관 LP 신뢰 자본</a:t>
            </a:r>
          </a:p>
          <a:p>
            <a:pPr algn="ctr">
              <a:spcAft>
                <a:spcPts val="600"/>
              </a:spcAft>
            </a:pPr>
            <a:r>
              <a:rPr sz="1360">
                <a:solidFill>
                  <a:srgbClr val="1D1D1F"/>
                </a:solidFill>
                <a:latin typeface="Pretendard"/>
              </a:rPr>
              <a:t>NPS, 교직원공제회, 우정사업본부 등 핵심 기관투자자들과 오랜 기간 쌓아온 두터운 파트너십과 신뢰</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a:pPr algn="ctr">
              <a:spcAft>
                <a:spcPts val="600"/>
              </a:spcAft>
            </a:pPr>
            <a:r>
              <a:rPr sz="1200" b="1">
                <a:solidFill>
                  <a:srgbClr val="1E3A8A"/>
                </a:solidFill>
                <a:latin typeface="Pretendard"/>
              </a:rPr>
              <a:t>03</a:t>
            </a:r>
          </a:p>
          <a:p>
            <a:pPr algn="ctr">
              <a:spcAft>
                <a:spcPts val="600"/>
              </a:spcAft>
            </a:pPr>
            <a:r>
              <a:rPr sz="1800" b="1">
                <a:solidFill>
                  <a:srgbClr val="1D1D1F"/>
                </a:solidFill>
                <a:latin typeface="Pretendard"/>
              </a:rPr>
              <a:t>In-house Vertical Integration</a:t>
            </a:r>
          </a:p>
          <a:p>
            <a:pPr algn="ctr">
              <a:spcAft>
                <a:spcPts val="600"/>
              </a:spcAft>
            </a:pPr>
            <a:r>
              <a:rPr sz="1360">
                <a:solidFill>
                  <a:srgbClr val="1D1D1F"/>
                </a:solidFill>
                <a:latin typeface="Pretendard"/>
              </a:rPr>
              <a:t>개발-구조화-운영의 내재화 (Factorial Builders, IGIS[X], 이지스네오밸류 등)</a:t>
            </a:r>
          </a:p>
        </p:txBody>
      </p:sp>
      <p:sp>
        <p:nvSpPr>
          <p:cNvPr id="9" name="Rounded Rectangle 8"/>
          <p:cNvSpPr/>
          <p:nvPr/>
        </p:nvSpPr>
        <p:spPr>
          <a:xfrm>
            <a:off x="896089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a:pPr algn="ctr">
              <a:spcAft>
                <a:spcPts val="600"/>
              </a:spcAft>
            </a:pPr>
            <a:r>
              <a:rPr sz="1445" b="1">
                <a:solidFill>
                  <a:srgbClr val="1D1D1F"/>
                </a:solidFill>
                <a:latin typeface="Pretendard"/>
              </a:rPr>
              <a:t>단순 자산 매입·매각 중심의 블랙스톤 모델을 넘어선 최적의 결합 모델</a:t>
            </a:r>
          </a:p>
          <a:p>
            <a:pPr algn="ctr">
              <a:spcAft>
                <a:spcPts val="600"/>
              </a:spcAft>
            </a:pPr>
            <a:r>
              <a:rPr sz="1800" b="1">
                <a:solidFill>
                  <a:srgbClr val="1D1D1F"/>
                </a:solidFill>
                <a:latin typeface="Pretendard"/>
              </a:rPr>
              <a:t>+</a:t>
            </a:r>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모리빌딩 (도쿄)</a:t>
            </a:r>
            <a:r>
              <a:t> </a:t>
            </a:r>
            <a:r>
              <a:rPr sz="1800" b="1">
                <a:solidFill>
                  <a:srgbClr val="1D1D1F"/>
                </a:solidFill>
                <a:latin typeface="Pretendard"/>
              </a:rPr>
              <a:t>+</a:t>
            </a:r>
          </a:p>
        </p:txBody>
      </p:sp>
      <p:sp>
        <p:nvSpPr>
          <p:cNvPr id="13" name="Rounded Rectangle 12"/>
          <p:cNvSpPr/>
          <p:nvPr/>
        </p:nvSpPr>
        <p:spPr>
          <a:xfrm>
            <a:off x="17861203"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998363"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Hong Kong Land (센트럴)</a:t>
            </a:r>
          </a:p>
        </p:txBody>
      </p:sp>
      <p:sp>
        <p:nvSpPr>
          <p:cNvPr id="15" name="Rounded Rectangle 14"/>
          <p:cNvSpPr/>
          <p:nvPr/>
        </p:nvSpPr>
        <p:spPr>
          <a:xfrm>
            <a:off x="3480800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945167"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Related (허드슨야드)</a:t>
            </a:r>
          </a:p>
        </p:txBody>
      </p:sp>
      <p:sp>
        <p:nvSpPr>
          <p:cNvPr id="17" name="Rounded Rectangle 16"/>
          <p:cNvSpPr/>
          <p:nvPr/>
        </p:nvSpPr>
        <p:spPr>
          <a:xfrm>
            <a:off x="51754811"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891971" y="4480560"/>
            <a:ext cx="2042083"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단순 자산 매입·매각 모델을 넘어선 아시아 최고 수준의 부동산 가치 창출 플랫폼</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2.</a:t>
            </a:r>
          </a:p>
          <a:p>
            <a:pPr algn="ctr">
              <a:spcAft>
                <a:spcPts val="1400"/>
              </a:spcAft>
            </a:pPr>
            <a:r>
              <a:rPr sz="2400" b="1">
                <a:solidFill>
                  <a:srgbClr val="FFFFFF"/>
                </a:solidFill>
                <a:latin typeface="Pretendard"/>
              </a:rPr>
              <a:t>3대 플랫폼 실행 로드맵</a:t>
            </a:r>
            <a:r>
              <a:rPr sz="2400" b="1">
                <a:solidFill>
                  <a:srgbClr val="FFFFFF"/>
                </a:solidFill>
                <a:latin typeface="Pretendard"/>
              </a:rPr>
              <a:t>3대 플랫폼 실행 로드맵</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IGIS DC REIT의 상장 마스터플랜</a:t>
            </a:r>
          </a:p>
          <a:p>
            <a:pPr algn="ctr"/>
            <a:r>
              <a:rPr sz="3200" b="1">
                <a:solidFill>
                  <a:srgbClr val="1D1D1F"/>
                </a:solidFill>
                <a:latin typeface="Pretendard"/>
              </a:rPr>
              <a:t>전력망 선점과 빅테크 록인, 독자 상장형 DC REIT</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현재 자산 기반</a:t>
            </a:r>
          </a:p>
          <a:p>
            <a:pPr algn="l">
              <a:spcAft>
                <a:spcPts val="600"/>
              </a:spcAft>
            </a:pPr>
            <a:r>
              <a:rPr sz="1700" b="1">
                <a:solidFill>
                  <a:srgbClr val="1D1D1F"/>
                </a:solidFill>
                <a:latin typeface="Pretendard"/>
              </a:rPr>
              <a:t>이지스밸류플러스리츠 內 분당 Hostway IDC + 북미 13개 DC 포트폴리오(187MW)</a:t>
            </a:r>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a:pPr algn="l">
              <a:spcAft>
                <a:spcPts val="600"/>
              </a:spcAft>
            </a:pPr>
            <a:r>
              <a:rPr sz="1700" b="1">
                <a:solidFill>
                  <a:srgbClr val="1D1D1F"/>
                </a:solidFill>
                <a:latin typeface="Pretendard"/>
              </a:rPr>
              <a:t>국내 수도권 데이터센터 신규 개발 파이프라인 확보</a:t>
            </a:r>
          </a:p>
          <a:p>
            <a:pPr algn="l">
              <a:spcAft>
                <a:spcPts val="600"/>
              </a:spcAft>
            </a:pPr>
            <a:r>
              <a:rPr sz="1275" b="1">
                <a:solidFill>
                  <a:srgbClr val="1D1D1F"/>
                </a:solidFill>
                <a:latin typeface="Pretendard"/>
              </a:rPr>
              <a:t>전력 인입 권리가 곧 자산</a:t>
            </a:r>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l">
              <a:spcAft>
                <a:spcPts val="600"/>
              </a:spcAft>
            </a:pPr>
            <a:r>
              <a:rPr sz="1530" b="1">
                <a:solidFill>
                  <a:srgbClr val="1E3A8A"/>
                </a:solidFill>
                <a:latin typeface="Pretendard"/>
              </a:rPr>
              <a:t>1</a:t>
            </a:r>
          </a:p>
        </p:txBody>
      </p:sp>
      <p:sp>
        <p:nvSpPr>
          <p:cNvPr id="9" name="Rounded Rectangle 8"/>
          <p:cNvSpPr/>
          <p:nvPr/>
        </p:nvSpPr>
        <p:spPr>
          <a:xfrm>
            <a:off x="8960891"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a:pPr algn="l">
              <a:spcAft>
                <a:spcPts val="600"/>
              </a:spcAft>
            </a:pPr>
            <a:r>
              <a:rPr sz="1700" b="1">
                <a:solidFill>
                  <a:srgbClr val="1D1D1F"/>
                </a:solidFill>
                <a:latin typeface="Pretendard"/>
              </a:rPr>
              <a:t>동남아·일본 데이터센터 자산 인수로 지역 다각화</a:t>
            </a:r>
          </a:p>
          <a:p>
            <a:pPr algn="l">
              <a:spcAft>
                <a:spcPts val="600"/>
              </a:spcAft>
            </a:pPr>
            <a:r>
              <a:rPr sz="1275">
                <a:solidFill>
                  <a:srgbClr val="1D1D1F"/>
                </a:solidFill>
                <a:latin typeface="Pretendard"/>
              </a:rPr>
              <a:t>아시아 거점 연결을 통한 리스크 분산 및 스케일업</a:t>
            </a:r>
          </a:p>
        </p:txBody>
      </p:sp>
      <p:sp>
        <p:nvSpPr>
          <p:cNvPr id="11" name="Rounded Rectangle 10"/>
          <p:cNvSpPr/>
          <p:nvPr/>
        </p:nvSpPr>
        <p:spPr>
          <a:xfrm>
            <a:off x="914400"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a:pPr algn="l">
              <a:spcAft>
                <a:spcPts val="600"/>
              </a:spcAft>
            </a:pPr>
            <a:r>
              <a:rPr sz="1530" b="1">
                <a:solidFill>
                  <a:srgbClr val="1E3A8A"/>
                </a:solidFill>
                <a:latin typeface="Pretendard"/>
              </a:rPr>
              <a:t>2</a:t>
            </a:r>
          </a:p>
        </p:txBody>
      </p:sp>
      <p:sp>
        <p:nvSpPr>
          <p:cNvPr id="13" name="Rounded Rectangle 12"/>
          <p:cNvSpPr/>
          <p:nvPr/>
        </p:nvSpPr>
        <p:spPr>
          <a:xfrm>
            <a:off x="3596563"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76428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분사 목표</a:t>
            </a:r>
          </a:p>
          <a:p>
            <a:pPr algn="l">
              <a:spcAft>
                <a:spcPts val="600"/>
              </a:spcAft>
            </a:pPr>
            <a:r>
              <a:rPr sz="1700" b="1">
                <a:solidFill>
                  <a:srgbClr val="1D1D1F"/>
                </a:solidFill>
                <a:latin typeface="Pretendard"/>
              </a:rPr>
              <a:t>향후 5년 내 독립 상장 DC REIT 분사 (2028~2030년)</a:t>
            </a:r>
          </a:p>
          <a:p>
            <a:pPr algn="l">
              <a:spcAft>
                <a:spcPts val="600"/>
              </a:spcAft>
            </a:pPr>
            <a:r>
              <a:rPr sz="1800" b="1">
                <a:solidFill>
                  <a:srgbClr val="1D1D1F"/>
                </a:solidFill>
                <a:latin typeface="Pretendard"/>
              </a:rPr>
              <a:t>GOAL</a:t>
            </a:r>
          </a:p>
          <a:p>
            <a:pPr algn="l">
              <a:spcAft>
                <a:spcPts val="600"/>
              </a:spcAft>
            </a:pPr>
            <a:r>
              <a:rPr sz="1275">
                <a:solidFill>
                  <a:srgbClr val="1D1D1F"/>
                </a:solidFill>
                <a:latin typeface="Pretendard"/>
              </a:rPr>
              <a:t>미국 Digital Realty(시총 약 USD 500억), Equinix(약 USD 800억) 수준의 globalish DC REIT 빌드업</a:t>
            </a:r>
          </a:p>
        </p:txBody>
      </p:sp>
      <p:sp>
        <p:nvSpPr>
          <p:cNvPr id="15" name="Rounded Rectangle 14"/>
          <p:cNvSpPr/>
          <p:nvPr/>
        </p:nvSpPr>
        <p:spPr>
          <a:xfrm>
            <a:off x="627872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764280"/>
            <a:ext cx="2042083" cy="883920"/>
          </a:xfrm>
          <a:prstGeom prst="rect">
            <a:avLst/>
          </a:prstGeom>
          <a:noFill/>
        </p:spPr>
        <p:txBody>
          <a:bodyPr wrap="square" lIns="0" rIns="0" tIns="0" bIns="0">
            <a:spAutoFit/>
          </a:bodyPr>
          <a:lstStyle/>
          <a:p>
            <a:pPr algn="l">
              <a:spcAft>
                <a:spcPts val="600"/>
              </a:spcAft>
            </a:pPr>
            <a:r>
              <a:rPr sz="1700" b="1">
                <a:solidFill>
                  <a:srgbClr val="1D1D1F"/>
                </a:solidFill>
                <a:latin typeface="Pretendard"/>
              </a:rPr>
              <a:t>하이퍼스케일러 장기 임대 확약</a:t>
            </a:r>
          </a:p>
          <a:p>
            <a:pPr algn="l">
              <a:spcAft>
                <a:spcPts val="600"/>
              </a:spcAft>
            </a:pPr>
            <a:r>
              <a:rPr sz="1275">
                <a:solidFill>
                  <a:srgbClr val="1D1D1F"/>
                </a:solidFill>
                <a:latin typeface="Pretendard"/>
              </a:rPr>
              <a:t>AWS, MS, 구글, 네이버, 카카오 등 빅테크 고객 록인</a:t>
            </a:r>
          </a:p>
        </p:txBody>
      </p:sp>
      <p:sp>
        <p:nvSpPr>
          <p:cNvPr id="17" name="Rounded Rectangle 16"/>
          <p:cNvSpPr/>
          <p:nvPr/>
        </p:nvSpPr>
        <p:spPr>
          <a:xfrm>
            <a:off x="8960891"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764280"/>
            <a:ext cx="2042083" cy="883920"/>
          </a:xfrm>
          <a:prstGeom prst="rect">
            <a:avLst/>
          </a:prstGeom>
          <a:noFill/>
        </p:spPr>
        <p:txBody>
          <a:bodyPr wrap="square" lIns="0" rIns="0" tIns="0" bIns="0">
            <a:spAutoFit/>
          </a:bodyPr>
          <a:lstStyle/>
          <a:p>
            <a:pPr algn="l">
              <a:spcAft>
                <a:spcPts val="600"/>
              </a:spcAft>
            </a:pPr>
            <a:r>
              <a:rPr sz="1530" b="1">
                <a:solidFill>
                  <a:srgbClr val="1E3A8A"/>
                </a:solidFill>
                <a:latin typeface="Pretendard"/>
              </a:rPr>
              <a:t>3</a:t>
            </a:r>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북미 13개 포트폴리오를 넘어, 국내 신규 전력 인입 권리와 빅테크 임대 확약을 바탕으로 에퀴닉스에 버금갈 독자 상장형 DC REIT 플랫폼의 분사 로드맵을 띄운다.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IGIS SENIOR REIT의 300조 시장 점령전</a:t>
            </a:r>
          </a:p>
          <a:p>
            <a:pPr algn="ctr"/>
            <a:r>
              <a:rPr sz="3200" b="1">
                <a:solidFill>
                  <a:srgbClr val="1D1D1F"/>
                </a:solidFill>
                <a:latin typeface="Pretendard"/>
              </a:rPr>
              <a:t>연기금 D2C와 헬스케어를 결합한 시니어 하우징 블루오션</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가장 확실한 메가 트렌드</a:t>
            </a:r>
          </a:p>
          <a:p>
            <a:pPr algn="l">
              <a:spcAft>
                <a:spcPts val="600"/>
              </a:spcAft>
            </a:pPr>
            <a:r>
              <a:rPr sz="1700" b="1">
                <a:solidFill>
                  <a:srgbClr val="1D1D1F"/>
                </a:solidFill>
                <a:latin typeface="Pretendard"/>
              </a:rPr>
              <a:t>침투율 0.6% → 5% 갭의 구조적 미충족 수요가 향후 15년을 지배</a:t>
            </a:r>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a:pPr algn="l">
              <a:spcAft>
                <a:spcPts val="600"/>
              </a:spcAft>
            </a:pPr>
            <a:r>
              <a:rPr sz="1614" b="1">
                <a:solidFill>
                  <a:srgbClr val="1D1D1F"/>
                </a:solidFill>
                <a:latin typeface="Pretendard"/>
              </a:rPr>
              <a:t>글로벌 최고 수준의 운영자 협업</a:t>
            </a:r>
          </a:p>
          <a:p>
            <a:pPr algn="l">
              <a:spcAft>
                <a:spcPts val="600"/>
              </a:spcAft>
            </a:pPr>
            <a:r>
              <a:rPr sz="1232">
                <a:solidFill>
                  <a:srgbClr val="1D1D1F"/>
                </a:solidFill>
                <a:latin typeface="Pretendard"/>
              </a:rPr>
              <a:t>메리어트 시니어 리빙(Marriott Senior Living) 등 검증된 글로벌 운영사와의 파트너십</a:t>
            </a:r>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l">
              <a:spcAft>
                <a:spcPts val="600"/>
              </a:spcAft>
            </a:pPr>
            <a:r>
              <a:rPr sz="1614" b="1">
                <a:solidFill>
                  <a:srgbClr val="1D1D1F"/>
                </a:solidFill>
                <a:latin typeface="Pretendard"/>
              </a:rPr>
              <a:t>의료기관 캡티브 연계</a:t>
            </a:r>
          </a:p>
          <a:p>
            <a:pPr algn="l">
              <a:spcAft>
                <a:spcPts val="600"/>
              </a:spcAft>
            </a:pPr>
            <a:r>
              <a:rPr sz="1232">
                <a:solidFill>
                  <a:srgbClr val="1D1D1F"/>
                </a:solidFill>
                <a:latin typeface="Pretendard"/>
              </a:rPr>
              <a:t>대형 병원 그룹과의 독점적 연계를 통한 강력한 헬스케어 인프라 구축</a:t>
            </a:r>
          </a:p>
        </p:txBody>
      </p:sp>
      <p:sp>
        <p:nvSpPr>
          <p:cNvPr id="9" name="Rounded Rectangle 8"/>
          <p:cNvSpPr/>
          <p:nvPr/>
        </p:nvSpPr>
        <p:spPr>
          <a:xfrm>
            <a:off x="8960891"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a:pPr algn="l">
              <a:spcAft>
                <a:spcPts val="600"/>
              </a:spcAft>
            </a:pPr>
            <a:r>
              <a:rPr sz="1360" b="1">
                <a:solidFill>
                  <a:srgbClr val="1E3A8A"/>
                </a:solidFill>
                <a:latin typeface="Pretendard"/>
              </a:rPr>
              <a:t>1</a:t>
            </a:r>
          </a:p>
        </p:txBody>
      </p:sp>
      <p:sp>
        <p:nvSpPr>
          <p:cNvPr id="11" name="Rounded Rectangle 10"/>
          <p:cNvSpPr/>
          <p:nvPr/>
        </p:nvSpPr>
        <p:spPr>
          <a:xfrm>
            <a:off x="914400"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a:pPr algn="l">
              <a:spcAft>
                <a:spcPts val="600"/>
              </a:spcAft>
            </a:pPr>
            <a:r>
              <a:rPr sz="1360" b="1">
                <a:solidFill>
                  <a:srgbClr val="1E3A8A"/>
                </a:solidFill>
                <a:latin typeface="Pretendard"/>
              </a:rPr>
              <a:t>2</a:t>
            </a:r>
          </a:p>
        </p:txBody>
      </p:sp>
      <p:sp>
        <p:nvSpPr>
          <p:cNvPr id="13" name="Rounded Rectangle 12"/>
          <p:cNvSpPr/>
          <p:nvPr/>
        </p:nvSpPr>
        <p:spPr>
          <a:xfrm>
            <a:off x="3596563"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764280"/>
            <a:ext cx="2042083" cy="883920"/>
          </a:xfrm>
          <a:prstGeom prst="rect">
            <a:avLst/>
          </a:prstGeom>
          <a:noFill/>
        </p:spPr>
        <p:txBody>
          <a:bodyPr wrap="square" lIns="0" rIns="0" tIns="0" bIns="0">
            <a:spAutoFit/>
          </a:bodyPr>
          <a:lstStyle/>
          <a:p>
            <a:pPr algn="l">
              <a:spcAft>
                <a:spcPts val="600"/>
              </a:spcAft>
            </a:pPr>
            <a:r>
              <a:rPr sz="1614" b="1">
                <a:solidFill>
                  <a:srgbClr val="1D1D1F"/>
                </a:solidFill>
                <a:latin typeface="Pretendard"/>
              </a:rPr>
              <a:t>연금 가입자 다이렉트 마케팅</a:t>
            </a:r>
          </a:p>
          <a:p>
            <a:pPr algn="l">
              <a:spcAft>
                <a:spcPts val="600"/>
              </a:spcAft>
            </a:pPr>
            <a:r>
              <a:rPr sz="1232">
                <a:solidFill>
                  <a:srgbClr val="1D1D1F"/>
                </a:solidFill>
                <a:latin typeface="Pretendard"/>
              </a:rPr>
              <a:t>NPS, 공무원연금, 사학연금 등 확실한 자금력을 갖춘 은퇴자 대상 D2C 입주 마케팅</a:t>
            </a:r>
          </a:p>
        </p:txBody>
      </p:sp>
      <p:sp>
        <p:nvSpPr>
          <p:cNvPr id="15" name="Rounded Rectangle 14"/>
          <p:cNvSpPr/>
          <p:nvPr/>
        </p:nvSpPr>
        <p:spPr>
          <a:xfrm>
            <a:off x="627872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764280"/>
            <a:ext cx="2042083" cy="883920"/>
          </a:xfrm>
          <a:prstGeom prst="rect">
            <a:avLst/>
          </a:prstGeom>
          <a:noFill/>
        </p:spPr>
        <p:txBody>
          <a:bodyPr wrap="square" lIns="0" rIns="0" tIns="0" bIns="0">
            <a:spAutoFit/>
          </a:bodyPr>
          <a:lstStyle/>
          <a:p>
            <a:pPr algn="l">
              <a:spcAft>
                <a:spcPts val="600"/>
              </a:spcAft>
            </a:pPr>
            <a:r>
              <a:rPr sz="1614" b="1">
                <a:solidFill>
                  <a:srgbClr val="1D1D1F"/>
                </a:solidFill>
                <a:latin typeface="Pretendard"/>
              </a:rPr>
              <a:t>시니어 토탈 헬스케어 데이터 연동</a:t>
            </a:r>
          </a:p>
          <a:p>
            <a:pPr algn="l">
              <a:spcAft>
                <a:spcPts val="600"/>
              </a:spcAft>
            </a:pPr>
            <a:r>
              <a:rPr sz="1232">
                <a:solidFill>
                  <a:srgbClr val="1D1D1F"/>
                </a:solidFill>
                <a:latin typeface="Pretendard"/>
              </a:rPr>
              <a:t>시니어 하우징 + 헬스케어 + 데이터(웨어러블·AI 모니터링) 통합 솔루션 제공</a:t>
            </a:r>
          </a:p>
        </p:txBody>
      </p:sp>
      <p:sp>
        <p:nvSpPr>
          <p:cNvPr id="17" name="Rounded Rectangle 16"/>
          <p:cNvSpPr/>
          <p:nvPr/>
        </p:nvSpPr>
        <p:spPr>
          <a:xfrm>
            <a:off x="8960891"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76428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시장 패러다임의 진화</a:t>
            </a:r>
          </a:p>
          <a:p>
            <a:pPr algn="l">
              <a:spcAft>
                <a:spcPts val="600"/>
              </a:spcAft>
            </a:pPr>
            <a:r>
              <a:rPr sz="1700" b="1">
                <a:solidFill>
                  <a:srgbClr val="1D1D1F"/>
                </a:solidFill>
                <a:latin typeface="Pretendard"/>
              </a:rPr>
              <a:t>물류(쿠팡 효과) → 시니어 케어(주거) 효과로 대체</a:t>
            </a:r>
          </a:p>
          <a:p>
            <a:pPr algn="l">
              <a:spcAft>
                <a:spcPts val="600"/>
              </a:spcAft>
            </a:pPr>
            <a:r>
              <a:rPr sz="1275">
                <a:solidFill>
                  <a:srgbClr val="1D1D1F"/>
                </a:solidFill>
                <a:latin typeface="Pretendard"/>
              </a:rPr>
              <a:t>1조→2조 달러 구간의 성장 동력이었던 물류가, 2조→3조 달러 구간에서는 시니어 하우징으로 완벽히 전환됨</a:t>
            </a:r>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l">
              <a:spcAft>
                <a:spcPts val="600"/>
              </a:spcAft>
            </a:pPr>
            <a:r>
              <a:rPr sz="1360" b="1">
                <a:solidFill>
                  <a:srgbClr val="1E3A8A"/>
                </a:solidFill>
                <a:latin typeface="Pretendard"/>
              </a:rPr>
              <a:t>3</a:t>
            </a:r>
          </a:p>
        </p:txBody>
      </p:sp>
      <p:sp>
        <p:nvSpPr>
          <p:cNvPr id="21" name="Rounded Rectangle 20"/>
          <p:cNvSpPr/>
          <p:nvPr/>
        </p:nvSpPr>
        <p:spPr>
          <a:xfrm>
            <a:off x="3596563"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33723" y="5196840"/>
            <a:ext cx="2042083" cy="883920"/>
          </a:xfrm>
          <a:prstGeom prst="rect">
            <a:avLst/>
          </a:prstGeom>
          <a:noFill/>
        </p:spPr>
        <p:txBody>
          <a:bodyPr wrap="square" lIns="0" rIns="0" tIns="0" bIns="0">
            <a:spAutoFit/>
          </a:bodyPr>
          <a:lstStyle/>
          <a:p>
            <a:pPr algn="l">
              <a:spcAft>
                <a:spcPts val="600"/>
              </a:spcAft>
            </a:pPr>
            <a:r>
              <a:rPr sz="1360" b="1">
                <a:solidFill>
                  <a:srgbClr val="1E3A8A"/>
                </a:solidFill>
                <a:latin typeface="Pretendard"/>
              </a:rPr>
              <a:t>4</a:t>
            </a:r>
          </a:p>
        </p:txBody>
      </p:sp>
      <p:sp>
        <p:nvSpPr>
          <p:cNvPr id="23" name="Rounded Rectangle 22"/>
          <p:cNvSpPr/>
          <p:nvPr/>
        </p:nvSpPr>
        <p:spPr>
          <a:xfrm>
            <a:off x="6278727"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5887" y="519684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KB골든라이프 모델을 시작으로, 글로벌 메리어트 운영과 연기금 퇴직자 D2C 마케팅을 결합해 외인 자본(Invesco 등)을 압도할 1위 시니어 하우징 플랫폼을 구축한다.</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PRIME MIXED-USE 트로피 시리즈화</a:t>
            </a:r>
          </a:p>
          <a:p>
            <a:pPr algn="ctr"/>
            <a:r>
              <a:rPr sz="3200" b="1">
                <a:solidFill>
                  <a:srgbClr val="1D1D1F"/>
                </a:solidFill>
                <a:latin typeface="Pretendard"/>
              </a:rPr>
              <a:t>IOTA 기반 글로벌 LP 전용 패키지, '이지스 트로피 시리즈'</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First Major Reference</a:t>
            </a:r>
          </a:p>
          <a:p>
            <a:pPr algn="ctr">
              <a:spcAft>
                <a:spcPts val="600"/>
              </a:spcAft>
            </a:pPr>
            <a:r>
              <a:rPr sz="1530" b="1">
                <a:solidFill>
                  <a:srgbClr val="1D1D1F"/>
                </a:solidFill>
                <a:latin typeface="Pretendard"/>
              </a:rPr>
              <a:t>IOTA 프로젝트 성공적 안착</a:t>
            </a:r>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Series Expansion</a:t>
            </a:r>
          </a:p>
          <a:p>
            <a:pPr algn="ctr">
              <a:spcAft>
                <a:spcPts val="600"/>
              </a:spcAft>
            </a:pPr>
            <a:r>
              <a:rPr sz="1360">
                <a:solidFill>
                  <a:srgbClr val="1D1D1F"/>
                </a:solidFill>
                <a:latin typeface="Pretendard"/>
              </a:rPr>
              <a:t>YIBD 일부 지구, 잠실, 여의도 재개발, 마곡 중대형 블록 등으로 무한 연쇄 확장</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Brand Packaging</a:t>
            </a:r>
          </a:p>
          <a:p>
            <a:pPr algn="ctr">
              <a:spcAft>
                <a:spcPts val="600"/>
              </a:spcAft>
            </a:pPr>
            <a:r>
              <a:rPr sz="1360">
                <a:solidFill>
                  <a:srgbClr val="1D1D1F"/>
                </a:solidFill>
                <a:latin typeface="Pretendard"/>
              </a:rPr>
              <a:t>"이지스 트로피 시리즈" 단일 브랜드화 및 글로벌 LP 특화 패키지 판매</a:t>
            </a:r>
          </a:p>
        </p:txBody>
      </p:sp>
      <p:sp>
        <p:nvSpPr>
          <p:cNvPr id="9" name="Rounded Rectangle 8"/>
          <p:cNvSpPr/>
          <p:nvPr/>
        </p:nvSpPr>
        <p:spPr>
          <a:xfrm>
            <a:off x="896089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a:pPr algn="ctr">
              <a:spcAft>
                <a:spcPts val="600"/>
              </a:spcAft>
            </a:pPr>
            <a:r>
              <a:rPr sz="1360" b="1">
                <a:solidFill>
                  <a:srgbClr val="1E3A8A"/>
                </a:solidFill>
                <a:latin typeface="Pretendard"/>
              </a:rPr>
              <a:t>2</a:t>
            </a:r>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ctr">
              <a:spcAft>
                <a:spcPts val="600"/>
              </a:spcAft>
            </a:pPr>
            <a:r>
              <a:rPr sz="1360" b="1">
                <a:solidFill>
                  <a:srgbClr val="1E3A8A"/>
                </a:solidFill>
                <a:latin typeface="Pretendard"/>
              </a:rPr>
              <a:t>3</a:t>
            </a:r>
          </a:p>
        </p:txBody>
      </p:sp>
      <p:sp>
        <p:nvSpPr>
          <p:cNvPr id="13" name="Rounded Rectangle 12"/>
          <p:cNvSpPr/>
          <p:nvPr/>
        </p:nvSpPr>
        <p:spPr>
          <a:xfrm>
            <a:off x="3596563"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4480560"/>
            <a:ext cx="2042083" cy="1600200"/>
          </a:xfrm>
          <a:prstGeom prst="rect">
            <a:avLst/>
          </a:prstGeom>
          <a:noFill/>
        </p:spPr>
        <p:txBody>
          <a:bodyPr wrap="square" lIns="0" rIns="0" tIns="0" bIns="0">
            <a:spAutoFit/>
          </a:bodyPr>
          <a:lstStyle/>
          <a:p>
            <a:pPr algn="ctr">
              <a:spcAft>
                <a:spcPts val="600"/>
              </a:spcAft>
            </a:pPr>
            <a:r>
              <a:rPr sz="1360" b="1">
                <a:solidFill>
                  <a:srgbClr val="1E3A8A"/>
                </a:solidFill>
                <a:latin typeface="Pretendard"/>
              </a:rPr>
              <a:t>1</a:t>
            </a:r>
          </a:p>
        </p:txBody>
      </p:sp>
      <p:sp>
        <p:nvSpPr>
          <p:cNvPr id="15" name="Rounded Rectangle 14"/>
          <p:cNvSpPr/>
          <p:nvPr/>
        </p:nvSpPr>
        <p:spPr>
          <a:xfrm>
            <a:off x="627872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4480560"/>
            <a:ext cx="2042083"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IOTA라는 앵커 메가 프로젝트를 지렛대 삼아 마곡, 여의도 개발로 무한 연쇄 확장할 글로벌 LP 전용 특화 패키지 '이지스 트로피 시리즈'를 상품화 한다.</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3.</a:t>
            </a:r>
          </a:p>
          <a:p>
            <a:pPr algn="ctr">
              <a:spcAft>
                <a:spcPts val="1400"/>
              </a:spcAft>
            </a:pPr>
            <a:r>
              <a:rPr sz="2400" b="1">
                <a:solidFill>
                  <a:srgbClr val="FFFFFF"/>
                </a:solidFill>
                <a:latin typeface="Pretendard"/>
              </a:rPr>
              <a:t>운영 OS : Factorial Builders</a:t>
            </a:r>
            <a:r>
              <a:rPr sz="2400" b="1">
                <a:solidFill>
                  <a:srgbClr val="FFFFFF"/>
                </a:solidFill>
                <a:latin typeface="Pretendard"/>
              </a:rPr>
              <a:t>운영 OS : Factorial Builders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공간 운영 플랫폼 진화의 핵심 매개</a:t>
            </a:r>
          </a:p>
          <a:p>
            <a:pPr algn="ctr"/>
            <a:r>
              <a:rPr sz="3200" b="1">
                <a:solidFill>
                  <a:srgbClr val="1D1D1F"/>
                </a:solidFill>
                <a:latin typeface="Pretendard"/>
              </a:rPr>
              <a:t>단순 자산운용사를 넘어, '공간 운영 플랫폼'으로의 진화</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단순 임대수익 중심의 자산운용</a:t>
            </a:r>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팩토리얼 성수 (로봇·IoT 친화)</a:t>
            </a:r>
          </a:p>
          <a:p>
            <a:pPr algn="l">
              <a:spcAft>
                <a:spcPts val="600"/>
              </a:spcAft>
            </a:pPr>
            <a:r>
              <a:rPr sz="1360">
                <a:solidFill>
                  <a:srgbClr val="1D1D1F"/>
                </a:solidFill>
                <a:latin typeface="Pretendard"/>
              </a:rPr>
              <a:t>삼성전자, 현대차그룹과의 공동개발을 통해 하드웨어와 소프트웨어가 결합된 미래형 빌딩 구현</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p:txBody>
      </p:sp>
      <p:sp>
        <p:nvSpPr>
          <p:cNvPr id="9" name="Rounded Rectangle 8"/>
          <p:cNvSpPr/>
          <p:nvPr/>
        </p:nvSpPr>
        <p:spPr>
          <a:xfrm>
            <a:off x="896089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현재 및 미래 (Factorial Builders)</a:t>
            </a:r>
          </a:p>
          <a:p>
            <a:pPr algn="ctr">
              <a:spcAft>
                <a:spcPts val="600"/>
              </a:spcAft>
            </a:pPr>
            <a:r>
              <a:rPr sz="1800" b="1">
                <a:solidFill>
                  <a:srgbClr val="1D1D1F"/>
                </a:solidFill>
                <a:latin typeface="Pretendard"/>
              </a:rPr>
              <a:t>기업 운영 인프라를 제공하는 공간 운영 플랫폼</a:t>
            </a:r>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l">
              <a:spcAft>
                <a:spcPts val="600"/>
              </a:spcAft>
            </a:pPr>
            <a:r>
              <a:rPr sz="1200" b="1">
                <a:solidFill>
                  <a:srgbClr val="1D1D1F"/>
                </a:solidFill>
                <a:latin typeface="Pretendard"/>
              </a:rPr>
              <a:t>Business Model</a:t>
            </a:r>
          </a:p>
          <a:p>
            <a:pPr algn="l">
              <a:spcAft>
                <a:spcPts val="600"/>
              </a:spcAft>
            </a:pPr>
            <a:r>
              <a:rPr sz="1800" b="1">
                <a:solidFill>
                  <a:srgbClr val="1D1D1F"/>
                </a:solidFill>
                <a:latin typeface="Pretendard"/>
              </a:rPr>
              <a:t>'Asset as a Service' (AaaS) 모델</a:t>
            </a:r>
          </a:p>
          <a:p>
            <a:pPr algn="l">
              <a:spcAft>
                <a:spcPts val="600"/>
              </a:spcAft>
            </a:pPr>
            <a:r>
              <a:rPr sz="1360">
                <a:solidFill>
                  <a:srgbClr val="1D1D1F"/>
                </a:solidFill>
                <a:latin typeface="Pretendard"/>
              </a:rPr>
              <a:t>삼일PwC와의 협업을 통해 자산을 단순한 임대 공간이 아닌, 기업 성장을 돕는 핵심 운영 인프라 서비스로 재정의</a:t>
            </a:r>
          </a:p>
        </p:txBody>
      </p:sp>
      <p:sp>
        <p:nvSpPr>
          <p:cNvPr id="13" name="Rounded Rectangle 12"/>
          <p:cNvSpPr/>
          <p:nvPr/>
        </p:nvSpPr>
        <p:spPr>
          <a:xfrm>
            <a:off x="3596563"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OS</a:t>
            </a:r>
          </a:p>
        </p:txBody>
      </p:sp>
      <p:sp>
        <p:nvSpPr>
          <p:cNvPr id="15" name="Rounded Rectangle 14"/>
          <p:cNvSpPr/>
          <p:nvPr/>
        </p:nvSpPr>
        <p:spPr>
          <a:xfrm>
            <a:off x="627872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4480560"/>
            <a:ext cx="2042083"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하드웨어(테크 레디)와 소프트웨어(AaaS)를 결합하여, 부동산을 기업에게 '서비스'로서 제공하는 진정한 공간 운영 OS 플랫폼</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WEWORK의 INSTITUTIONAL VERSION</a:t>
            </a:r>
          </a:p>
          <a:p>
            <a:pPr algn="ctr"/>
            <a:r>
              <a:rPr sz="3200" b="1">
                <a:solidFill>
                  <a:srgbClr val="1D1D1F"/>
                </a:solidFill>
                <a:latin typeface="Pretendard"/>
              </a:rPr>
              <a:t>WeWork의 구조적 한계 극복과 글로벌 벤치마크 '수직 도시'</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(1) 자기 자본 미보유 &amp; (2) 단기-장기 임대료 미스매치</a:t>
            </a:r>
          </a:p>
          <a:p>
            <a:pPr algn="ctr">
              <a:spcAft>
                <a:spcPts val="600"/>
              </a:spcAft>
            </a:pPr>
            <a:r>
              <a:rPr sz="1360" b="1">
                <a:solidFill>
                  <a:srgbClr val="1D1D1F"/>
                </a:solidFill>
                <a:latin typeface="Pretendard"/>
              </a:rPr>
              <a:t>Solution</a:t>
            </a:r>
            <a:r>
              <a:t> </a:t>
            </a:r>
            <a:r>
              <a:rPr sz="1700" b="1">
                <a:solidFill>
                  <a:srgbClr val="1D1D1F"/>
                </a:solidFill>
                <a:latin typeface="Pretendard"/>
              </a:rPr>
              <a:t>IGIS의 Institutional Version</a:t>
            </a:r>
          </a:p>
        </p:txBody>
      </p:sp>
      <p:sp>
        <p:nvSpPr>
          <p:cNvPr id="5" name="Rounded Rectangle 4"/>
          <p:cNvSpPr/>
          <p:nvPr/>
        </p:nvSpPr>
        <p:spPr>
          <a:xfrm>
            <a:off x="1420360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340763" y="2331720"/>
            <a:ext cx="2042083" cy="1600200"/>
          </a:xfrm>
          <a:prstGeom prst="rect">
            <a:avLst/>
          </a:prstGeom>
          <a:noFill/>
        </p:spPr>
        <p:txBody>
          <a:bodyPr wrap="square" lIns="0" rIns="0" tIns="0" bIns="0">
            <a:spAutoFit/>
          </a:bodyPr>
          <a:lstStyle/>
          <a:p/>
        </p:txBody>
      </p:sp>
      <p:sp>
        <p:nvSpPr>
          <p:cNvPr id="7" name="Rounded Rectangle 6"/>
          <p:cNvSpPr/>
          <p:nvPr/>
        </p:nvSpPr>
        <p:spPr>
          <a:xfrm>
            <a:off x="2749280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9967" y="2331720"/>
            <a:ext cx="2042083"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모리빌딩, 토라노몬 &amp; 아자부다이 힐스 (2023)</a:t>
            </a:r>
          </a:p>
          <a:p>
            <a:pPr algn="ctr">
              <a:spcAft>
                <a:spcPts val="600"/>
              </a:spcAft>
            </a:pPr>
            <a:r>
              <a:rPr sz="1445">
                <a:solidFill>
                  <a:srgbClr val="1D1D1F"/>
                </a:solidFill>
                <a:latin typeface="Pretendard"/>
              </a:rPr>
              <a:t>글로벌 비교 시 모리빌딩의 운영 모델에 가장 근접. 압도적 자본력과 실물 자산, 그리고 섬세한 운영 역량을 완벽하게 결합한 성공 사례</a:t>
            </a:r>
          </a:p>
        </p:txBody>
      </p:sp>
      <p:sp>
        <p:nvSpPr>
          <p:cNvPr id="9" name="Rounded Rectangle 8"/>
          <p:cNvSpPr/>
          <p:nvPr/>
        </p:nvSpPr>
        <p:spPr>
          <a:xfrm>
            <a:off x="4078201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19171" y="2331720"/>
            <a:ext cx="2042083"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1. Capital (거대 자본력)</a:t>
            </a:r>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"수직 도시 (Vertical City)" 컨셉 차용</a:t>
            </a:r>
          </a:p>
          <a:p>
            <a:pPr algn="ctr">
              <a:spcAft>
                <a:spcPts val="600"/>
              </a:spcAft>
            </a:pPr>
            <a:r>
              <a:rPr sz="1360" b="1">
                <a:solidFill>
                  <a:srgbClr val="1D1D1F"/>
                </a:solidFill>
                <a:latin typeface="Pretendard"/>
              </a:rPr>
              <a:t>임차 · 주거 · 문화 · F&amp;B를 하나로 묶어 통합 운영하는 Mori의 모델을 IOTA에 직접 적용</a:t>
            </a:r>
          </a:p>
        </p:txBody>
      </p:sp>
      <p:sp>
        <p:nvSpPr>
          <p:cNvPr id="13" name="Rounded Rectangle 12"/>
          <p:cNvSpPr/>
          <p:nvPr/>
        </p:nvSpPr>
        <p:spPr>
          <a:xfrm>
            <a:off x="14203603"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340763" y="4480560"/>
            <a:ext cx="2042083"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2. Real Estate Ownership (실물 자산 보유)</a:t>
            </a:r>
          </a:p>
        </p:txBody>
      </p:sp>
      <p:sp>
        <p:nvSpPr>
          <p:cNvPr id="15" name="Rounded Rectangle 14"/>
          <p:cNvSpPr/>
          <p:nvPr/>
        </p:nvSpPr>
        <p:spPr>
          <a:xfrm>
            <a:off x="2749280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9967" y="4480560"/>
            <a:ext cx="2042083"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3. Operating Layer (공간 운영 OS)</a:t>
            </a:r>
          </a:p>
        </p:txBody>
      </p:sp>
      <p:sp>
        <p:nvSpPr>
          <p:cNvPr id="17" name="Rounded Rectangle 16"/>
          <p:cNvSpPr/>
          <p:nvPr/>
        </p:nvSpPr>
        <p:spPr>
          <a:xfrm>
            <a:off x="40782011"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19171" y="4480560"/>
            <a:ext cx="2042083"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자본력(Capital)과 소유권(Ownership), 그리고 운영(Operating) 역량을 모두 갖춘 이지스가 WeWork의 실패를 넘어서는 기관용(Institutional) 공간 운영 플랫폼 실현 가능</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4.</a:t>
            </a:r>
          </a:p>
          <a:p>
            <a:pPr algn="ctr">
              <a:spcAft>
                <a:spcPts val="1400"/>
              </a:spcAft>
            </a:pPr>
            <a:r>
              <a:rPr sz="2400" b="1">
                <a:solidFill>
                  <a:srgbClr val="FFFFFF"/>
                </a:solidFill>
                <a:latin typeface="Pretendard"/>
              </a:rPr>
              <a:t>국제 LP 관계 구축</a:t>
            </a:r>
            <a:r>
              <a:rPr sz="2400" b="1">
                <a:solidFill>
                  <a:srgbClr val="FFFFFF"/>
                </a:solidFill>
                <a:latin typeface="Pretendard"/>
              </a:rPr>
              <a:t>국제 LP 관계 구축</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글로벌 코밍글드 펀드</a:t>
            </a:r>
          </a:p>
          <a:p>
            <a:pPr algn="ctr"/>
            <a:r>
              <a:rPr sz="3200" b="1">
                <a:solidFill>
                  <a:srgbClr val="1D1D1F"/>
                </a:solidFill>
                <a:latin typeface="Pretendard"/>
              </a:rPr>
              <a:t>이지스 1호 글로벌 코밍글드 펀드 조성을 통한 양방향 플랫폼</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이지스 1호 글로벌 코밍글드 펀드</a:t>
            </a:r>
          </a:p>
          <a:p>
            <a:pPr algn="ctr">
              <a:spcAft>
                <a:spcPts val="600"/>
              </a:spcAft>
            </a:pPr>
            <a:r>
              <a:rPr sz="1800" b="1">
                <a:solidFill>
                  <a:srgbClr val="1D1D1F"/>
                </a:solidFill>
                <a:latin typeface="Pretendard"/>
              </a:rPr>
              <a:t>Target: $1B USD</a:t>
            </a:r>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DECISIVE TURNING POINT</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p:txBody>
      </p:sp>
      <p:sp>
        <p:nvSpPr>
          <p:cNvPr id="9" name="Rounded Rectangle 8"/>
          <p:cNvSpPr/>
          <p:nvPr/>
        </p:nvSpPr>
        <p:spPr>
          <a:xfrm>
            <a:off x="896089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(1) 국내 자산의 글로벌화</a:t>
            </a:r>
          </a:p>
          <a:p>
            <a:pPr algn="ctr">
              <a:spcAft>
                <a:spcPts val="600"/>
              </a:spcAft>
            </a:pPr>
            <a:r>
              <a:rPr sz="1800" b="1">
                <a:solidFill>
                  <a:srgbClr val="1D1D1F"/>
                </a:solidFill>
                <a:latin typeface="Pretendard"/>
              </a:rPr>
              <a:t>이지스의 한국 자산을 글로벌 LP에게 패키지 매각</a:t>
            </a:r>
          </a:p>
        </p:txBody>
      </p:sp>
      <p:sp>
        <p:nvSpPr>
          <p:cNvPr id="13" name="Rounded Rectangle 12"/>
          <p:cNvSpPr/>
          <p:nvPr/>
        </p:nvSpPr>
        <p:spPr>
          <a:xfrm>
            <a:off x="3596563"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4480560"/>
            <a:ext cx="2042083"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(2) 글로벌 자산의 국내 유치</a:t>
            </a:r>
          </a:p>
          <a:p>
            <a:pPr algn="ctr">
              <a:spcAft>
                <a:spcPts val="600"/>
              </a:spcAft>
            </a:pPr>
            <a:r>
              <a:rPr sz="1800" b="1">
                <a:solidFill>
                  <a:srgbClr val="1D1D1F"/>
                </a:solidFill>
                <a:latin typeface="Pretendard"/>
              </a:rPr>
              <a:t>한국 LP의 해외 위탁 및 글로벌 딜소싱 거점화</a:t>
            </a:r>
          </a:p>
        </p:txBody>
      </p:sp>
      <p:sp>
        <p:nvSpPr>
          <p:cNvPr id="15" name="Rounded Rectangle 14"/>
          <p:cNvSpPr/>
          <p:nvPr/>
        </p:nvSpPr>
        <p:spPr>
          <a:xfrm>
            <a:off x="627872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4480560"/>
            <a:ext cx="2042083" cy="160020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현재 국내 LP 비중이 압도적인 구조에서 탈피, 향후 5년 내 코밍글드 펀드 조성을 기점으로 양방향 플랫폼 도약</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전략적 우선 타겟 LP</a:t>
            </a:r>
          </a:p>
          <a:p>
            <a:pPr algn="ctr"/>
            <a:r>
              <a:rPr sz="3200" b="1">
                <a:solidFill>
                  <a:srgbClr val="1D1D1F"/>
                </a:solidFill>
                <a:latin typeface="Pretendard"/>
              </a:rPr>
              <a:t>글로벌 자본 지형도와 타겟팅 전략</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l">
              <a:spcAft>
                <a:spcPts val="600"/>
              </a:spcAft>
            </a:pPr>
            <a:r>
              <a:rPr sz="1445" b="1">
                <a:solidFill>
                  <a:srgbClr val="1D1D1F"/>
                </a:solidFill>
                <a:latin typeface="Pretendard"/>
              </a:rPr>
              <a:t>한국 트로피 자산에 이미 LP 참여 경험 보유</a:t>
            </a:r>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l">
              <a:spcAft>
                <a:spcPts val="600"/>
              </a:spcAft>
            </a:pPr>
            <a:r>
              <a:rPr sz="1445" b="1">
                <a:solidFill>
                  <a:srgbClr val="1D1D1F"/>
                </a:solidFill>
                <a:latin typeface="Pretendard"/>
              </a:rPr>
              <a:t>MGRV와 코리빙 JV 사례 등 한국 시장에 적극적 스탠스</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a:pPr algn="l">
              <a:spcAft>
                <a:spcPts val="600"/>
              </a:spcAft>
            </a:pPr>
            <a:r>
              <a:rPr sz="1360" b="1">
                <a:solidFill>
                  <a:srgbClr val="1E3A8A"/>
                </a:solidFill>
                <a:latin typeface="Pretendard"/>
              </a:rPr>
              <a:t>3</a:t>
            </a:r>
            <a:r>
              <a:t> </a:t>
            </a:r>
            <a:r>
              <a:rPr sz="1800" b="1">
                <a:solidFill>
                  <a:srgbClr val="1D1D1F"/>
                </a:solidFill>
                <a:latin typeface="Pretendard"/>
              </a:rPr>
              <a:t>ADIA, Mubadala, QIA (중동)</a:t>
            </a:r>
          </a:p>
          <a:p>
            <a:pPr algn="l">
              <a:spcAft>
                <a:spcPts val="600"/>
              </a:spcAft>
            </a:pPr>
            <a:r>
              <a:rPr sz="1445" b="1">
                <a:solidFill>
                  <a:srgbClr val="1D1D1F"/>
                </a:solidFill>
                <a:latin typeface="Pretendard"/>
              </a:rPr>
              <a:t>AI 인프라 및 데이터센터 영역에 글로벌 Capacity 대규모 배치 중</a:t>
            </a:r>
          </a:p>
        </p:txBody>
      </p:sp>
      <p:sp>
        <p:nvSpPr>
          <p:cNvPr id="9" name="Rounded Rectangle 8"/>
          <p:cNvSpPr/>
          <p:nvPr/>
        </p:nvSpPr>
        <p:spPr>
          <a:xfrm>
            <a:off x="4078201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19171" y="2331720"/>
            <a:ext cx="2042083" cy="1600200"/>
          </a:xfrm>
          <a:prstGeom prst="rect">
            <a:avLst/>
          </a:prstGeom>
          <a:noFill/>
        </p:spPr>
        <p:txBody>
          <a:bodyPr wrap="square" lIns="0" rIns="0" tIns="0" bIns="0">
            <a:spAutoFit/>
          </a:bodyPr>
          <a:lstStyle/>
          <a:p>
            <a:pPr algn="l">
              <a:spcAft>
                <a:spcPts val="600"/>
              </a:spcAft>
            </a:pPr>
            <a:r>
              <a:rPr sz="1360" b="1">
                <a:solidFill>
                  <a:srgbClr val="1E3A8A"/>
                </a:solidFill>
                <a:latin typeface="Pretendard"/>
              </a:rPr>
              <a:t>4</a:t>
            </a:r>
            <a:r>
              <a:t> </a:t>
            </a:r>
            <a:r>
              <a:rPr sz="1800" b="1">
                <a:solidFill>
                  <a:srgbClr val="1D1D1F"/>
                </a:solidFill>
                <a:latin typeface="Pretendard"/>
              </a:rPr>
              <a:t>NBIM (노르웨이)</a:t>
            </a:r>
          </a:p>
          <a:p>
            <a:pPr algn="l">
              <a:spcAft>
                <a:spcPts val="600"/>
              </a:spcAft>
            </a:pPr>
            <a:r>
              <a:rPr sz="1445" b="1">
                <a:solidFill>
                  <a:srgbClr val="1D1D1F"/>
                </a:solidFill>
                <a:latin typeface="Pretendard"/>
              </a:rPr>
              <a:t>부동산 직접 투자 비중 지속 확대 기조</a:t>
            </a:r>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l">
              <a:spcAft>
                <a:spcPts val="600"/>
              </a:spcAft>
            </a:pPr>
            <a:r>
              <a:rPr sz="1360" b="1">
                <a:solidFill>
                  <a:srgbClr val="1E3A8A"/>
                </a:solidFill>
                <a:latin typeface="Pretendard"/>
              </a:rPr>
              <a:t>5</a:t>
            </a:r>
            <a:r>
              <a:t> </a:t>
            </a:r>
            <a:r>
              <a:rPr sz="1800" b="1">
                <a:solidFill>
                  <a:srgbClr val="1D1D1F"/>
                </a:solidFill>
                <a:latin typeface="Pretendard"/>
              </a:rPr>
              <a:t>AustralianSuper, CalPERS, ABP</a:t>
            </a:r>
          </a:p>
          <a:p>
            <a:pPr algn="l">
              <a:spcAft>
                <a:spcPts val="600"/>
              </a:spcAft>
            </a:pPr>
            <a:r>
              <a:rPr sz="1445" b="1">
                <a:solidFill>
                  <a:srgbClr val="1D1D1F"/>
                </a:solidFill>
                <a:latin typeface="Pretendard"/>
              </a:rPr>
              <a:t>인프라 및 실물 부동산 분야 강력한 글로벌 Mandate</a:t>
            </a:r>
          </a:p>
        </p:txBody>
      </p:sp>
      <p:sp>
        <p:nvSpPr>
          <p:cNvPr id="13" name="Rounded Rectangle 12"/>
          <p:cNvSpPr/>
          <p:nvPr/>
        </p:nvSpPr>
        <p:spPr>
          <a:xfrm>
            <a:off x="14203603"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340763" y="448056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Mitsubishi, Mitsui, Sumitomo (일본)</a:t>
            </a:r>
          </a:p>
          <a:p>
            <a:pPr algn="l">
              <a:spcAft>
                <a:spcPts val="600"/>
              </a:spcAft>
            </a:pPr>
            <a:r>
              <a:rPr sz="1445" b="1">
                <a:solidFill>
                  <a:srgbClr val="1D1D1F"/>
                </a:solidFill>
                <a:latin typeface="Pretendard"/>
              </a:rPr>
              <a:t>본격화되는 일본 자본의 한국 진입에 대한 주요 대응 채널</a:t>
            </a:r>
          </a:p>
        </p:txBody>
      </p:sp>
      <p:sp>
        <p:nvSpPr>
          <p:cNvPr id="15" name="Rounded Rectangle 14"/>
          <p:cNvSpPr/>
          <p:nvPr/>
        </p:nvSpPr>
        <p:spPr>
          <a:xfrm>
            <a:off x="2749280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9967" y="4480560"/>
            <a:ext cx="2042083" cy="1600200"/>
          </a:xfrm>
          <a:prstGeom prst="rect">
            <a:avLst/>
          </a:prstGeom>
          <a:noFill/>
        </p:spPr>
        <p:txBody>
          <a:bodyPr wrap="square" lIns="0" rIns="0" tIns="0" bIns="0">
            <a:spAutoFit/>
          </a:bodyPr>
          <a:lstStyle/>
          <a:p>
            <a:pPr algn="l">
              <a:spcAft>
                <a:spcPts val="600"/>
              </a:spcAft>
            </a:pPr>
            <a:r>
              <a:rPr sz="1360" b="1">
                <a:solidFill>
                  <a:srgbClr val="1E3A8A"/>
                </a:solidFill>
                <a:latin typeface="Pretendard"/>
              </a:rPr>
              <a:t>6</a:t>
            </a:r>
          </a:p>
          <a:p>
            <a:pPr algn="ctr">
              <a:spcAft>
                <a:spcPts val="600"/>
              </a:spcAft>
            </a:pPr>
            <a:r>
              <a:rPr sz="1700" b="1">
                <a:solidFill>
                  <a:srgbClr val="1D1D1F"/>
                </a:solidFill>
                <a:latin typeface="Pretendard"/>
              </a:rPr>
              <a:t>각 글로벌 LP의 고유한 투자 특성과 전략적 니즈에 맞춘 정교한 타겟팅으로 압도적인 국제적 자본 유치 가속화</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글로벌 IB 협력 채널</a:t>
            </a:r>
          </a:p>
          <a:p>
            <a:pPr algn="ctr"/>
            <a:r>
              <a:rPr sz="3200" b="1">
                <a:solidFill>
                  <a:srgbClr val="1D1D1F"/>
                </a:solidFill>
                <a:latin typeface="Pretendard"/>
              </a:rPr>
              <a:t>최상위 글로벌 IB와의 Deeper Integration</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Goldman Sachs</a:t>
            </a:r>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Morgan Stanley</a:t>
            </a:r>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J.P. Morgan</a:t>
            </a:r>
          </a:p>
        </p:txBody>
      </p:sp>
      <p:sp>
        <p:nvSpPr>
          <p:cNvPr id="9" name="Rounded Rectangle 8"/>
          <p:cNvSpPr/>
          <p:nvPr/>
        </p:nvSpPr>
        <p:spPr>
          <a:xfrm>
            <a:off x="8960891"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Citi</a:t>
            </a:r>
          </a:p>
          <a:p>
            <a:pPr algn="l">
              <a:spcAft>
                <a:spcPts val="600"/>
              </a:spcAft>
            </a:pPr>
            <a:r>
              <a:rPr sz="1530" b="1">
                <a:solidFill>
                  <a:srgbClr val="1D1D1F"/>
                </a:solidFill>
                <a:latin typeface="Pretendard"/>
              </a:rPr>
              <a:t>IOTA 앵커 케이스</a:t>
            </a:r>
          </a:p>
          <a:p>
            <a:pPr algn="l">
              <a:spcAft>
                <a:spcPts val="600"/>
              </a:spcAft>
            </a:pPr>
            <a:r>
              <a:rPr sz="1800" b="1">
                <a:solidFill>
                  <a:srgbClr val="1D1D1F"/>
                </a:solidFill>
                <a:latin typeface="Pretendard"/>
              </a:rPr>
              <a:t>일본, 유럽, 중동 지역 글로벌 로드쇼의 핵심 앵커(Anchor) 사례로 전면 활용</a:t>
            </a:r>
          </a:p>
        </p:txBody>
      </p:sp>
      <p:sp>
        <p:nvSpPr>
          <p:cNvPr id="11" name="Rounded Rectangle 10"/>
          <p:cNvSpPr/>
          <p:nvPr/>
        </p:nvSpPr>
        <p:spPr>
          <a:xfrm>
            <a:off x="914400"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Nomura</a:t>
            </a:r>
          </a:p>
        </p:txBody>
      </p:sp>
      <p:sp>
        <p:nvSpPr>
          <p:cNvPr id="13" name="Rounded Rectangle 12"/>
          <p:cNvSpPr/>
          <p:nvPr/>
        </p:nvSpPr>
        <p:spPr>
          <a:xfrm>
            <a:off x="3596563"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76428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HSBC</a:t>
            </a:r>
          </a:p>
        </p:txBody>
      </p:sp>
      <p:sp>
        <p:nvSpPr>
          <p:cNvPr id="15" name="Rounded Rectangle 14"/>
          <p:cNvSpPr/>
          <p:nvPr/>
        </p:nvSpPr>
        <p:spPr>
          <a:xfrm>
            <a:off x="627872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764280"/>
            <a:ext cx="2042083" cy="883920"/>
          </a:xfrm>
          <a:prstGeom prst="rect">
            <a:avLst/>
          </a:prstGeom>
          <a:noFill/>
        </p:spPr>
        <p:txBody>
          <a:bodyPr wrap="square" lIns="0" rIns="0" tIns="0" bIns="0">
            <a:spAutoFit/>
          </a:bodyPr>
          <a:lstStyle/>
          <a:p/>
        </p:txBody>
      </p:sp>
      <p:sp>
        <p:nvSpPr>
          <p:cNvPr id="17" name="Rounded Rectangle 16"/>
          <p:cNvSpPr/>
          <p:nvPr/>
        </p:nvSpPr>
        <p:spPr>
          <a:xfrm>
            <a:off x="8960891" y="3627120"/>
            <a:ext cx="2316403" cy="115824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764280"/>
            <a:ext cx="2042083" cy="883920"/>
          </a:xfrm>
          <a:prstGeom prst="rect">
            <a:avLst/>
          </a:prstGeom>
          <a:noFill/>
        </p:spPr>
        <p:txBody>
          <a:bodyPr wrap="square" lIns="0" rIns="0" tIns="0" bIns="0">
            <a:spAutoFit/>
          </a:bodyPr>
          <a:lstStyle/>
          <a:p>
            <a:pPr algn="l">
              <a:spcAft>
                <a:spcPts val="600"/>
              </a:spcAft>
            </a:pPr>
            <a:r>
              <a:rPr sz="1530" b="1">
                <a:solidFill>
                  <a:srgbClr val="1D1D1F"/>
                </a:solidFill>
                <a:latin typeface="Pretendard"/>
              </a:rPr>
              <a:t>파트너십 통합</a:t>
            </a:r>
          </a:p>
          <a:p>
            <a:pPr algn="l">
              <a:spcAft>
                <a:spcPts val="600"/>
              </a:spcAft>
            </a:pPr>
            <a:r>
              <a:rPr sz="1800" b="1">
                <a:solidFill>
                  <a:srgbClr val="1D1D1F"/>
                </a:solidFill>
                <a:latin typeface="Pretendard"/>
              </a:rPr>
              <a:t>Korea PB &amp; Alternative Coverage 팀과의 강력한 전략적 결속</a:t>
            </a:r>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글로벌 최상위 IB 네트워크를 십분 활용하여, IOTA 프로젝트를 국제적 자본 유치의 핵심 동력으로 격상</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5.</a:t>
            </a:r>
          </a:p>
          <a:p>
            <a:pPr algn="ctr">
              <a:spcAft>
                <a:spcPts val="1400"/>
              </a:spcAft>
            </a:pPr>
            <a:r>
              <a:rPr sz="2400" b="1">
                <a:solidFill>
                  <a:srgbClr val="FFFFFF"/>
                </a:solidFill>
                <a:latin typeface="Pretendard"/>
              </a:rPr>
              <a:t>AI 도입 워크플로우</a:t>
            </a:r>
            <a:r>
              <a:rPr sz="2400" b="1">
                <a:solidFill>
                  <a:srgbClr val="FFFFFF"/>
                </a:solidFill>
                <a:latin typeface="Pretendard"/>
              </a:rPr>
              <a:t>AI 도입 워크플로우</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Acquisition Underwriting</a:t>
            </a:r>
          </a:p>
          <a:p>
            <a:pPr algn="ctr"/>
            <a:r>
              <a:rPr sz="3200" b="1">
                <a:solidFill>
                  <a:srgbClr val="1D1D1F"/>
                </a:solidFill>
                <a:latin typeface="Pretendard"/>
              </a:rPr>
              <a:t>AI 기반 딜 소싱 및 투자심의 자동화</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의향서</a:t>
            </a:r>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Claude</a:t>
            </a:r>
          </a:p>
          <a:p>
            <a:pPr algn="ctr">
              <a:spcAft>
                <a:spcPts val="600"/>
              </a:spcAft>
            </a:pPr>
            <a:r>
              <a:rPr sz="1530" b="1">
                <a:solidFill>
                  <a:srgbClr val="1D1D1F"/>
                </a:solidFill>
                <a:latin typeface="Pretendard"/>
              </a:rPr>
              <a:t>/ GPT</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p:txBody>
      </p:sp>
      <p:sp>
        <p:nvSpPr>
          <p:cNvPr id="9" name="Rounded Rectangle 8"/>
          <p:cNvSpPr/>
          <p:nvPr/>
        </p:nvSpPr>
        <p:spPr>
          <a:xfrm>
            <a:off x="896089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초안 자동 생성</a:t>
            </a:r>
          </a:p>
          <a:p>
            <a:pPr algn="ctr">
              <a:spcAft>
                <a:spcPts val="600"/>
              </a:spcAft>
            </a:pPr>
            <a:r>
              <a:rPr sz="1530" b="1">
                <a:solidFill>
                  <a:srgbClr val="1D1D1F"/>
                </a:solidFill>
                <a:latin typeface="Pretendard"/>
              </a:rPr>
              <a:t>LOI</a:t>
            </a:r>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원천 데이터 수집</a:t>
            </a:r>
          </a:p>
          <a:p>
            <a:pPr algn="ctr">
              <a:spcAft>
                <a:spcPts val="600"/>
              </a:spcAft>
            </a:pPr>
            <a:r>
              <a:rPr sz="1275" b="1">
                <a:solidFill>
                  <a:srgbClr val="1D1D1F"/>
                </a:solidFill>
                <a:latin typeface="Pretendard"/>
              </a:rPr>
              <a:t>시장 보고서 / 매물 텍스트</a:t>
            </a:r>
          </a:p>
        </p:txBody>
      </p:sp>
      <p:sp>
        <p:nvSpPr>
          <p:cNvPr id="13" name="Rounded Rectangle 12"/>
          <p:cNvSpPr/>
          <p:nvPr/>
        </p:nvSpPr>
        <p:spPr>
          <a:xfrm>
            <a:off x="3596563"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4480560"/>
            <a:ext cx="2042083" cy="1600200"/>
          </a:xfrm>
          <a:prstGeom prst="rect">
            <a:avLst/>
          </a:prstGeom>
          <a:noFill/>
        </p:spPr>
        <p:txBody>
          <a:bodyPr wrap="square" lIns="0" rIns="0" tIns="0" bIns="0">
            <a:spAutoFit/>
          </a:bodyPr>
          <a:lstStyle/>
          <a:p>
            <a:pPr algn="ctr">
              <a:spcAft>
                <a:spcPts val="600"/>
              </a:spcAft>
            </a:pPr>
            <a:r>
              <a:rPr sz="1275" b="1">
                <a:solidFill>
                  <a:srgbClr val="1D1D1F"/>
                </a:solidFill>
                <a:latin typeface="Pretendard"/>
              </a:rPr>
              <a:t>실거래가 및 Cap Rate</a:t>
            </a:r>
          </a:p>
        </p:txBody>
      </p:sp>
      <p:sp>
        <p:nvSpPr>
          <p:cNvPr id="15" name="Rounded Rectangle 14"/>
          <p:cNvSpPr/>
          <p:nvPr/>
        </p:nvSpPr>
        <p:spPr>
          <a:xfrm>
            <a:off x="627872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4480560"/>
            <a:ext cx="2042083"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IC Memo</a:t>
            </a:r>
          </a:p>
          <a:p>
            <a:pPr algn="ctr">
              <a:spcAft>
                <a:spcPts val="600"/>
              </a:spcAft>
            </a:pPr>
            <a:r>
              <a:rPr sz="1200" b="1">
                <a:solidFill>
                  <a:srgbClr val="1D1D1F"/>
                </a:solidFill>
                <a:latin typeface="Pretendard"/>
              </a:rPr>
              <a:t>투자심의메모</a:t>
            </a:r>
          </a:p>
        </p:txBody>
      </p:sp>
      <p:sp>
        <p:nvSpPr>
          <p:cNvPr id="17" name="Rounded Rectangle 16"/>
          <p:cNvSpPr/>
          <p:nvPr/>
        </p:nvSpPr>
        <p:spPr>
          <a:xfrm>
            <a:off x="8960891"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448056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시장 비교 및 시나리오 연산</a:t>
            </a:r>
          </a:p>
          <a:p>
            <a:pPr algn="l">
              <a:spcAft>
                <a:spcPts val="600"/>
              </a:spcAft>
            </a:pPr>
            <a:r>
              <a:rPr sz="1700" b="1">
                <a:solidFill>
                  <a:srgbClr val="1D1D1F"/>
                </a:solidFill>
                <a:latin typeface="Pretendard"/>
              </a:rPr>
              <a:t>▪ 단순 텍스트 매물 정보와 시장 데이터를 AI가 즉각적으로 파싱하여 재무 시나리오(Cap Rate)를 도출</a:t>
            </a:r>
          </a:p>
          <a:p>
            <a:pPr algn="l">
              <a:spcAft>
                <a:spcPts val="600"/>
              </a:spcAft>
            </a:pPr>
            <a:r>
              <a:rPr sz="1700" b="1">
                <a:solidFill>
                  <a:srgbClr val="1D1D1F"/>
                </a:solidFill>
                <a:latin typeface="Pretendard"/>
              </a:rPr>
              <a:t>▪ Goldman Sachs, Blackstone 등 글로벌 Top-tier 운용사들이 이미 도입한 업무 혁신 워크플로우를 한국 시장에 적용</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Asset Management &amp; CF Protection</a:t>
            </a:r>
          </a:p>
          <a:p>
            <a:pPr algn="ctr"/>
            <a:r>
              <a:rPr sz="3200" b="1">
                <a:solidFill>
                  <a:srgbClr val="1D1D1F"/>
                </a:solidFill>
                <a:latin typeface="Pretendard"/>
              </a:rPr>
              <a:t>선제적 위험 관리 및 운용 대시보드</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운용 효율 개선 효과</a:t>
            </a:r>
          </a:p>
          <a:p>
            <a:pPr algn="l">
              <a:spcAft>
                <a:spcPts val="600"/>
              </a:spcAft>
            </a:pPr>
            <a:r>
              <a:rPr sz="1800" b="1">
                <a:solidFill>
                  <a:srgbClr val="1D1D1F"/>
                </a:solidFill>
                <a:latin typeface="Pretendard"/>
              </a:rPr>
              <a:t>30%</a:t>
            </a:r>
          </a:p>
          <a:p>
            <a:pPr algn="l">
              <a:spcAft>
                <a:spcPts val="600"/>
              </a:spcAft>
            </a:pPr>
            <a:r>
              <a:rPr sz="1700" b="1">
                <a:solidFill>
                  <a:srgbClr val="1D1D1F"/>
                </a:solidFill>
                <a:latin typeface="Pretendard"/>
              </a:rPr>
              <a:t>이지스 73조 원 AUM 전체에 적용 시 캐시플로우 보호 및 막대한 비용 절감 기대</a:t>
            </a:r>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l">
              <a:spcAft>
                <a:spcPts val="600"/>
              </a:spcAft>
            </a:pPr>
            <a:r>
              <a:rPr sz="1700" b="1">
                <a:solidFill>
                  <a:srgbClr val="1D1D1F"/>
                </a:solidFill>
                <a:latin typeface="Pretendard"/>
              </a:rPr>
              <a:t>공실 위험 조기 경보</a:t>
            </a:r>
          </a:p>
          <a:p>
            <a:pPr algn="l">
              <a:spcAft>
                <a:spcPts val="600"/>
              </a:spcAft>
            </a:pPr>
            <a:r>
              <a:rPr sz="1275" b="1">
                <a:solidFill>
                  <a:srgbClr val="1D1D1F"/>
                </a:solidFill>
                <a:latin typeface="Pretendard"/>
              </a:rPr>
              <a:t>Tenant B - 계약 연장 확률 &lt; 30%</a:t>
            </a:r>
          </a:p>
        </p:txBody>
      </p:sp>
      <p:sp>
        <p:nvSpPr>
          <p:cNvPr id="9" name="Rounded Rectangle 8"/>
          <p:cNvSpPr/>
          <p:nvPr/>
        </p:nvSpPr>
        <p:spPr>
          <a:xfrm>
            <a:off x="8960891"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ALERT</a:t>
            </a:r>
          </a:p>
        </p:txBody>
      </p:sp>
      <p:sp>
        <p:nvSpPr>
          <p:cNvPr id="11" name="Rounded Rectangle 10"/>
          <p:cNvSpPr/>
          <p:nvPr/>
        </p:nvSpPr>
        <p:spPr>
          <a:xfrm>
            <a:off x="914400"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임대료 연체 예측</a:t>
            </a:r>
          </a:p>
          <a:p>
            <a:pPr algn="ctr">
              <a:spcAft>
                <a:spcPts val="600"/>
              </a:spcAft>
            </a:pPr>
            <a:r>
              <a:rPr sz="1800" b="1">
                <a:solidFill>
                  <a:srgbClr val="1D1D1F"/>
                </a:solidFill>
                <a:latin typeface="Pretendard"/>
              </a:rPr>
              <a:t>High Risk</a:t>
            </a:r>
          </a:p>
        </p:txBody>
      </p:sp>
      <p:sp>
        <p:nvSpPr>
          <p:cNvPr id="13" name="Rounded Rectangle 12"/>
          <p:cNvSpPr/>
          <p:nvPr/>
        </p:nvSpPr>
        <p:spPr>
          <a:xfrm>
            <a:off x="3596563"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764280"/>
            <a:ext cx="2042083" cy="88392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캡엑스(CAPEX) 최적화</a:t>
            </a:r>
          </a:p>
          <a:p>
            <a:pPr algn="ctr">
              <a:spcAft>
                <a:spcPts val="600"/>
              </a:spcAft>
            </a:pPr>
            <a:r>
              <a:rPr sz="1800" b="1">
                <a:solidFill>
                  <a:srgbClr val="1D1D1F"/>
                </a:solidFill>
                <a:latin typeface="Pretendard"/>
              </a:rPr>
              <a:t>Optimal</a:t>
            </a:r>
          </a:p>
          <a:p>
            <a:pPr algn="l">
              <a:spcAft>
                <a:spcPts val="600"/>
              </a:spcAft>
            </a:pPr>
            <a:r>
              <a:rPr sz="1700" b="1">
                <a:solidFill>
                  <a:srgbClr val="1D1D1F"/>
                </a:solidFill>
                <a:latin typeface="Pretendard"/>
              </a:rPr>
              <a:t>▪ 사람의 직관에 의존하던 임차인 리스크 관리를 데이터 기반의 조기 경보 시스템으로 대체</a:t>
            </a:r>
          </a:p>
          <a:p>
            <a:pPr algn="l">
              <a:spcAft>
                <a:spcPts val="600"/>
              </a:spcAft>
            </a:pPr>
            <a:r>
              <a:rPr sz="1700" b="1">
                <a:solidFill>
                  <a:srgbClr val="1D1D1F"/>
                </a:solidFill>
                <a:latin typeface="Pretendard"/>
              </a:rPr>
              <a:t>▪ 임대료 연체 예측 및 CAPEX 최적화를 통해 거대 펀드의 누수 비용을 원천 차단</a:t>
            </a:r>
          </a:p>
        </p:txBody>
      </p:sp>
      <p:sp>
        <p:nvSpPr>
          <p:cNvPr id="15" name="Rounded Rectangle 14"/>
          <p:cNvSpPr/>
          <p:nvPr/>
        </p:nvSpPr>
        <p:spPr>
          <a:xfrm>
            <a:off x="627872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764280"/>
            <a:ext cx="2042083" cy="883920"/>
          </a:xfrm>
          <a:prstGeom prst="rect">
            <a:avLst/>
          </a:prstGeom>
          <a:noFill/>
        </p:spPr>
        <p:txBody>
          <a:bodyPr wrap="square" lIns="0" rIns="0" tIns="0" bIns="0">
            <a:spAutoFit/>
          </a:bodyPr>
          <a:lstStyle/>
          <a:p/>
        </p:txBody>
      </p:sp>
      <p:sp>
        <p:nvSpPr>
          <p:cNvPr id="17" name="Rounded Rectangle 16"/>
          <p:cNvSpPr/>
          <p:nvPr/>
        </p:nvSpPr>
        <p:spPr>
          <a:xfrm>
            <a:off x="8960891"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764280"/>
            <a:ext cx="2042083" cy="883920"/>
          </a:xfrm>
          <a:prstGeom prst="rect">
            <a:avLst/>
          </a:prstGeom>
          <a:noFill/>
        </p:spPr>
        <p:txBody>
          <a:bodyPr wrap="square" lIns="0" rIns="0" tIns="0" bIns="0">
            <a:spAutoFit/>
          </a:bodyPr>
          <a:lstStyle/>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p:txBody>
      </p:sp>
      <p:sp>
        <p:nvSpPr>
          <p:cNvPr id="21" name="Rounded Rectangle 20"/>
          <p:cNvSpPr/>
          <p:nvPr/>
        </p:nvSpPr>
        <p:spPr>
          <a:xfrm>
            <a:off x="3596563"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33723" y="5196840"/>
            <a:ext cx="2042083" cy="883920"/>
          </a:xfrm>
          <a:prstGeom prst="rect">
            <a:avLst/>
          </a:prstGeom>
          <a:noFill/>
        </p:spPr>
        <p:txBody>
          <a:bodyPr wrap="square" lIns="0" rIns="0" tIns="0" bIns="0">
            <a:spAutoFit/>
          </a:bodyPr>
          <a:lstStyle/>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LP Reporting</a:t>
            </a:r>
          </a:p>
          <a:p>
            <a:pPr algn="ctr"/>
            <a:r>
              <a:rPr sz="3200" b="1">
                <a:solidFill>
                  <a:srgbClr val="1D1D1F"/>
                </a:solidFill>
                <a:latin typeface="Pretendard"/>
              </a:rPr>
              <a:t>다국어 리포트 동시 생성 및 데이터 통합</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영어 (English)</a:t>
            </a:r>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AI Gen</a:t>
            </a:r>
          </a:p>
          <a:p>
            <a:pPr algn="ctr">
              <a:spcAft>
                <a:spcPts val="600"/>
              </a:spcAft>
            </a:pPr>
            <a:r>
              <a:rPr sz="1200" b="1">
                <a:solidFill>
                  <a:srgbClr val="1D1D1F"/>
                </a:solidFill>
                <a:latin typeface="Pretendard"/>
              </a:rPr>
              <a:t>Engine</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재무 데이터 통합</a:t>
            </a:r>
          </a:p>
        </p:txBody>
      </p:sp>
      <p:sp>
        <p:nvSpPr>
          <p:cNvPr id="9" name="Rounded Rectangle 8"/>
          <p:cNvSpPr/>
          <p:nvPr/>
        </p:nvSpPr>
        <p:spPr>
          <a:xfrm>
            <a:off x="896089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한국어 (Korean)</a:t>
            </a:r>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중국어 (Chinese)</a:t>
            </a:r>
          </a:p>
        </p:txBody>
      </p:sp>
      <p:sp>
        <p:nvSpPr>
          <p:cNvPr id="13" name="Rounded Rectangle 12"/>
          <p:cNvSpPr/>
          <p:nvPr/>
        </p:nvSpPr>
        <p:spPr>
          <a:xfrm>
            <a:off x="3596563"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4480560"/>
            <a:ext cx="2042083"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ESG 데이터</a:t>
            </a:r>
          </a:p>
        </p:txBody>
      </p:sp>
      <p:sp>
        <p:nvSpPr>
          <p:cNvPr id="15" name="Rounded Rectangle 14"/>
          <p:cNvSpPr/>
          <p:nvPr/>
        </p:nvSpPr>
        <p:spPr>
          <a:xfrm>
            <a:off x="627872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4480560"/>
            <a:ext cx="2042083" cy="160020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실시간 다국어 생성</a:t>
            </a:r>
          </a:p>
          <a:p>
            <a:pPr algn="l">
              <a:spcAft>
                <a:spcPts val="600"/>
              </a:spcAft>
            </a:pPr>
            <a:r>
              <a:rPr sz="1700" b="1">
                <a:solidFill>
                  <a:srgbClr val="1D1D1F"/>
                </a:solidFill>
                <a:latin typeface="Pretendard"/>
              </a:rPr>
              <a:t>▪ 각종 재무 데이터와 ESG 지표를 자동으로 취합하여 글로벌 표준에 맞는 분기 리포트 생성</a:t>
            </a:r>
          </a:p>
          <a:p>
            <a:pPr algn="l">
              <a:spcAft>
                <a:spcPts val="600"/>
              </a:spcAft>
            </a:pPr>
            <a:r>
              <a:rPr sz="1700" b="1">
                <a:solidFill>
                  <a:srgbClr val="1D1D1F"/>
                </a:solidFill>
                <a:latin typeface="Pretendard"/>
              </a:rPr>
              <a:t>▪ 언어 장벽을 허무는 다국어(한·영·중·일) 동시 출력으로 글로벌 LP 베이스 확장 시 필수 인프라 확보</a:t>
            </a:r>
          </a:p>
        </p:txBody>
      </p:sp>
      <p:sp>
        <p:nvSpPr>
          <p:cNvPr id="17" name="Rounded Rectangle 16"/>
          <p:cNvSpPr/>
          <p:nvPr/>
        </p:nvSpPr>
        <p:spPr>
          <a:xfrm>
            <a:off x="8960891"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4480560"/>
            <a:ext cx="2042083" cy="160020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일본어 (Japanese)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IPR Project REIT Structuring</a:t>
            </a:r>
          </a:p>
          <a:p>
            <a:pPr algn="ctr"/>
            <a:r>
              <a:rPr sz="3200" b="1">
                <a:solidFill>
                  <a:srgbClr val="1D1D1F"/>
                </a:solidFill>
                <a:latin typeface="Pretendard"/>
              </a:rPr>
              <a:t>초거대 PF 시나리오 및 민감도 분석 자동화</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AI 민감도 분석 시뮬레이터</a:t>
            </a:r>
          </a:p>
          <a:p>
            <a:pPr algn="ctr">
              <a:spcAft>
                <a:spcPts val="600"/>
              </a:spcAft>
            </a:pPr>
            <a:r>
              <a:rPr sz="1200" b="1">
                <a:solidFill>
                  <a:srgbClr val="1D1D1F"/>
                </a:solidFill>
                <a:latin typeface="Pretendard"/>
              </a:rPr>
              <a:t>금리 (Interest Rate)</a:t>
            </a:r>
          </a:p>
          <a:p>
            <a:pPr algn="ctr">
              <a:spcAft>
                <a:spcPts val="600"/>
              </a:spcAft>
            </a:pPr>
            <a:r>
              <a:rPr sz="1200" b="1">
                <a:solidFill>
                  <a:srgbClr val="1D1D1F"/>
                </a:solidFill>
                <a:latin typeface="Pretendard"/>
              </a:rPr>
              <a:t>IPO / 매각 시나리오 가치 평가</a:t>
            </a:r>
          </a:p>
        </p:txBody>
      </p:sp>
      <p:sp>
        <p:nvSpPr>
          <p:cNvPr id="9" name="Rounded Rectangle 8"/>
          <p:cNvSpPr/>
          <p:nvPr/>
        </p:nvSpPr>
        <p:spPr>
          <a:xfrm>
            <a:off x="8960891"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공실률 (Vacancy)</a:t>
            </a:r>
          </a:p>
        </p:txBody>
      </p:sp>
      <p:sp>
        <p:nvSpPr>
          <p:cNvPr id="11" name="Rounded Rectangle 10"/>
          <p:cNvSpPr/>
          <p:nvPr/>
        </p:nvSpPr>
        <p:spPr>
          <a:xfrm>
            <a:off x="914400"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Auto-Sync</a:t>
            </a:r>
          </a:p>
          <a:p>
            <a:pPr algn="ctr">
              <a:spcAft>
                <a:spcPts val="600"/>
              </a:spcAft>
            </a:pPr>
            <a:r>
              <a:rPr sz="1200" b="1">
                <a:solidFill>
                  <a:srgbClr val="1D1D1F"/>
                </a:solidFill>
                <a:latin typeface="Pretendard"/>
              </a:rPr>
              <a:t>임대료 (Rent)</a:t>
            </a:r>
          </a:p>
        </p:txBody>
      </p:sp>
      <p:sp>
        <p:nvSpPr>
          <p:cNvPr id="13" name="Rounded Rectangle 12"/>
          <p:cNvSpPr/>
          <p:nvPr/>
        </p:nvSpPr>
        <p:spPr>
          <a:xfrm>
            <a:off x="3596563"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764280"/>
            <a:ext cx="2042083" cy="883920"/>
          </a:xfrm>
          <a:prstGeom prst="rect">
            <a:avLst/>
          </a:prstGeom>
          <a:noFill/>
        </p:spPr>
        <p:txBody>
          <a:bodyPr wrap="square" lIns="0" rIns="0" tIns="0" bIns="0">
            <a:spAutoFit/>
          </a:bodyPr>
          <a:lstStyle/>
          <a:p>
            <a:pPr algn="l">
              <a:spcAft>
                <a:spcPts val="600"/>
              </a:spcAft>
            </a:pPr>
            <a:r>
              <a:rPr sz="1700" b="1">
                <a:solidFill>
                  <a:srgbClr val="1D1D1F"/>
                </a:solidFill>
                <a:latin typeface="Pretendard"/>
              </a:rPr>
              <a:t>7조 원 PF 캐시플로우 트랜치</a:t>
            </a:r>
          </a:p>
          <a:p>
            <a:pPr algn="ctr">
              <a:spcAft>
                <a:spcPts val="600"/>
              </a:spcAft>
            </a:pPr>
            <a:r>
              <a:rPr sz="1360" b="1">
                <a:solidFill>
                  <a:srgbClr val="1D1D1F"/>
                </a:solidFill>
                <a:latin typeface="Pretendard"/>
              </a:rPr>
              <a:t>Equity (Common/Pref)</a:t>
            </a:r>
          </a:p>
        </p:txBody>
      </p:sp>
      <p:sp>
        <p:nvSpPr>
          <p:cNvPr id="15" name="Rounded Rectangle 14"/>
          <p:cNvSpPr/>
          <p:nvPr/>
        </p:nvSpPr>
        <p:spPr>
          <a:xfrm>
            <a:off x="627872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764280"/>
            <a:ext cx="2042083" cy="88392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Mezzanine Loan</a:t>
            </a:r>
          </a:p>
        </p:txBody>
      </p:sp>
      <p:sp>
        <p:nvSpPr>
          <p:cNvPr id="17" name="Rounded Rectangle 16"/>
          <p:cNvSpPr/>
          <p:nvPr/>
        </p:nvSpPr>
        <p:spPr>
          <a:xfrm>
            <a:off x="8960891"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764280"/>
            <a:ext cx="2042083" cy="883920"/>
          </a:xfrm>
          <a:prstGeom prst="rect">
            <a:avLst/>
          </a:prstGeom>
          <a:noFill/>
        </p:spPr>
        <p:txBody>
          <a:bodyPr wrap="square" lIns="0" rIns="0" tIns="0" bIns="0">
            <a:spAutoFit/>
          </a:bodyPr>
          <a:lstStyle/>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20%</a:t>
            </a:r>
          </a:p>
          <a:p>
            <a:pPr algn="ctr">
              <a:spcAft>
                <a:spcPts val="600"/>
              </a:spcAft>
            </a:pPr>
            <a:r>
              <a:rPr sz="1360" b="1">
                <a:solidFill>
                  <a:srgbClr val="1D1D1F"/>
                </a:solidFill>
                <a:latin typeface="Pretendard"/>
              </a:rPr>
              <a:t>30%</a:t>
            </a:r>
          </a:p>
          <a:p>
            <a:pPr algn="ctr">
              <a:spcAft>
                <a:spcPts val="600"/>
              </a:spcAft>
            </a:pPr>
            <a:r>
              <a:rPr sz="1360" b="1">
                <a:solidFill>
                  <a:srgbClr val="1D1D1F"/>
                </a:solidFill>
                <a:latin typeface="Pretendard"/>
              </a:rPr>
              <a:t>50%</a:t>
            </a:r>
          </a:p>
          <a:p>
            <a:pPr algn="l">
              <a:spcAft>
                <a:spcPts val="600"/>
              </a:spcAft>
            </a:pPr>
            <a:r>
              <a:rPr sz="1700" b="1">
                <a:solidFill>
                  <a:srgbClr val="1D1D1F"/>
                </a:solidFill>
                <a:latin typeface="Pretendard"/>
              </a:rPr>
              <a:t>▪ 초거대 규모(7조 원) PF의 트랜치별 캐시플로우를 시뮬레이션하고 각종 변수(금리, 공실)에 대한 민감도 분석 자동화</a:t>
            </a:r>
          </a:p>
          <a:p>
            <a:pPr algn="l">
              <a:spcAft>
                <a:spcPts val="600"/>
              </a:spcAft>
            </a:pPr>
            <a:r>
              <a:rPr sz="1700" b="1">
                <a:solidFill>
                  <a:srgbClr val="1D1D1F"/>
                </a:solidFill>
                <a:latin typeface="Pretendard"/>
              </a:rPr>
              <a:t>▪ 시시각각 변하는 매크로 환경에 즉각 대응하여 최적의 IPO 및 매각 시나리오를 도출</a:t>
            </a:r>
          </a:p>
        </p:txBody>
      </p:sp>
      <p:sp>
        <p:nvSpPr>
          <p:cNvPr id="21" name="Rounded Rectangle 20"/>
          <p:cNvSpPr/>
          <p:nvPr/>
        </p:nvSpPr>
        <p:spPr>
          <a:xfrm>
            <a:off x="3596563"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33723" y="5196840"/>
            <a:ext cx="2042083" cy="883920"/>
          </a:xfrm>
          <a:prstGeom prst="rect">
            <a:avLst/>
          </a:prstGeom>
          <a:noFill/>
        </p:spPr>
        <p:txBody>
          <a:bodyPr wrap="square" lIns="0" rIns="0" tIns="0" bIns="0">
            <a:spAutoFit/>
          </a:bodyPr>
          <a:lstStyle/>
          <a:p>
            <a:pPr algn="ctr">
              <a:spcAft>
                <a:spcPts val="600"/>
              </a:spcAft>
            </a:pPr>
            <a:r>
              <a:rPr sz="1360" b="1">
                <a:solidFill>
                  <a:srgbClr val="1D1D1F"/>
                </a:solidFill>
                <a:latin typeface="Pretendard"/>
              </a:rPr>
              <a:t>Senior Loan</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6.</a:t>
            </a:r>
          </a:p>
          <a:p>
            <a:pPr algn="ctr">
              <a:spcAft>
                <a:spcPts val="1400"/>
              </a:spcAft>
            </a:pPr>
            <a:r>
              <a:rPr sz="2400" b="1">
                <a:solidFill>
                  <a:srgbClr val="FFFFFF"/>
                </a:solidFill>
                <a:latin typeface="Pretendard"/>
              </a:rPr>
              <a:t>자본 구조 혁신</a:t>
            </a:r>
            <a:r>
              <a:rPr sz="2400" b="1">
                <a:solidFill>
                  <a:srgbClr val="FFFFFF"/>
                </a:solidFill>
                <a:latin typeface="Pretendard"/>
              </a:rPr>
              <a:t>자본 구조 혁신</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Cross-over 전략</a:t>
            </a:r>
          </a:p>
          <a:p>
            <a:pPr algn="ctr"/>
            <a:r>
              <a:rPr sz="3200" b="1">
                <a:solidFill>
                  <a:srgbClr val="1D1D1F"/>
                </a:solidFill>
                <a:latin typeface="Pretendard"/>
              </a:rPr>
              <a:t>부동산, 인프라, PE의 경계를 허무는 통합 투자</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자산군 통합 운영 (Integration)</a:t>
            </a:r>
          </a:p>
          <a:p>
            <a:pPr algn="l">
              <a:spcAft>
                <a:spcPts val="600"/>
              </a:spcAft>
            </a:pPr>
            <a:r>
              <a:rPr sz="1360" b="1">
                <a:solidFill>
                  <a:srgbClr val="1D1D1F"/>
                </a:solidFill>
                <a:latin typeface="Pretendard"/>
              </a:rPr>
              <a:t>부동산, 인프라, PE를 하나로 결합하여 융복합 시너지 및 초과 수익(Alpha) 창출</a:t>
            </a:r>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데이터센터 (Data Center)</a:t>
            </a:r>
          </a:p>
          <a:p>
            <a:pPr algn="l">
              <a:spcAft>
                <a:spcPts val="600"/>
              </a:spcAft>
            </a:pPr>
            <a:r>
              <a:rPr sz="1360" b="1">
                <a:solidFill>
                  <a:srgbClr val="1D1D1F"/>
                </a:solidFill>
                <a:latin typeface="Pretendard"/>
              </a:rPr>
              <a:t>부동산과 통신 인프라의 완벽한 융합</a:t>
            </a:r>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ctr">
              <a:spcAft>
                <a:spcPts val="600"/>
              </a:spcAft>
            </a:pPr>
            <a:r>
              <a:rPr sz="1800" b="1">
                <a:solidFill>
                  <a:srgbClr val="1E3A8A"/>
                </a:solidFill>
                <a:latin typeface="Pretendard"/>
              </a:rPr>
              <a:t>1</a:t>
            </a:r>
          </a:p>
        </p:txBody>
      </p:sp>
      <p:sp>
        <p:nvSpPr>
          <p:cNvPr id="9" name="Rounded Rectangle 8"/>
          <p:cNvSpPr/>
          <p:nvPr/>
        </p:nvSpPr>
        <p:spPr>
          <a:xfrm>
            <a:off x="8960891"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신재생 인프라 (Renewable)</a:t>
            </a:r>
          </a:p>
          <a:p>
            <a:pPr algn="l">
              <a:spcAft>
                <a:spcPts val="600"/>
              </a:spcAft>
            </a:pPr>
            <a:r>
              <a:rPr sz="1360" b="1">
                <a:solidFill>
                  <a:srgbClr val="1D1D1F"/>
                </a:solidFill>
                <a:latin typeface="Pretendard"/>
              </a:rPr>
              <a:t>수소 연료전지 및 ESS 블라인드펀드</a:t>
            </a:r>
          </a:p>
        </p:txBody>
      </p:sp>
      <p:sp>
        <p:nvSpPr>
          <p:cNvPr id="11" name="Rounded Rectangle 10"/>
          <p:cNvSpPr/>
          <p:nvPr/>
        </p:nvSpPr>
        <p:spPr>
          <a:xfrm>
            <a:off x="914400" y="3627120"/>
            <a:ext cx="2316403" cy="115824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p:txBody>
      </p:sp>
      <p:sp>
        <p:nvSpPr>
          <p:cNvPr id="13" name="Rounded Rectangle 12"/>
          <p:cNvSpPr/>
          <p:nvPr/>
        </p:nvSpPr>
        <p:spPr>
          <a:xfrm>
            <a:off x="3596563"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76428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Infra</a:t>
            </a:r>
          </a:p>
        </p:txBody>
      </p:sp>
      <p:sp>
        <p:nvSpPr>
          <p:cNvPr id="15" name="Rounded Rectangle 14"/>
          <p:cNvSpPr/>
          <p:nvPr/>
        </p:nvSpPr>
        <p:spPr>
          <a:xfrm>
            <a:off x="627872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764280"/>
            <a:ext cx="2042083" cy="883920"/>
          </a:xfrm>
          <a:prstGeom prst="rect">
            <a:avLst/>
          </a:prstGeom>
          <a:noFill/>
        </p:spPr>
        <p:txBody>
          <a:bodyPr wrap="square" lIns="0" rIns="0" tIns="0" bIns="0">
            <a:spAutoFit/>
          </a:bodyPr>
          <a:lstStyle/>
          <a:p>
            <a:pPr algn="ctr">
              <a:spcAft>
                <a:spcPts val="600"/>
              </a:spcAft>
            </a:pPr>
            <a:r>
              <a:rPr sz="1800" b="1">
                <a:solidFill>
                  <a:srgbClr val="1E3A8A"/>
                </a:solidFill>
                <a:latin typeface="Pretendard"/>
              </a:rPr>
              <a:t>2</a:t>
            </a:r>
          </a:p>
        </p:txBody>
      </p:sp>
      <p:sp>
        <p:nvSpPr>
          <p:cNvPr id="17" name="Rounded Rectangle 16"/>
          <p:cNvSpPr/>
          <p:nvPr/>
        </p:nvSpPr>
        <p:spPr>
          <a:xfrm>
            <a:off x="8960891"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76428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RE</a:t>
            </a:r>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PE</a:t>
            </a:r>
          </a:p>
        </p:txBody>
      </p:sp>
      <p:sp>
        <p:nvSpPr>
          <p:cNvPr id="21" name="Rounded Rectangle 20"/>
          <p:cNvSpPr/>
          <p:nvPr/>
        </p:nvSpPr>
        <p:spPr>
          <a:xfrm>
            <a:off x="3596563"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33723" y="519684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시니어/헬스케어 (Healthcare)</a:t>
            </a:r>
          </a:p>
          <a:p>
            <a:pPr algn="l">
              <a:spcAft>
                <a:spcPts val="600"/>
              </a:spcAft>
            </a:pPr>
            <a:r>
              <a:rPr sz="1360" b="1">
                <a:solidFill>
                  <a:srgbClr val="1D1D1F"/>
                </a:solidFill>
                <a:latin typeface="Pretendard"/>
              </a:rPr>
              <a:t>부동산 공간과 오퍼레이션(PE)의 결합</a:t>
            </a:r>
          </a:p>
        </p:txBody>
      </p:sp>
      <p:sp>
        <p:nvSpPr>
          <p:cNvPr id="23" name="Rounded Rectangle 22"/>
          <p:cNvSpPr/>
          <p:nvPr/>
        </p:nvSpPr>
        <p:spPr>
          <a:xfrm>
            <a:off x="6278727"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5887" y="5196840"/>
            <a:ext cx="2042083" cy="883920"/>
          </a:xfrm>
          <a:prstGeom prst="rect">
            <a:avLst/>
          </a:prstGeom>
          <a:noFill/>
        </p:spPr>
        <p:txBody>
          <a:bodyPr wrap="square" lIns="0" rIns="0" tIns="0" bIns="0">
            <a:spAutoFit/>
          </a:bodyPr>
          <a:lstStyle/>
          <a:p>
            <a:pPr algn="l">
              <a:spcAft>
                <a:spcPts val="600"/>
              </a:spcAft>
            </a:pPr>
            <a:r>
              <a:rPr sz="1275" b="1">
                <a:solidFill>
                  <a:srgbClr val="1D1D1F"/>
                </a:solidFill>
                <a:latin typeface="Pretendard"/>
              </a:rPr>
              <a:t>💡 벤치마크: 블랙스톤(Blackstone)이 2014년 인프라 펀드 출시 후 AUM을 2배 도약시킨 패턴을 적용</a:t>
            </a:r>
          </a:p>
        </p:txBody>
      </p:sp>
      <p:sp>
        <p:nvSpPr>
          <p:cNvPr id="25" name="Rounded Rectangle 24"/>
          <p:cNvSpPr/>
          <p:nvPr/>
        </p:nvSpPr>
        <p:spPr>
          <a:xfrm>
            <a:off x="8960891"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051" y="5196840"/>
            <a:ext cx="2042083" cy="883920"/>
          </a:xfrm>
          <a:prstGeom prst="rect">
            <a:avLst/>
          </a:prstGeom>
          <a:noFill/>
        </p:spPr>
        <p:txBody>
          <a:bodyPr wrap="square" lIns="0" rIns="0" tIns="0" bIns="0">
            <a:spAutoFit/>
          </a:bodyPr>
          <a:lstStyle/>
          <a:p>
            <a:pPr algn="ctr">
              <a:spcAft>
                <a:spcPts val="600"/>
              </a:spcAft>
            </a:pPr>
            <a:r>
              <a:rPr sz="1800" b="1">
                <a:solidFill>
                  <a:srgbClr val="1E3A8A"/>
                </a:solidFill>
                <a:latin typeface="Pretendard"/>
              </a:rPr>
              <a:t>3</a:t>
            </a:r>
          </a:p>
          <a:p>
            <a:pPr algn="l">
              <a:spcAft>
                <a:spcPts val="600"/>
              </a:spcAft>
            </a:pPr>
            <a:r>
              <a:rPr sz="1700" b="1">
                <a:solidFill>
                  <a:srgbClr val="1D1D1F"/>
                </a:solidFill>
                <a:latin typeface="Pretendard"/>
              </a:rPr>
              <a:t>▪ 블랙스톤(Blackstone)이 2014년 인프라 펀드 출시 후 AUM을 2배 도약시킨 패턴을 벤치마크</a:t>
            </a:r>
          </a:p>
          <a:p>
            <a:pPr algn="l">
              <a:spcAft>
                <a:spcPts val="600"/>
              </a:spcAft>
            </a:pPr>
            <a:r>
              <a:rPr sz="1700" b="1">
                <a:solidFill>
                  <a:srgbClr val="1D1D1F"/>
                </a:solidFill>
                <a:latin typeface="Pretendard"/>
              </a:rPr>
              <a:t>▪ 이지스 역시 자산군 간의 경계(Cross-over)에서 발생하는 고수익 알파(Alpha)를 선점</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SWF 파트너십 &amp; 보험사 자본</a:t>
            </a:r>
          </a:p>
          <a:p>
            <a:pPr algn="ctr"/>
            <a:r>
              <a:rPr sz="3200" b="1">
                <a:solidFill>
                  <a:srgbClr val="1D1D1F"/>
                </a:solidFill>
                <a:latin typeface="Pretendard"/>
              </a:rPr>
              <a:t>초장기 자본(Long-Duration Capital)의 트로피 자산 매칭</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TARGET DESTINATION</a:t>
            </a:r>
          </a:p>
          <a:p>
            <a:pPr algn="ctr">
              <a:spcAft>
                <a:spcPts val="600"/>
              </a:spcAft>
            </a:pPr>
            <a:r>
              <a:rPr sz="1800" b="1">
                <a:solidFill>
                  <a:srgbClr val="1D1D1F"/>
                </a:solidFill>
                <a:latin typeface="Pretendard"/>
              </a:rPr>
              <a:t>Trophy Assets</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국부펀드 (SWF)</a:t>
            </a:r>
          </a:p>
          <a:p>
            <a:pPr algn="l">
              <a:spcAft>
                <a:spcPts val="600"/>
              </a:spcAft>
            </a:pPr>
            <a:r>
              <a:rPr sz="1360" b="1">
                <a:solidFill>
                  <a:srgbClr val="1D1D1F"/>
                </a:solidFill>
                <a:latin typeface="Pretendard"/>
              </a:rPr>
              <a:t>중동(ADIA, PIF) 및 싱가포르(GIC) 등 막대한 자금력을 갖춘 최상위 기관과의 파트너십 구축</a:t>
            </a:r>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Core Equity</a:t>
            </a:r>
            <a:r>
              <a:t>                       </a:t>
            </a:r>
            <a:r>
              <a:rPr sz="1200" b="1">
                <a:solidFill>
                  <a:srgbClr val="1D1D1F"/>
                </a:solidFill>
                <a:latin typeface="Pretendard"/>
              </a:rPr>
              <a:t>핵심 지분 투자</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글로벌 &amp; 국내 보험사</a:t>
            </a:r>
          </a:p>
          <a:p>
            <a:pPr algn="l">
              <a:spcAft>
                <a:spcPts val="600"/>
              </a:spcAft>
            </a:pPr>
            <a:r>
              <a:rPr sz="1275" b="1">
                <a:solidFill>
                  <a:srgbClr val="1D1D1F"/>
                </a:solidFill>
                <a:latin typeface="Pretendard"/>
              </a:rPr>
              <a:t>국내: 삼성생명 · 교보생명 · 한화생명 글로벌: Allianz · AXA · MetLife</a:t>
            </a:r>
          </a:p>
        </p:txBody>
      </p:sp>
      <p:sp>
        <p:nvSpPr>
          <p:cNvPr id="11" name="Rounded Rectangle 10"/>
          <p:cNvSpPr/>
          <p:nvPr/>
        </p:nvSpPr>
        <p:spPr>
          <a:xfrm>
            <a:off x="21912315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260318" y="4480560"/>
            <a:ext cx="2936138" cy="160020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Long-Duration Capital</a:t>
            </a:r>
          </a:p>
          <a:p>
            <a:pPr algn="l">
              <a:spcAft>
                <a:spcPts val="600"/>
              </a:spcAft>
            </a:pPr>
            <a:r>
              <a:rPr sz="1700" b="1">
                <a:solidFill>
                  <a:srgbClr val="1D1D1F"/>
                </a:solidFill>
                <a:latin typeface="Pretendard"/>
              </a:rPr>
              <a:t>▪ 긴 듀레이션(Long-Duration)을 필요로 하는 보험사 자본의 특성을 정확히 공략</a:t>
            </a:r>
          </a:p>
          <a:p>
            <a:pPr algn="l">
              <a:spcAft>
                <a:spcPts val="600"/>
              </a:spcAft>
            </a:pPr>
            <a:r>
              <a:rPr sz="1700" b="1">
                <a:solidFill>
                  <a:srgbClr val="1D1D1F"/>
                </a:solidFill>
                <a:latin typeface="Pretendard"/>
              </a:rPr>
              <a:t>▪ 안정적 배당과 자본 보호가 확실한 핵심 도심 트로피 자산의 선순위 대출 및 코어 에쿼티에 최적화</a:t>
            </a:r>
          </a:p>
        </p:txBody>
      </p:sp>
      <p:sp>
        <p:nvSpPr>
          <p:cNvPr id="13" name="Rounded Rectangle 12"/>
          <p:cNvSpPr/>
          <p:nvPr/>
        </p:nvSpPr>
        <p:spPr>
          <a:xfrm>
            <a:off x="437331916"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469076" y="4480560"/>
            <a:ext cx="2936138" cy="160020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Senior Debt</a:t>
            </a:r>
            <a:r>
              <a:t>                         </a:t>
            </a:r>
            <a:r>
              <a:rPr sz="1200" b="1">
                <a:solidFill>
                  <a:srgbClr val="1D1D1F"/>
                </a:solidFill>
                <a:latin typeface="Pretendard"/>
              </a:rPr>
              <a:t>선순위 대출</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패밀리오피스 &amp; 연기금 파트너십</a:t>
            </a:r>
          </a:p>
          <a:p>
            <a:pPr algn="ctr"/>
            <a:r>
              <a:rPr sz="3200" b="1">
                <a:solidFill>
                  <a:srgbClr val="1D1D1F"/>
                </a:solidFill>
                <a:latin typeface="Pretendard"/>
              </a:rPr>
              <a:t>새로운 자본 풀(Pool)과 거대 연기금의 전략적 동맹</a:t>
            </a:r>
          </a:p>
        </p:txBody>
      </p:sp>
      <p:sp>
        <p:nvSpPr>
          <p:cNvPr id="3" name="Rounded Rectangle 2"/>
          <p:cNvSpPr/>
          <p:nvPr/>
        </p:nvSpPr>
        <p:spPr>
          <a:xfrm>
            <a:off x="914400" y="219456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52578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EMERGING FAMILY OFFICE</a:t>
            </a:r>
          </a:p>
          <a:p>
            <a:pPr algn="l">
              <a:spcAft>
                <a:spcPts val="600"/>
              </a:spcAft>
            </a:pPr>
            <a:r>
              <a:rPr sz="1530" b="1">
                <a:solidFill>
                  <a:srgbClr val="1D1D1F"/>
                </a:solidFill>
                <a:latin typeface="Pretendard"/>
              </a:rPr>
              <a:t>한국 신흥 패밀리오피스 자본</a:t>
            </a:r>
          </a:p>
        </p:txBody>
      </p:sp>
      <p:sp>
        <p:nvSpPr>
          <p:cNvPr id="5" name="Rounded Rectangle 4"/>
          <p:cNvSpPr/>
          <p:nvPr/>
        </p:nvSpPr>
        <p:spPr>
          <a:xfrm>
            <a:off x="3596563" y="219456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525780"/>
          </a:xfrm>
          <a:prstGeom prst="rect">
            <a:avLst/>
          </a:prstGeom>
          <a:noFill/>
        </p:spPr>
        <p:txBody>
          <a:bodyPr wrap="square" lIns="0" rIns="0" tIns="0" bIns="0">
            <a:spAutoFit/>
          </a:bodyPr>
          <a:lstStyle/>
          <a:p/>
        </p:txBody>
      </p:sp>
      <p:sp>
        <p:nvSpPr>
          <p:cNvPr id="7" name="Rounded Rectangle 6"/>
          <p:cNvSpPr/>
          <p:nvPr/>
        </p:nvSpPr>
        <p:spPr>
          <a:xfrm>
            <a:off x="6278727" y="219456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52578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Coupang</a:t>
            </a:r>
          </a:p>
        </p:txBody>
      </p:sp>
      <p:sp>
        <p:nvSpPr>
          <p:cNvPr id="9" name="Rounded Rectangle 8"/>
          <p:cNvSpPr/>
          <p:nvPr/>
        </p:nvSpPr>
        <p:spPr>
          <a:xfrm>
            <a:off x="8960891" y="219456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52578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HYBE</a:t>
            </a:r>
          </a:p>
        </p:txBody>
      </p:sp>
      <p:sp>
        <p:nvSpPr>
          <p:cNvPr id="11" name="Rounded Rectangle 10"/>
          <p:cNvSpPr/>
          <p:nvPr/>
        </p:nvSpPr>
        <p:spPr>
          <a:xfrm>
            <a:off x="914400" y="326898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406140"/>
            <a:ext cx="2042083" cy="52578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MEGA PUBLIC PENSIONS</a:t>
            </a:r>
          </a:p>
          <a:p>
            <a:pPr algn="l">
              <a:spcAft>
                <a:spcPts val="600"/>
              </a:spcAft>
            </a:pPr>
            <a:r>
              <a:rPr sz="1530" b="1">
                <a:solidFill>
                  <a:srgbClr val="1D1D1F"/>
                </a:solidFill>
                <a:latin typeface="Pretendard"/>
              </a:rPr>
              <a:t>국가 주도 초거대 연기금</a:t>
            </a:r>
          </a:p>
        </p:txBody>
      </p:sp>
      <p:sp>
        <p:nvSpPr>
          <p:cNvPr id="13" name="Rounded Rectangle 12"/>
          <p:cNvSpPr/>
          <p:nvPr/>
        </p:nvSpPr>
        <p:spPr>
          <a:xfrm>
            <a:off x="3596563" y="326898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406140"/>
            <a:ext cx="2042083" cy="52578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NPS (국민연금)</a:t>
            </a:r>
          </a:p>
          <a:p>
            <a:pPr algn="ctr">
              <a:spcAft>
                <a:spcPts val="600"/>
              </a:spcAft>
            </a:pPr>
            <a:r>
              <a:rPr sz="1445" b="1">
                <a:solidFill>
                  <a:srgbClr val="1D1D1F"/>
                </a:solidFill>
                <a:latin typeface="Pretendard"/>
              </a:rPr>
              <a:t>교직원공제회</a:t>
            </a:r>
          </a:p>
        </p:txBody>
      </p:sp>
      <p:sp>
        <p:nvSpPr>
          <p:cNvPr id="15" name="Rounded Rectangle 14"/>
          <p:cNvSpPr/>
          <p:nvPr/>
        </p:nvSpPr>
        <p:spPr>
          <a:xfrm>
            <a:off x="6278727" y="326898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406140"/>
            <a:ext cx="2042083" cy="52578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2026 AUM ~1,200T KRW</a:t>
            </a:r>
          </a:p>
          <a:p>
            <a:pPr algn="ctr">
              <a:spcAft>
                <a:spcPts val="600"/>
              </a:spcAft>
            </a:pPr>
            <a:r>
              <a:rPr sz="1445" b="1">
                <a:solidFill>
                  <a:srgbClr val="1D1D1F"/>
                </a:solidFill>
                <a:latin typeface="Pretendard"/>
              </a:rPr>
              <a:t>행정공제회</a:t>
            </a:r>
          </a:p>
        </p:txBody>
      </p:sp>
      <p:sp>
        <p:nvSpPr>
          <p:cNvPr id="17" name="Rounded Rectangle 16"/>
          <p:cNvSpPr/>
          <p:nvPr/>
        </p:nvSpPr>
        <p:spPr>
          <a:xfrm>
            <a:off x="8960891" y="326898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406140"/>
            <a:ext cx="2042083" cy="52578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Celltrion</a:t>
            </a:r>
          </a:p>
        </p:txBody>
      </p:sp>
      <p:sp>
        <p:nvSpPr>
          <p:cNvPr id="19" name="Rounded Rectangle 18"/>
          <p:cNvSpPr/>
          <p:nvPr/>
        </p:nvSpPr>
        <p:spPr>
          <a:xfrm>
            <a:off x="914400" y="434340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480560"/>
            <a:ext cx="2042083" cy="52578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Kakao</a:t>
            </a:r>
          </a:p>
          <a:p>
            <a:pPr algn="l">
              <a:spcAft>
                <a:spcPts val="600"/>
              </a:spcAft>
            </a:pPr>
            <a:r>
              <a:rPr sz="1700" b="1">
                <a:solidFill>
                  <a:srgbClr val="1D1D1F"/>
                </a:solidFill>
                <a:latin typeface="Pretendard"/>
              </a:rPr>
              <a:t>▪ 전통적인 기관 자본(연기금)과 신흥 거대 자본(테크 패밀리오피스)을 아우르는 이중 포섭 전략</a:t>
            </a:r>
          </a:p>
        </p:txBody>
      </p:sp>
      <p:sp>
        <p:nvSpPr>
          <p:cNvPr id="21" name="Rounded Rectangle 20"/>
          <p:cNvSpPr/>
          <p:nvPr/>
        </p:nvSpPr>
        <p:spPr>
          <a:xfrm>
            <a:off x="3596563" y="434340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33723" y="4480560"/>
            <a:ext cx="2042083" cy="525780"/>
          </a:xfrm>
          <a:prstGeom prst="rect">
            <a:avLst/>
          </a:prstGeom>
          <a:noFill/>
        </p:spPr>
        <p:txBody>
          <a:bodyPr wrap="square" lIns="0" rIns="0" tIns="0" bIns="0">
            <a:spAutoFit/>
          </a:bodyPr>
          <a:lstStyle/>
          <a:p>
            <a:pPr algn="ctr">
              <a:spcAft>
                <a:spcPts val="600"/>
              </a:spcAft>
            </a:pPr>
            <a:r>
              <a:rPr sz="1445" b="1">
                <a:solidFill>
                  <a:srgbClr val="1D1D1F"/>
                </a:solidFill>
                <a:latin typeface="Pretendard"/>
              </a:rPr>
              <a:t>우정사업본부</a:t>
            </a:r>
          </a:p>
        </p:txBody>
      </p:sp>
      <p:sp>
        <p:nvSpPr>
          <p:cNvPr id="23" name="Rounded Rectangle 22"/>
          <p:cNvSpPr/>
          <p:nvPr/>
        </p:nvSpPr>
        <p:spPr>
          <a:xfrm>
            <a:off x="6278727" y="434340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5887" y="4480560"/>
            <a:ext cx="2042083" cy="525780"/>
          </a:xfrm>
          <a:prstGeom prst="rect">
            <a:avLst/>
          </a:prstGeom>
          <a:noFill/>
        </p:spPr>
        <p:txBody>
          <a:bodyPr wrap="square" lIns="0" rIns="0" tIns="0" bIns="0">
            <a:spAutoFit/>
          </a:bodyPr>
          <a:lstStyle/>
          <a:p>
            <a:pPr algn="ctr">
              <a:spcAft>
                <a:spcPts val="600"/>
              </a:spcAft>
            </a:pPr>
            <a:r>
              <a:rPr sz="1445" b="1">
                <a:solidFill>
                  <a:srgbClr val="1D1D1F"/>
                </a:solidFill>
                <a:latin typeface="Pretendard"/>
              </a:rPr>
              <a:t>새마을금고</a:t>
            </a:r>
          </a:p>
        </p:txBody>
      </p:sp>
      <p:sp>
        <p:nvSpPr>
          <p:cNvPr id="25" name="Rounded Rectangle 24"/>
          <p:cNvSpPr/>
          <p:nvPr/>
        </p:nvSpPr>
        <p:spPr>
          <a:xfrm>
            <a:off x="8960891" y="434340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051" y="4480560"/>
            <a:ext cx="2042083" cy="52578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NPS 해외 부동산 확대 정책 ↔ 이지스 글로벌 펀드의 완벽한 얼라인먼트</a:t>
            </a:r>
          </a:p>
        </p:txBody>
      </p:sp>
      <p:sp>
        <p:nvSpPr>
          <p:cNvPr id="27" name="Rounded Rectangle 26"/>
          <p:cNvSpPr/>
          <p:nvPr/>
        </p:nvSpPr>
        <p:spPr>
          <a:xfrm>
            <a:off x="914400" y="5417820"/>
            <a:ext cx="2316403" cy="80010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554980"/>
            <a:ext cx="2042083" cy="52578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향후 5년, 테크 창업자 자본의 거대한 신규 위탁 풀 형성</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7.</a:t>
            </a:r>
          </a:p>
          <a:p>
            <a:pPr algn="ctr">
              <a:spcAft>
                <a:spcPts val="1400"/>
              </a:spcAft>
            </a:pPr>
            <a:r>
              <a:rPr sz="2400" b="1">
                <a:solidFill>
                  <a:srgbClr val="FFFFFF"/>
                </a:solidFill>
                <a:latin typeface="Pretendard"/>
              </a:rPr>
              <a:t>Governance 태광그룹 인수와 인적자본</a:t>
            </a:r>
            <a:r>
              <a:rPr sz="2400" b="1">
                <a:solidFill>
                  <a:srgbClr val="FFFFFF"/>
                </a:solidFill>
                <a:latin typeface="Pretendard"/>
              </a:rPr>
              <a:t>Governance 태광그룹 인수와 인적자본</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지배구조 전환 (Ownership Transition)</a:t>
            </a:r>
          </a:p>
          <a:p>
            <a:pPr algn="ctr"/>
            <a:r>
              <a:rPr sz="3200" b="1">
                <a:solidFill>
                  <a:srgbClr val="1D1D1F"/>
                </a:solidFill>
                <a:latin typeface="Pretendard"/>
              </a:rPr>
              <a:t>가족 운영에서 기관 소유로의 중대한 분기점</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FAMILY OWNERSHIP</a:t>
            </a:r>
          </a:p>
          <a:p>
            <a:pPr algn="ctr">
              <a:spcAft>
                <a:spcPts val="600"/>
              </a:spcAft>
            </a:pPr>
            <a:r>
              <a:rPr sz="1700" b="1">
                <a:solidFill>
                  <a:srgbClr val="1D1D1F"/>
                </a:solidFill>
                <a:latin typeface="Pretendard"/>
              </a:rPr>
              <a:t>창업자 김대영 회장 사후 상속 지분(12.4%) 등 가족 중심 운영</a:t>
            </a:r>
          </a:p>
        </p:txBody>
      </p:sp>
      <p:sp>
        <p:nvSpPr>
          <p:cNvPr id="5" name="Rounded Rectangle 4"/>
          <p:cNvSpPr/>
          <p:nvPr/>
        </p:nvSpPr>
        <p:spPr>
          <a:xfrm>
            <a:off x="4490618"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374904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INSTITUTIONAL OWNERSHIP</a:t>
            </a:r>
          </a:p>
          <a:p>
            <a:pPr algn="ctr">
              <a:spcAft>
                <a:spcPts val="600"/>
              </a:spcAft>
            </a:pPr>
            <a:r>
              <a:rPr sz="1700" b="1">
                <a:solidFill>
                  <a:srgbClr val="1D1D1F"/>
                </a:solidFill>
                <a:latin typeface="Pretendard"/>
              </a:rPr>
              <a:t>태광그룹, 다이신, 한화 등 본입찰 참여를 통한 기관 소유 체제 확립</a:t>
            </a:r>
          </a:p>
        </p:txBody>
      </p:sp>
      <p:sp>
        <p:nvSpPr>
          <p:cNvPr id="7" name="Rounded Rectangle 6"/>
          <p:cNvSpPr/>
          <p:nvPr/>
        </p:nvSpPr>
        <p:spPr>
          <a:xfrm>
            <a:off x="8066836"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374904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기업가치 약 8,000억 원 베이스. 단순 M&amp;A 이벤트가 아닌 이지스 브랜드의 넥스트 스텝 도약.</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핵심 리스크 및 대응 (Retention &amp; Dual-Management)</a:t>
            </a:r>
          </a:p>
          <a:p>
            <a:pPr algn="ctr"/>
            <a:r>
              <a:rPr sz="3200" b="1">
                <a:solidFill>
                  <a:srgbClr val="1D1D1F"/>
                </a:solidFill>
                <a:latin typeface="Pretendard"/>
              </a:rPr>
              <a:t>운용사의 핵심 자본인 '인력'과 '트랙레코드' 보호</a:t>
            </a:r>
          </a:p>
        </p:txBody>
      </p:sp>
      <p:sp>
        <p:nvSpPr>
          <p:cNvPr id="3" name="Rounded Rectangle 2"/>
          <p:cNvSpPr/>
          <p:nvPr/>
        </p:nvSpPr>
        <p:spPr>
          <a:xfrm>
            <a:off x="914400" y="2194560"/>
            <a:ext cx="4998567"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4724247"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OPPORTUNITY</a:t>
            </a:r>
          </a:p>
          <a:p>
            <a:pPr algn="l">
              <a:spcAft>
                <a:spcPts val="600"/>
              </a:spcAft>
            </a:pPr>
            <a:r>
              <a:rPr sz="1800" b="1">
                <a:solidFill>
                  <a:srgbClr val="1D1D1F"/>
                </a:solidFill>
                <a:latin typeface="Pretendard"/>
              </a:rPr>
              <a:t>글로벌 LP 신뢰 확장</a:t>
            </a:r>
          </a:p>
          <a:p>
            <a:pPr algn="l">
              <a:spcAft>
                <a:spcPts val="600"/>
              </a:spcAft>
            </a:pPr>
            <a:r>
              <a:rPr sz="1530">
                <a:solidFill>
                  <a:srgbClr val="1D1D1F"/>
                </a:solidFill>
                <a:latin typeface="Pretendard"/>
              </a:rPr>
              <a:t>Institutional Ownership으로의 전환은 글로벌 투자자들에게 투명하고 깨끗한 거버넌스 시그널로 작용</a:t>
            </a:r>
          </a:p>
          <a:p>
            <a:pPr algn="l">
              <a:spcAft>
                <a:spcPts val="600"/>
              </a:spcAft>
            </a:pPr>
            <a:r>
              <a:rPr sz="1700" b="1">
                <a:solidFill>
                  <a:srgbClr val="1D1D1F"/>
                </a:solidFill>
                <a:latin typeface="Pretendard"/>
              </a:rPr>
              <a:t>▪ 인재 보호를 위한 Dual-Management 구조 확보가 필수적</a:t>
            </a:r>
          </a:p>
        </p:txBody>
      </p:sp>
      <p:sp>
        <p:nvSpPr>
          <p:cNvPr id="5" name="Rounded Rectangle 4"/>
          <p:cNvSpPr/>
          <p:nvPr/>
        </p:nvSpPr>
        <p:spPr>
          <a:xfrm>
            <a:off x="6278727" y="2194560"/>
            <a:ext cx="4998567"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15887" y="2331720"/>
            <a:ext cx="4724247"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CORE RISK</a:t>
            </a:r>
          </a:p>
          <a:p>
            <a:pPr algn="l">
              <a:spcAft>
                <a:spcPts val="600"/>
              </a:spcAft>
            </a:pPr>
            <a:r>
              <a:rPr sz="1800" b="1">
                <a:solidFill>
                  <a:srgbClr val="1D1D1F"/>
                </a:solidFill>
                <a:latin typeface="Pretendard"/>
              </a:rPr>
              <a:t>핵심 인재 이탈 리스크</a:t>
            </a:r>
          </a:p>
          <a:p>
            <a:pPr algn="l">
              <a:spcAft>
                <a:spcPts val="600"/>
              </a:spcAft>
            </a:pPr>
            <a:r>
              <a:rPr sz="1530">
                <a:solidFill>
                  <a:srgbClr val="1D1D1F"/>
                </a:solidFill>
                <a:latin typeface="Pretendard"/>
              </a:rPr>
              <a:t>자산운용사의 핵심 자본은 인력. 신규 대주주의 운용 자율성 보장과 강력한 인재 Retention 설계가 향후 5년 브랜드 가치를 결정</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인수자 선정의 정치적 변수 (Political &amp; Security Risks)</a:t>
            </a:r>
          </a:p>
          <a:p>
            <a:pPr algn="ctr"/>
            <a:r>
              <a:rPr sz="3200" b="1">
                <a:solidFill>
                  <a:srgbClr val="1D1D1F"/>
                </a:solidFill>
                <a:latin typeface="Pretendard"/>
              </a:rPr>
              <a:t>국가 중요 인프라(데이터센터·물류) 운용의 안보적 관점</a:t>
            </a:r>
          </a:p>
        </p:txBody>
      </p:sp>
      <p:sp>
        <p:nvSpPr>
          <p:cNvPr id="3" name="Rounded Rectangle 2"/>
          <p:cNvSpPr/>
          <p:nvPr/>
        </p:nvSpPr>
        <p:spPr>
          <a:xfrm>
            <a:off x="914400" y="2194560"/>
            <a:ext cx="4998567"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4724247"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HIGH POLITICAL RISK</a:t>
            </a:r>
          </a:p>
          <a:p>
            <a:pPr algn="l">
              <a:spcAft>
                <a:spcPts val="600"/>
              </a:spcAft>
            </a:pPr>
            <a:r>
              <a:rPr sz="1800" b="1">
                <a:solidFill>
                  <a:srgbClr val="1D1D1F"/>
                </a:solidFill>
                <a:latin typeface="Pretendard"/>
              </a:rPr>
              <a:t>중국계 자본 (Hillhouse 등)</a:t>
            </a:r>
          </a:p>
          <a:p>
            <a:pPr algn="l">
              <a:spcAft>
                <a:spcPts val="600"/>
              </a:spcAft>
            </a:pPr>
            <a:r>
              <a:rPr sz="1530">
                <a:solidFill>
                  <a:srgbClr val="1D1D1F"/>
                </a:solidFill>
                <a:latin typeface="Pretendard"/>
              </a:rPr>
              <a:t>데이터센터, 물류 등 Critical Infrastructure 운용사라는 점에서 해외/중국계 자본의 인수는 상당한 정치 및 국가 안보 리스크 야기 가능성</a:t>
            </a:r>
          </a:p>
          <a:p>
            <a:pPr algn="l">
              <a:spcAft>
                <a:spcPts val="600"/>
              </a:spcAft>
            </a:pPr>
            <a:r>
              <a:rPr sz="1700" b="1">
                <a:solidFill>
                  <a:srgbClr val="1D1D1F"/>
                </a:solidFill>
                <a:latin typeface="Pretendard"/>
              </a:rPr>
              <a:t>▪ 이지스의 포트폴리오가 지닌 국가 안보적 중요성을 고려할 때, 인수자 선정의 핵심 변수로 작용할 전망</a:t>
            </a:r>
          </a:p>
        </p:txBody>
      </p:sp>
      <p:sp>
        <p:nvSpPr>
          <p:cNvPr id="5" name="Rounded Rectangle 4"/>
          <p:cNvSpPr/>
          <p:nvPr/>
        </p:nvSpPr>
        <p:spPr>
          <a:xfrm>
            <a:off x="6278727" y="2194560"/>
            <a:ext cx="4998567"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15887" y="2331720"/>
            <a:ext cx="4724247"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POLITICALLY STABLE</a:t>
            </a:r>
          </a:p>
          <a:p>
            <a:pPr algn="l">
              <a:spcAft>
                <a:spcPts val="600"/>
              </a:spcAft>
            </a:pPr>
            <a:r>
              <a:rPr sz="1800" b="1">
                <a:solidFill>
                  <a:srgbClr val="1D1D1F"/>
                </a:solidFill>
                <a:latin typeface="Pretendard"/>
              </a:rPr>
              <a:t>국내 산업자본 및 다국적 기관</a:t>
            </a:r>
          </a:p>
          <a:p>
            <a:pPr algn="l">
              <a:spcAft>
                <a:spcPts val="600"/>
              </a:spcAft>
            </a:pPr>
            <a:r>
              <a:rPr sz="1530">
                <a:solidFill>
                  <a:srgbClr val="1D1D1F"/>
                </a:solidFill>
                <a:latin typeface="Pretendard"/>
              </a:rPr>
              <a:t>결과적으로 태광, 한화 등 국내 산업자본이나 GIC, Brookfield 등 다국적 Institutional 자본이 정치적으로 안정적인(Stable) 대안</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Part 4.</a:t>
            </a:r>
          </a:p>
          <a:p>
            <a:pPr algn="ctr">
              <a:spcAft>
                <a:spcPts val="1400"/>
              </a:spcAft>
            </a:pPr>
            <a:r>
              <a:rPr sz="2400" b="1">
                <a:solidFill>
                  <a:srgbClr val="FFFFFF"/>
                </a:solidFill>
                <a:latin typeface="Pretendard"/>
              </a:rPr>
              <a:t>IOTA Seoul의 역할</a:t>
            </a:r>
            <a:r>
              <a:rPr sz="2400" b="1">
                <a:solidFill>
                  <a:srgbClr val="FFFFFF"/>
                </a:solidFill>
                <a:latin typeface="Pretendard"/>
              </a:rPr>
              <a:t>IOTA Seoul의 역할</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1.</a:t>
            </a:r>
          </a:p>
          <a:p>
            <a:pPr algn="ctr">
              <a:spcAft>
                <a:spcPts val="1400"/>
              </a:spcAft>
            </a:pPr>
            <a:r>
              <a:rPr sz="2400" b="1">
                <a:solidFill>
                  <a:srgbClr val="FFFFFF"/>
                </a:solidFill>
                <a:latin typeface="Pretendard"/>
              </a:rPr>
              <a:t>거시·도시적 포지셔닝</a:t>
            </a:r>
            <a:r>
              <a:rPr sz="2400" b="1">
                <a:solidFill>
                  <a:srgbClr val="FFFFFF"/>
                </a:solidFill>
                <a:latin typeface="Pretendard"/>
              </a:rPr>
              <a:t>거시·도시적 포지셔닝</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글로벌 도시 위계 상승의 분기점</a:t>
            </a:r>
          </a:p>
          <a:p>
            <a:pPr algn="ctr"/>
            <a:r>
              <a:rPr sz="3200" b="1">
                <a:solidFill>
                  <a:srgbClr val="1D1D1F"/>
                </a:solidFill>
                <a:latin typeface="Pretendard"/>
              </a:rPr>
              <a:t>글로벌 거점 도시들의 재개발 패턴 한국판 적용</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1990년대부터 미츠비시 지소가 한 세대에 걸쳐 재개발하여 글로벌 금융 중심지 위상 공고화</a:t>
            </a:r>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2000년대 초중반 재개발을 통해 Google, Meta, AstraZeneca 등 글로벌 본사 라인 유치</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2020년 Grand Central 일대를 완전히 재정의하며 Transit-Oriented Vertical City 구현</a:t>
            </a:r>
          </a:p>
        </p:txBody>
      </p:sp>
      <p:sp>
        <p:nvSpPr>
          <p:cNvPr id="9" name="Rounded Rectangle 8"/>
          <p:cNvSpPr/>
          <p:nvPr/>
        </p:nvSpPr>
        <p:spPr>
          <a:xfrm>
            <a:off x="8960891" y="219456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TOKYO</a:t>
            </a:r>
          </a:p>
          <a:p>
            <a:pPr algn="l">
              <a:spcAft>
                <a:spcPts val="600"/>
              </a:spcAft>
            </a:pPr>
            <a:r>
              <a:rPr sz="1800" b="1">
                <a:solidFill>
                  <a:srgbClr val="1D1D1F"/>
                </a:solidFill>
                <a:latin typeface="Pretendard"/>
              </a:rPr>
              <a:t>마루노우치 재개발</a:t>
            </a:r>
          </a:p>
        </p:txBody>
      </p:sp>
      <p:sp>
        <p:nvSpPr>
          <p:cNvPr id="11" name="Rounded Rectangle 10"/>
          <p:cNvSpPr/>
          <p:nvPr/>
        </p:nvSpPr>
        <p:spPr>
          <a:xfrm>
            <a:off x="914400" y="434340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LONDON</a:t>
            </a:r>
          </a:p>
          <a:p>
            <a:pPr algn="l">
              <a:spcAft>
                <a:spcPts val="600"/>
              </a:spcAft>
            </a:pPr>
            <a:r>
              <a:rPr sz="1800" b="1">
                <a:solidFill>
                  <a:srgbClr val="1D1D1F"/>
                </a:solidFill>
                <a:latin typeface="Pretendard"/>
              </a:rPr>
              <a:t>King's Cross / St Pancras</a:t>
            </a:r>
          </a:p>
        </p:txBody>
      </p:sp>
      <p:sp>
        <p:nvSpPr>
          <p:cNvPr id="13" name="Rounded Rectangle 12"/>
          <p:cNvSpPr/>
          <p:nvPr/>
        </p:nvSpPr>
        <p:spPr>
          <a:xfrm>
            <a:off x="3596563" y="434340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448056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NEW YORK</a:t>
            </a:r>
          </a:p>
          <a:p>
            <a:pPr algn="l">
              <a:spcAft>
                <a:spcPts val="600"/>
              </a:spcAft>
            </a:pPr>
            <a:r>
              <a:rPr sz="1800" b="1">
                <a:solidFill>
                  <a:srgbClr val="1D1D1F"/>
                </a:solidFill>
                <a:latin typeface="Pretendard"/>
              </a:rPr>
              <a:t>One Vanderbilt</a:t>
            </a:r>
          </a:p>
        </p:txBody>
      </p:sp>
      <p:sp>
        <p:nvSpPr>
          <p:cNvPr id="15" name="Rounded Rectangle 14"/>
          <p:cNvSpPr/>
          <p:nvPr/>
        </p:nvSpPr>
        <p:spPr>
          <a:xfrm>
            <a:off x="627872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IOTA 서울의 본질: 서울이 글로벌 도시 위계상 한 단계 도약하는 분기점이자 Transit-Oriented Vertical City의 한국판 적용</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국가 인프라급 교통 결절점</a:t>
            </a:r>
          </a:p>
          <a:p>
            <a:pPr algn="ctr"/>
            <a:r>
              <a:rPr sz="3200" b="1">
                <a:solidFill>
                  <a:srgbClr val="1D1D1F"/>
                </a:solidFill>
                <a:latin typeface="Pretendard"/>
              </a:rPr>
              <a:t>압도적인 광역 교통망과 도심 연결성</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 KTX · SRT</a:t>
            </a:r>
          </a:p>
          <a:p>
            <a:pPr algn="l">
              <a:spcAft>
                <a:spcPts val="600"/>
              </a:spcAft>
            </a:pPr>
            <a:r>
              <a:rPr sz="1530">
                <a:solidFill>
                  <a:srgbClr val="1D1D1F"/>
                </a:solidFill>
                <a:latin typeface="Pretendard"/>
              </a:rPr>
              <a:t>▪ 1호선 · 4호선 · 공항철도</a:t>
            </a:r>
          </a:p>
          <a:p>
            <a:pPr algn="l">
              <a:spcAft>
                <a:spcPts val="600"/>
              </a:spcAft>
            </a:pPr>
            <a:r>
              <a:rPr sz="1530">
                <a:solidFill>
                  <a:srgbClr val="1D1D1F"/>
                </a:solidFill>
                <a:latin typeface="Pretendard"/>
              </a:rPr>
              <a:t>▪ GTX-A (2024 개통)</a:t>
            </a:r>
          </a:p>
          <a:p>
            <a:pPr algn="l">
              <a:spcAft>
                <a:spcPts val="600"/>
              </a:spcAft>
            </a:pPr>
            <a:r>
              <a:rPr sz="1530">
                <a:solidFill>
                  <a:srgbClr val="1D1D1F"/>
                </a:solidFill>
                <a:latin typeface="Pretendard"/>
              </a:rPr>
              <a:t>▪ GTX-B (2030 개통 예정)</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 남산 (자연 녹지)</a:t>
            </a:r>
          </a:p>
          <a:p>
            <a:pPr algn="l">
              <a:spcAft>
                <a:spcPts val="600"/>
              </a:spcAft>
            </a:pPr>
            <a:r>
              <a:rPr sz="1530">
                <a:solidFill>
                  <a:srgbClr val="1D1D1F"/>
                </a:solidFill>
                <a:latin typeface="Pretendard"/>
              </a:rPr>
              <a:t>▪ 도심 (전통적 CBD)</a:t>
            </a:r>
          </a:p>
          <a:p>
            <a:pPr algn="l">
              <a:spcAft>
                <a:spcPts val="600"/>
              </a:spcAft>
            </a:pPr>
            <a:r>
              <a:rPr sz="1530">
                <a:solidFill>
                  <a:srgbClr val="1D1D1F"/>
                </a:solidFill>
                <a:latin typeface="Pretendard"/>
              </a:rPr>
              <a:t>▪ 용산국제업무지구 (예정)</a:t>
            </a:r>
          </a:p>
          <a:p>
            <a:pPr algn="l">
              <a:spcAft>
                <a:spcPts val="600"/>
              </a:spcAft>
            </a:pPr>
            <a:r>
              <a:rPr sz="1530">
                <a:solidFill>
                  <a:srgbClr val="1D1D1F"/>
                </a:solidFill>
                <a:latin typeface="Pretendard"/>
              </a:rPr>
              <a:t>▪ 마포 · 여의도 접근성</a:t>
            </a:r>
          </a:p>
          <a:p>
            <a:pPr algn="l">
              <a:spcAft>
                <a:spcPts val="600"/>
              </a:spcAft>
            </a:pPr>
            <a:r>
              <a:rPr sz="1700" b="1">
                <a:solidFill>
                  <a:srgbClr val="1D1D1F"/>
                </a:solidFill>
                <a:latin typeface="Pretendard"/>
              </a:rPr>
              <a:t>▪ 도쿄역(JR 라인 + 신칸센)에 비견되는 국가 인프라급 중심지</a:t>
            </a:r>
          </a:p>
          <a:p>
            <a:pPr algn="l">
              <a:spcAft>
                <a:spcPts val="600"/>
              </a:spcAft>
            </a:pPr>
            <a:r>
              <a:rPr sz="1700" b="1">
                <a:solidFill>
                  <a:srgbClr val="1D1D1F"/>
                </a:solidFill>
                <a:latin typeface="Pretendard"/>
              </a:rPr>
              <a:t>▪ 남산(녹지) + 도심(CBD) + 용산국제업무지구(예정) + 마포·여의도와의 보행/지하철 연결성</a:t>
            </a:r>
          </a:p>
          <a:p>
            <a:pPr algn="l">
              <a:spcAft>
                <a:spcPts val="600"/>
              </a:spcAft>
            </a:pPr>
            <a:r>
              <a:rPr sz="1700" b="1">
                <a:solidFill>
                  <a:srgbClr val="1D1D1F"/>
                </a:solidFill>
                <a:latin typeface="Pretendard"/>
              </a:rPr>
              <a:t>▪ 외국인 비즈니스 관광 진입점 (인천공항 직결, 30분)</a:t>
            </a:r>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GLOBAL ENTRY</a:t>
            </a:r>
          </a:p>
          <a:p>
            <a:pPr algn="l">
              <a:spcAft>
                <a:spcPts val="600"/>
              </a:spcAft>
            </a:pPr>
            <a:r>
              <a:rPr sz="1700" b="1">
                <a:solidFill>
                  <a:srgbClr val="1D1D1F"/>
                </a:solidFill>
                <a:latin typeface="Pretendard"/>
              </a:rPr>
              <a:t>외국인 비즈니스 관광 진입점</a:t>
            </a:r>
          </a:p>
          <a:p>
            <a:pPr algn="l">
              <a:spcAft>
                <a:spcPts val="600"/>
              </a:spcAft>
            </a:pPr>
            <a:r>
              <a:rPr sz="1700">
                <a:solidFill>
                  <a:srgbClr val="1D1D1F"/>
                </a:solidFill>
                <a:latin typeface="Pretendard"/>
              </a:rPr>
              <a:t>인천국제공항과 공항철도로 직결되어 서울 진입 시 가장 먼저 마주하는 관문 (약 30분 소요)</a:t>
            </a:r>
          </a:p>
        </p:txBody>
      </p:sp>
      <p:sp>
        <p:nvSpPr>
          <p:cNvPr id="9" name="Rounded Rectangle 8"/>
          <p:cNvSpPr/>
          <p:nvPr/>
        </p:nvSpPr>
        <p:spPr>
          <a:xfrm>
            <a:off x="914400" y="434340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TRANSIT NETWORK</a:t>
            </a:r>
          </a:p>
          <a:p>
            <a:pPr algn="l">
              <a:spcAft>
                <a:spcPts val="600"/>
              </a:spcAft>
            </a:pPr>
            <a:r>
              <a:rPr sz="1800" b="1">
                <a:solidFill>
                  <a:srgbClr val="1D1D1F"/>
                </a:solidFill>
                <a:latin typeface="Pretendard"/>
              </a:rPr>
              <a:t>7개 철도 노선 교차점</a:t>
            </a:r>
          </a:p>
        </p:txBody>
      </p:sp>
      <p:sp>
        <p:nvSpPr>
          <p:cNvPr id="11" name="Rounded Rectangle 10"/>
          <p:cNvSpPr/>
          <p:nvPr/>
        </p:nvSpPr>
        <p:spPr>
          <a:xfrm>
            <a:off x="4490618" y="434340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CONNECTIVITY</a:t>
            </a:r>
          </a:p>
          <a:p>
            <a:pPr algn="l">
              <a:spcAft>
                <a:spcPts val="600"/>
              </a:spcAft>
            </a:pPr>
            <a:r>
              <a:rPr sz="1800" b="1">
                <a:solidFill>
                  <a:srgbClr val="1D1D1F"/>
                </a:solidFill>
                <a:latin typeface="Pretendard"/>
              </a:rPr>
              <a:t>보행 및 지하철 연결성</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단순 개발을 넘어선 도시 형성 (City-making)</a:t>
            </a:r>
          </a:p>
          <a:p>
            <a:pPr algn="ctr"/>
            <a:r>
              <a:rPr sz="3200" b="1">
                <a:solidFill>
                  <a:srgbClr val="1D1D1F"/>
                </a:solidFill>
                <a:latin typeface="Pretendard"/>
              </a:rPr>
              <a:t>"남산을 시민에게" - 퍼블릭 스페이스와 트로피 자산의 결합</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힐튼 아트리움 보존</a:t>
            </a:r>
          </a:p>
          <a:p>
            <a:pPr algn="l">
              <a:spcAft>
                <a:spcPts val="600"/>
              </a:spcAft>
            </a:pPr>
            <a:r>
              <a:rPr sz="1614">
                <a:solidFill>
                  <a:srgbClr val="1D1D1F"/>
                </a:solidFill>
                <a:latin typeface="Pretendard"/>
              </a:rPr>
              <a:t>SOM, Foster+Partners, DA그룹 등 세계적 설계사 참여 하에 힐튼 아트리움을 3D 디지털로 보존하여 역사적 가치 계승</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7,000m² 대규모 공개 녹지</a:t>
            </a:r>
          </a:p>
          <a:p>
            <a:pPr algn="l">
              <a:spcAft>
                <a:spcPts val="600"/>
              </a:spcAft>
            </a:pPr>
            <a:r>
              <a:rPr sz="1614">
                <a:solidFill>
                  <a:srgbClr val="1D1D1F"/>
                </a:solidFill>
                <a:latin typeface="Pretendard"/>
              </a:rPr>
              <a:t>축구장 1개 크기에 달하는 거대한 도심 속 오픈 스페이스를 조성하여 시민들에게 쾌적한 환경 제공</a:t>
            </a:r>
          </a:p>
        </p:txBody>
      </p:sp>
      <p:sp>
        <p:nvSpPr>
          <p:cNvPr id="7" name="Rounded Rectangle 6"/>
          <p:cNvSpPr/>
          <p:nvPr/>
        </p:nvSpPr>
        <p:spPr>
          <a:xfrm>
            <a:off x="8066836"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PUBLIC FLOW</a:t>
            </a:r>
          </a:p>
          <a:p>
            <a:pPr algn="l">
              <a:spcAft>
                <a:spcPts val="600"/>
              </a:spcAft>
            </a:pPr>
            <a:r>
              <a:rPr sz="1800" b="1">
                <a:solidFill>
                  <a:srgbClr val="1D1D1F"/>
                </a:solidFill>
                <a:latin typeface="Pretendard"/>
              </a:rPr>
              <a:t>보행로 및 공공청사 기부채납</a:t>
            </a:r>
          </a:p>
          <a:p>
            <a:pPr algn="l">
              <a:spcAft>
                <a:spcPts val="600"/>
              </a:spcAft>
            </a:pPr>
            <a:r>
              <a:rPr sz="1614">
                <a:solidFill>
                  <a:srgbClr val="1D1D1F"/>
                </a:solidFill>
                <a:latin typeface="Pretendard"/>
              </a:rPr>
              <a:t>서울역 8번 출구에서 남산 백범공원으로 이어지는 에스컬레이터형 보행로 구축 및 공공청사 무상귀속</a:t>
            </a:r>
          </a:p>
        </p:txBody>
      </p:sp>
      <p:sp>
        <p:nvSpPr>
          <p:cNvPr id="9" name="Rounded Rectangle 8"/>
          <p:cNvSpPr/>
          <p:nvPr/>
        </p:nvSpPr>
        <p:spPr>
          <a:xfrm>
            <a:off x="914400"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TROPHY ASSET</a:t>
            </a:r>
          </a:p>
          <a:p>
            <a:pPr algn="l">
              <a:spcAft>
                <a:spcPts val="600"/>
              </a:spcAft>
            </a:pPr>
            <a:r>
              <a:rPr sz="1800" b="1">
                <a:solidFill>
                  <a:srgbClr val="1D1D1F"/>
                </a:solidFill>
                <a:latin typeface="Pretendard"/>
              </a:rPr>
              <a:t>글로벌 럭셔리 호텔 유치</a:t>
            </a:r>
          </a:p>
          <a:p>
            <a:pPr algn="l">
              <a:spcAft>
                <a:spcPts val="600"/>
              </a:spcAft>
            </a:pPr>
            <a:r>
              <a:rPr sz="1614">
                <a:solidFill>
                  <a:srgbClr val="1D1D1F"/>
                </a:solidFill>
                <a:latin typeface="Pretendard"/>
              </a:rPr>
              <a:t>메리어트 리츠칼튼 등 글로벌 최상위 럭셔리 브랜드를 유치하여 프로젝트의 트로피 자산(Trophy Asset) 위상 확보</a:t>
            </a:r>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단순 부동산 개발이 아닌 도시 형성(city-making) 행위. 롯데월드타워 + 아자부다이힐스 + 허드슨야드의 결합 모델</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2.</a:t>
            </a:r>
          </a:p>
          <a:p>
            <a:pPr algn="ctr">
              <a:spcAft>
                <a:spcPts val="1400"/>
              </a:spcAft>
            </a:pPr>
            <a:r>
              <a:rPr sz="2400" b="1">
                <a:solidFill>
                  <a:srgbClr val="FFFFFF"/>
                </a:solidFill>
                <a:latin typeface="Pretendard"/>
              </a:rPr>
              <a:t>자본 구조와 실행 변수</a:t>
            </a:r>
            <a:r>
              <a:rPr sz="2400" b="1">
                <a:solidFill>
                  <a:srgbClr val="FFFFFF"/>
                </a:solidFill>
                <a:latin typeface="Pretendard"/>
              </a:rPr>
              <a:t>자본 구조와 실행 변수</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프로젝트 펀더멘털</a:t>
            </a:r>
          </a:p>
          <a:p>
            <a:pPr algn="ctr"/>
            <a:r>
              <a:rPr sz="3200" b="1">
                <a:solidFill>
                  <a:srgbClr val="1D1D1F"/>
                </a:solidFill>
                <a:latin typeface="Pretendard"/>
              </a:rPr>
              <a:t>두 개의 거대한 축: YD427 &amp; YD816</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 시공: 현대건설</a:t>
            </a:r>
          </a:p>
          <a:p>
            <a:pPr algn="l">
              <a:spcAft>
                <a:spcPts val="600"/>
              </a:spcAft>
            </a:pPr>
            <a:r>
              <a:rPr sz="1530">
                <a:solidFill>
                  <a:srgbClr val="1D1D1F"/>
                </a:solidFill>
                <a:latin typeface="Pretendard"/>
              </a:rPr>
              <a:t>▪ 사업규모: 총 사업비 약 6조 원</a:t>
            </a:r>
          </a:p>
          <a:p>
            <a:pPr algn="l">
              <a:spcAft>
                <a:spcPts val="600"/>
              </a:spcAft>
            </a:pPr>
            <a:r>
              <a:rPr sz="1530">
                <a:solidFill>
                  <a:srgbClr val="1D1D1F"/>
                </a:solidFill>
                <a:latin typeface="Pretendard"/>
              </a:rPr>
              <a:t>▪ 조달현황: 1차 본PF 2.2조 원 완료 (2025.5) → 2차 본PF 4.5조 원 예정 (2027.5)</a:t>
            </a:r>
          </a:p>
          <a:p>
            <a:pPr algn="l">
              <a:spcAft>
                <a:spcPts val="600"/>
              </a:spcAft>
            </a:pPr>
            <a:r>
              <a:rPr sz="1530">
                <a:solidFill>
                  <a:srgbClr val="1D1D1F"/>
                </a:solidFill>
                <a:latin typeface="Pretendard"/>
              </a:rPr>
              <a:t>▪ 용도: 리츠칼튼 호텔 + 오피스</a:t>
            </a:r>
          </a:p>
          <a:p>
            <a:pPr algn="l">
              <a:spcAft>
                <a:spcPts val="600"/>
              </a:spcAft>
            </a:pPr>
            <a:r>
              <a:rPr sz="1530">
                <a:solidFill>
                  <a:srgbClr val="1D1D1F"/>
                </a:solidFill>
                <a:latin typeface="Pretendard"/>
              </a:rPr>
              <a:t>▪ 준공목표: 2031년 3월</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 시공: 삼성물산</a:t>
            </a:r>
          </a:p>
          <a:p>
            <a:pPr algn="l">
              <a:spcAft>
                <a:spcPts val="600"/>
              </a:spcAft>
            </a:pPr>
            <a:r>
              <a:rPr sz="1530">
                <a:solidFill>
                  <a:srgbClr val="1D1D1F"/>
                </a:solidFill>
                <a:latin typeface="Pretendard"/>
              </a:rPr>
              <a:t>▪ 사업규모: 총 사업비 약 2조 1,963억 원</a:t>
            </a:r>
          </a:p>
          <a:p>
            <a:pPr algn="l">
              <a:spcAft>
                <a:spcPts val="600"/>
              </a:spcAft>
            </a:pPr>
            <a:r>
              <a:rPr sz="1530">
                <a:solidFill>
                  <a:srgbClr val="1D1D1F"/>
                </a:solidFill>
                <a:latin typeface="Pretendard"/>
              </a:rPr>
              <a:t>▪ 인센티브: 용적률 1,100% 확보</a:t>
            </a:r>
          </a:p>
          <a:p>
            <a:pPr algn="l">
              <a:spcAft>
                <a:spcPts val="600"/>
              </a:spcAft>
            </a:pPr>
            <a:r>
              <a:rPr sz="1530">
                <a:solidFill>
                  <a:srgbClr val="1D1D1F"/>
                </a:solidFill>
                <a:latin typeface="Pretendard"/>
              </a:rPr>
              <a:t>▪ 규모: 지하 9층 ~ 지상 34층</a:t>
            </a:r>
          </a:p>
          <a:p>
            <a:pPr algn="l">
              <a:spcAft>
                <a:spcPts val="600"/>
              </a:spcAft>
            </a:pPr>
            <a:r>
              <a:rPr sz="1530">
                <a:solidFill>
                  <a:srgbClr val="1D1D1F"/>
                </a:solidFill>
                <a:latin typeface="Pretendard"/>
              </a:rPr>
              <a:t>▪ 운용: 이지스일반사모부동산투자신탁421호</a:t>
            </a:r>
          </a:p>
        </p:txBody>
      </p:sp>
      <p:sp>
        <p:nvSpPr>
          <p:cNvPr id="7" name="Rounded Rectangle 6"/>
          <p:cNvSpPr/>
          <p:nvPr/>
        </p:nvSpPr>
        <p:spPr>
          <a:xfrm>
            <a:off x="8066836" y="219456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YD427 PFV</a:t>
            </a:r>
          </a:p>
          <a:p>
            <a:pPr algn="l">
              <a:spcAft>
                <a:spcPts val="600"/>
              </a:spcAft>
            </a:pPr>
            <a:r>
              <a:rPr sz="1800" b="1">
                <a:solidFill>
                  <a:srgbClr val="1D1D1F"/>
                </a:solidFill>
                <a:latin typeface="Pretendard"/>
              </a:rPr>
              <a:t>IOTA 1 · 호텔 (힐튼 부지)</a:t>
            </a:r>
          </a:p>
        </p:txBody>
      </p:sp>
      <p:sp>
        <p:nvSpPr>
          <p:cNvPr id="9" name="Rounded Rectangle 8"/>
          <p:cNvSpPr/>
          <p:nvPr/>
        </p:nvSpPr>
        <p:spPr>
          <a:xfrm>
            <a:off x="914400" y="434340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YD816 PFV</a:t>
            </a:r>
          </a:p>
          <a:p>
            <a:pPr algn="l">
              <a:spcAft>
                <a:spcPts val="600"/>
              </a:spcAft>
            </a:pPr>
            <a:r>
              <a:rPr sz="1800" b="1">
                <a:solidFill>
                  <a:srgbClr val="1D1D1F"/>
                </a:solidFill>
                <a:latin typeface="Pretendard"/>
              </a:rPr>
              <a:t>IOTA 2 · 오피스 (메트로/서울로타워)</a:t>
            </a:r>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한국 부동산 개발 역사상 최대 규모인 약 8조 원 규모의 거대한 통합 PF 프로젝트</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총 사업비 구조와 자본 효율성</a:t>
            </a:r>
          </a:p>
          <a:p>
            <a:pPr algn="ctr"/>
            <a:r>
              <a:rPr sz="3200" b="1">
                <a:solidFill>
                  <a:srgbClr val="1D1D1F"/>
                </a:solidFill>
                <a:latin typeface="Pretendard"/>
              </a:rPr>
              <a:t>IPR 7조 원 통합 PF 자본 구조</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Mezzanine 약 1조 원</a:t>
            </a:r>
          </a:p>
          <a:p>
            <a:pPr algn="l">
              <a:spcAft>
                <a:spcPts val="600"/>
              </a:spcAft>
            </a:pPr>
            <a:r>
              <a:rPr sz="1530">
                <a:solidFill>
                  <a:srgbClr val="1D1D1F"/>
                </a:solidFill>
                <a:latin typeface="Pretendard"/>
              </a:rPr>
              <a:t>Junior 약 3,000억 원</a:t>
            </a:r>
          </a:p>
          <a:p>
            <a:pPr algn="l">
              <a:spcAft>
                <a:spcPts val="600"/>
              </a:spcAft>
            </a:pPr>
            <a:r>
              <a:rPr sz="1530">
                <a:solidFill>
                  <a:srgbClr val="1D1D1F"/>
                </a:solidFill>
                <a:latin typeface="Pretendard"/>
              </a:rPr>
              <a:t>Equity (10%) 약 7,000억 원</a:t>
            </a:r>
          </a:p>
          <a:p>
            <a:pPr algn="l">
              <a:spcAft>
                <a:spcPts val="600"/>
              </a:spcAft>
            </a:pPr>
            <a:r>
              <a:rPr sz="1275">
                <a:solidFill>
                  <a:srgbClr val="1D1D1F"/>
                </a:solidFill>
                <a:latin typeface="Pretendard"/>
              </a:rPr>
              <a:t>* Equity는 700억 원(10%) 베이스가 아닌 7,000억 원(10%) 가량의 Sponsor + LP Equity로 추정</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l">
              <a:spcAft>
                <a:spcPts val="600"/>
              </a:spcAft>
            </a:pPr>
            <a:r>
              <a:rPr sz="1445">
                <a:solidFill>
                  <a:srgbClr val="1D1D1F"/>
                </a:solidFill>
                <a:latin typeface="Pretendard"/>
              </a:rPr>
              <a:t>Option C 신설 SPC + 현물출자 경로가 자본 효율성 측면에서 가장 우수함.</a:t>
            </a:r>
          </a:p>
          <a:p>
            <a:pPr algn="l">
              <a:spcAft>
                <a:spcPts val="600"/>
              </a:spcAft>
            </a:pPr>
            <a:r>
              <a:rPr sz="1614" b="1">
                <a:solidFill>
                  <a:srgbClr val="1D1D1F"/>
                </a:solidFill>
                <a:latin typeface="Pretendard"/>
              </a:rPr>
              <a:t>트랜치 B 우선매수권 리스크</a:t>
            </a:r>
          </a:p>
          <a:p>
            <a:pPr algn="l">
              <a:spcAft>
                <a:spcPts val="600"/>
              </a:spcAft>
            </a:pPr>
            <a:r>
              <a:rPr sz="1445">
                <a:solidFill>
                  <a:srgbClr val="1D1D1F"/>
                </a:solidFill>
                <a:latin typeface="Pretendard"/>
              </a:rPr>
              <a:t>한투리얼·HDC현산의 트랜치 B 우선매수권. IPR의 신규 자본 유치 시 Dilution 위험으로 작용.</a:t>
            </a:r>
          </a:p>
        </p:txBody>
      </p:sp>
      <p:sp>
        <p:nvSpPr>
          <p:cNvPr id="7" name="Rounded Rectangle 6"/>
          <p:cNvSpPr/>
          <p:nvPr/>
        </p:nvSpPr>
        <p:spPr>
          <a:xfrm>
            <a:off x="8066836" y="219456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CAPITAL STACK</a:t>
            </a:r>
          </a:p>
          <a:p>
            <a:pPr algn="l">
              <a:spcAft>
                <a:spcPts val="600"/>
              </a:spcAft>
            </a:pPr>
            <a:r>
              <a:rPr sz="1800" b="1">
                <a:solidFill>
                  <a:srgbClr val="1D1D1F"/>
                </a:solidFill>
                <a:latin typeface="Pretendard"/>
              </a:rPr>
              <a:t>7조 원 다층 자본 구조 (가정)</a:t>
            </a:r>
          </a:p>
          <a:p>
            <a:pPr algn="l">
              <a:spcAft>
                <a:spcPts val="600"/>
              </a:spcAft>
            </a:pPr>
            <a:r>
              <a:rPr sz="1530">
                <a:solidFill>
                  <a:srgbClr val="1D1D1F"/>
                </a:solidFill>
                <a:latin typeface="Pretendard"/>
              </a:rPr>
              <a:t>Senior Debt 약 5조 원</a:t>
            </a:r>
          </a:p>
        </p:txBody>
      </p:sp>
      <p:sp>
        <p:nvSpPr>
          <p:cNvPr id="9" name="Rounded Rectangle 8"/>
          <p:cNvSpPr/>
          <p:nvPr/>
        </p:nvSpPr>
        <p:spPr>
          <a:xfrm>
            <a:off x="914400" y="434340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EFFICIENCY &amp; RISKS</a:t>
            </a:r>
          </a:p>
          <a:p>
            <a:pPr algn="l">
              <a:spcAft>
                <a:spcPts val="600"/>
              </a:spcAft>
            </a:pPr>
            <a:r>
              <a:rPr sz="1800" b="1">
                <a:solidFill>
                  <a:srgbClr val="1D1D1F"/>
                </a:solidFill>
                <a:latin typeface="Pretendard"/>
              </a:rPr>
              <a:t>자본 효율성과 구조적 위험요소</a:t>
            </a:r>
          </a:p>
          <a:p>
            <a:pPr algn="l">
              <a:spcAft>
                <a:spcPts val="600"/>
              </a:spcAft>
            </a:pPr>
            <a:r>
              <a:rPr sz="1614" b="1">
                <a:solidFill>
                  <a:srgbClr val="1D1D1F"/>
                </a:solidFill>
                <a:latin typeface="Pretendard"/>
              </a:rPr>
              <a:t>가장 우수한 효율성 모델</a:t>
            </a:r>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l">
              <a:spcAft>
                <a:spcPts val="600"/>
              </a:spcAft>
            </a:pPr>
            <a:r>
              <a:rPr sz="1530" b="1">
                <a:solidFill>
                  <a:srgbClr val="1D1D1F"/>
                </a:solidFill>
                <a:latin typeface="Pretendard"/>
              </a:rPr>
              <a:t>대응 방안: 일부 매입·정리(buyback) 및 행사 조건 명확화를 통해 자본 구조 사전 정리 필요</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당면한 실행 변수</a:t>
            </a:r>
          </a:p>
          <a:p>
            <a:pPr algn="ctr"/>
            <a:r>
              <a:rPr sz="3200" b="1">
                <a:solidFill>
                  <a:srgbClr val="1D1D1F"/>
                </a:solidFill>
                <a:latin typeface="Pretendard"/>
              </a:rPr>
              <a:t>YD816 본PF 전환 리스크 및 타임라인</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a:pPr algn="l">
              <a:spcAft>
                <a:spcPts val="600"/>
              </a:spcAft>
            </a:pPr>
            <a:r>
              <a:rPr sz="1530">
                <a:solidFill>
                  <a:srgbClr val="1D1D1F"/>
                </a:solidFill>
                <a:latin typeface="Pretendard"/>
              </a:rPr>
              <a:t>2026년 1월 17일 KB국민은행 선순위 채권 4,800억 원에 대해 EOD 통보.</a:t>
            </a:r>
          </a:p>
          <a:p>
            <a:pPr algn="l">
              <a:spcAft>
                <a:spcPts val="600"/>
              </a:spcAft>
            </a:pPr>
            <a:r>
              <a:rPr sz="1530">
                <a:solidFill>
                  <a:srgbClr val="1D1D1F"/>
                </a:solidFill>
                <a:latin typeface="Pretendard"/>
              </a:rPr>
              <a:t>메리츠증권과의 선순위 대주 교체 협상이 1·2차 투심에서 반려됨.</a:t>
            </a:r>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l">
              <a:spcAft>
                <a:spcPts val="600"/>
              </a:spcAft>
            </a:pPr>
            <a:r>
              <a:rPr sz="1530">
                <a:solidFill>
                  <a:srgbClr val="1D1D1F"/>
                </a:solidFill>
                <a:latin typeface="Pretendard"/>
              </a:rPr>
              <a:t>▪ 이지스는 SI로 대명소노그룹을 확보하여 자금 조달 구조 보완 진행 중.</a:t>
            </a:r>
          </a:p>
          <a:p>
            <a:pPr algn="l">
              <a:spcAft>
                <a:spcPts val="600"/>
              </a:spcAft>
            </a:pPr>
            <a:r>
              <a:rPr sz="1530">
                <a:solidFill>
                  <a:srgbClr val="1D1D1F"/>
                </a:solidFill>
                <a:latin typeface="Pretendard"/>
              </a:rPr>
              <a:t>▪ 삼성물산 책임임차(마스터리스 75%) 확약 연장 협상 동시 진행 중.</a:t>
            </a:r>
          </a:p>
        </p:txBody>
      </p:sp>
      <p:sp>
        <p:nvSpPr>
          <p:cNvPr id="9" name="Rounded Rectangle 8"/>
          <p:cNvSpPr/>
          <p:nvPr/>
        </p:nvSpPr>
        <p:spPr>
          <a:xfrm>
            <a:off x="8960891" y="2194560"/>
            <a:ext cx="2316403" cy="115824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CRISIS</a:t>
            </a:r>
          </a:p>
          <a:p>
            <a:pPr algn="l">
              <a:spcAft>
                <a:spcPts val="600"/>
              </a:spcAft>
            </a:pPr>
            <a:r>
              <a:rPr sz="1800" b="1">
                <a:solidFill>
                  <a:srgbClr val="1D1D1F"/>
                </a:solidFill>
                <a:latin typeface="Pretendard"/>
              </a:rPr>
              <a:t>본PF 전환 실패 리스크</a:t>
            </a:r>
          </a:p>
        </p:txBody>
      </p:sp>
      <p:sp>
        <p:nvSpPr>
          <p:cNvPr id="11" name="Rounded Rectangle 10"/>
          <p:cNvSpPr/>
          <p:nvPr/>
        </p:nvSpPr>
        <p:spPr>
          <a:xfrm>
            <a:off x="914400" y="3627120"/>
            <a:ext cx="2316403" cy="115824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TIMELINE</a:t>
            </a:r>
          </a:p>
          <a:p>
            <a:pPr algn="l">
              <a:spcAft>
                <a:spcPts val="600"/>
              </a:spcAft>
            </a:pPr>
            <a:r>
              <a:rPr sz="1800" b="1">
                <a:solidFill>
                  <a:srgbClr val="1D1D1F"/>
                </a:solidFill>
                <a:latin typeface="Pretendard"/>
              </a:rPr>
              <a:t>공매 절차 데드라인 임박</a:t>
            </a:r>
          </a:p>
        </p:txBody>
      </p:sp>
      <p:sp>
        <p:nvSpPr>
          <p:cNvPr id="13" name="Rounded Rectangle 12"/>
          <p:cNvSpPr/>
          <p:nvPr/>
        </p:nvSpPr>
        <p:spPr>
          <a:xfrm>
            <a:off x="3596563" y="3627120"/>
            <a:ext cx="2316403" cy="115824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76428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COUNTERMEASURE</a:t>
            </a:r>
          </a:p>
          <a:p>
            <a:pPr algn="l">
              <a:spcAft>
                <a:spcPts val="600"/>
              </a:spcAft>
            </a:pPr>
            <a:r>
              <a:rPr sz="1800" b="1">
                <a:solidFill>
                  <a:srgbClr val="1D1D1F"/>
                </a:solidFill>
                <a:latin typeface="Pretendard"/>
              </a:rPr>
              <a:t>자금 조달 구조 보완</a:t>
            </a:r>
          </a:p>
        </p:txBody>
      </p:sp>
      <p:sp>
        <p:nvSpPr>
          <p:cNvPr id="15" name="Rounded Rectangle 14"/>
          <p:cNvSpPr/>
          <p:nvPr/>
        </p:nvSpPr>
        <p:spPr>
          <a:xfrm>
            <a:off x="627872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76428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잔여 협상 기간</a:t>
            </a:r>
            <a:r>
              <a:t>                 </a:t>
            </a:r>
            <a:r>
              <a:rPr sz="1360" b="1">
                <a:solidFill>
                  <a:srgbClr val="1D1D1F"/>
                </a:solidFill>
                <a:latin typeface="Pretendard"/>
              </a:rPr>
              <a:t>약 2주</a:t>
            </a:r>
          </a:p>
        </p:txBody>
      </p:sp>
      <p:sp>
        <p:nvSpPr>
          <p:cNvPr id="17" name="Rounded Rectangle 16"/>
          <p:cNvSpPr/>
          <p:nvPr/>
        </p:nvSpPr>
        <p:spPr>
          <a:xfrm>
            <a:off x="488009336"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8146496" y="376428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담보권 실행 유예</a:t>
            </a:r>
            <a:r>
              <a:t>                </a:t>
            </a:r>
            <a:r>
              <a:rPr sz="1360" b="1">
                <a:solidFill>
                  <a:srgbClr val="1D1D1F"/>
                </a:solidFill>
                <a:latin typeface="Pretendard"/>
              </a:rPr>
              <a:t>1개월</a:t>
            </a:r>
          </a:p>
          <a:p>
            <a:pPr algn="ctr">
              <a:spcAft>
                <a:spcPts val="600"/>
              </a:spcAft>
            </a:pPr>
            <a:r>
              <a:rPr sz="1445" b="1">
                <a:solidFill>
                  <a:srgbClr val="1D1D1F"/>
                </a:solidFill>
                <a:latin typeface="Pretendard"/>
              </a:rPr>
              <a:t>3월 중순: 공매 개시 실질적 데드라인</a:t>
            </a:r>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2026년 4월 현 시점, YD816 PFV 약 1조원 규모 리파이낸싱 완료</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핵심 액션 아이템 및 목표</a:t>
            </a:r>
          </a:p>
          <a:p>
            <a:pPr algn="ctr"/>
            <a:r>
              <a:rPr sz="3200" b="1">
                <a:solidFill>
                  <a:srgbClr val="1D1D1F"/>
                </a:solidFill>
                <a:latin typeface="Pretendard"/>
              </a:rPr>
              <a:t>성공적 클로징을 위한 3대 과제</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공매 회피 인수자 확정 (메리츠증권 추가 협상 또는 대체 Senior 대주 확보)을 통한 급선무 해결.</a:t>
            </a:r>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2027년 5월 2차 PF 4.5조 원 조달을 위한 사전 Anchor 확보. 7조 원 규모 한국 RE 사상 최대 PF의 핵심 게임.</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본PF 심사 시 금융권이 두 사업을 동일 선상에서 평가하지 않는 분위기 타파. 통합 가치 인정받지 못하면 IOTA 브랜드 분열 위험 방어.</a:t>
            </a:r>
          </a:p>
        </p:txBody>
      </p:sp>
      <p:sp>
        <p:nvSpPr>
          <p:cNvPr id="9" name="Rounded Rectangle 8"/>
          <p:cNvSpPr/>
          <p:nvPr/>
        </p:nvSpPr>
        <p:spPr>
          <a:xfrm>
            <a:off x="8960891" y="219456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TASK 01</a:t>
            </a:r>
          </a:p>
          <a:p>
            <a:pPr algn="l">
              <a:spcAft>
                <a:spcPts val="600"/>
              </a:spcAft>
            </a:pPr>
            <a:r>
              <a:rPr sz="1800" b="1">
                <a:solidFill>
                  <a:srgbClr val="1D1D1F"/>
                </a:solidFill>
                <a:latin typeface="Pretendard"/>
              </a:rPr>
              <a:t>YD816 본PF 즉시 클로징</a:t>
            </a:r>
          </a:p>
        </p:txBody>
      </p:sp>
      <p:sp>
        <p:nvSpPr>
          <p:cNvPr id="11" name="Rounded Rectangle 10"/>
          <p:cNvSpPr/>
          <p:nvPr/>
        </p:nvSpPr>
        <p:spPr>
          <a:xfrm>
            <a:off x="914400" y="434340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TASK 02</a:t>
            </a:r>
          </a:p>
          <a:p>
            <a:pPr algn="l">
              <a:spcAft>
                <a:spcPts val="600"/>
              </a:spcAft>
            </a:pPr>
            <a:r>
              <a:rPr sz="1800" b="1">
                <a:solidFill>
                  <a:srgbClr val="1D1D1F"/>
                </a:solidFill>
                <a:latin typeface="Pretendard"/>
              </a:rPr>
              <a:t>YD427 2차 PF 사전 Anchor</a:t>
            </a:r>
          </a:p>
        </p:txBody>
      </p:sp>
      <p:sp>
        <p:nvSpPr>
          <p:cNvPr id="13" name="Rounded Rectangle 12"/>
          <p:cNvSpPr/>
          <p:nvPr/>
        </p:nvSpPr>
        <p:spPr>
          <a:xfrm>
            <a:off x="3596563" y="434340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448056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TASK 03</a:t>
            </a:r>
          </a:p>
          <a:p>
            <a:pPr algn="l">
              <a:spcAft>
                <a:spcPts val="600"/>
              </a:spcAft>
            </a:pPr>
            <a:r>
              <a:rPr sz="1800" b="1">
                <a:solidFill>
                  <a:srgbClr val="1D1D1F"/>
                </a:solidFill>
                <a:latin typeface="Pretendard"/>
              </a:rPr>
              <a:t>통합 가치 제고 스토리텔링</a:t>
            </a:r>
          </a:p>
        </p:txBody>
      </p:sp>
      <p:sp>
        <p:nvSpPr>
          <p:cNvPr id="15" name="Rounded Rectangle 14"/>
          <p:cNvSpPr/>
          <p:nvPr/>
        </p:nvSpPr>
        <p:spPr>
          <a:xfrm>
            <a:off x="627872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[2026.12 클로징 타겟] 성공 시 이지스의 글로벌 LP 확장 최강 레퍼런스, 실패 시 Brand Impairment 위험</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3.</a:t>
            </a:r>
          </a:p>
          <a:p>
            <a:pPr algn="ctr">
              <a:spcAft>
                <a:spcPts val="1400"/>
              </a:spcAft>
            </a:pPr>
            <a:r>
              <a:rPr sz="2400" b="1">
                <a:solidFill>
                  <a:srgbClr val="FFFFFF"/>
                </a:solidFill>
                <a:latin typeface="Pretendard"/>
              </a:rPr>
              <a:t>이지스 2030 전략 內 위치</a:t>
            </a:r>
            <a:r>
              <a:rPr sz="2400" b="1">
                <a:solidFill>
                  <a:srgbClr val="FFFFFF"/>
                </a:solidFill>
                <a:latin typeface="Pretendard"/>
              </a:rPr>
              <a:t>이지스 2030 전략 內 위치</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2030 성장을 이끌 전략적 자산</a:t>
            </a:r>
          </a:p>
          <a:p>
            <a:pPr algn="ctr"/>
            <a:r>
              <a:rPr sz="3200" b="1">
                <a:solidFill>
                  <a:srgbClr val="1D1D1F"/>
                </a:solidFill>
                <a:latin typeface="Pretendard"/>
              </a:rPr>
              <a:t>앵커 트로피 자산과 글로벌 LP 진입</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 향후 10년 이지스 브랜드의 단일 최대 PR 자산.</a:t>
            </a:r>
          </a:p>
          <a:p>
            <a:pPr algn="l">
              <a:spcAft>
                <a:spcPts val="600"/>
              </a:spcAft>
            </a:pPr>
            <a:r>
              <a:rPr sz="1530">
                <a:solidFill>
                  <a:srgbClr val="1D1D1F"/>
                </a:solidFill>
                <a:latin typeface="Pretendard"/>
              </a:rPr>
              <a:t>▪ AUM 73조 → 100조 원 성장 경로에서 약 7조 원(10%)을 단일 프로젝트에 집중.</a:t>
            </a:r>
          </a:p>
          <a:p>
            <a:pPr algn="l">
              <a:spcAft>
                <a:spcPts val="600"/>
              </a:spcAft>
            </a:pPr>
            <a:r>
              <a:rPr sz="1530">
                <a:solidFill>
                  <a:srgbClr val="1D1D1F"/>
                </a:solidFill>
                <a:latin typeface="Pretendard"/>
              </a:rPr>
              <a:t>▪ 매우 높은 포트폴리오 집중도는 단점이자 압도적인 Strength.</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 IOTA를 매개로 GIC·CPPIB·QIA·Allianz·Mitsubishi Estate 등 글로벌 LP 신규 도입.</a:t>
            </a:r>
          </a:p>
          <a:p>
            <a:pPr algn="l">
              <a:spcAft>
                <a:spcPts val="600"/>
              </a:spcAft>
            </a:pPr>
            <a:r>
              <a:rPr sz="1530">
                <a:solidFill>
                  <a:srgbClr val="1D1D1F"/>
                </a:solidFill>
                <a:latin typeface="Pretendard"/>
              </a:rPr>
              <a:t>Reverse Mirror 효과 IFC 서울 인수 시 브룩필드의 입장이 이지스에게 외부 GP의 인식이 되었듯, 이번에는 이지스가 GP로서 글로벌 자본을 성공적으로 유치.</a:t>
            </a:r>
          </a:p>
        </p:txBody>
      </p:sp>
      <p:sp>
        <p:nvSpPr>
          <p:cNvPr id="7" name="Rounded Rectangle 6"/>
          <p:cNvSpPr/>
          <p:nvPr/>
        </p:nvSpPr>
        <p:spPr>
          <a:xfrm>
            <a:off x="8066836" y="219456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ASSET 01</a:t>
            </a:r>
          </a:p>
          <a:p>
            <a:pPr algn="l">
              <a:spcAft>
                <a:spcPts val="600"/>
              </a:spcAft>
            </a:pPr>
            <a:r>
              <a:rPr sz="1800" b="1">
                <a:solidFill>
                  <a:srgbClr val="1D1D1F"/>
                </a:solidFill>
                <a:latin typeface="Pretendard"/>
              </a:rPr>
              <a:t>앵커 트로피 자산</a:t>
            </a:r>
          </a:p>
        </p:txBody>
      </p:sp>
      <p:sp>
        <p:nvSpPr>
          <p:cNvPr id="9" name="Rounded Rectangle 8"/>
          <p:cNvSpPr/>
          <p:nvPr/>
        </p:nvSpPr>
        <p:spPr>
          <a:xfrm>
            <a:off x="914400" y="434340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ASSET 02</a:t>
            </a:r>
          </a:p>
          <a:p>
            <a:pPr algn="l">
              <a:spcAft>
                <a:spcPts val="600"/>
              </a:spcAft>
            </a:pPr>
            <a:r>
              <a:rPr sz="1800" b="1">
                <a:solidFill>
                  <a:srgbClr val="1D1D1F"/>
                </a:solidFill>
                <a:latin typeface="Pretendard"/>
              </a:rPr>
              <a:t>글로벌 LP 진입 Vehicle</a:t>
            </a:r>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단순한 딜(Deal)을 넘어선 글로벌 스탠다드 운용사(GP) 도약의 지렛대</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IOTA가 제시하는 미래 청사진</a:t>
            </a:r>
          </a:p>
          <a:p>
            <a:pPr algn="ctr"/>
            <a:r>
              <a:rPr sz="3200" b="1">
                <a:solidFill>
                  <a:srgbClr val="1D1D1F"/>
                </a:solidFill>
                <a:latin typeface="Pretendard"/>
              </a:rPr>
              <a:t>혁신 운영 쇼케이스와 트로피 시리즈 템플릿</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a:pPr algn="l">
              <a:spcAft>
                <a:spcPts val="600"/>
              </a:spcAft>
            </a:pPr>
            <a:r>
              <a:rPr sz="1200" b="1">
                <a:solidFill>
                  <a:srgbClr val="1D1D1F"/>
                </a:solidFill>
                <a:latin typeface="Pretendard"/>
              </a:rPr>
              <a:t>EXIT / SECURITIZATION</a:t>
            </a:r>
          </a:p>
          <a:p>
            <a:pPr algn="l">
              <a:spcAft>
                <a:spcPts val="600"/>
              </a:spcAft>
            </a:pPr>
            <a:r>
              <a:rPr sz="1800" b="1">
                <a:solidFill>
                  <a:srgbClr val="1D1D1F"/>
                </a:solidFill>
                <a:latin typeface="Pretendard"/>
              </a:rPr>
              <a:t>IOTA Office REIT</a:t>
            </a:r>
          </a:p>
        </p:txBody>
      </p:sp>
      <p:sp>
        <p:nvSpPr>
          <p:cNvPr id="5" name="Rounded Rectangle 4"/>
          <p:cNvSpPr/>
          <p:nvPr/>
        </p:nvSpPr>
        <p:spPr>
          <a:xfrm>
            <a:off x="3596563" y="2194560"/>
            <a:ext cx="2316403" cy="115824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BLUEPRINT 01</a:t>
            </a:r>
          </a:p>
          <a:p>
            <a:pPr algn="l">
              <a:spcAft>
                <a:spcPts val="600"/>
              </a:spcAft>
            </a:pPr>
            <a:r>
              <a:rPr sz="1800" b="1">
                <a:solidFill>
                  <a:srgbClr val="1D1D1F"/>
                </a:solidFill>
                <a:latin typeface="Pretendard"/>
              </a:rPr>
              <a:t>Factorial Builders 운영 모델</a:t>
            </a:r>
          </a:p>
          <a:p>
            <a:pPr algn="l">
              <a:spcAft>
                <a:spcPts val="600"/>
              </a:spcAft>
            </a:pPr>
            <a:r>
              <a:rPr sz="1360" b="1">
                <a:solidFill>
                  <a:srgbClr val="1D1D1F"/>
                </a:solidFill>
                <a:latin typeface="Pretendard"/>
              </a:rPr>
              <a:t>'Asset as a Service' 모델 적용, AI, 로봇, IoT가 통합된 독자적 빌딩 OS 구축 글로벌 스탠다드 대비 확고한 초격차 운영 경쟁력 확보</a:t>
            </a:r>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상장 및 유동화</a:t>
            </a:r>
          </a:p>
        </p:txBody>
      </p:sp>
      <p:sp>
        <p:nvSpPr>
          <p:cNvPr id="9" name="Rounded Rectangle 8"/>
          <p:cNvSpPr/>
          <p:nvPr/>
        </p:nvSpPr>
        <p:spPr>
          <a:xfrm>
            <a:off x="8960891"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a:pPr algn="l">
              <a:spcAft>
                <a:spcPts val="600"/>
              </a:spcAft>
            </a:pPr>
            <a:r>
              <a:rPr sz="1200" b="1">
                <a:solidFill>
                  <a:srgbClr val="1D1D1F"/>
                </a:solidFill>
                <a:latin typeface="Pretendard"/>
              </a:rPr>
              <a:t>STABILIZED HOLDING</a:t>
            </a:r>
          </a:p>
          <a:p>
            <a:pPr algn="l">
              <a:spcAft>
                <a:spcPts val="600"/>
              </a:spcAft>
            </a:pPr>
            <a:r>
              <a:rPr sz="1800" b="1">
                <a:solidFill>
                  <a:srgbClr val="1D1D1F"/>
                </a:solidFill>
                <a:latin typeface="Pretendard"/>
              </a:rPr>
              <a:t>IGIS RE Fund</a:t>
            </a:r>
          </a:p>
        </p:txBody>
      </p:sp>
      <p:sp>
        <p:nvSpPr>
          <p:cNvPr id="11" name="Rounded Rectangle 10"/>
          <p:cNvSpPr/>
          <p:nvPr/>
        </p:nvSpPr>
        <p:spPr>
          <a:xfrm>
            <a:off x="914400"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안정화 보유</a:t>
            </a:r>
          </a:p>
        </p:txBody>
      </p:sp>
      <p:sp>
        <p:nvSpPr>
          <p:cNvPr id="13" name="Rounded Rectangle 12"/>
          <p:cNvSpPr/>
          <p:nvPr/>
        </p:nvSpPr>
        <p:spPr>
          <a:xfrm>
            <a:off x="3596563" y="3627120"/>
            <a:ext cx="2316403" cy="115824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76428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BLUEPRINT 02</a:t>
            </a:r>
          </a:p>
          <a:p>
            <a:pPr algn="l">
              <a:spcAft>
                <a:spcPts val="600"/>
              </a:spcAft>
            </a:pPr>
            <a:r>
              <a:rPr sz="1800" b="1">
                <a:solidFill>
                  <a:srgbClr val="1D1D1F"/>
                </a:solidFill>
                <a:latin typeface="Pretendard"/>
              </a:rPr>
              <a:t>Trophy Stack 자본 템플릿</a:t>
            </a:r>
          </a:p>
          <a:p>
            <a:pPr algn="l">
              <a:spcAft>
                <a:spcPts val="600"/>
              </a:spcAft>
            </a:pPr>
            <a:r>
              <a:rPr sz="1360" b="1">
                <a:solidFill>
                  <a:srgbClr val="1D1D1F"/>
                </a:solidFill>
                <a:latin typeface="Pretendard"/>
              </a:rPr>
              <a:t>[PFV + 부동산펀드 + 리츠 + LP]가 완벽하게 결합된 통합 자본 구조 구축 및 브랜드화 향후 YIBD, 잠실 등 신규 트로피 에셋의 템플릿으로 확장</a:t>
            </a:r>
          </a:p>
        </p:txBody>
      </p:sp>
      <p:sp>
        <p:nvSpPr>
          <p:cNvPr id="15" name="Rounded Rectangle 14"/>
          <p:cNvSpPr/>
          <p:nvPr/>
        </p:nvSpPr>
        <p:spPr>
          <a:xfrm>
            <a:off x="627872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764280"/>
            <a:ext cx="2042083" cy="883920"/>
          </a:xfrm>
          <a:prstGeom prst="rect">
            <a:avLst/>
          </a:prstGeom>
          <a:noFill/>
        </p:spPr>
        <p:txBody>
          <a:bodyPr wrap="square" lIns="0" rIns="0" tIns="0" bIns="0">
            <a:spAutoFit/>
          </a:bodyPr>
          <a:lstStyle/>
          <a:p>
            <a:pPr algn="l">
              <a:spcAft>
                <a:spcPts val="600"/>
              </a:spcAft>
            </a:pPr>
            <a:r>
              <a:rPr sz="1200" b="1">
                <a:solidFill>
                  <a:srgbClr val="1D1D1F"/>
                </a:solidFill>
                <a:latin typeface="Pretendard"/>
              </a:rPr>
              <a:t>DEVELOPMENT PHASE</a:t>
            </a:r>
          </a:p>
          <a:p>
            <a:pPr algn="l">
              <a:spcAft>
                <a:spcPts val="600"/>
              </a:spcAft>
            </a:pPr>
            <a:r>
              <a:rPr sz="1800" b="1">
                <a:solidFill>
                  <a:srgbClr val="1D1D1F"/>
                </a:solidFill>
                <a:latin typeface="Pretendard"/>
              </a:rPr>
              <a:t>Project PFV</a:t>
            </a:r>
          </a:p>
        </p:txBody>
      </p:sp>
      <p:sp>
        <p:nvSpPr>
          <p:cNvPr id="17" name="Rounded Rectangle 16"/>
          <p:cNvSpPr/>
          <p:nvPr/>
        </p:nvSpPr>
        <p:spPr>
          <a:xfrm>
            <a:off x="8960891"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76428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개발 및 시공</a:t>
            </a:r>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l">
              <a:spcAft>
                <a:spcPts val="600"/>
              </a:spcAft>
            </a:pPr>
            <a:r>
              <a:rPr sz="1200" b="1">
                <a:solidFill>
                  <a:srgbClr val="1D1D1F"/>
                </a:solidFill>
                <a:latin typeface="Pretendard"/>
              </a:rPr>
              <a:t>CAPITAL BASE</a:t>
            </a:r>
          </a:p>
          <a:p>
            <a:pPr algn="l">
              <a:spcAft>
                <a:spcPts val="600"/>
              </a:spcAft>
            </a:pPr>
            <a:r>
              <a:rPr sz="1800" b="1">
                <a:solidFill>
                  <a:srgbClr val="1D1D1F"/>
                </a:solidFill>
                <a:latin typeface="Pretendard"/>
              </a:rPr>
              <a:t>Global LP</a:t>
            </a:r>
          </a:p>
        </p:txBody>
      </p:sp>
      <p:sp>
        <p:nvSpPr>
          <p:cNvPr id="21" name="Rounded Rectangle 20"/>
          <p:cNvSpPr/>
          <p:nvPr/>
        </p:nvSpPr>
        <p:spPr>
          <a:xfrm>
            <a:off x="3596563"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33723" y="519684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기초 자본</a:t>
            </a:r>
          </a:p>
        </p:txBody>
      </p:sp>
      <p:sp>
        <p:nvSpPr>
          <p:cNvPr id="23" name="Rounded Rectangle 22"/>
          <p:cNvSpPr/>
          <p:nvPr/>
        </p:nvSpPr>
        <p:spPr>
          <a:xfrm>
            <a:off x="6278727"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5887" y="5196840"/>
            <a:ext cx="2042083" cy="883920"/>
          </a:xfrm>
          <a:prstGeom prst="rect">
            <a:avLst/>
          </a:prstGeom>
          <a:noFill/>
        </p:spPr>
        <p:txBody>
          <a:bodyPr wrap="square" lIns="0" rIns="0" tIns="0" bIns="0">
            <a:spAutoFit/>
          </a:bodyPr>
          <a:lstStyle/>
          <a:p>
            <a:pPr algn="l">
              <a:spcAft>
                <a:spcPts val="600"/>
              </a:spcAft>
            </a:pPr>
            <a:r>
              <a:rPr sz="1530" b="1">
                <a:solidFill>
                  <a:srgbClr val="1D1D1F"/>
                </a:solidFill>
                <a:latin typeface="Pretendard"/>
              </a:rPr>
              <a:t>미래 10년의 확장형 DNA 이식</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4.</a:t>
            </a:r>
          </a:p>
          <a:p>
            <a:pPr algn="ctr">
              <a:spcAft>
                <a:spcPts val="1400"/>
              </a:spcAft>
            </a:pPr>
            <a:r>
              <a:rPr sz="2400" b="1">
                <a:solidFill>
                  <a:srgbClr val="FFFFFF"/>
                </a:solidFill>
                <a:latin typeface="Pretendard"/>
              </a:rPr>
              <a:t>Value Creation Thesis</a:t>
            </a:r>
            <a:r>
              <a:rPr sz="2400" b="1">
                <a:solidFill>
                  <a:srgbClr val="FFFFFF"/>
                </a:solidFill>
                <a:latin typeface="Pretendard"/>
              </a:rPr>
              <a:t>Value Creation Thesis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근원적 자산 가치</a:t>
            </a:r>
          </a:p>
          <a:p>
            <a:pPr algn="ctr"/>
            <a:r>
              <a:rPr sz="3200" b="1">
                <a:solidFill>
                  <a:srgbClr val="1D1D1F"/>
                </a:solidFill>
                <a:latin typeface="Pretendard"/>
              </a:rPr>
              <a:t>입지적 Land Value 및 NOI 창출력</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l">
              <a:spcAft>
                <a:spcPts val="600"/>
              </a:spcAft>
            </a:pPr>
            <a:r>
              <a:rPr sz="1200" b="1">
                <a:solidFill>
                  <a:srgbClr val="1D1D1F"/>
                </a:solidFill>
                <a:latin typeface="Pretendard"/>
              </a:rPr>
              <a:t>+10~20% 추가 상승 여지</a:t>
            </a:r>
          </a:p>
        </p:txBody>
      </p:sp>
      <p:sp>
        <p:nvSpPr>
          <p:cNvPr id="9" name="Rounded Rectangle 8"/>
          <p:cNvSpPr/>
          <p:nvPr/>
        </p:nvSpPr>
        <p:spPr>
          <a:xfrm>
            <a:off x="8960891" y="2194560"/>
            <a:ext cx="2316403" cy="115824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a:pPr algn="l">
              <a:spcAft>
                <a:spcPts val="600"/>
              </a:spcAft>
            </a:pPr>
            <a:r>
              <a:rPr sz="1200" b="1">
                <a:solidFill>
                  <a:srgbClr val="1D1D1F"/>
                </a:solidFill>
                <a:latin typeface="Pretendard"/>
              </a:rPr>
              <a:t>2024 (Now)</a:t>
            </a:r>
            <a:r>
              <a:t>                     </a:t>
            </a:r>
            <a:r>
              <a:rPr sz="1200" b="1">
                <a:solidFill>
                  <a:srgbClr val="1D1D1F"/>
                </a:solidFill>
                <a:latin typeface="Pretendard"/>
              </a:rPr>
              <a:t>2028 (GTX-A)</a:t>
            </a:r>
          </a:p>
          <a:p>
            <a:pPr algn="l">
              <a:spcAft>
                <a:spcPts val="600"/>
              </a:spcAft>
            </a:pPr>
            <a:r>
              <a:rPr sz="1530" b="1">
                <a:solidFill>
                  <a:srgbClr val="1D1D1F"/>
                </a:solidFill>
                <a:latin typeface="Pretendard"/>
              </a:rPr>
              <a:t>GTX-A/B 교차 입지의 프리미엄이 본격 반영되며 향후 5~10년간 구조적 우상향 전망</a:t>
            </a:r>
          </a:p>
        </p:txBody>
      </p:sp>
      <p:sp>
        <p:nvSpPr>
          <p:cNvPr id="11" name="Rounded Rectangle 10"/>
          <p:cNvSpPr/>
          <p:nvPr/>
        </p:nvSpPr>
        <p:spPr>
          <a:xfrm>
            <a:off x="914400"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6조 ~ 10조 원</a:t>
            </a:r>
          </a:p>
          <a:p>
            <a:pPr algn="ctr">
              <a:spcAft>
                <a:spcPts val="600"/>
              </a:spcAft>
            </a:pPr>
            <a:r>
              <a:rPr sz="1200" b="1">
                <a:solidFill>
                  <a:srgbClr val="1D1D1F"/>
                </a:solidFill>
                <a:latin typeface="Pretendard"/>
              </a:rPr>
              <a:t>Bull Scenario ~4.5K억</a:t>
            </a:r>
          </a:p>
          <a:p>
            <a:pPr algn="ctr">
              <a:spcAft>
                <a:spcPts val="600"/>
              </a:spcAft>
            </a:pPr>
            <a:r>
              <a:rPr sz="1200" b="1">
                <a:solidFill>
                  <a:srgbClr val="1D1D1F"/>
                </a:solidFill>
                <a:latin typeface="Pretendard"/>
              </a:rPr>
              <a:t>Target Asset Value</a:t>
            </a:r>
          </a:p>
        </p:txBody>
      </p:sp>
      <p:sp>
        <p:nvSpPr>
          <p:cNvPr id="13" name="Rounded Rectangle 12"/>
          <p:cNvSpPr/>
          <p:nvPr/>
        </p:nvSpPr>
        <p:spPr>
          <a:xfrm>
            <a:off x="204341653"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4478813" y="376428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4.1 VALUE DRIVER</a:t>
            </a:r>
          </a:p>
          <a:p>
            <a:pPr algn="l">
              <a:spcAft>
                <a:spcPts val="600"/>
              </a:spcAft>
            </a:pPr>
            <a:r>
              <a:rPr sz="1800" b="1">
                <a:solidFill>
                  <a:srgbClr val="1D1D1F"/>
                </a:solidFill>
                <a:latin typeface="Pretendard"/>
              </a:rPr>
              <a:t>토지 담보 가치 (Land Value)</a:t>
            </a:r>
          </a:p>
          <a:p>
            <a:pPr algn="l">
              <a:spcAft>
                <a:spcPts val="600"/>
              </a:spcAft>
            </a:pPr>
            <a:r>
              <a:rPr sz="1200" b="1">
                <a:solidFill>
                  <a:srgbClr val="1D1D1F"/>
                </a:solidFill>
                <a:latin typeface="Pretendard"/>
              </a:rPr>
              <a:t>200+</a:t>
            </a:r>
          </a:p>
          <a:p>
            <a:pPr algn="l">
              <a:spcAft>
                <a:spcPts val="600"/>
              </a:spcAft>
            </a:pPr>
            <a:r>
              <a:rPr sz="1200" b="1">
                <a:solidFill>
                  <a:srgbClr val="1D1D1F"/>
                </a:solidFill>
                <a:latin typeface="Pretendard"/>
              </a:rPr>
              <a:t>서울역-인천공항 연결 효과</a:t>
            </a:r>
          </a:p>
          <a:p>
            <a:pPr algn="l">
              <a:spcAft>
                <a:spcPts val="600"/>
              </a:spcAft>
            </a:pPr>
            <a:r>
              <a:rPr sz="1200" b="1">
                <a:solidFill>
                  <a:srgbClr val="1E3A8A"/>
                </a:solidFill>
                <a:latin typeface="Pretendard"/>
              </a:rPr>
              <a:t>150</a:t>
            </a:r>
          </a:p>
          <a:p>
            <a:pPr algn="l">
              <a:spcAft>
                <a:spcPts val="600"/>
              </a:spcAft>
            </a:pPr>
            <a:r>
              <a:rPr sz="1200" b="1">
                <a:solidFill>
                  <a:srgbClr val="1E3A8A"/>
                </a:solidFill>
                <a:latin typeface="Pretendard"/>
              </a:rPr>
              <a:t>100</a:t>
            </a:r>
          </a:p>
        </p:txBody>
      </p:sp>
      <p:sp>
        <p:nvSpPr>
          <p:cNvPr id="15" name="Rounded Rectangle 14"/>
          <p:cNvSpPr/>
          <p:nvPr/>
        </p:nvSpPr>
        <p:spPr>
          <a:xfrm>
            <a:off x="40776890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7906067" y="3764280"/>
            <a:ext cx="2042083" cy="883920"/>
          </a:xfrm>
          <a:prstGeom prst="rect">
            <a:avLst/>
          </a:prstGeom>
          <a:noFill/>
        </p:spPr>
        <p:txBody>
          <a:bodyPr wrap="square" lIns="0" rIns="0" tIns="0" bIns="0">
            <a:spAutoFit/>
          </a:bodyPr>
          <a:lstStyle/>
          <a:p>
            <a:pPr algn="ctr">
              <a:spcAft>
                <a:spcPts val="600"/>
              </a:spcAft>
            </a:pPr>
            <a:r>
              <a:rPr sz="1200" b="1">
                <a:solidFill>
                  <a:srgbClr val="1D1D1F"/>
                </a:solidFill>
                <a:latin typeface="Pretendard"/>
              </a:rPr>
              <a:t>NOI ~3K억</a:t>
            </a:r>
          </a:p>
        </p:txBody>
      </p:sp>
      <p:sp>
        <p:nvSpPr>
          <p:cNvPr id="17" name="Rounded Rectangle 16"/>
          <p:cNvSpPr/>
          <p:nvPr/>
        </p:nvSpPr>
        <p:spPr>
          <a:xfrm>
            <a:off x="611196161"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1333321" y="376428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4.2 STABILIZATION</a:t>
            </a:r>
          </a:p>
          <a:p>
            <a:pPr algn="l">
              <a:spcAft>
                <a:spcPts val="600"/>
              </a:spcAft>
            </a:pPr>
            <a:r>
              <a:rPr sz="1800" b="1">
                <a:solidFill>
                  <a:srgbClr val="1D1D1F"/>
                </a:solidFill>
                <a:latin typeface="Pretendard"/>
              </a:rPr>
              <a:t>안정화 캐시플로우</a:t>
            </a:r>
          </a:p>
          <a:p>
            <a:pPr algn="l">
              <a:spcAft>
                <a:spcPts val="600"/>
              </a:spcAft>
            </a:pPr>
            <a:r>
              <a:rPr sz="1200" b="1">
                <a:solidFill>
                  <a:srgbClr val="1D1D1F"/>
                </a:solidFill>
                <a:latin typeface="Pretendard"/>
              </a:rPr>
              <a:t>2026</a:t>
            </a:r>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l">
              <a:spcAft>
                <a:spcPts val="600"/>
              </a:spcAft>
            </a:pPr>
            <a:r>
              <a:rPr sz="1275" b="1">
                <a:solidFill>
                  <a:srgbClr val="1D1D1F"/>
                </a:solidFill>
                <a:latin typeface="Pretendard"/>
              </a:rPr>
              <a:t>준공 후 연면적 30만m² 기준, 평당 25만~35만 원 임대료 가정 시 캡레이트 4%대 자산 가치 도달</a:t>
            </a:r>
          </a:p>
        </p:txBody>
      </p:sp>
      <p:sp>
        <p:nvSpPr>
          <p:cNvPr id="21" name="Rounded Rectangle 20"/>
          <p:cNvSpPr/>
          <p:nvPr/>
        </p:nvSpPr>
        <p:spPr>
          <a:xfrm>
            <a:off x="204341653"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4478813" y="5196840"/>
            <a:ext cx="2042083" cy="883920"/>
          </a:xfrm>
          <a:prstGeom prst="rect">
            <a:avLst/>
          </a:prstGeom>
          <a:noFill/>
        </p:spPr>
        <p:txBody>
          <a:bodyPr wrap="square" lIns="0" rIns="0" tIns="0" bIns="0">
            <a:spAutoFit/>
          </a:bodyPr>
          <a:lstStyle/>
          <a:p>
            <a:pPr algn="l">
              <a:spcAft>
                <a:spcPts val="600"/>
              </a:spcAft>
            </a:pPr>
            <a:r>
              <a:rPr sz="1200" b="1">
                <a:solidFill>
                  <a:srgbClr val="1D1D1F"/>
                </a:solidFill>
                <a:latin typeface="Pretendard"/>
              </a:rPr>
              <a:t>2031 (GTX-B)</a:t>
            </a:r>
          </a:p>
          <a:p>
            <a:pPr algn="l">
              <a:spcAft>
                <a:spcPts val="600"/>
              </a:spcAft>
            </a:pPr>
            <a:r>
              <a:rPr sz="1530" b="1">
                <a:solidFill>
                  <a:srgbClr val="1D1D1F"/>
                </a:solidFill>
                <a:latin typeface="Pretendard"/>
              </a:rPr>
              <a:t>%</a:t>
            </a:r>
          </a:p>
        </p:txBody>
      </p:sp>
      <p:sp>
        <p:nvSpPr>
          <p:cNvPr id="23" name="Rounded Rectangle 22"/>
          <p:cNvSpPr/>
          <p:nvPr/>
        </p:nvSpPr>
        <p:spPr>
          <a:xfrm>
            <a:off x="407768907"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7906067" y="519684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압도적 입지와 규모가 만들어내는 견고한 Cash Flow 및 Value Add 잠재력</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프라임 프리미엄과 엑시트 전략</a:t>
            </a:r>
          </a:p>
          <a:p>
            <a:pPr algn="ctr"/>
            <a:r>
              <a:rPr sz="3200" b="1">
                <a:solidFill>
                  <a:srgbClr val="1D1D1F"/>
                </a:solidFill>
                <a:latin typeface="Pretendard"/>
              </a:rPr>
              <a:t>자산 프리미엄 및 자본 Recycling / IPO</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a:pPr algn="l">
              <a:spcAft>
                <a:spcPts val="600"/>
              </a:spcAft>
            </a:pPr>
            <a:r>
              <a:rPr sz="1200" b="1">
                <a:solidFill>
                  <a:srgbClr val="1D1D1F"/>
                </a:solidFill>
                <a:latin typeface="Pretendard"/>
              </a:rPr>
              <a:t>IOTA Seoul</a:t>
            </a:r>
          </a:p>
          <a:p>
            <a:pPr algn="l">
              <a:spcAft>
                <a:spcPts val="600"/>
              </a:spcAft>
            </a:pPr>
            <a:r>
              <a:rPr sz="1360" b="1">
                <a:solidFill>
                  <a:srgbClr val="1D1D1F"/>
                </a:solidFill>
                <a:latin typeface="Pretendard"/>
              </a:rPr>
              <a:t>GTX 교차 및 럭셔리 복합시설 결합으로 도쿄 마루노우치 수준의 초격차 프리미엄 실현</a:t>
            </a:r>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a:pPr algn="l">
              <a:spcAft>
                <a:spcPts val="600"/>
              </a:spcAft>
            </a:pPr>
            <a:r>
              <a:rPr sz="1200" b="1">
                <a:solidFill>
                  <a:srgbClr val="1D1D1F"/>
                </a:solidFill>
                <a:latin typeface="Pretendard"/>
              </a:rPr>
              <a:t>OPTION B</a:t>
            </a:r>
          </a:p>
          <a:p>
            <a:pPr algn="l">
              <a:spcAft>
                <a:spcPts val="600"/>
              </a:spcAft>
            </a:pPr>
            <a:r>
              <a:rPr sz="1700" b="1">
                <a:solidFill>
                  <a:srgbClr val="1D1D1F"/>
                </a:solidFill>
                <a:latin typeface="Pretendard"/>
              </a:rPr>
              <a:t>영구 보유 (Permanent Hold)</a:t>
            </a:r>
          </a:p>
          <a:p>
            <a:pPr algn="l">
              <a:spcAft>
                <a:spcPts val="600"/>
              </a:spcAft>
            </a:pPr>
            <a:r>
              <a:rPr sz="1200">
                <a:solidFill>
                  <a:srgbClr val="1D1D1F"/>
                </a:solidFill>
                <a:latin typeface="Pretendard"/>
              </a:rPr>
              <a:t>도쿄역 GranSta 모델 (Trophy Asset 유지)</a:t>
            </a:r>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안정화 이후 자본 회수 옵션</a:t>
            </a:r>
          </a:p>
          <a:p>
            <a:pPr algn="l">
              <a:spcAft>
                <a:spcPts val="600"/>
              </a:spcAft>
            </a:pPr>
            <a:r>
              <a:rPr sz="1200" b="1">
                <a:solidFill>
                  <a:srgbClr val="1D1D1F"/>
                </a:solidFill>
                <a:latin typeface="Pretendard"/>
              </a:rPr>
              <a:t>OPTION A</a:t>
            </a:r>
          </a:p>
          <a:p>
            <a:pPr algn="l">
              <a:spcAft>
                <a:spcPts val="600"/>
              </a:spcAft>
            </a:pPr>
            <a:r>
              <a:rPr sz="1700" b="1">
                <a:solidFill>
                  <a:srgbClr val="1D1D1F"/>
                </a:solidFill>
                <a:latin typeface="Pretendard"/>
              </a:rPr>
              <a:t>글로벌 코어 펀드 매각</a:t>
            </a:r>
          </a:p>
          <a:p>
            <a:pPr algn="l">
              <a:spcAft>
                <a:spcPts val="600"/>
              </a:spcAft>
            </a:pPr>
            <a:r>
              <a:rPr sz="1200">
                <a:solidFill>
                  <a:srgbClr val="1D1D1F"/>
                </a:solidFill>
                <a:latin typeface="Pretendard"/>
              </a:rPr>
              <a:t>GIC, Allianz 등 우량 기관 대상</a:t>
            </a:r>
          </a:p>
        </p:txBody>
      </p:sp>
      <p:sp>
        <p:nvSpPr>
          <p:cNvPr id="9" name="Rounded Rectangle 8"/>
          <p:cNvSpPr/>
          <p:nvPr/>
        </p:nvSpPr>
        <p:spPr>
          <a:xfrm>
            <a:off x="8960891" y="2194560"/>
            <a:ext cx="2316403" cy="115824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서울 프라임 대비 프리미엄</a:t>
            </a:r>
          </a:p>
          <a:p>
            <a:pPr algn="l">
              <a:spcAft>
                <a:spcPts val="600"/>
              </a:spcAft>
            </a:pPr>
            <a:r>
              <a:rPr sz="1200" b="1">
                <a:solidFill>
                  <a:srgbClr val="1D1D1F"/>
                </a:solidFill>
                <a:latin typeface="Pretendard"/>
              </a:rPr>
              <a:t>도쿄 마루노우치 갭 (~40%)</a:t>
            </a:r>
          </a:p>
          <a:p>
            <a:pPr algn="l">
              <a:spcAft>
                <a:spcPts val="600"/>
              </a:spcAft>
            </a:pPr>
            <a:r>
              <a:rPr sz="1200" b="1">
                <a:solidFill>
                  <a:srgbClr val="1D1D1F"/>
                </a:solidFill>
                <a:latin typeface="Pretendard"/>
              </a:rPr>
              <a:t>+30~50%</a:t>
            </a:r>
          </a:p>
        </p:txBody>
      </p:sp>
      <p:sp>
        <p:nvSpPr>
          <p:cNvPr id="11" name="Rounded Rectangle 10"/>
          <p:cNvSpPr/>
          <p:nvPr/>
        </p:nvSpPr>
        <p:spPr>
          <a:xfrm>
            <a:off x="914400"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p:txBody>
      </p:sp>
      <p:sp>
        <p:nvSpPr>
          <p:cNvPr id="13" name="Rounded Rectangle 12"/>
          <p:cNvSpPr/>
          <p:nvPr/>
        </p:nvSpPr>
        <p:spPr>
          <a:xfrm>
            <a:off x="3596563"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764280"/>
            <a:ext cx="2042083" cy="883920"/>
          </a:xfrm>
          <a:prstGeom prst="rect">
            <a:avLst/>
          </a:prstGeom>
          <a:noFill/>
        </p:spPr>
        <p:txBody>
          <a:bodyPr wrap="square" lIns="0" rIns="0" tIns="0" bIns="0">
            <a:spAutoFit/>
          </a:bodyPr>
          <a:lstStyle/>
          <a:p>
            <a:pPr algn="l">
              <a:spcAft>
                <a:spcPts val="600"/>
              </a:spcAft>
            </a:pPr>
            <a:r>
              <a:rPr sz="1200" b="1">
                <a:solidFill>
                  <a:srgbClr val="1D1D1F"/>
                </a:solidFill>
                <a:latin typeface="Pretendard"/>
              </a:rPr>
              <a:t>Base</a:t>
            </a:r>
          </a:p>
          <a:p>
            <a:pPr algn="l">
              <a:spcAft>
                <a:spcPts val="600"/>
              </a:spcAft>
            </a:pPr>
            <a:r>
              <a:rPr sz="1200" b="1">
                <a:solidFill>
                  <a:srgbClr val="1D1D1F"/>
                </a:solidFill>
                <a:latin typeface="Pretendard"/>
              </a:rPr>
              <a:t>Seoul Avg</a:t>
            </a:r>
          </a:p>
        </p:txBody>
      </p:sp>
      <p:sp>
        <p:nvSpPr>
          <p:cNvPr id="15" name="Rounded Rectangle 14"/>
          <p:cNvSpPr/>
          <p:nvPr/>
        </p:nvSpPr>
        <p:spPr>
          <a:xfrm>
            <a:off x="6278727" y="3627120"/>
            <a:ext cx="2316403" cy="115824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764280"/>
            <a:ext cx="2042083" cy="883920"/>
          </a:xfrm>
          <a:prstGeom prst="rect">
            <a:avLst/>
          </a:prstGeom>
          <a:noFill/>
        </p:spPr>
        <p:txBody>
          <a:bodyPr wrap="square" lIns="0" rIns="0" tIns="0" bIns="0">
            <a:spAutoFit/>
          </a:bodyPr>
          <a:lstStyle/>
          <a:p/>
        </p:txBody>
      </p:sp>
      <p:sp>
        <p:nvSpPr>
          <p:cNvPr id="17" name="Rounded Rectangle 16"/>
          <p:cNvSpPr/>
          <p:nvPr/>
        </p:nvSpPr>
        <p:spPr>
          <a:xfrm>
            <a:off x="8960891"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764280"/>
            <a:ext cx="2042083" cy="883920"/>
          </a:xfrm>
          <a:prstGeom prst="rect">
            <a:avLst/>
          </a:prstGeom>
          <a:noFill/>
        </p:spPr>
        <p:txBody>
          <a:bodyPr wrap="square" lIns="0" rIns="0" tIns="0" bIns="0">
            <a:spAutoFit/>
          </a:bodyPr>
          <a:lstStyle/>
          <a:p>
            <a:pPr algn="l">
              <a:spcAft>
                <a:spcPts val="600"/>
              </a:spcAft>
            </a:pPr>
            <a:r>
              <a:rPr sz="1200" b="1">
                <a:solidFill>
                  <a:srgbClr val="1D1D1F"/>
                </a:solidFill>
                <a:latin typeface="Pretendard"/>
              </a:rPr>
              <a:t>Best Scenario</a:t>
            </a:r>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l">
              <a:spcAft>
                <a:spcPts val="600"/>
              </a:spcAft>
            </a:pPr>
            <a:r>
              <a:rPr sz="1200" b="1">
                <a:solidFill>
                  <a:srgbClr val="1D1D1F"/>
                </a:solidFill>
                <a:latin typeface="Pretendard"/>
              </a:rPr>
              <a:t>OPTION C (BASE CASE)</a:t>
            </a:r>
          </a:p>
          <a:p>
            <a:pPr algn="l">
              <a:spcAft>
                <a:spcPts val="600"/>
              </a:spcAft>
            </a:pPr>
            <a:r>
              <a:rPr sz="1800" b="1">
                <a:solidFill>
                  <a:srgbClr val="1D1D1F"/>
                </a:solidFill>
                <a:latin typeface="Pretendard"/>
              </a:rPr>
              <a:t>IOTA Office REIT IPO 분사</a:t>
            </a:r>
          </a:p>
          <a:p>
            <a:pPr algn="l">
              <a:spcAft>
                <a:spcPts val="600"/>
              </a:spcAft>
            </a:pPr>
            <a:r>
              <a:rPr sz="1200" b="1">
                <a:solidFill>
                  <a:srgbClr val="1D1D1F"/>
                </a:solidFill>
                <a:latin typeface="Pretendard"/>
              </a:rPr>
              <a:t>5~7조 원 규모의 단일 최대 리츠 상장</a:t>
            </a:r>
          </a:p>
          <a:p>
            <a:pPr algn="ctr">
              <a:spcAft>
                <a:spcPts val="600"/>
              </a:spcAft>
            </a:pPr>
            <a:r>
              <a:rPr sz="1700" b="1">
                <a:solidFill>
                  <a:srgbClr val="1D1D1F"/>
                </a:solidFill>
                <a:latin typeface="Pretendard"/>
              </a:rPr>
              <a:t>단일 최대 리츠 상장 가능성과 글로벌 자본의 초우량 엑시트 옵션 확보</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5.</a:t>
            </a:r>
          </a:p>
          <a:p>
            <a:pPr algn="ctr">
              <a:spcAft>
                <a:spcPts val="1400"/>
              </a:spcAft>
            </a:pPr>
            <a:r>
              <a:rPr sz="2400" b="1">
                <a:solidFill>
                  <a:srgbClr val="FFFFFF"/>
                </a:solidFill>
                <a:latin typeface="Pretendard"/>
              </a:rPr>
              <a:t>리스크 분석</a:t>
            </a:r>
            <a:r>
              <a:rPr sz="2400" b="1">
                <a:solidFill>
                  <a:srgbClr val="FFFFFF"/>
                </a:solidFill>
                <a:latin typeface="Pretendard"/>
              </a:rPr>
              <a:t>리스크 분석</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거시 경제 및 시장 환경</a:t>
            </a:r>
          </a:p>
          <a:p>
            <a:pPr algn="ctr"/>
            <a:r>
              <a:rPr sz="3200" b="1">
                <a:solidFill>
                  <a:srgbClr val="1D1D1F"/>
                </a:solidFill>
                <a:latin typeface="Pretendard"/>
              </a:rPr>
              <a:t>매크로 변수 및 PF 시장 유동성 리스크</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l">
              <a:spcAft>
                <a:spcPts val="600"/>
              </a:spcAft>
            </a:pPr>
            <a:r>
              <a:rPr sz="1445">
                <a:solidFill>
                  <a:srgbClr val="1D1D1F"/>
                </a:solidFill>
                <a:latin typeface="Pretendard"/>
              </a:rPr>
              <a:t>▪ 한국 기준금리 2025년 2.25~2.50% 수준에서 2026~2027 추가 인하 예상되나 급격한 인하는 제한적.</a:t>
            </a:r>
          </a:p>
          <a:p>
            <a:pPr algn="l">
              <a:spcAft>
                <a:spcPts val="600"/>
              </a:spcAft>
            </a:pPr>
            <a:r>
              <a:rPr sz="1445">
                <a:solidFill>
                  <a:srgbClr val="1D1D1F"/>
                </a:solidFill>
                <a:latin typeface="Pretendard"/>
              </a:rPr>
              <a:t>▪ PF Senior 조달 금리 6~7%에서 5~6%로 인하될 경우 IPR equity IRR 약 200~300bp 개선 효과 기대.</a:t>
            </a:r>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l">
              <a:spcAft>
                <a:spcPts val="600"/>
              </a:spcAft>
            </a:pPr>
            <a:r>
              <a:rPr sz="1445">
                <a:solidFill>
                  <a:srgbClr val="1D1D1F"/>
                </a:solidFill>
                <a:latin typeface="Pretendard"/>
              </a:rPr>
              <a:t>▪ 평당 5,000만 원 → 4,000만 원으로 하향 조정에도 불구하고 추가 변동 가능성 상존.</a:t>
            </a:r>
          </a:p>
          <a:p>
            <a:pPr algn="l">
              <a:spcAft>
                <a:spcPts val="600"/>
              </a:spcAft>
            </a:pPr>
            <a:r>
              <a:rPr sz="1445">
                <a:solidFill>
                  <a:srgbClr val="1D1D1F"/>
                </a:solidFill>
                <a:latin typeface="Pretendard"/>
              </a:rPr>
              <a:t>▪ 삼성물산·현대건설과의 단가 Lock-in이 시공 단계 핵심 통제 변수.</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a:pPr algn="l">
              <a:spcAft>
                <a:spcPts val="600"/>
              </a:spcAft>
            </a:pPr>
            <a:r>
              <a:rPr sz="1445">
                <a:solidFill>
                  <a:srgbClr val="1D1D1F"/>
                </a:solidFill>
                <a:latin typeface="Pretendard"/>
              </a:rPr>
              <a:t>▪ 2024~2025년 PF 부실 사태 후 시장 신뢰 회복 진행 중이나, 신규 대형 PF에 대한 금융권 보수성 여전.</a:t>
            </a:r>
          </a:p>
          <a:p>
            <a:pPr algn="l">
              <a:spcAft>
                <a:spcPts val="600"/>
              </a:spcAft>
            </a:pPr>
            <a:r>
              <a:rPr sz="1445">
                <a:solidFill>
                  <a:srgbClr val="1D1D1F"/>
                </a:solidFill>
                <a:latin typeface="Pretendard"/>
              </a:rPr>
              <a:t>▪ IOTA만큼 큰 초대형 PF는 단일 금융기관이 감당 불가. Club deal 신디케이션 필수.</a:t>
            </a:r>
          </a:p>
        </p:txBody>
      </p:sp>
      <p:sp>
        <p:nvSpPr>
          <p:cNvPr id="9" name="Rounded Rectangle 8"/>
          <p:cNvSpPr/>
          <p:nvPr/>
        </p:nvSpPr>
        <p:spPr>
          <a:xfrm>
            <a:off x="8960891" y="219456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RISK 1</a:t>
            </a:r>
          </a:p>
          <a:p>
            <a:pPr algn="l">
              <a:spcAft>
                <a:spcPts val="600"/>
              </a:spcAft>
            </a:pPr>
            <a:r>
              <a:rPr sz="1800" b="1">
                <a:solidFill>
                  <a:srgbClr val="1D1D1F"/>
                </a:solidFill>
                <a:latin typeface="Pretendard"/>
              </a:rPr>
              <a:t>금리 환경</a:t>
            </a:r>
          </a:p>
        </p:txBody>
      </p:sp>
      <p:sp>
        <p:nvSpPr>
          <p:cNvPr id="11" name="Rounded Rectangle 10"/>
          <p:cNvSpPr/>
          <p:nvPr/>
        </p:nvSpPr>
        <p:spPr>
          <a:xfrm>
            <a:off x="914400" y="434340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RISK 2</a:t>
            </a:r>
          </a:p>
          <a:p>
            <a:pPr algn="l">
              <a:spcAft>
                <a:spcPts val="600"/>
              </a:spcAft>
            </a:pPr>
            <a:r>
              <a:rPr sz="1800" b="1">
                <a:solidFill>
                  <a:srgbClr val="1D1D1F"/>
                </a:solidFill>
                <a:latin typeface="Pretendard"/>
              </a:rPr>
              <a:t>공사비 인플레이션</a:t>
            </a:r>
          </a:p>
        </p:txBody>
      </p:sp>
      <p:sp>
        <p:nvSpPr>
          <p:cNvPr id="13" name="Rounded Rectangle 12"/>
          <p:cNvSpPr/>
          <p:nvPr/>
        </p:nvSpPr>
        <p:spPr>
          <a:xfrm>
            <a:off x="3596563" y="434340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448056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RISK 3</a:t>
            </a:r>
          </a:p>
          <a:p>
            <a:pPr algn="l">
              <a:spcAft>
                <a:spcPts val="600"/>
              </a:spcAft>
            </a:pPr>
            <a:r>
              <a:rPr sz="1800" b="1">
                <a:solidFill>
                  <a:srgbClr val="1D1D1F"/>
                </a:solidFill>
                <a:latin typeface="Pretendard"/>
              </a:rPr>
              <a:t>PF 시장 유동성</a:t>
            </a:r>
          </a:p>
        </p:txBody>
      </p:sp>
      <p:sp>
        <p:nvSpPr>
          <p:cNvPr id="15" name="Rounded Rectangle 14"/>
          <p:cNvSpPr/>
          <p:nvPr/>
        </p:nvSpPr>
        <p:spPr>
          <a:xfrm>
            <a:off x="627872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매크로 불확실성에 대응하는 철저한 금리/원가 통제 및 펀딩 구조 다각화</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정치·규제 및 자산 운영</a:t>
            </a:r>
          </a:p>
          <a:p>
            <a:pPr algn="ctr"/>
            <a:r>
              <a:rPr sz="3200" b="1">
                <a:solidFill>
                  <a:srgbClr val="1D1D1F"/>
                </a:solidFill>
                <a:latin typeface="Pretendard"/>
              </a:rPr>
              <a:t>인허가 변수 및 앵커 임차인 확보 리스크</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 서울시 도시계획위원회 정비계획안 승인은 확보(2023.11). 그러나 향후 인허가·환경·교통영향평가·문화재 단계 잔여.</a:t>
            </a:r>
          </a:p>
          <a:p>
            <a:pPr algn="l">
              <a:spcAft>
                <a:spcPts val="600"/>
              </a:spcAft>
            </a:pPr>
            <a:r>
              <a:rPr sz="1530">
                <a:solidFill>
                  <a:srgbClr val="1D1D1F"/>
                </a:solidFill>
                <a:latin typeface="Pretendard"/>
              </a:rPr>
              <a:t>▪ 정권이나 서울시장 교체 시 도시계획 변동 가능성.</a:t>
            </a:r>
          </a:p>
          <a:p>
            <a:pPr algn="l">
              <a:spcAft>
                <a:spcPts val="600"/>
              </a:spcAft>
            </a:pPr>
            <a:r>
              <a:rPr sz="1530">
                <a:solidFill>
                  <a:srgbClr val="1D1D1F"/>
                </a:solidFill>
                <a:latin typeface="Pretendard"/>
              </a:rPr>
              <a:t>핵심 요구사항 향후 이재명 정부 후반기(2027~2030)의 부동산·도시계획 기조와의 철저한 Alignment 필요.</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 삼성물산 마스터리스 75% 확약 및 리츠칼튼 호텔 운영 협약은 큰 진전이나, 삼성물산 확약 연장 협상이 본PF 전환의 변수.</a:t>
            </a:r>
          </a:p>
          <a:p>
            <a:pPr algn="l">
              <a:spcAft>
                <a:spcPts val="600"/>
              </a:spcAft>
            </a:pPr>
            <a:r>
              <a:rPr sz="1530">
                <a:solidFill>
                  <a:srgbClr val="1D1D1F"/>
                </a:solidFill>
                <a:latin typeface="Pretendard"/>
              </a:rPr>
              <a:t>Trophy Positioning의 핵심 오피스 잔여 25% 이상 공간에 대한 글로벌 다국적 본사(Google Korea, Microsoft Korea, Amazon Korea 등) 유치.</a:t>
            </a:r>
          </a:p>
        </p:txBody>
      </p:sp>
      <p:sp>
        <p:nvSpPr>
          <p:cNvPr id="7" name="Rounded Rectangle 6"/>
          <p:cNvSpPr/>
          <p:nvPr/>
        </p:nvSpPr>
        <p:spPr>
          <a:xfrm>
            <a:off x="8066836" y="219456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RISK 4</a:t>
            </a:r>
          </a:p>
          <a:p>
            <a:pPr algn="l">
              <a:spcAft>
                <a:spcPts val="600"/>
              </a:spcAft>
            </a:pPr>
            <a:r>
              <a:rPr sz="1800" b="1">
                <a:solidFill>
                  <a:srgbClr val="1D1D1F"/>
                </a:solidFill>
                <a:latin typeface="Pretendard"/>
              </a:rPr>
              <a:t>규제 및 정치 변수</a:t>
            </a:r>
          </a:p>
        </p:txBody>
      </p:sp>
      <p:sp>
        <p:nvSpPr>
          <p:cNvPr id="9" name="Rounded Rectangle 8"/>
          <p:cNvSpPr/>
          <p:nvPr/>
        </p:nvSpPr>
        <p:spPr>
          <a:xfrm>
            <a:off x="914400" y="434340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RISK 5</a:t>
            </a:r>
          </a:p>
          <a:p>
            <a:pPr algn="l">
              <a:spcAft>
                <a:spcPts val="600"/>
              </a:spcAft>
            </a:pPr>
            <a:r>
              <a:rPr sz="1800" b="1">
                <a:solidFill>
                  <a:srgbClr val="1D1D1F"/>
                </a:solidFill>
                <a:latin typeface="Pretendard"/>
              </a:rPr>
              <a:t>앵커 임차인 확보</a:t>
            </a:r>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정권·정책 변화에 유연하게 대응하고, 글로벌 앵커 테넌트로 자산 가치 극대화</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글로벌 자본 및 거버넌스</a:t>
            </a:r>
          </a:p>
          <a:p>
            <a:pPr algn="ctr"/>
            <a:r>
              <a:rPr sz="3200" b="1">
                <a:solidFill>
                  <a:srgbClr val="1D1D1F"/>
                </a:solidFill>
                <a:latin typeface="Pretendard"/>
              </a:rPr>
              <a:t>외국인 자본 참여 및 지배구조 매각 리스크</a:t>
            </a:r>
          </a:p>
        </p:txBody>
      </p:sp>
      <p:sp>
        <p:nvSpPr>
          <p:cNvPr id="3" name="Rounded Rectangle 2"/>
          <p:cNvSpPr/>
          <p:nvPr/>
        </p:nvSpPr>
        <p:spPr>
          <a:xfrm>
            <a:off x="914400"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 IPR Equity에 글로벌 LP가 명시적으로 들어와야 Trophy 의미가 완성됨.</a:t>
            </a:r>
          </a:p>
          <a:p>
            <a:pPr algn="l">
              <a:spcAft>
                <a:spcPts val="600"/>
              </a:spcAft>
            </a:pPr>
            <a:r>
              <a:rPr sz="1530">
                <a:solidFill>
                  <a:srgbClr val="1D1D1F"/>
                </a:solidFill>
                <a:latin typeface="Pretendard"/>
              </a:rPr>
              <a:t>전략적 마일스톤 (Strategic Milestone) 2026년 12월 클로징 시점까지 최소 1~2개 글로벌 SWF/연기금 LP 확보</a:t>
            </a:r>
          </a:p>
        </p:txBody>
      </p:sp>
      <p:sp>
        <p:nvSpPr>
          <p:cNvPr id="5" name="Rounded Rectangle 4"/>
          <p:cNvSpPr/>
          <p:nvPr/>
        </p:nvSpPr>
        <p:spPr>
          <a:xfrm>
            <a:off x="4490618" y="219456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27778" y="2331720"/>
            <a:ext cx="2936138" cy="1600200"/>
          </a:xfrm>
          <a:prstGeom prst="rect">
            <a:avLst/>
          </a:prstGeom>
          <a:noFill/>
        </p:spPr>
        <p:txBody>
          <a:bodyPr wrap="square" lIns="0" rIns="0" tIns="0" bIns="0">
            <a:spAutoFit/>
          </a:bodyPr>
          <a:lstStyle/>
          <a:p>
            <a:pPr algn="l">
              <a:spcAft>
                <a:spcPts val="600"/>
              </a:spcAft>
            </a:pPr>
            <a:r>
              <a:rPr sz="1530">
                <a:solidFill>
                  <a:srgbClr val="1D1D1F"/>
                </a:solidFill>
                <a:latin typeface="Pretendard"/>
              </a:rPr>
              <a:t>▪ 이지스 지배지분 매각 진행 중. 새 대주주의 IOTA 프로젝트에 대한 Commitment 확약이 LP 신뢰에 결정적 역할.</a:t>
            </a:r>
          </a:p>
          <a:p>
            <a:pPr algn="l">
              <a:spcAft>
                <a:spcPts val="600"/>
              </a:spcAft>
            </a:pPr>
            <a:r>
              <a:rPr sz="1530">
                <a:solidFill>
                  <a:srgbClr val="1D1D1F"/>
                </a:solidFill>
                <a:latin typeface="Pretendard"/>
              </a:rPr>
              <a:t>▪ 인수자 선정 일정과 IPR 클로징 일정 간의 완벽한 시간적 Alignment가 매우 중요.</a:t>
            </a:r>
          </a:p>
        </p:txBody>
      </p:sp>
      <p:sp>
        <p:nvSpPr>
          <p:cNvPr id="7" name="Rounded Rectangle 6"/>
          <p:cNvSpPr/>
          <p:nvPr/>
        </p:nvSpPr>
        <p:spPr>
          <a:xfrm>
            <a:off x="8066836" y="219456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3996" y="233172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RISK 6</a:t>
            </a:r>
          </a:p>
          <a:p>
            <a:pPr algn="l">
              <a:spcAft>
                <a:spcPts val="600"/>
              </a:spcAft>
            </a:pPr>
            <a:r>
              <a:rPr sz="1800" b="1">
                <a:solidFill>
                  <a:srgbClr val="1D1D1F"/>
                </a:solidFill>
                <a:latin typeface="Pretendard"/>
              </a:rPr>
              <a:t>외국인 자본 참여</a:t>
            </a:r>
          </a:p>
        </p:txBody>
      </p:sp>
      <p:sp>
        <p:nvSpPr>
          <p:cNvPr id="9" name="Rounded Rectangle 8"/>
          <p:cNvSpPr/>
          <p:nvPr/>
        </p:nvSpPr>
        <p:spPr>
          <a:xfrm>
            <a:off x="914400" y="4343400"/>
            <a:ext cx="3210458"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480560"/>
            <a:ext cx="2936138"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RISK 7</a:t>
            </a:r>
          </a:p>
          <a:p>
            <a:pPr algn="l">
              <a:spcAft>
                <a:spcPts val="600"/>
              </a:spcAft>
            </a:pPr>
            <a:r>
              <a:rPr sz="1800" b="1">
                <a:solidFill>
                  <a:srgbClr val="1D1D1F"/>
                </a:solidFill>
                <a:latin typeface="Pretendard"/>
              </a:rPr>
              <a:t>거버넌스 리스크</a:t>
            </a:r>
          </a:p>
        </p:txBody>
      </p:sp>
      <p:sp>
        <p:nvSpPr>
          <p:cNvPr id="11" name="Rounded Rectangle 10"/>
          <p:cNvSpPr/>
          <p:nvPr/>
        </p:nvSpPr>
        <p:spPr>
          <a:xfrm>
            <a:off x="4490618" y="4343400"/>
            <a:ext cx="3210458"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7778" y="4480560"/>
            <a:ext cx="2936138"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글로벌 자본 유치와 안정적 거버넌스 확립을 통한 IPR 클로징 완성</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6.</a:t>
            </a:r>
          </a:p>
          <a:p>
            <a:pPr algn="ctr">
              <a:spcAft>
                <a:spcPts val="1400"/>
              </a:spcAft>
            </a:pPr>
            <a:r>
              <a:rPr sz="2400" b="1">
                <a:solidFill>
                  <a:srgbClr val="FFFFFF"/>
                </a:solidFill>
                <a:latin typeface="Pretendard"/>
              </a:rPr>
              <a:t>IOTA가 가진 역사적 상징성</a:t>
            </a:r>
            <a:r>
              <a:rPr sz="2400" b="1">
                <a:solidFill>
                  <a:srgbClr val="FFFFFF"/>
                </a:solidFill>
                <a:latin typeface="Pretendard"/>
              </a:rPr>
              <a:t>IOTA가 가진 역사적 상징성</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4대 변곡점과 IOTA</a:t>
            </a:r>
          </a:p>
          <a:p>
            <a:pPr algn="ctr"/>
            <a:r>
              <a:rPr sz="3200" b="1">
                <a:solidFill>
                  <a:srgbClr val="1D1D1F"/>
                </a:solidFill>
                <a:latin typeface="Pretendard"/>
              </a:rPr>
              <a:t>1조 → 2조 달러 시대를 정의하는 새로운 트로피</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1조 → 2조 달러 시대의 마침표</a:t>
            </a:r>
          </a:p>
          <a:p>
            <a:pPr algn="l">
              <a:spcAft>
                <a:spcPts val="600"/>
              </a:spcAft>
            </a:pPr>
            <a:r>
              <a:rPr sz="1800" b="1">
                <a:solidFill>
                  <a:srgbClr val="1D1D1F"/>
                </a:solidFill>
                <a:latin typeface="Pretendard"/>
              </a:rPr>
              <a:t>새로운 랜드마크의 탄생</a:t>
            </a:r>
          </a:p>
          <a:p>
            <a:pPr algn="l">
              <a:spcAft>
                <a:spcPts val="600"/>
              </a:spcAft>
            </a:pPr>
            <a:r>
              <a:rPr sz="1530">
                <a:solidFill>
                  <a:srgbClr val="1D1D1F"/>
                </a:solidFill>
                <a:latin typeface="Pretendard"/>
              </a:rPr>
              <a:t>대한민국이 4대 변곡점을 지나며 맞이하는 새로운 시대. IOTA는 한국이 단일 빌딩 개발을 넘어 블록 스케일의 도시 개발로 도약하는 상징적 전환점</a:t>
            </a:r>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l">
              <a:spcAft>
                <a:spcPts val="600"/>
              </a:spcAft>
            </a:pPr>
            <a:r>
              <a:rPr sz="1700" b="1">
                <a:solidFill>
                  <a:srgbClr val="1D1D1F"/>
                </a:solidFill>
                <a:latin typeface="Pretendard"/>
              </a:rPr>
              <a:t>글로벌 패권과 시대적 변곡점</a:t>
            </a:r>
          </a:p>
          <a:p>
            <a:pPr algn="l">
              <a:spcAft>
                <a:spcPts val="600"/>
              </a:spcAft>
            </a:pPr>
            <a:r>
              <a:rPr sz="1530" b="1">
                <a:solidFill>
                  <a:srgbClr val="1D1D1F"/>
                </a:solidFill>
                <a:latin typeface="Pretendard"/>
              </a:rPr>
              <a:t>산업혁명</a:t>
            </a:r>
          </a:p>
          <a:p>
            <a:pPr algn="l">
              <a:spcAft>
                <a:spcPts val="600"/>
              </a:spcAft>
            </a:pPr>
            <a:r>
              <a:rPr sz="1360">
                <a:solidFill>
                  <a:srgbClr val="1D1D1F"/>
                </a:solidFill>
                <a:latin typeface="Pretendard"/>
              </a:rPr>
              <a:t>증기기관 → 단일 기술 변곡점이 글로벌 패권 형성</a:t>
            </a:r>
          </a:p>
        </p:txBody>
      </p:sp>
      <p:sp>
        <p:nvSpPr>
          <p:cNvPr id="9" name="Rounded Rectangle 8"/>
          <p:cNvSpPr/>
          <p:nvPr/>
        </p:nvSpPr>
        <p:spPr>
          <a:xfrm>
            <a:off x="8960891"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18C</a:t>
            </a:r>
          </a:p>
        </p:txBody>
      </p:sp>
      <p:sp>
        <p:nvSpPr>
          <p:cNvPr id="11" name="Rounded Rectangle 10"/>
          <p:cNvSpPr/>
          <p:nvPr/>
        </p:nvSpPr>
        <p:spPr>
          <a:xfrm>
            <a:off x="914400"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냉전기 (미·소)</a:t>
            </a:r>
          </a:p>
          <a:p>
            <a:pPr algn="l">
              <a:spcAft>
                <a:spcPts val="600"/>
              </a:spcAft>
            </a:pPr>
            <a:r>
              <a:rPr sz="1275">
                <a:solidFill>
                  <a:srgbClr val="1D1D1F"/>
                </a:solidFill>
                <a:latin typeface="Pretendard"/>
              </a:rPr>
              <a:t>핵무기·우주산업 → 새로운 지정학 형성</a:t>
            </a:r>
          </a:p>
        </p:txBody>
      </p:sp>
      <p:sp>
        <p:nvSpPr>
          <p:cNvPr id="13" name="Rounded Rectangle 12"/>
          <p:cNvSpPr/>
          <p:nvPr/>
        </p:nvSpPr>
        <p:spPr>
          <a:xfrm>
            <a:off x="3596563"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76428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20C</a:t>
            </a:r>
          </a:p>
        </p:txBody>
      </p:sp>
      <p:sp>
        <p:nvSpPr>
          <p:cNvPr id="15" name="Rounded Rectangle 14"/>
          <p:cNvSpPr/>
          <p:nvPr/>
        </p:nvSpPr>
        <p:spPr>
          <a:xfrm>
            <a:off x="627872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764280"/>
            <a:ext cx="2042083" cy="883920"/>
          </a:xfrm>
          <a:prstGeom prst="rect">
            <a:avLst/>
          </a:prstGeom>
          <a:noFill/>
        </p:spPr>
        <p:txBody>
          <a:bodyPr wrap="square" lIns="0" rIns="0" tIns="0" bIns="0">
            <a:spAutoFit/>
          </a:bodyPr>
          <a:lstStyle/>
          <a:p>
            <a:pPr algn="l">
              <a:spcAft>
                <a:spcPts val="600"/>
              </a:spcAft>
            </a:pPr>
            <a:r>
              <a:rPr sz="1530" b="1">
                <a:solidFill>
                  <a:srgbClr val="1D1D1F"/>
                </a:solidFill>
                <a:latin typeface="Pretendard"/>
              </a:rPr>
              <a:t>단순한 자산 가치를 넘어 국가 경제의 스케일업을 증명할 거대한 패러다임 시프트의 최전선</a:t>
            </a:r>
          </a:p>
        </p:txBody>
      </p:sp>
      <p:sp>
        <p:nvSpPr>
          <p:cNvPr id="17" name="Rounded Rectangle 16"/>
          <p:cNvSpPr/>
          <p:nvPr/>
        </p:nvSpPr>
        <p:spPr>
          <a:xfrm>
            <a:off x="8960891"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764280"/>
            <a:ext cx="2042083" cy="883920"/>
          </a:xfrm>
          <a:prstGeom prst="rect">
            <a:avLst/>
          </a:prstGeom>
          <a:noFill/>
        </p:spPr>
        <p:txBody>
          <a:bodyPr wrap="square" lIns="0" rIns="0" tIns="0" bIns="0">
            <a:spAutoFit/>
          </a:bodyPr>
          <a:lstStyle/>
          <a:p>
            <a:pPr algn="l">
              <a:spcAft>
                <a:spcPts val="600"/>
              </a:spcAft>
            </a:pPr>
            <a:r>
              <a:rPr sz="1700" b="1">
                <a:solidFill>
                  <a:srgbClr val="1D1D1F"/>
                </a:solidFill>
                <a:latin typeface="Pretendard"/>
              </a:rPr>
              <a:t>대한민국 4대 변곡점</a:t>
            </a:r>
          </a:p>
          <a:p>
            <a:pPr algn="l">
              <a:spcAft>
                <a:spcPts val="600"/>
              </a:spcAft>
            </a:pPr>
            <a:r>
              <a:rPr sz="1530" b="1">
                <a:solidFill>
                  <a:srgbClr val="1D1D1F"/>
                </a:solidFill>
                <a:latin typeface="Pretendard"/>
              </a:rPr>
              <a:t>AI · 반도체 · 문화 · 인구</a:t>
            </a:r>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l">
              <a:spcAft>
                <a:spcPts val="600"/>
              </a:spcAft>
            </a:pPr>
            <a:r>
              <a:rPr sz="1360" b="1">
                <a:solidFill>
                  <a:srgbClr val="1D1D1F"/>
                </a:solidFill>
                <a:latin typeface="Pretendard"/>
              </a:rPr>
              <a:t>21C</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도심 권역의 장기 Stewardship 모델</a:t>
            </a:r>
          </a:p>
          <a:p>
            <a:pPr algn="ctr"/>
            <a:r>
              <a:rPr sz="3200" b="1">
                <a:solidFill>
                  <a:srgbClr val="1D1D1F"/>
                </a:solidFill>
                <a:latin typeface="Pretendard"/>
              </a:rPr>
              <a:t>단순 ROI를 넘어 세대를 건너는 자본 순환의 시작</a:t>
            </a:r>
          </a:p>
        </p:txBody>
      </p:sp>
      <p:sp>
        <p:nvSpPr>
          <p:cNvPr id="3" name="Rounded Rectangle 2"/>
          <p:cNvSpPr/>
          <p:nvPr/>
        </p:nvSpPr>
        <p:spPr>
          <a:xfrm>
            <a:off x="914400"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King's Cross</a:t>
            </a:r>
          </a:p>
          <a:p>
            <a:pPr algn="ctr">
              <a:spcAft>
                <a:spcPts val="600"/>
              </a:spcAft>
            </a:pPr>
            <a:r>
              <a:rPr sz="1360">
                <a:solidFill>
                  <a:srgbClr val="1D1D1F"/>
                </a:solidFill>
                <a:latin typeface="Pretendard"/>
              </a:rPr>
              <a:t>아르젠트(Argent)</a:t>
            </a:r>
          </a:p>
        </p:txBody>
      </p:sp>
      <p:sp>
        <p:nvSpPr>
          <p:cNvPr id="5" name="Rounded Rectangle 4"/>
          <p:cNvSpPr/>
          <p:nvPr/>
        </p:nvSpPr>
        <p:spPr>
          <a:xfrm>
            <a:off x="3596563"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세대를 건너는 CAPITAL CYCLE</a:t>
            </a:r>
          </a:p>
          <a:p>
            <a:pPr algn="l">
              <a:spcAft>
                <a:spcPts val="600"/>
              </a:spcAft>
            </a:pPr>
            <a:r>
              <a:rPr sz="1800" b="1">
                <a:solidFill>
                  <a:srgbClr val="1D1D1F"/>
                </a:solidFill>
                <a:latin typeface="Pretendard"/>
              </a:rPr>
              <a:t>도시와 자본의 상생</a:t>
            </a:r>
          </a:p>
          <a:p>
            <a:pPr algn="l">
              <a:spcAft>
                <a:spcPts val="600"/>
              </a:spcAft>
            </a:pPr>
            <a:r>
              <a:rPr sz="1700">
                <a:solidFill>
                  <a:srgbClr val="1D1D1F"/>
                </a:solidFill>
                <a:latin typeface="Pretendard"/>
              </a:rPr>
              <a:t>단순히 건물을 짓고 파는 모델이 아닌, 30년~50년에 걸쳐 도심 공간을 지속적으로 관리하고 진화시키는 장기 Stewardship 모델</a:t>
            </a:r>
          </a:p>
        </p:txBody>
      </p:sp>
      <p:sp>
        <p:nvSpPr>
          <p:cNvPr id="7" name="Rounded Rectangle 6"/>
          <p:cNvSpPr/>
          <p:nvPr/>
        </p:nvSpPr>
        <p:spPr>
          <a:xfrm>
            <a:off x="6278727"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마루노우치</a:t>
            </a:r>
          </a:p>
          <a:p>
            <a:pPr algn="ctr">
              <a:spcAft>
                <a:spcPts val="600"/>
              </a:spcAft>
            </a:pPr>
            <a:r>
              <a:rPr sz="1360">
                <a:solidFill>
                  <a:srgbClr val="1D1D1F"/>
                </a:solidFill>
                <a:latin typeface="Pretendard"/>
              </a:rPr>
              <a:t>미츠비시 지소 주도</a:t>
            </a:r>
          </a:p>
        </p:txBody>
      </p:sp>
      <p:sp>
        <p:nvSpPr>
          <p:cNvPr id="9" name="Rounded Rectangle 8"/>
          <p:cNvSpPr/>
          <p:nvPr/>
        </p:nvSpPr>
        <p:spPr>
          <a:xfrm>
            <a:off x="8960891" y="219456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883920"/>
          </a:xfrm>
          <a:prstGeom prst="rect">
            <a:avLst/>
          </a:prstGeom>
          <a:noFill/>
        </p:spPr>
        <p:txBody>
          <a:bodyPr wrap="square" lIns="0" rIns="0" tIns="0" bIns="0">
            <a:spAutoFit/>
          </a:bodyPr>
          <a:lstStyle/>
          <a:p/>
        </p:txBody>
      </p:sp>
      <p:sp>
        <p:nvSpPr>
          <p:cNvPr id="11" name="Rounded Rectangle 10"/>
          <p:cNvSpPr/>
          <p:nvPr/>
        </p:nvSpPr>
        <p:spPr>
          <a:xfrm>
            <a:off x="914400"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64280"/>
            <a:ext cx="2042083" cy="883920"/>
          </a:xfrm>
          <a:prstGeom prst="rect">
            <a:avLst/>
          </a:prstGeom>
          <a:noFill/>
        </p:spPr>
        <p:txBody>
          <a:bodyPr wrap="square" lIns="0" rIns="0" tIns="0" bIns="0">
            <a:spAutoFit/>
          </a:bodyPr>
          <a:lstStyle/>
          <a:p>
            <a:pPr algn="ctr">
              <a:spcAft>
                <a:spcPts val="600"/>
              </a:spcAft>
            </a:pPr>
            <a:r>
              <a:rPr sz="1700" b="1">
                <a:solidFill>
                  <a:srgbClr val="1D1D1F"/>
                </a:solidFill>
                <a:latin typeface="Pretendard"/>
              </a:rPr>
              <a:t>Hudson Yards</a:t>
            </a:r>
          </a:p>
          <a:p>
            <a:pPr algn="ctr">
              <a:spcAft>
                <a:spcPts val="600"/>
              </a:spcAft>
            </a:pPr>
            <a:r>
              <a:rPr sz="1360">
                <a:solidFill>
                  <a:srgbClr val="1D1D1F"/>
                </a:solidFill>
                <a:latin typeface="Pretendard"/>
              </a:rPr>
              <a:t>릴레이티드</a:t>
            </a:r>
          </a:p>
        </p:txBody>
      </p:sp>
      <p:sp>
        <p:nvSpPr>
          <p:cNvPr id="13" name="Rounded Rectangle 12"/>
          <p:cNvSpPr/>
          <p:nvPr/>
        </p:nvSpPr>
        <p:spPr>
          <a:xfrm>
            <a:off x="3596563"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723" y="3764280"/>
            <a:ext cx="2042083" cy="88392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TOKYO</a:t>
            </a:r>
          </a:p>
        </p:txBody>
      </p:sp>
      <p:sp>
        <p:nvSpPr>
          <p:cNvPr id="15" name="Rounded Rectangle 14"/>
          <p:cNvSpPr/>
          <p:nvPr/>
        </p:nvSpPr>
        <p:spPr>
          <a:xfrm>
            <a:off x="6278727"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5887" y="3764280"/>
            <a:ext cx="2042083" cy="88392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단일 디벨로퍼의 30~50년 권역 마스터플랜 사례</a:t>
            </a:r>
          </a:p>
          <a:p>
            <a:pPr algn="ctr">
              <a:spcAft>
                <a:spcPts val="600"/>
              </a:spcAft>
            </a:pPr>
            <a:r>
              <a:rPr sz="1530" b="1">
                <a:solidFill>
                  <a:srgbClr val="1D1D1F"/>
                </a:solidFill>
                <a:latin typeface="Pretendard"/>
              </a:rPr>
              <a:t>LONDON</a:t>
            </a:r>
          </a:p>
        </p:txBody>
      </p:sp>
      <p:sp>
        <p:nvSpPr>
          <p:cNvPr id="17" name="Rounded Rectangle 16"/>
          <p:cNvSpPr/>
          <p:nvPr/>
        </p:nvSpPr>
        <p:spPr>
          <a:xfrm>
            <a:off x="8960891" y="362712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051" y="3764280"/>
            <a:ext cx="2042083" cy="883920"/>
          </a:xfrm>
          <a:prstGeom prst="rect">
            <a:avLst/>
          </a:prstGeom>
          <a:noFill/>
        </p:spPr>
        <p:txBody>
          <a:bodyPr wrap="square" lIns="0" rIns="0" tIns="0" bIns="0">
            <a:spAutoFit/>
          </a:bodyPr>
          <a:lstStyle/>
          <a:p>
            <a:pPr algn="ctr">
              <a:spcAft>
                <a:spcPts val="600"/>
              </a:spcAft>
            </a:pPr>
            <a:r>
              <a:rPr sz="1530" b="1">
                <a:solidFill>
                  <a:srgbClr val="1D1D1F"/>
                </a:solidFill>
                <a:latin typeface="Pretendard"/>
              </a:rPr>
              <a:t>NY</a:t>
            </a:r>
          </a:p>
        </p:txBody>
      </p:sp>
      <p:sp>
        <p:nvSpPr>
          <p:cNvPr id="19" name="Rounded Rectangle 18"/>
          <p:cNvSpPr/>
          <p:nvPr/>
        </p:nvSpPr>
        <p:spPr>
          <a:xfrm>
            <a:off x="914400"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196840"/>
            <a:ext cx="2042083" cy="883920"/>
          </a:xfrm>
          <a:prstGeom prst="rect">
            <a:avLst/>
          </a:prstGeom>
          <a:noFill/>
        </p:spPr>
        <p:txBody>
          <a:bodyPr wrap="square" lIns="0" rIns="0" tIns="0" bIns="0">
            <a:spAutoFit/>
          </a:bodyPr>
          <a:lstStyle/>
          <a:p>
            <a:pPr algn="l">
              <a:spcAft>
                <a:spcPts val="600"/>
              </a:spcAft>
            </a:pPr>
            <a:r>
              <a:rPr sz="1700" b="1">
                <a:solidFill>
                  <a:srgbClr val="1D1D1F"/>
                </a:solidFill>
                <a:latin typeface="Pretendard"/>
              </a:rPr>
              <a:t>뉴욕 릴레이티드나 런던 아르젠트처럼, IOTA는 이지스가 단순한 개발 주체를 넘어 서울을 관리하는 장기적인 파트너로 거듭나는 시발점</a:t>
            </a:r>
          </a:p>
        </p:txBody>
      </p:sp>
      <p:sp>
        <p:nvSpPr>
          <p:cNvPr id="21" name="Rounded Rectangle 20"/>
          <p:cNvSpPr/>
          <p:nvPr/>
        </p:nvSpPr>
        <p:spPr>
          <a:xfrm>
            <a:off x="3596563" y="5059680"/>
            <a:ext cx="2316403" cy="115824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33723" y="5196840"/>
            <a:ext cx="2042083" cy="883920"/>
          </a:xfrm>
          <a:prstGeom prst="rect">
            <a:avLst/>
          </a:prstGeom>
          <a:noFill/>
        </p:spPr>
        <p:txBody>
          <a:bodyPr wrap="square" lIns="0" rIns="0" tIns="0" bIns="0">
            <a:spAutoFit/>
          </a:bodyPr>
          <a:lstStyle/>
          <a:p>
            <a:pPr algn="ctr">
              <a:spcAft>
                <a:spcPts val="600"/>
              </a:spcAft>
            </a:pPr>
            <a:r>
              <a:rPr sz="1275" b="1">
                <a:solidFill>
                  <a:srgbClr val="1D1D1F"/>
                </a:solidFill>
                <a:latin typeface="Pretendard"/>
              </a:rPr>
              <a:t>GLOBAL COMMON PATTERN</a:t>
            </a:r>
          </a:p>
          <a:p>
            <a:pPr algn="ctr">
              <a:spcAft>
                <a:spcPts val="600"/>
              </a:spcAft>
            </a:pPr>
            <a:r>
              <a:rPr sz="1530" b="1">
                <a:solidFill>
                  <a:srgbClr val="1D1D1F"/>
                </a:solidFill>
                <a:latin typeface="Pretendard"/>
              </a:rPr>
              <a:t>한 운용사·디벨로퍼가 한 도시의 권역을 세대에 걸쳐 Stewardship</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상징성 및 강력한 브랜드 파급력</a:t>
            </a:r>
          </a:p>
          <a:p>
            <a:pPr algn="ctr"/>
            <a:r>
              <a:rPr sz="3200" b="1">
                <a:solidFill>
                  <a:srgbClr val="1D1D1F"/>
                </a:solidFill>
                <a:latin typeface="Pretendard"/>
              </a:rPr>
              <a:t>단일 빌딩을 넘어 서울의 정체성을 정의하는 랜드마크</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p:txBody>
      </p:sp>
      <p:sp>
        <p:nvSpPr>
          <p:cNvPr id="5" name="Rounded Rectangle 4"/>
          <p:cNvSpPr/>
          <p:nvPr/>
        </p:nvSpPr>
        <p:spPr>
          <a:xfrm>
            <a:off x="3596563"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33723" y="233172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도시 브랜드 파급력</a:t>
            </a:r>
          </a:p>
          <a:p>
            <a:pPr algn="l">
              <a:spcAft>
                <a:spcPts val="600"/>
              </a:spcAft>
            </a:pPr>
            <a:r>
              <a:rPr sz="1700">
                <a:solidFill>
                  <a:srgbClr val="1D1D1F"/>
                </a:solidFill>
                <a:latin typeface="Pretendard"/>
              </a:rPr>
              <a:t>향후 50년 후 한국이 4~5조 달러 경제로 도약할 때, IOTA는 도쿄 미드타운이나 록폰기 힐스가 만든 강력한 도시 브랜드 이펙트와 동급의 상징물</a:t>
            </a:r>
          </a:p>
        </p:txBody>
      </p:sp>
      <p:sp>
        <p:nvSpPr>
          <p:cNvPr id="7" name="Rounded Rectangle 6"/>
          <p:cNvSpPr/>
          <p:nvPr/>
        </p:nvSpPr>
        <p:spPr>
          <a:xfrm>
            <a:off x="6278727"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5887" y="233172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IOTA</a:t>
            </a:r>
          </a:p>
          <a:p>
            <a:pPr algn="ctr">
              <a:spcAft>
                <a:spcPts val="600"/>
              </a:spcAft>
            </a:pPr>
            <a:r>
              <a:rPr sz="1530" b="1">
                <a:solidFill>
                  <a:srgbClr val="1D1D1F"/>
                </a:solidFill>
                <a:latin typeface="Pretendard"/>
              </a:rPr>
              <a:t>향후 50년, 서울의 정체성을 정의하는 랜드마크</a:t>
            </a:r>
          </a:p>
        </p:txBody>
      </p:sp>
      <p:sp>
        <p:nvSpPr>
          <p:cNvPr id="9" name="Rounded Rectangle 8"/>
          <p:cNvSpPr/>
          <p:nvPr/>
        </p:nvSpPr>
        <p:spPr>
          <a:xfrm>
            <a:off x="8960891"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051" y="2331720"/>
            <a:ext cx="2042083" cy="1600200"/>
          </a:xfrm>
          <a:prstGeom prst="rect">
            <a:avLst/>
          </a:prstGeom>
          <a:noFill/>
        </p:spPr>
        <p:txBody>
          <a:bodyPr wrap="square" lIns="0" rIns="0" tIns="0" bIns="0">
            <a:spAutoFit/>
          </a:bodyPr>
          <a:lstStyle/>
          <a:p>
            <a:pPr algn="l">
              <a:spcAft>
                <a:spcPts val="600"/>
              </a:spcAft>
            </a:pPr>
            <a:r>
              <a:rPr sz="1530" b="1">
                <a:solidFill>
                  <a:srgbClr val="1D1D1F"/>
                </a:solidFill>
                <a:latin typeface="Pretendard"/>
              </a:rPr>
              <a:t>3조 → 4~5조 달러 경제 도약기</a:t>
            </a:r>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l">
              <a:spcAft>
                <a:spcPts val="600"/>
              </a:spcAft>
            </a:pPr>
            <a:r>
              <a:rPr sz="1530" b="1">
                <a:solidFill>
                  <a:srgbClr val="1D1D1F"/>
                </a:solidFill>
                <a:latin typeface="Pretendard"/>
              </a:rPr>
              <a:t>1조 달러 시대</a:t>
            </a:r>
          </a:p>
          <a:p>
            <a:pPr algn="ctr">
              <a:spcAft>
                <a:spcPts val="600"/>
              </a:spcAft>
            </a:pPr>
            <a:r>
              <a:rPr sz="1800" b="1">
                <a:solidFill>
                  <a:srgbClr val="1D1D1F"/>
                </a:solidFill>
                <a:latin typeface="Pretendard"/>
              </a:rPr>
              <a:t>IFC</a:t>
            </a:r>
          </a:p>
          <a:p>
            <a:pPr algn="ctr">
              <a:spcAft>
                <a:spcPts val="600"/>
              </a:spcAft>
            </a:pPr>
            <a:r>
              <a:rPr sz="1275">
                <a:solidFill>
                  <a:srgbClr val="1D1D1F"/>
                </a:solidFill>
                <a:latin typeface="Pretendard"/>
              </a:rPr>
              <a:t>단일 빌딩 한계</a:t>
            </a:r>
            <a:r>
              <a:t>       </a:t>
            </a:r>
            <a:r>
              <a:rPr sz="1800" b="1">
                <a:solidFill>
                  <a:srgbClr val="1D1D1F"/>
                </a:solidFill>
                <a:latin typeface="Pretendard"/>
              </a:rPr>
              <a:t>→</a:t>
            </a:r>
          </a:p>
        </p:txBody>
      </p:sp>
      <p:sp>
        <p:nvSpPr>
          <p:cNvPr id="13" name="Rounded Rectangle 12"/>
          <p:cNvSpPr/>
          <p:nvPr/>
        </p:nvSpPr>
        <p:spPr>
          <a:xfrm>
            <a:off x="67896028"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033188" y="4480560"/>
            <a:ext cx="2042083" cy="1600200"/>
          </a:xfrm>
          <a:prstGeom prst="rect">
            <a:avLst/>
          </a:prstGeom>
          <a:noFill/>
        </p:spPr>
        <p:txBody>
          <a:bodyPr wrap="square" lIns="0" rIns="0" tIns="0" bIns="0">
            <a:spAutoFit/>
          </a:bodyPr>
          <a:lstStyle/>
          <a:p>
            <a:pPr algn="l">
              <a:spcAft>
                <a:spcPts val="600"/>
              </a:spcAft>
            </a:pPr>
            <a:r>
              <a:rPr sz="1700" b="1">
                <a:solidFill>
                  <a:srgbClr val="1D1D1F"/>
                </a:solidFill>
                <a:latin typeface="Pretendard"/>
              </a:rPr>
              <a:t>단순한 부동산 개발이 아닌, 한국의 새로운 시대를 여는 도시 창조 과정</a:t>
            </a:r>
          </a:p>
        </p:txBody>
      </p:sp>
      <p:sp>
        <p:nvSpPr>
          <p:cNvPr id="15" name="Rounded Rectangle 14"/>
          <p:cNvSpPr/>
          <p:nvPr/>
        </p:nvSpPr>
        <p:spPr>
          <a:xfrm>
            <a:off x="134877657"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5014817" y="4480560"/>
            <a:ext cx="2042083" cy="1600200"/>
          </a:xfrm>
          <a:prstGeom prst="rect">
            <a:avLst/>
          </a:prstGeom>
          <a:noFill/>
        </p:spPr>
        <p:txBody>
          <a:bodyPr wrap="square" lIns="0" rIns="0" tIns="0" bIns="0">
            <a:spAutoFit/>
          </a:bodyPr>
          <a:lstStyle/>
          <a:p>
            <a:pPr algn="ctr">
              <a:spcAft>
                <a:spcPts val="600"/>
              </a:spcAft>
            </a:pPr>
            <a:r>
              <a:rPr sz="1800" b="1">
                <a:solidFill>
                  <a:srgbClr val="1D1D1F"/>
                </a:solidFill>
                <a:latin typeface="Pretendard"/>
              </a:rPr>
              <a:t>이지스가 단순 자산운용사가 아니라 도시를 만든 자본으로 한국 및 아시아 자본시장사에 기록될 단일 최대 프로젝트</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1371600" y="2194560"/>
            <a:ext cx="9448495" cy="3931920"/>
          </a:xfrm>
          <a:prstGeom prst="rect">
            <a:avLst/>
          </a:prstGeom>
          <a:noFill/>
        </p:spPr>
        <p:txBody>
          <a:bodyPr wrap="square" lIns="0" rIns="0" tIns="0" bIns="0">
            <a:spAutoFit/>
          </a:bodyPr>
          <a:lstStyle/>
          <a:p>
            <a:pPr algn="ctr">
              <a:spcAft>
                <a:spcPts val="1400"/>
              </a:spcAft>
            </a:pPr>
            <a:r>
              <a:rPr sz="2340">
                <a:solidFill>
                  <a:srgbClr val="FFFFFF"/>
                </a:solidFill>
                <a:latin typeface="Pretendard"/>
              </a:rPr>
              <a:t>Chapter 7.</a:t>
            </a:r>
          </a:p>
          <a:p>
            <a:pPr algn="ctr">
              <a:spcAft>
                <a:spcPts val="1400"/>
              </a:spcAft>
            </a:pPr>
            <a:r>
              <a:rPr sz="2400" b="1">
                <a:solidFill>
                  <a:srgbClr val="FFFFFF"/>
                </a:solidFill>
                <a:latin typeface="Pretendard"/>
              </a:rPr>
              <a:t>실행전략 및 맺음말</a:t>
            </a:r>
            <a:r>
              <a:rPr sz="2400" b="1">
                <a:solidFill>
                  <a:srgbClr val="FFFFFF"/>
                </a:solidFill>
                <a:latin typeface="Pretendard"/>
              </a:rPr>
              <a:t>실행전략 및 맺음말</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실행 전략</a:t>
            </a:r>
          </a:p>
          <a:p>
            <a:pPr algn="ctr"/>
            <a:r>
              <a:rPr sz="3200" b="1">
                <a:solidFill>
                  <a:srgbClr val="1D1D1F"/>
                </a:solidFill>
                <a:latin typeface="Pretendard"/>
              </a:rPr>
              <a:t>향후 액션 아이템 우선순위</a:t>
            </a:r>
          </a:p>
        </p:txBody>
      </p:sp>
      <p:sp>
        <p:nvSpPr>
          <p:cNvPr id="3" name="Rounded Rectangle 2"/>
          <p:cNvSpPr/>
          <p:nvPr/>
        </p:nvSpPr>
        <p:spPr>
          <a:xfrm>
            <a:off x="914400"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042083" cy="1600200"/>
          </a:xfrm>
          <a:prstGeom prst="rect">
            <a:avLst/>
          </a:prstGeom>
          <a:noFill/>
        </p:spPr>
        <p:txBody>
          <a:bodyPr wrap="square" lIns="0" rIns="0" tIns="0" bIns="0">
            <a:spAutoFit/>
          </a:bodyPr>
          <a:lstStyle/>
          <a:p>
            <a:pPr algn="l">
              <a:spcAft>
                <a:spcPts val="600"/>
              </a:spcAft>
            </a:pPr>
            <a:r>
              <a:rPr sz="1360">
                <a:solidFill>
                  <a:srgbClr val="1D1D1F"/>
                </a:solidFill>
                <a:latin typeface="Pretendard"/>
              </a:rPr>
              <a:t>삼성물산 마스터리스 확약 연장 / 한투리얼·HDC현산 트랜치 B 우선매수권 사전 정리</a:t>
            </a:r>
            <a:r>
              <a:rPr sz="1445" b="1">
                <a:solidFill>
                  <a:srgbClr val="1D1D1F"/>
                </a:solidFill>
                <a:latin typeface="Pretendard"/>
              </a:rPr>
              <a:t>삼성물산 마스터리스 확약 연장 / 한투리얼·HDC현산 트랜치 B 우선매수권 사전 정리</a:t>
            </a:r>
          </a:p>
        </p:txBody>
      </p:sp>
      <p:sp>
        <p:nvSpPr>
          <p:cNvPr id="5" name="Rounded Rectangle 4"/>
          <p:cNvSpPr/>
          <p:nvPr/>
        </p:nvSpPr>
        <p:spPr>
          <a:xfrm>
            <a:off x="-708172396" y="219456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8035236" y="2331720"/>
            <a:ext cx="2042083" cy="1600200"/>
          </a:xfrm>
          <a:prstGeom prst="rect">
            <a:avLst/>
          </a:prstGeom>
          <a:noFill/>
        </p:spPr>
        <p:txBody>
          <a:bodyPr wrap="square" lIns="0" rIns="0" tIns="0" bIns="0">
            <a:spAutoFit/>
          </a:bodyPr>
          <a:lstStyle/>
          <a:p/>
        </p:txBody>
      </p:sp>
      <p:sp>
        <p:nvSpPr>
          <p:cNvPr id="7" name="Rounded Rectangle 6"/>
          <p:cNvSpPr/>
          <p:nvPr/>
        </p:nvSpPr>
        <p:spPr>
          <a:xfrm>
            <a:off x="-1417259192" y="219456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17122032" y="2331720"/>
            <a:ext cx="2042083" cy="1600200"/>
          </a:xfrm>
          <a:prstGeom prst="rect">
            <a:avLst/>
          </a:prstGeom>
          <a:noFill/>
        </p:spPr>
        <p:txBody>
          <a:bodyPr wrap="square" lIns="0" rIns="0" tIns="0" bIns="0">
            <a:spAutoFit/>
          </a:bodyPr>
          <a:lstStyle/>
          <a:p>
            <a:pPr algn="l">
              <a:spcAft>
                <a:spcPts val="600"/>
              </a:spcAft>
            </a:pPr>
            <a:r>
              <a:rPr sz="1360">
                <a:solidFill>
                  <a:srgbClr val="1D1D1F"/>
                </a:solidFill>
                <a:latin typeface="Pretendard"/>
              </a:rPr>
              <a:t>7조 원 통합 PF 컨센서스 구축</a:t>
            </a:r>
            <a:r>
              <a:rPr sz="1445" b="1">
                <a:solidFill>
                  <a:srgbClr val="1D1D1F"/>
                </a:solidFill>
                <a:latin typeface="Pretendard"/>
              </a:rPr>
              <a:t>7조 원 통합 PF 컨센서스 구축</a:t>
            </a:r>
            <a:r>
              <a:rPr sz="1445" b="1">
                <a:solidFill>
                  <a:srgbClr val="1D1D1F"/>
                </a:solidFill>
                <a:latin typeface="Pretendard"/>
              </a:rPr>
              <a:t>7조 원 통합 PF 컨센서스 구축</a:t>
            </a:r>
          </a:p>
          <a:p>
            <a:pPr algn="l">
              <a:spcAft>
                <a:spcPts val="600"/>
              </a:spcAft>
            </a:pPr>
            <a:r>
              <a:rPr sz="1360">
                <a:solidFill>
                  <a:srgbClr val="1D1D1F"/>
                </a:solidFill>
                <a:latin typeface="Pretendard"/>
              </a:rPr>
              <a:t>글로벌 LP 1~2개사 IPR Equity 참여 LOI 확보 (GIC·CPPIB·QIA 우선 타겟)</a:t>
            </a:r>
            <a:r>
              <a:rPr sz="1445" b="1">
                <a:solidFill>
                  <a:srgbClr val="1D1D1F"/>
                </a:solidFill>
                <a:latin typeface="Pretendard"/>
              </a:rPr>
              <a:t>글로벌 LP 1~2개사 IPR Equity 참여 LOI 확보 (GIC·CPPIB·QIA 우선 타겟)</a:t>
            </a:r>
          </a:p>
          <a:p>
            <a:pPr algn="l">
              <a:spcAft>
                <a:spcPts val="600"/>
              </a:spcAft>
            </a:pPr>
            <a:r>
              <a:rPr sz="1360">
                <a:solidFill>
                  <a:srgbClr val="1D1D1F"/>
                </a:solidFill>
                <a:latin typeface="Pretendard"/>
              </a:rPr>
              <a:t>Option C 신설 SPC 구조 확정 및 12월 클로징 Grand Stage 준비</a:t>
            </a:r>
            <a:r>
              <a:rPr sz="1445" b="1">
                <a:solidFill>
                  <a:srgbClr val="1D1D1F"/>
                </a:solidFill>
                <a:latin typeface="Pretendard"/>
              </a:rPr>
              <a:t>Option C 신설 SPC 구조 확정 및 12월 클로징 Grand Stage 준비</a:t>
            </a:r>
          </a:p>
        </p:txBody>
      </p:sp>
      <p:sp>
        <p:nvSpPr>
          <p:cNvPr id="9" name="Rounded Rectangle 8"/>
          <p:cNvSpPr/>
          <p:nvPr/>
        </p:nvSpPr>
        <p:spPr>
          <a:xfrm>
            <a:off x="-2126345988" y="219456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6208828" y="233172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단기</a:t>
            </a:r>
          </a:p>
          <a:p>
            <a:pPr algn="l">
              <a:spcAft>
                <a:spcPts val="600"/>
              </a:spcAft>
            </a:pPr>
            <a:r>
              <a:rPr sz="1275" b="1">
                <a:solidFill>
                  <a:srgbClr val="1D1D1F"/>
                </a:solidFill>
                <a:latin typeface="Pretendard"/>
              </a:rPr>
              <a:t>(2026.9 ~ 2026.12)</a:t>
            </a:r>
          </a:p>
        </p:txBody>
      </p:sp>
      <p:sp>
        <p:nvSpPr>
          <p:cNvPr id="11" name="Rounded Rectangle 10"/>
          <p:cNvSpPr/>
          <p:nvPr/>
        </p:nvSpPr>
        <p:spPr>
          <a:xfrm>
            <a:off x="914400" y="4343400"/>
            <a:ext cx="2316403" cy="187452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480560"/>
            <a:ext cx="2042083" cy="1600200"/>
          </a:xfrm>
          <a:prstGeom prst="rect">
            <a:avLst/>
          </a:prstGeom>
          <a:noFill/>
        </p:spPr>
        <p:txBody>
          <a:bodyPr wrap="square" lIns="0" rIns="0" tIns="0" bIns="0">
            <a:spAutoFit/>
          </a:bodyPr>
          <a:lstStyle/>
          <a:p>
            <a:pPr algn="l">
              <a:spcAft>
                <a:spcPts val="600"/>
              </a:spcAft>
            </a:pPr>
            <a:r>
              <a:rPr sz="1360">
                <a:solidFill>
                  <a:srgbClr val="1D1D1F"/>
                </a:solidFill>
                <a:latin typeface="Pretendard"/>
              </a:rPr>
              <a:t>YD427 2차 PF 4.5조 원 조달 Successful Execution</a:t>
            </a:r>
            <a:r>
              <a:rPr sz="1445" b="1">
                <a:solidFill>
                  <a:srgbClr val="1D1D1F"/>
                </a:solidFill>
                <a:latin typeface="Pretendard"/>
              </a:rPr>
              <a:t>YD427 2차 PF 4.5조 원 조달 Successful Execution</a:t>
            </a:r>
          </a:p>
          <a:p>
            <a:pPr algn="l">
              <a:spcAft>
                <a:spcPts val="600"/>
              </a:spcAft>
            </a:pPr>
            <a:r>
              <a:rPr sz="1360">
                <a:solidFill>
                  <a:srgbClr val="1D1D1F"/>
                </a:solidFill>
                <a:latin typeface="Pretendard"/>
              </a:rPr>
              <a:t>IGIS DC REIT 분사 상장 준비 및 시니어 REIT 첫 자산 풀 구축</a:t>
            </a:r>
            <a:r>
              <a:rPr sz="1445" b="1">
                <a:solidFill>
                  <a:srgbClr val="1D1D1F"/>
                </a:solidFill>
                <a:latin typeface="Pretendard"/>
              </a:rPr>
              <a:t>IGIS DC REIT 분사 상장 준비 및 시니어 REIT 첫 자산 풀 구축</a:t>
            </a:r>
          </a:p>
          <a:p>
            <a:pPr algn="l">
              <a:spcAft>
                <a:spcPts val="600"/>
              </a:spcAft>
            </a:pPr>
            <a:r>
              <a:rPr sz="1360">
                <a:solidFill>
                  <a:srgbClr val="1D1D1F"/>
                </a:solidFill>
                <a:latin typeface="Pretendard"/>
              </a:rPr>
              <a:t>이지스 1호 글로벌 코밍글드 펀드 $1B USD 1차 클로징</a:t>
            </a:r>
            <a:r>
              <a:rPr sz="1445" b="1">
                <a:solidFill>
                  <a:srgbClr val="1D1D1F"/>
                </a:solidFill>
                <a:latin typeface="Pretendard"/>
              </a:rPr>
              <a:t>이지스 1호 글로벌 코밍글드 펀드 $1B USD 1차 클로징</a:t>
            </a:r>
          </a:p>
          <a:p>
            <a:pPr algn="l">
              <a:spcAft>
                <a:spcPts val="600"/>
              </a:spcAft>
            </a:pPr>
            <a:r>
              <a:rPr sz="1360">
                <a:solidFill>
                  <a:srgbClr val="1D1D1F"/>
                </a:solidFill>
                <a:latin typeface="Pretendard"/>
              </a:rPr>
              <a:t>IOTA 1·2 단계적 준공 및 트로피 시리즈 2호(YIBD 또는 잠실) Launch</a:t>
            </a:r>
            <a:r>
              <a:rPr sz="1445" b="1">
                <a:solidFill>
                  <a:srgbClr val="1D1D1F"/>
                </a:solidFill>
                <a:latin typeface="Pretendard"/>
              </a:rPr>
              <a:t>IOTA 1·2 단계적 준공 및 트로피 시리즈 2호(YIBD 또는 잠실) Launch</a:t>
            </a:r>
          </a:p>
          <a:p>
            <a:pPr algn="l">
              <a:spcAft>
                <a:spcPts val="600"/>
              </a:spcAft>
            </a:pPr>
            <a:r>
              <a:rPr sz="1360">
                <a:solidFill>
                  <a:srgbClr val="1D1D1F"/>
                </a:solidFill>
                <a:latin typeface="Pretendard"/>
              </a:rPr>
              <a:t>글로벌 LP 베이스 30%+로 확장 및 AUM 100조 원 돌파</a:t>
            </a:r>
            <a:r>
              <a:rPr sz="1445" b="1">
                <a:solidFill>
                  <a:srgbClr val="1D1D1F"/>
                </a:solidFill>
                <a:latin typeface="Pretendard"/>
              </a:rPr>
              <a:t>글로벌 LP 베이스 30%+로 확장 및 AUM 100조 원 돌파</a:t>
            </a:r>
          </a:p>
        </p:txBody>
      </p:sp>
      <p:sp>
        <p:nvSpPr>
          <p:cNvPr id="13" name="Rounded Rectangle 12"/>
          <p:cNvSpPr/>
          <p:nvPr/>
        </p:nvSpPr>
        <p:spPr>
          <a:xfrm>
            <a:off x="-708172396" y="434340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035236" y="448056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중기</a:t>
            </a:r>
          </a:p>
          <a:p>
            <a:pPr algn="l">
              <a:spcAft>
                <a:spcPts val="600"/>
              </a:spcAft>
            </a:pPr>
            <a:r>
              <a:rPr sz="1275" b="1">
                <a:solidFill>
                  <a:srgbClr val="1D1D1F"/>
                </a:solidFill>
                <a:latin typeface="Pretendard"/>
              </a:rPr>
              <a:t>(2027 ~ 2028)</a:t>
            </a:r>
          </a:p>
        </p:txBody>
      </p:sp>
      <p:sp>
        <p:nvSpPr>
          <p:cNvPr id="15" name="Rounded Rectangle 14"/>
          <p:cNvSpPr/>
          <p:nvPr/>
        </p:nvSpPr>
        <p:spPr>
          <a:xfrm>
            <a:off x="-1417259192" y="4343400"/>
            <a:ext cx="2316403" cy="1874520"/>
          </a:xfrm>
          <a:prstGeom prst="roundRect">
            <a:avLst/>
          </a:prstGeom>
          <a:no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122032" y="4480560"/>
            <a:ext cx="2042083" cy="160020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장기</a:t>
            </a:r>
          </a:p>
          <a:p>
            <a:pPr algn="l">
              <a:spcAft>
                <a:spcPts val="600"/>
              </a:spcAft>
            </a:pPr>
            <a:r>
              <a:rPr sz="1275" b="1">
                <a:solidFill>
                  <a:srgbClr val="1D1D1F"/>
                </a:solidFill>
                <a:latin typeface="Pretendard"/>
              </a:rPr>
              <a:t>(2029 ~ 2031)</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핵심 Metric 추적</a:t>
            </a:r>
          </a:p>
          <a:p>
            <a:pPr algn="ctr"/>
            <a:r>
              <a:rPr sz="3200" b="1">
                <a:solidFill>
                  <a:srgbClr val="1D1D1F"/>
                </a:solidFill>
                <a:latin typeface="Pretendard"/>
              </a:rPr>
              <a:t>성공적인 중장기 전략 달성을 위한 3대 모니터링 지표</a:t>
            </a:r>
          </a:p>
        </p:txBody>
      </p:sp>
      <p:sp>
        <p:nvSpPr>
          <p:cNvPr id="3" name="Rounded Rectangle 2"/>
          <p:cNvSpPr/>
          <p:nvPr/>
        </p:nvSpPr>
        <p:spPr>
          <a:xfrm>
            <a:off x="914400"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331720"/>
            <a:ext cx="2936138"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거시 (Macro)</a:t>
            </a:r>
          </a:p>
          <a:p>
            <a:pPr algn="l">
              <a:spcAft>
                <a:spcPts val="600"/>
              </a:spcAft>
            </a:pPr>
            <a:r>
              <a:rPr sz="1360">
                <a:solidFill>
                  <a:srgbClr val="1D1D1F"/>
                </a:solidFill>
                <a:latin typeface="Pretendard"/>
              </a:rPr>
              <a:t>KOSPI 5,000~6,000 유지 여부</a:t>
            </a:r>
            <a:r>
              <a:rPr sz="1445" b="1">
                <a:solidFill>
                  <a:srgbClr val="1D1D1F"/>
                </a:solidFill>
                <a:latin typeface="Pretendard"/>
              </a:rPr>
              <a:t>KOSPI 5,000~6,000 유지 여부</a:t>
            </a:r>
            <a:r>
              <a:rPr sz="1445" b="1">
                <a:solidFill>
                  <a:srgbClr val="1D1D1F"/>
                </a:solidFill>
                <a:latin typeface="Pretendard"/>
              </a:rPr>
              <a:t>KOSPI 5,000~6,000 유지 여부</a:t>
            </a:r>
          </a:p>
          <a:p>
            <a:pPr algn="l">
              <a:spcAft>
                <a:spcPts val="600"/>
              </a:spcAft>
            </a:pPr>
            <a:r>
              <a:rPr sz="1360">
                <a:solidFill>
                  <a:srgbClr val="1D1D1F"/>
                </a:solidFill>
                <a:latin typeface="Pretendard"/>
              </a:rPr>
              <a:t>기준금리 경로 (PF 자본 비용)</a:t>
            </a:r>
            <a:r>
              <a:rPr sz="1445" b="1">
                <a:solidFill>
                  <a:srgbClr val="1D1D1F"/>
                </a:solidFill>
                <a:latin typeface="Pretendard"/>
              </a:rPr>
              <a:t>기준금리 경로 (PF 자본 비용)</a:t>
            </a:r>
          </a:p>
          <a:p>
            <a:pPr algn="l">
              <a:spcAft>
                <a:spcPts val="600"/>
              </a:spcAft>
            </a:pPr>
            <a:r>
              <a:rPr sz="1360">
                <a:solidFill>
                  <a:srgbClr val="1D1D1F"/>
                </a:solidFill>
                <a:latin typeface="Pretendard"/>
              </a:rPr>
              <a:t>KRW/USD (글로벌 LP capital flow)</a:t>
            </a:r>
            <a:r>
              <a:rPr sz="1445" b="1">
                <a:solidFill>
                  <a:srgbClr val="1D1D1F"/>
                </a:solidFill>
                <a:latin typeface="Pretendard"/>
              </a:rPr>
              <a:t>KRW/USD (글로벌 LP capital flow)</a:t>
            </a:r>
          </a:p>
          <a:p>
            <a:pPr algn="l">
              <a:spcAft>
                <a:spcPts val="600"/>
              </a:spcAft>
            </a:pPr>
            <a:r>
              <a:rPr sz="1360">
                <a:solidFill>
                  <a:srgbClr val="1D1D1F"/>
                </a:solidFill>
                <a:latin typeface="Pretendard"/>
              </a:rPr>
              <a:t>한국 GDP 성장률 2% 유지 여부</a:t>
            </a:r>
            <a:r>
              <a:rPr sz="1445" b="1">
                <a:solidFill>
                  <a:srgbClr val="1D1D1F"/>
                </a:solidFill>
                <a:latin typeface="Pretendard"/>
              </a:rPr>
              <a:t>한국 GDP 성장률 2% 유지 여부</a:t>
            </a:r>
          </a:p>
        </p:txBody>
      </p:sp>
      <p:sp>
        <p:nvSpPr>
          <p:cNvPr id="5" name="Rounded Rectangle 4"/>
          <p:cNvSpPr/>
          <p:nvPr/>
        </p:nvSpPr>
        <p:spPr>
          <a:xfrm>
            <a:off x="-225560991"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423831" y="2331720"/>
            <a:ext cx="2936138"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시장 (Market)</a:t>
            </a:r>
          </a:p>
          <a:p>
            <a:pPr algn="l">
              <a:spcAft>
                <a:spcPts val="600"/>
              </a:spcAft>
            </a:pPr>
            <a:r>
              <a:rPr sz="1360">
                <a:solidFill>
                  <a:srgbClr val="1D1D1F"/>
                </a:solidFill>
                <a:latin typeface="Pretendard"/>
              </a:rPr>
              <a:t>서울 프라임 오피스 공실률 4% 이하 유지</a:t>
            </a:r>
            <a:r>
              <a:rPr sz="1445" b="1">
                <a:solidFill>
                  <a:srgbClr val="1D1D1F"/>
                </a:solidFill>
                <a:latin typeface="Pretendard"/>
              </a:rPr>
              <a:t>서울 프라임 오피스 공실률 4% 이하 유지</a:t>
            </a:r>
          </a:p>
          <a:p>
            <a:pPr algn="l">
              <a:spcAft>
                <a:spcPts val="600"/>
              </a:spcAft>
            </a:pPr>
            <a:r>
              <a:rPr sz="1360">
                <a:solidFill>
                  <a:srgbClr val="1D1D1F"/>
                </a:solidFill>
                <a:latin typeface="Pretendard"/>
              </a:rPr>
              <a:t>임대료 평당 15만 원 돌파 시점 (GBD 기준)</a:t>
            </a:r>
            <a:r>
              <a:rPr sz="1445" b="1">
                <a:solidFill>
                  <a:srgbClr val="1D1D1F"/>
                </a:solidFill>
                <a:latin typeface="Pretendard"/>
              </a:rPr>
              <a:t>임대료 평당 15만 원 돌파 시점 (GBD 기준)</a:t>
            </a:r>
          </a:p>
          <a:p>
            <a:pPr algn="l">
              <a:spcAft>
                <a:spcPts val="600"/>
              </a:spcAft>
            </a:pPr>
            <a:r>
              <a:rPr sz="1360">
                <a:solidFill>
                  <a:srgbClr val="1D1D1F"/>
                </a:solidFill>
                <a:latin typeface="Pretendard"/>
              </a:rPr>
              <a:t>거래량 30조 원 이상 유지</a:t>
            </a:r>
            <a:r>
              <a:rPr sz="1445" b="1">
                <a:solidFill>
                  <a:srgbClr val="1D1D1F"/>
                </a:solidFill>
                <a:latin typeface="Pretendard"/>
              </a:rPr>
              <a:t>거래량 30조 원 이상 유지</a:t>
            </a:r>
          </a:p>
          <a:p>
            <a:pPr algn="l">
              <a:spcAft>
                <a:spcPts val="600"/>
              </a:spcAft>
            </a:pPr>
            <a:r>
              <a:rPr sz="1360">
                <a:solidFill>
                  <a:srgbClr val="1D1D1F"/>
                </a:solidFill>
                <a:latin typeface="Pretendard"/>
              </a:rPr>
              <a:t>외국인 자본 유입 비중 25%+ 도달</a:t>
            </a:r>
            <a:r>
              <a:rPr sz="1445" b="1">
                <a:solidFill>
                  <a:srgbClr val="1D1D1F"/>
                </a:solidFill>
                <a:latin typeface="Pretendard"/>
              </a:rPr>
              <a:t>외국인 자본 유입 비중 25%+ 도달</a:t>
            </a:r>
          </a:p>
        </p:txBody>
      </p:sp>
      <p:sp>
        <p:nvSpPr>
          <p:cNvPr id="7" name="Rounded Rectangle 6"/>
          <p:cNvSpPr/>
          <p:nvPr/>
        </p:nvSpPr>
        <p:spPr>
          <a:xfrm>
            <a:off x="-499013683" y="2194560"/>
            <a:ext cx="3210458" cy="4023360"/>
          </a:xfrm>
          <a:prstGeom prst="roundRect">
            <a:avLst/>
          </a:prstGeom>
          <a:solidFill>
            <a:srgbClr val="F5F7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8876523" y="2331720"/>
            <a:ext cx="2936138" cy="3749040"/>
          </a:xfrm>
          <a:prstGeom prst="rect">
            <a:avLst/>
          </a:prstGeom>
          <a:noFill/>
        </p:spPr>
        <p:txBody>
          <a:bodyPr wrap="square" lIns="0" rIns="0" tIns="0" bIns="0">
            <a:spAutoFit/>
          </a:bodyPr>
          <a:lstStyle/>
          <a:p>
            <a:pPr algn="l">
              <a:spcAft>
                <a:spcPts val="600"/>
              </a:spcAft>
            </a:pPr>
            <a:r>
              <a:rPr sz="1800" b="1">
                <a:solidFill>
                  <a:srgbClr val="1D1D1F"/>
                </a:solidFill>
                <a:latin typeface="Pretendard"/>
              </a:rPr>
              <a:t>이지스 (IGIS)</a:t>
            </a:r>
          </a:p>
          <a:p>
            <a:pPr algn="l">
              <a:spcAft>
                <a:spcPts val="600"/>
              </a:spcAft>
            </a:pPr>
            <a:r>
              <a:rPr sz="1360">
                <a:solidFill>
                  <a:srgbClr val="1D1D1F"/>
                </a:solidFill>
                <a:latin typeface="Pretendard"/>
              </a:rPr>
              <a:t>AUM 분기 성장률</a:t>
            </a:r>
            <a:r>
              <a:rPr sz="1445" b="1">
                <a:solidFill>
                  <a:srgbClr val="1D1D1F"/>
                </a:solidFill>
                <a:latin typeface="Pretendard"/>
              </a:rPr>
              <a:t>AUM 분기 성장률</a:t>
            </a:r>
            <a:r>
              <a:rPr sz="1445" b="1">
                <a:solidFill>
                  <a:srgbClr val="1D1D1F"/>
                </a:solidFill>
                <a:latin typeface="Pretendard"/>
              </a:rPr>
              <a:t>AUM 분기 성장률</a:t>
            </a:r>
          </a:p>
          <a:p>
            <a:pPr algn="l">
              <a:spcAft>
                <a:spcPts val="600"/>
              </a:spcAft>
            </a:pPr>
            <a:r>
              <a:rPr sz="1360">
                <a:solidFill>
                  <a:srgbClr val="1D1D1F"/>
                </a:solidFill>
                <a:latin typeface="Pretendard"/>
              </a:rPr>
              <a:t>글로벌 LP 비중</a:t>
            </a:r>
            <a:r>
              <a:rPr sz="1445" b="1">
                <a:solidFill>
                  <a:srgbClr val="1D1D1F"/>
                </a:solidFill>
                <a:latin typeface="Pretendard"/>
              </a:rPr>
              <a:t>글로벌 LP 비중</a:t>
            </a:r>
            <a:r>
              <a:rPr sz="1445" b="1">
                <a:solidFill>
                  <a:srgbClr val="1D1D1F"/>
                </a:solidFill>
                <a:latin typeface="Pretendard"/>
              </a:rPr>
              <a:t>글로벌 LP 비중</a:t>
            </a:r>
          </a:p>
          <a:p>
            <a:pPr algn="l">
              <a:spcAft>
                <a:spcPts val="600"/>
              </a:spcAft>
            </a:pPr>
            <a:r>
              <a:rPr sz="1360">
                <a:solidFill>
                  <a:srgbClr val="1D1D1F"/>
                </a:solidFill>
                <a:latin typeface="Pretendard"/>
              </a:rPr>
              <a:t>운용 수수료 마진</a:t>
            </a:r>
            <a:r>
              <a:rPr sz="1445" b="1">
                <a:solidFill>
                  <a:srgbClr val="1D1D1F"/>
                </a:solidFill>
                <a:latin typeface="Pretendard"/>
              </a:rPr>
              <a:t>운용 수수료 마진</a:t>
            </a:r>
            <a:r>
              <a:rPr sz="1445" b="1">
                <a:solidFill>
                  <a:srgbClr val="1D1D1F"/>
                </a:solidFill>
                <a:latin typeface="Pretendard"/>
              </a:rPr>
              <a:t>운용 수수료 마진</a:t>
            </a:r>
          </a:p>
          <a:p>
            <a:pPr algn="l">
              <a:spcAft>
                <a:spcPts val="600"/>
              </a:spcAft>
            </a:pPr>
            <a:r>
              <a:rPr sz="1360">
                <a:solidFill>
                  <a:srgbClr val="1D1D1F"/>
                </a:solidFill>
                <a:latin typeface="Pretendard"/>
              </a:rPr>
              <a:t>인재 retention rate</a:t>
            </a:r>
            <a:r>
              <a:rPr sz="1445" b="1">
                <a:solidFill>
                  <a:srgbClr val="1D1D1F"/>
                </a:solidFill>
                <a:latin typeface="Pretendard"/>
              </a:rPr>
              <a:t>인재 retention rate</a:t>
            </a:r>
            <a:r>
              <a:rPr sz="1445" b="1">
                <a:solidFill>
                  <a:srgbClr val="1D1D1F"/>
                </a:solidFill>
                <a:latin typeface="Pretendard"/>
              </a:rPr>
              <a:t>인재 retention rate</a:t>
            </a:r>
          </a:p>
          <a:p>
            <a:pPr algn="l">
              <a:spcAft>
                <a:spcPts val="600"/>
              </a:spcAft>
            </a:pPr>
            <a:r>
              <a:rPr sz="1360">
                <a:solidFill>
                  <a:srgbClr val="1D1D1F"/>
                </a:solidFill>
                <a:latin typeface="Pretendard"/>
              </a:rPr>
              <a:t>IPR 본 PF 클로징 마일스톤</a:t>
            </a:r>
            <a:r>
              <a:rPr sz="1445" b="1">
                <a:solidFill>
                  <a:srgbClr val="1D1D1F"/>
                </a:solidFill>
                <a:latin typeface="Pretendard"/>
              </a:rPr>
              <a:t>IPR 본 PF 클로징 마일스톤</a:t>
            </a:r>
            <a:r>
              <a:rPr sz="1445" b="1">
                <a:solidFill>
                  <a:srgbClr val="1D1D1F"/>
                </a:solidFill>
                <a:latin typeface="Pretendard"/>
              </a:rPr>
              <a:t>IPR 본 PF 클로징 마일스톤</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914400" y="548640"/>
            <a:ext cx="10362895" cy="1371600"/>
          </a:xfrm>
          <a:prstGeom prst="rect">
            <a:avLst/>
          </a:prstGeom>
          <a:noFill/>
        </p:spPr>
        <p:txBody>
          <a:bodyPr wrap="square" lIns="0" rIns="0" tIns="0" bIns="0">
            <a:spAutoFit/>
          </a:bodyPr>
          <a:lstStyle/>
          <a:p>
            <a:pPr algn="ctr">
              <a:spcAft>
                <a:spcPts val="600"/>
              </a:spcAft>
            </a:pPr>
            <a:r>
              <a:rPr sz="1800" b="1">
                <a:solidFill>
                  <a:srgbClr val="6E6E6E"/>
                </a:solidFill>
                <a:latin typeface="Pretendard"/>
              </a:rPr>
              <a:t>한국 경제가 2007년 1조 달러를 처음 돌파한 시점에 IFC 서울이 막 첫 삽을 떴음. 2조 달러를 돌파하는 2027년 직전에 IOTA 서울이 본PF를 마무리하고 본격 시공에 들어가는 것은 단순한 우연이 아닌 역사의 리듬임. 3조 달러 시대(2035~2040)가 도래할 때 IOTA가 준공되어 안정화 cash flow를 만들어내는 것 또한 동일한 리듬임.</a:t>
            </a:r>
          </a:p>
          <a:p>
            <a:pPr algn="ctr"/>
            <a:r>
              <a:rPr sz="3200" b="1">
                <a:solidFill>
                  <a:srgbClr val="1D1D1F"/>
                </a:solidFill>
                <a:latin typeface="Pretendard"/>
              </a:rPr>
              <a:t>맺음말.</a:t>
            </a:r>
          </a:p>
        </p:txBody>
      </p:sp>
      <p:sp>
        <p:nvSpPr>
          <p:cNvPr id="3" name="TextBox 2"/>
          <p:cNvSpPr txBox="1"/>
          <p:nvPr/>
        </p:nvSpPr>
        <p:spPr>
          <a:xfrm>
            <a:off x="1371600" y="2194560"/>
            <a:ext cx="9448495" cy="3931920"/>
          </a:xfrm>
          <a:prstGeom prst="rect">
            <a:avLst/>
          </a:prstGeom>
          <a:noFill/>
        </p:spPr>
        <p:txBody>
          <a:bodyPr wrap="square" lIns="0" rIns="0" tIns="0" bIns="0">
            <a:spAutoFit/>
          </a:bodyPr>
          <a:lstStyle/>
          <a:p>
            <a:pPr algn="l">
              <a:spcAft>
                <a:spcPts val="1400"/>
              </a:spcAft>
            </a:pPr>
            <a:r>
              <a:rPr sz="2160">
                <a:solidFill>
                  <a:srgbClr val="1D1D1F"/>
                </a:solidFill>
                <a:latin typeface="Pretendard"/>
              </a:rPr>
              <a:t>이지스가 단순한 한국 RE 1위에서 글로벌 1선 운용사로 도약하느냐는, IOTA를 어떻게 끝까지 마무리하느냐로 결정될 것임. 블랙스톤이 2007년 IPO 후 글로벌 1위 운용사가 되었듯, 이지스에게 IOTA는 IPO에 준하는 institutional 전환 사건임.</a:t>
            </a:r>
          </a:p>
          <a:p>
            <a:pPr algn="l">
              <a:spcAft>
                <a:spcPts val="1400"/>
              </a:spcAft>
            </a:pPr>
            <a:r>
              <a:rPr sz="2160">
                <a:solidFill>
                  <a:srgbClr val="1D1D1F"/>
                </a:solidFill>
                <a:latin typeface="Pretendard"/>
              </a:rPr>
              <a:t>본 보고서가 제시하는 시나리오들은 확률적 분포이지 예언이 아님. 그러나 어느 시나리오에서도 IOTA는 이지스 brand가 한 단계 도약할 수 있는 유일하고 대체 불가능한 매개체라는 결론은 동일함. 따라서 향후 12개월의 본PF 클로징과 글로벌 LP 유치가 이지스의 향후 30년 trajectory를 좌우할 단일 의사결정 cluster임을 강조하며 보고서를 마침.</a:t>
            </a:r>
          </a:p>
          <a:p>
            <a:pPr algn="l">
              <a:spcAft>
                <a:spcPts val="1400"/>
              </a:spcAft>
            </a:pPr>
            <a:r>
              <a:rPr sz="1500">
                <a:solidFill>
                  <a:srgbClr val="1D1D1F"/>
                </a:solidFill>
                <a:latin typeface="Pretendard"/>
              </a:rPr>
              <a:t>본 보고서의 데이터는 IMF WEO, BOK, 통계청 KOSIS, MOEF, MOLIT, FSC, FSS, IMF Article IV 2025, CBRE Korea Q3 2025 Seoul Figures, Cushman &amp; Wakefield Seoul MarketBeat, Savills USA Seoul Prime Office Q3 2025, JLL Korea, Colliers Korea Senior Housing 2024, Invesco APAC Senior Living 2025, Mordor Intelligence Korea Data Center 2025, KED Global, Korea Herald, Maeil Business, Korea Economic Daily, Bloomberg, Reuters, JP Morgan Kospi 5000 보고서(2025.10), Macquarie Korea 2026 Outlook, McKinsey·BCG Korea AI Productivity, 인베스트조선, 토픽트리 등 다수 일차 소스를 종합·교차검증한 것임을 명시함. 단, 시나리오상 미래 수치는 추정치이며 시장 환경에 따라 변동 가능함.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