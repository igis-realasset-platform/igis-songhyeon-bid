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91679" y="2432049"/>
            <a:ext cx="2262329" cy="212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latin typeface="Pretendard Variable"/>
              </a:defRPr>
            </a:pPr>
            <a:r>
              <a:rPr sz="1200" b="1">
                <a:solidFill>
                  <a:srgbClr val="1E3A8A"/>
                </a:solidFill>
                <a:latin typeface="Pretendard Variable"/>
              </a:rPr>
              <a:t>이지스자산운용 전략 기획안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4187" y="2774949"/>
            <a:ext cx="9257215" cy="110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latin typeface="Pretendard Variable"/>
              </a:defRPr>
            </a:pPr>
            <a:r>
              <a:rPr sz="1200">
                <a:solidFill>
                  <a:srgbClr val="FFFFFF"/>
                </a:solidFill>
                <a:latin typeface="Pretendard Variable"/>
              </a:rPr>
              <a:t>IOTA SEOUL의 BID 적용과 SBD 전략 마스터플랜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79823" y="4305300"/>
            <a:ext cx="904832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>
                <a:latin typeface="Pretendard Variable"/>
              </a:defRPr>
            </a:pPr>
            <a:r>
              <a:rPr sz="1050">
                <a:solidFill>
                  <a:srgbClr val="1E3A8A"/>
                </a:solidFill>
                <a:latin typeface="Pretendard Variable"/>
              </a:rPr>
              <a:t>기획추진센터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5262" y="4305300"/>
            <a:ext cx="292692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>
                <a:latin typeface="Pretendard Variable"/>
              </a:defRPr>
            </a:pPr>
            <a:r>
              <a:rPr sz="1050">
                <a:solidFill>
                  <a:srgbClr val="1E3A8A"/>
                </a:solidFill>
                <a:latin typeface="Pretendard Variable"/>
              </a:rPr>
              <a:t>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80506" y="4305300"/>
            <a:ext cx="763414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>
                <a:latin typeface="Pretendard Variable"/>
              </a:defRPr>
            </a:pPr>
            <a:r>
              <a:rPr sz="1050">
                <a:solidFill>
                  <a:srgbClr val="1E3A8A"/>
                </a:solidFill>
                <a:latin typeface="Pretendard Variable"/>
              </a:rPr>
              <a:t>2026. 06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609600"/>
            <a:ext cx="10159746" cy="510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300">
                <a:latin typeface="Pretendard Variable"/>
              </a:defRPr>
            </a:pPr>
            <a:r>
              <a:rPr sz="3300" b="1">
                <a:solidFill>
                  <a:srgbClr val="000000"/>
                </a:solidFill>
                <a:latin typeface="Pretendard Variable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130299"/>
            <a:ext cx="10159746" cy="10637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12">
                <a:latin typeface="Pretendard Variable"/>
              </a:defRPr>
            </a:pPr>
            <a:r>
              <a:rPr sz="1312">
                <a:solidFill>
                  <a:srgbClr val="000000"/>
                </a:solidFill>
                <a:latin typeface="Pretendard Variable"/>
              </a:rPr>
              <a:t>본 보고서는 이지스자산운용이 운용자산(AUM) 100조 원을 돌파하고 진정한 글로벌 탑티어 운용사로 도약하기 위한 로드맵을 구조화한 마스터플랜의 연장선입니다. 본 전략의 궁극적인 목표는 한국 상업용 부동산 역사상 최대 규모인 7조 원 규모의 IOTA 서울 프로젝트 파이낸싱(PF)을 성공적으로 실행하고, 이를 지렛대 삼아 글로벌 LP 자본을 성공적으로 유치하는 데 있습니다. 특히, 본 보고서는 뉴욕의 업무환경개선지구(BID) 및 일본의 에리어 매니지먼트(Area Management) 모델을 심층 분석하여, 이를 IOTA 서울에 적용하고 서울역-남산 일대를 제4의 핵심 업무 권역인 SBD(Seoul Business District)로 격상시키기 위한 슬라이드 전체 구조와 상세 시나리오를 제시합니다.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1382" y="2413793"/>
            <a:ext cx="12438069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Part 1. 글로벌 비즈니스 지구의 부활 공식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1382" y="2601118"/>
            <a:ext cx="12438069" cy="246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세계적 대도시들의 성공 사례 분석을 통한 도심 재생과 자산 가치 극대화의 핵심 비결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11382" y="3098800"/>
            <a:ext cx="12438069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Part 2. BID의 탄생 배경과 제도적 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1382" y="3286125"/>
            <a:ext cx="12438069" cy="246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무임승차 문제를 법제화와 재정적 작동 구조로 극복하여 민간 주도 공공 서비스를 실현한 메커니즘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1382" y="3783806"/>
            <a:ext cx="12438069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Part 3. 허드슨야드의 메가스케일 공공-민간 협력(PPP)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1382" y="3971131"/>
            <a:ext cx="12438069" cy="246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미래 세수를 담보로 24억 달러 규모의 공공 인프라 선투자를 성공시킨 뉴욕의 PPP 파이낸싱과 통합 운영 체계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1382" y="4468812"/>
            <a:ext cx="12438069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Part 4. 일본 도쿄의 에리어 매니지먼트와 '일본판 BID'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11382" y="4656137"/>
            <a:ext cx="12438069" cy="246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대형 디벨로퍼 주도의 수직 통합형 에리어 매니지먼트 특징 및 2018년 지역재생법 개정 세부 제도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1382" y="5153818"/>
            <a:ext cx="12438069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Part 5. 서울의 제4 업무지구 SBD 정립과 미래 비전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1382" y="5341143"/>
            <a:ext cx="12438069" cy="24622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서울역에서 남산, 용산으로 이어지는 대한민국 신업무축 정립과 5세대 디지털 BID 운영 체계의 미래 청사진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3434" y="6035674"/>
            <a:ext cx="10381990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DISCLAIMER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3434" y="6283325"/>
            <a:ext cx="12826679" cy="51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본 문서는 전략적 정보 제공 및 내부 기획을 목적으로 작성되었으며, 재무적, 법률적, 또는 전문적인 투자 자문을 구성하지 않습니다. 문서에 포함된 시장 전망, 수익률 추정치, 펀딩 목표 및 특정 기업/기관과 관련된 미래 예측 진술은 작성 시점의 거시경제 데이터와 분석을 바탕으로 한 시나리오이며, 실제 시장 상황, 금리 변동, 규제 변화 및 예기치 못한 리스크에 따라 크게 달라질 수 있습니다. 의사결정 시 반드시 개별적인 법무·회계·재무 실사를 거쳐야 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35181" y="2883495"/>
            <a:ext cx="975325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>
                <a:solidFill>
                  <a:srgbClr val="000000"/>
                </a:solidFill>
                <a:latin typeface="Pretendard Variable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7185" y="3220045"/>
            <a:ext cx="10011219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글로벌 비즈니스 지구의 부활 공식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3073" y="2611139"/>
            <a:ext cx="165954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2856" y="2947689"/>
            <a:ext cx="6499975" cy="1181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뉴욕시 BID 가치 분석 브라이언 파크의 부활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34570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브라이언트 파크의 쇠퇴 (Before 1980s)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650503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1980년대 미드타운 한복판의 마약 밀매 거점과 강력범죄의 해방구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600424"/>
            <a:ext cx="2116322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SLUM PARK ZONE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927449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뉴욕공공도서관 뒤편의 치안 붕괴 영역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2604" y="3591024"/>
            <a:ext cx="858508" cy="212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latin typeface="Pretendard Variable"/>
              </a:defRPr>
            </a:pPr>
            <a:r>
              <a:rPr sz="750" b="1">
                <a:solidFill>
                  <a:srgbClr val="000000"/>
                </a:solidFill>
                <a:latin typeface="Pretendard Variable"/>
              </a:rPr>
              <a:t>마약 밀매 거점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30591" y="3845024"/>
            <a:ext cx="841388" cy="212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latin typeface="Pretendard Variable"/>
              </a:defRPr>
            </a:pPr>
            <a:r>
              <a:rPr sz="750" b="1">
                <a:solidFill>
                  <a:srgbClr val="000000"/>
                </a:solidFill>
                <a:latin typeface="Pretendard Variable"/>
              </a:rPr>
              <a:t>강력범죄 빈발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37" y="4480024"/>
            <a:ext cx="6014569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🚧 공원 내부 통행로가 어둡고 밀폐되어 보행자가 회피함에 따라 자연스럽게 노숙자와 마약 범죄자들의 아지트로 전락함.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838" y="2600424"/>
            <a:ext cx="2617622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ABANDONED PUBLIC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838" y="2927449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범죄 지표 및 시의 행정 포기 실태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3834" y="3387824"/>
            <a:ext cx="4562995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🚨 연간 500건+ 강력범죄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3834" y="3591024"/>
            <a:ext cx="349521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살인, 무장강도, 총격 사건 등 미드타운 내 범죄 최다 발생지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3834" y="4016474"/>
            <a:ext cx="4562995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🚫 시 정부 예산 지원 0$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3834" y="4219674"/>
            <a:ext cx="3766844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재정난을 이유로 뉴욕시 공원국이 청소와 보수 예산을 전면 철회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838" y="4734024"/>
            <a:ext cx="592581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"대낮에도 시민들이 진입을 기피하여 미드타운 전체의 부동산 자산 가치를 훼손한 도시 흉물로 전락"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7401" y="5337274"/>
            <a:ext cx="7160398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예산 지원 중단과 치안 부재로 인해 핵심 도심 공원이 급격히 슬럼화된 대표적 사례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44095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브라이언트 파크의 부활 (After 1988)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745753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BID 법인 설립과 전면 리노베이션을 통한 도심 광장의 대전환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695674"/>
            <a:ext cx="2501004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BPC FINANCIAL 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3022699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시 지원금 0원의 자립형 예산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330674"/>
            <a:ext cx="6014569" cy="358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부동산 소유주 특별부과금과 자체 사업 수익(키오스크 임대, 이벤트 등)만으로 3,000만 달러 예산 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537" y="3749774"/>
            <a:ext cx="2953549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🏢 주변 소유주 특별부과금 (Assessment)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8408" y="3749774"/>
            <a:ext cx="538843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37" y="4086324"/>
            <a:ext cx="3438597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🎟️ 공원 자체 상업 수익 (매점, 스케이트장, 스폰서십)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19797" y="4086324"/>
            <a:ext cx="536829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37" y="4638774"/>
            <a:ext cx="5990638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"시 예산에 의존하지 않아 관료주의적 결재를 피하고, 오직 상권 가치 보존에만 전념하여 신속히 집행"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695674"/>
            <a:ext cx="3423060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PERFORMANCE OUTCOMES (POST-1988)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3022699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범죄 해방구에서 뉴욕 최고 명소로의 도약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4785" y="3489424"/>
            <a:ext cx="21875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강력 범죄율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4785" y="3629124"/>
            <a:ext cx="218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latin typeface="Pretendard Variable"/>
              </a:defRPr>
            </a:pPr>
            <a:r>
              <a:rPr sz="2700" b="1">
                <a:solidFill>
                  <a:srgbClr val="000000"/>
                </a:solidFill>
                <a:latin typeface="Pretendard Variable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4785" y="3921224"/>
            <a:ext cx="946840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슬럼가 완전 탈피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744" y="3489424"/>
            <a:ext cx="21875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연간 방문객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5744" y="3629124"/>
            <a:ext cx="218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latin typeface="Pretendard Variable"/>
              </a:defRPr>
            </a:pPr>
            <a:r>
              <a:rPr sz="2700" b="1">
                <a:solidFill>
                  <a:srgbClr val="000000"/>
                </a:solidFill>
                <a:latin typeface="Pretendard Variable"/>
              </a:rPr>
              <a:t>1,200만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744" y="3921224"/>
            <a:ext cx="1154435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인구 밀집도 최고 도달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4295874"/>
            <a:ext cx="6014569" cy="55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🛋️ **혁신 기법**: 못박힌 벤치를 치우고, 프랑스 뤽상부르 공원 스타일의 **이동식 개별 의자 2,000개**를 배치해 시민들이 보행과 쉼을 스스로 조율하도록 자율성 부여.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27257" y="5242024"/>
            <a:ext cx="8780739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민간 비즈니스 기법과 자체 재원 마련을 통해 도심 공공 공간을 복합 문화 랜드마크로 전환한 성공 모델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4949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브라이언트 파크 부동산 파급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7997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공원의 부활이 견인한 주변 오피스 임대료 급등과 재개발 촉진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206" y="3437036"/>
            <a:ext cx="101517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ANCHOR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1338" y="3576736"/>
            <a:ext cx="1543011" cy="377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브라이언트 공원 리노베이션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31463" y="3913286"/>
            <a:ext cx="982662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7,000평 도심 녹지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38419" y="2775049"/>
            <a:ext cx="2095447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PROPERTY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38419" y="2905224"/>
            <a:ext cx="2095447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Grace Building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8419" y="3108424"/>
            <a:ext cx="2539936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공원 개보수 직후 공실률 제로 수렴 • 1년 만에 임대료 60% 초고속 폭등 • 공원 조망 보유에 따른 프리미엄 획득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3307" y="2775049"/>
            <a:ext cx="2095447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PROPERTY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3307" y="2905224"/>
            <a:ext cx="253993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1095 Ave of the Americas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3307" y="3108424"/>
            <a:ext cx="2539936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건물 전면을 통유리 파사드로 리노베이션 • 글로벌 운용사 BlackRock 본사 유치 • 공원을 앞마당으로 활용하는 거점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281" y="4181574"/>
            <a:ext cx="2997125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MARKET VALUE RERATING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281" y="4311749"/>
            <a:ext cx="2997125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주변 임대 시장 Rerating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4281" y="4514949"/>
            <a:ext cx="299712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"공원과 인접해 있을수록 평방피트당 임대료가 경쟁 건물 대비 평균 15~22% 할증 거래되는 현상 고착화"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0625" y="5188049"/>
            <a:ext cx="8264616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환경 개선이 인근 오피스의 수요와 자산 가치 상승을 직접적으로 유도함을 입증한 랜드마크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6385" y="2611139"/>
            <a:ext cx="1692917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2856" y="2947689"/>
            <a:ext cx="6499975" cy="1181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뉴욕시 BID 가치 분석 타임스퀘어 재생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6315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타임스스퀘어의 몰락 (Before 1984)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67953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세계 최악의 우범 지대였던 42번가 타임스스퀘어의 실태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517874"/>
            <a:ext cx="2294733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STREET DECAY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844899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성인 유흥업 점령과 가로 환경 붕괴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1533" y="3305274"/>
            <a:ext cx="4562995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🔞 성인 상점 난립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1533" y="3489424"/>
            <a:ext cx="3489495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42번가 일대 150여 개 성인 극장 및 유흥 상점 무질서 점령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1533" y="3914874"/>
            <a:ext cx="4562995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🚬 비공식 마약 밀매 거점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1533" y="4099024"/>
            <a:ext cx="355093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조도 부족과 치안 공백을 틈탄 뉴욕 최대의 마약 소매 기지화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37" y="4473674"/>
            <a:ext cx="6014569" cy="55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⚠️ **주변 부동산의 파탄**: 임차인을 구하지 못한 빌딩 소유주들이 고의 방화나 관리를 방치하여 빌딩 붕괴 현상 다수 발생.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838" y="2517874"/>
            <a:ext cx="298676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SLUM CRISIS STATS (BEFORE 1984)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844899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통제력을 상실했던 공권력 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0184" y="3387824"/>
            <a:ext cx="2113862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강력 범죄 건수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0184" y="3552924"/>
            <a:ext cx="2113862" cy="332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50">
                <a:latin typeface="Pretendard Variable"/>
              </a:defRPr>
            </a:pPr>
            <a:r>
              <a:rPr sz="2850" b="1">
                <a:solidFill>
                  <a:srgbClr val="000000"/>
                </a:solidFill>
                <a:latin typeface="Pretendard Variable"/>
              </a:rPr>
              <a:t>연 2,300건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184" y="3883124"/>
            <a:ext cx="1040927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도심 최악의 범죄율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1143" y="3387824"/>
            <a:ext cx="2113862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주변 오피스 가치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143" y="3552924"/>
            <a:ext cx="2113862" cy="332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50">
                <a:latin typeface="Pretendard Variable"/>
              </a:defRPr>
            </a:pPr>
            <a:r>
              <a:rPr sz="2850" b="1">
                <a:solidFill>
                  <a:srgbClr val="000000"/>
                </a:solidFill>
                <a:latin typeface="Pretendard Variable"/>
              </a:rPr>
              <a:t>-50% 폭락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143" y="3883124"/>
            <a:ext cx="948423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기업 이탈 가속화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838" y="4689574"/>
            <a:ext cx="601456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🚨 "관광객들이 낮에도 절대 진입을 기피하여 맨해튼의 얼굴이었던 타임스스퀘어가 우범지대의 대명사로 전락"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9126" y="5419824"/>
            <a:ext cx="7946012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치안 공백과 유흥업 난립이 도심 전체의 공실률과 자산 가치 폭락에 미치는 부정적 영향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4727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타임스스퀘어의 재생 (After 1992)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5207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Times Square Alliance BID 설립 후 범죄율 97% 감소의 실증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501999"/>
            <a:ext cx="2577083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PRIVATE PROTECTION FORCE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82902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자체 미화단 및 민간 순찰대(PSA) 가동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136999"/>
            <a:ext cx="6014569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시 경찰과 연계하는 무장 해제 민간 경비단(Public Safety Officers)을 24시간 도심에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1533" y="3524349"/>
            <a:ext cx="5603099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🧹 24시간 쓰레기 수거 및 고압 살수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1533" y="3708499"/>
            <a:ext cx="3543965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깨진 유리창 이론 차단: 낙서와 전단을 2시간 내에 완전 제거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1533" y="4133949"/>
            <a:ext cx="4562995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👮 NYPD 공동 밀착 협업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533" y="4318099"/>
            <a:ext cx="3709339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무전 채널 공유 및 매주 범죄 핫스팟 정보를 공유하여 예방 배치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37" y="4832449"/>
            <a:ext cx="5738113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"단순 순찰에 그치지 않고, 가로등 조도를 3배 높이고 노상 불법 행위를 민관 합동으로 지속 단속"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501999"/>
            <a:ext cx="2204367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EMPIRICAL CRIME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282902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범죄 해방구 딱지를 뗀 대전환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4785" y="3244949"/>
            <a:ext cx="1123217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1992 (BID 설립)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4785" y="3368774"/>
            <a:ext cx="1123217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범죄 최고점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8789" y="3705324"/>
            <a:ext cx="1784414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1998~현재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8789" y="3829149"/>
            <a:ext cx="1784414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전체 범죄 97% 감소 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4785" y="4597499"/>
            <a:ext cx="562595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🔑 **지구 청결 관리와 범죄 예방의 인과성**: 깨진 유리창 이론을 도시 행정에 완벽히 이식하여, 깨끗하고 조명이 밝아진 거리에 우범 분자들이 스스로 자취를 감춤.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3701" y="5435699"/>
            <a:ext cx="8937719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전담 안전/청소 인력 상주 등 민간 거버넌스의 신속한 의사결정으로 범죄율을 획기적으로 낮춘 혁신 사례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39650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타임스스퀘어 보행화 및 매출 폭등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701303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차도 축소와 광장 조성이 이끌어낸 보행량 11% 증가 및 매출 71% 폭등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651224"/>
            <a:ext cx="321464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JAN GEHL'S SPATIAL REDESIGN (2009)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978249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차도를 차단한 영구 보행자 전용 공간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286224"/>
            <a:ext cx="6014569" cy="3581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뉴욕시 교통국과 BID가 협업하여 브로드웨이 차도를 차단하고 임시 컬러 페인팅과 아웃도어 의자 배치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537" y="3705324"/>
            <a:ext cx="54862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3930" y="3740249"/>
            <a:ext cx="2816749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차량 혼잡, 매연, 협소한 보도로 보행 불가능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537" y="3984724"/>
            <a:ext cx="54862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3930" y="4019649"/>
            <a:ext cx="2933368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보행량 11% 즉각 상승 및 체류 시간 3배 연장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2484" y="4448274"/>
            <a:ext cx="562595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"보행자가 머물 수 있는 의자와 테이블을 비치하자마자, 가로 매장 매출이 상상을 초월해 급증하기 시작"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651224"/>
            <a:ext cx="3105528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ECONOMIC PERFORMANCE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2978249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가로 보행화가 낳은 세수/매출 폭발 성과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4785" y="3444974"/>
            <a:ext cx="21875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소매 매장 매출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4785" y="3584674"/>
            <a:ext cx="2187520" cy="4533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50">
                <a:latin typeface="Pretendard Variable"/>
              </a:defRPr>
            </a:pPr>
            <a:r>
              <a:rPr sz="2850" b="1">
                <a:solidFill>
                  <a:srgbClr val="000000"/>
                </a:solidFill>
                <a:latin typeface="Pretendard Variable"/>
              </a:rPr>
              <a:t>+71%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4785" y="4010124"/>
            <a:ext cx="1247084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도심 상권 역사적 신기록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5744" y="3444974"/>
            <a:ext cx="21875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지구 연간 세수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5744" y="3584674"/>
            <a:ext cx="2187520" cy="4533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850">
                <a:latin typeface="Pretendard Variable"/>
              </a:defRPr>
            </a:pPr>
            <a:r>
              <a:rPr sz="2850" b="1">
                <a:solidFill>
                  <a:srgbClr val="000000"/>
                </a:solidFill>
                <a:latin typeface="Pretendard Variable"/>
              </a:rPr>
              <a:t>24억$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744" y="4010124"/>
            <a:ext cx="1362174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뉴욕 전체 세수의 지대한 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4556224"/>
            <a:ext cx="601456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🔑 **보행 경제(Pedestrian Economy)**: 차도를 없애면 경제가 망할 것이라는 상인들의 우려를 완전히 불식하고, 보행자가 곧 돈이라는 명제를 실증한 전환점.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2145" y="5286474"/>
            <a:ext cx="8547322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차도를 보행 광장으로 전환하여 통행량을 늘리고 가로 상업 매출 및 세수를 극대화한 가치 창출 흐름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2955" y="2883495"/>
            <a:ext cx="169967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9070" y="3220045"/>
            <a:ext cx="10787546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플레이스메이킹과 에리어매니지먼트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38380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허드슨야드 혁신: 입지 vs 장소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688603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전통적 "입지(Location)" 패러다임을 파괴한 최초의 공간 가치 선언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638524"/>
            <a:ext cx="2696023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LEGACY REAL ESTATE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965549"/>
            <a:ext cx="56488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외생적 입지 결정론 (Location)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346549"/>
            <a:ext cx="5648818" cy="291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• 전철역과의 단순 거리(도보 분수) 위주 평가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537" y="3648174"/>
            <a:ext cx="5648818" cy="291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• 전통적으로 형성된 강남/여의도 등 간판 입지 의존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37" y="3949799"/>
            <a:ext cx="5648818" cy="291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• 건물 단독 빌딩 스펙과 로비 내부 마감 중심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2484" y="4460974"/>
            <a:ext cx="526020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🚧 "빌딩 바깥 가로 환경이 아무리 황폐하고 쓰레기가 넘쳐도 소유주가 제어하지 못하는 방치형 구조"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1814" y="3495255"/>
            <a:ext cx="796807" cy="2244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>
                <a:latin typeface="Pretendard Variable"/>
              </a:defRPr>
            </a:pPr>
            <a:r>
              <a:rPr sz="750" b="1">
                <a:solidFill>
                  <a:srgbClr val="000000"/>
                </a:solidFill>
                <a:latin typeface="Pretendard Variable"/>
              </a:rPr>
              <a:t>RENT SURGE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4157" y="3606221"/>
            <a:ext cx="1058270" cy="3246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100">
                <a:latin typeface="Pretendard Variable"/>
              </a:defRPr>
            </a:pPr>
            <a:r>
              <a:rPr sz="2100" b="1">
                <a:solidFill>
                  <a:srgbClr val="000000"/>
                </a:solidFill>
                <a:latin typeface="Pretendard Variable"/>
              </a:rPr>
              <a:t>+40%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6374" y="3814406"/>
            <a:ext cx="879088" cy="2398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임대료 프리미엄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0032" y="2638524"/>
            <a:ext cx="327286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5TH GENERATION AREA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0032" y="2965549"/>
            <a:ext cx="56488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통합 장소 가치 창조론 (Place)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0032" y="3346549"/>
            <a:ext cx="5648818" cy="291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• 지구 전체의 쾌적성, 청결, 보안을 하나의 브랜딩으로 통합 통제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0032" y="3648174"/>
            <a:ext cx="5648818" cy="291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• 야외 광장, 아트 갤러리, 정기 이벤트(소프트웨어)의 상시 프로그래밍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0032" y="3949799"/>
            <a:ext cx="5648818" cy="2914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• 빌딩 로비를 넘어 '가로수, 보도, 대중교통 인프라'까지 민간이 제어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7980" y="4460974"/>
            <a:ext cx="526020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🚀 "Related 컨소시엄은 버려진 철도 기지 위를 뉴욕에서 가장 힙한 '장소'로 둔갑시켜, 미드타운 평균 대비 40% 높은 임대료 프리미엄을 방어함"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9853" y="5299174"/>
            <a:ext cx="8915395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물리적 입지의 한계를 뛰어넘어 독창적인 장소 가치 창조로 주변 시세 대비 프리미엄을 확보한 개발 방식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3171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허드슨야드 트로피타워 임대료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6219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미드타운 평균 대비 10~20% 임대료 할증을 지불하는 글로벌 테넌트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571849"/>
            <a:ext cx="2599942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RENT PREMIUM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89887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미드타운 평균 대비 압도적 임대 스펙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257649"/>
            <a:ext cx="3240006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🏢 허드슨야드 트로피 타워군 (10/30 HY 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5894" y="3257649"/>
            <a:ext cx="1584126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$120 ~ $150 / 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37" y="3705324"/>
            <a:ext cx="2525649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🌆 맨해튼 미드타운 평균 임대 가격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64692" y="3705324"/>
            <a:ext cx="1196731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$80 ~ $95 / SF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37" y="4419699"/>
            <a:ext cx="6014569" cy="55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📈 **프리미엄 지불 의사**: KKR, BlackRock 등 글로벌 IB들은 임직원 리텐션을 위한 최고 환경 보장을 위해 평방피트당 $140 이상의 초고가 임대료를 기꺼이 승인함.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838" y="2571849"/>
            <a:ext cx="2466357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GLOBAL ANCHOR TENANTS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89887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허드슨야드 주요 마천루별 입주사 스펙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3834" y="3359249"/>
            <a:ext cx="5603099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🏢 30 Hudson Yards (100층 타워)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3834" y="3543399"/>
            <a:ext cx="2899436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KKR, Wells Fargo, WarnerMedia 본사 입주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3834" y="3968849"/>
            <a:ext cx="5603099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🏢 50 Hudson Yards (신축 앵커)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3834" y="4152999"/>
            <a:ext cx="3143925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BlackRock (명목 임대 면적 최대 규모), Meta 입주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4635599"/>
            <a:ext cx="601456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"초고층 빌딩 내부 레이아웃과 공원 전망, 보행자 친화 환경이 글로벌 공룡 IT/금융 회사 유치의 킬러 컨텐츠가 됨"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9853" y="5365849"/>
            <a:ext cx="8915395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글로벌 하이테크 및 금융 앵커 임차인들이 직원 생산성 향상을 위해 고액의 임대료 할증을 수용하는 현상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4949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도쿄 마루노우치 에리어매니지먼트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7997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미쓰비시 지쇼 주도 하에 도로를 보행자 광장으로 바꾼 공공 공간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084" y="2648049"/>
            <a:ext cx="21875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GOVERNANCE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084" y="2787749"/>
            <a:ext cx="2187520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OMY 에리어 매니지먼트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5727" y="3009999"/>
            <a:ext cx="2654233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치요다구와 미쓰비시지쇼 간의 연대 • 가로 전반의 일관성 있는 디자인 통제 • 지구 경제 활성화용 이벤트 총괄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0431" y="3930749"/>
            <a:ext cx="2539936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STREET ACTIVATION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0431" y="4070449"/>
            <a:ext cx="2539936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나카도리(Naka-dori) 보행화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0431" y="4464149"/>
            <a:ext cx="2539936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차량 차도를 영구 보행광장으로 전환 • 가로수 식재 및 고급 테이블/의자 비치 • 연중 무휴 푸드트럭 및 오픈 마켓 유치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565" y="4102199"/>
            <a:ext cx="2095447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REGULATORY LEAP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565" y="4241899"/>
            <a:ext cx="2095447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도로 점용 규제 완화 협의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5320" y="4464149"/>
            <a:ext cx="2539936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공공 도로 상업 행위 허용권 취득 • 주변 빌딩들의 용적률 인센티브 획득 • 지구 내 자산들의 가치 선순환 보장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0949" y="5188049"/>
            <a:ext cx="8731448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민간 주도의 유기적 거버넌스를 통해 차도를 보행자 중심 가로로 개조하고 지역 매력을 높인 선진 사례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917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마루노우치 공실률 방어 및 거래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965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공실률 1.40% 유지와 건물주가 임차인을 선택하는 시장의 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546449"/>
            <a:ext cx="2653697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VACANCY RATE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87347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도쿄 평균 대비 절반 수준 이하인 OMY 지구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232249"/>
            <a:ext cx="2340452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🌆 도심 주요 5개구 평균 공실률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6492" y="3232249"/>
            <a:ext cx="701121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6.40%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37" y="3679924"/>
            <a:ext cx="2769780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🏢 마루노우치 OMY 지구 평균 공실률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9341" y="3679924"/>
            <a:ext cx="2027921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1.40% (사실상 완전 임차)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37" y="4445099"/>
            <a:ext cx="6014569" cy="554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📊 **완전 임차 도달 효과**: 공실률 1.4%는 자연 발생적인 공실 수준 이하로, 건물주가 입주 대기 임차인들을 면접하여 임차 업종과 브랜드를 골라서 받는 '임차인 선별제'를 가동하게 만듭니다.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6838" y="2546449"/>
            <a:ext cx="2477430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ASSET TRANSACTION SPEC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87347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역사적 재개발 거래 및 자산 가치 방어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3834" y="3333849"/>
            <a:ext cx="5603099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💰 ¥4,200억 역사적 재개발 거래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3834" y="3517999"/>
            <a:ext cx="3149283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도쿄역 바로 뒤 빌딩 지분 거래로 사상 최고 지가 갱신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3834" y="3943449"/>
            <a:ext cx="5603099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🏢 미쓰비시 지쇼의 포트폴리오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3834" y="4127599"/>
            <a:ext cx="426118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OMY 지구 내 약 30개 동 오피스를 수직 계열화하여 자산 가치 상호 방증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838" y="4660999"/>
            <a:ext cx="601456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"에리어 매니지먼트가 완성한 공간 브랜딩이 금융 위기나 장기 불황 속에서도 오피스 공실 대란을 차단하는 방어막 역할을 수행"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4271" y="5391249"/>
            <a:ext cx="9835665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지속적인 지역 가치 제고를 통해 경기 침체기에도 도심 오피스의 안정적인 초저공실률과 자산 가치를 방어하는 구조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155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롯폰기힐스 복합 생태계 부가가치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203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일, 휴식, 주거, 예술이 결합되어 투자가치 60% 순증을 달성한 비결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470249"/>
            <a:ext cx="296801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VERTICAL GARDEN CITY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79727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롯폰기 힐스 모리타워의 복합 용도 수직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6134" y="3232249"/>
            <a:ext cx="5694537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🎨 TOP LEVEL (52F ~ 54F)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134" y="3413224"/>
            <a:ext cx="3370555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Mori Art Museum (미술관), 도심 전망대, 롯폰기 힐즈 클럽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6134" y="3730724"/>
            <a:ext cx="5694537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💼 MIDDLE LEVEL (7F ~ 51F)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6134" y="3911699"/>
            <a:ext cx="2943191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골드만삭스, 구글 등 글로벌 금융/IT 앵커 기업 오피스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6134" y="4229199"/>
            <a:ext cx="5694537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🏨 LOWER LEVEL &amp; GROUND (B6F ~ 6F)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6134" y="4410174"/>
            <a:ext cx="3670406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Grand Hyatt Hotel, 로드 매장, 아사히TV, 정원 공원, 주거동 연계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537" y="4861024"/>
            <a:ext cx="6014569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"일과 생활, 여가와 문화가 단 한 보의 수직 동선으로 해결되는 수직 계열 생태계 구축"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2470249"/>
            <a:ext cx="2173114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ECONOMIC 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838" y="279727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복합 용도 시너지가 낳은 자산가치 폭증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4785" y="3263999"/>
            <a:ext cx="21875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투자 가치 상승률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4785" y="3403699"/>
            <a:ext cx="218752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latin typeface="Pretendard Variable"/>
              </a:defRPr>
            </a:pPr>
            <a:r>
              <a:rPr sz="2700" b="1">
                <a:solidFill>
                  <a:srgbClr val="000000"/>
                </a:solidFill>
                <a:latin typeface="Pretendard Variable"/>
              </a:rPr>
              <a:t>+60%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4785" y="3810099"/>
            <a:ext cx="1177022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준공 후 자산 가치 순증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5744" y="3263999"/>
            <a:ext cx="21875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오피스 공실률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5744" y="3403699"/>
            <a:ext cx="2187520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latin typeface="Pretendard Variable"/>
              </a:defRPr>
            </a:pPr>
            <a:r>
              <a:rPr sz="2700" b="1">
                <a:solidFill>
                  <a:srgbClr val="000000"/>
                </a:solidFill>
                <a:latin typeface="Pretendard Variable"/>
              </a:rPr>
              <a:t>0%대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5744" y="3810099"/>
            <a:ext cx="1154435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도쿄 평균 압도적 방어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838" y="4397474"/>
            <a:ext cx="6014569" cy="6788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🔑 **지속적인 문화 인센티브**: 모리 미술관(Mori Art Museum)을 통해 연중 예술 프로그램을 상시 가동하여, 단순 빌딩 숲이 아닌 **도쿄에서 가장 방문하고 싶은 복합 문화 타운**의 지위를 유지함.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2335" y="5467449"/>
            <a:ext cx="10274459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문화, 비즈니스, 주거, 여가를 수직으로 결합하여 자산의 공실 위험을 낮추고 장기 자산 가치를 상승시킨 복합 생태계 모델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911052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글로벌 비즈니스 지구 공식 / Key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215852"/>
            <a:ext cx="10159746" cy="504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750">
                <a:latin typeface="Pretendard Variable"/>
              </a:defRPr>
            </a:pPr>
            <a:r>
              <a:rPr sz="3750" b="1">
                <a:solidFill>
                  <a:srgbClr val="000000"/>
                </a:solidFill>
                <a:latin typeface="Pretendard Variable"/>
              </a:rPr>
              <a:t>글로벌 비즈니스 지구의 부활 공식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5588" y="3432472"/>
            <a:ext cx="705437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2276" y="3661072"/>
            <a:ext cx="2311962" cy="28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>
                <a:latin typeface="Pretendard Variable"/>
              </a:defRPr>
            </a:pPr>
            <a:r>
              <a:rPr sz="1650" b="1">
                <a:solidFill>
                  <a:srgbClr val="000000"/>
                </a:solidFill>
                <a:latin typeface="Pretendard Variable"/>
              </a:rPr>
              <a:t>공공 관리 방치로 인한 쇠퇴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9645" y="3334742"/>
            <a:ext cx="726297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7141" y="3563342"/>
            <a:ext cx="2951406" cy="482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>
                <a:latin typeface="Pretendard Variable"/>
              </a:defRPr>
            </a:pPr>
            <a:r>
              <a:rPr sz="1650" b="1">
                <a:solidFill>
                  <a:srgbClr val="000000"/>
                </a:solidFill>
                <a:latin typeface="Pretendard Variable"/>
              </a:rPr>
              <a:t>민관협력 에리어매니지먼트/BID 도입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2146" y="3432472"/>
            <a:ext cx="730469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STEP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1350" y="3661072"/>
            <a:ext cx="2311962" cy="28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650">
                <a:latin typeface="Pretendard Variable"/>
              </a:defRPr>
            </a:pPr>
            <a:r>
              <a:rPr sz="1650" b="1">
                <a:solidFill>
                  <a:srgbClr val="000000"/>
                </a:solidFill>
                <a:latin typeface="Pretendard Variable"/>
              </a:rPr>
              <a:t>지속 가능한 자산 가치 창출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990" y="4597102"/>
            <a:ext cx="11683707" cy="441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※ 행정력 공백으로 슬럼화된 지구를 민관협력 거버넌스(BID/AM) 모델로 재정비함으로써, 집객 효과 증대와 자산 가치 상승의 선순환 구조를 구축하는 것이 핵심 요체입니다.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7364" y="2729507"/>
            <a:ext cx="101086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>
                <a:solidFill>
                  <a:srgbClr val="000000"/>
                </a:solidFill>
                <a:latin typeface="Pretendard Variable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2118" y="3066057"/>
            <a:ext cx="10561452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BID의 탄생 배경과 제도적 메커니즘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8567" y="3712467"/>
            <a:ext cx="7368455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>
                <a:latin typeface="Pretendard Variable"/>
              </a:defRPr>
            </a:pPr>
            <a:r>
              <a:rPr sz="1500">
                <a:solidFill>
                  <a:srgbClr val="000000"/>
                </a:solidFill>
                <a:latin typeface="Pretendard Variable"/>
              </a:rPr>
              <a:t>무임승차를 극복하고 민간 주도의 공공 서비스를 실현한 법제화와 재정적 작동 구조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3073" y="2883495"/>
            <a:ext cx="165954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37377" y="3220045"/>
            <a:ext cx="5370933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BIA/BID 기원과 역사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715466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BIA의 탄생: 토론토 Bloor West BIA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020266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교외형 쇼핑몰 확산에 따른 도심 공동화 위기와 무임승차 문제의 발생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74" y="1970186"/>
            <a:ext cx="1015974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MARKET DISRUPTOR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974" y="2246411"/>
            <a:ext cx="10159746" cy="313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>
                <a:latin typeface="Pretendard Variable"/>
              </a:defRPr>
            </a:pPr>
            <a:r>
              <a:rPr sz="2100" b="1">
                <a:solidFill>
                  <a:srgbClr val="000000"/>
                </a:solidFill>
                <a:latin typeface="Pretendard Variable"/>
              </a:rPr>
              <a:t>교외형 복합 쇼핑몰의 급부상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2519461"/>
            <a:ext cx="5603099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1960년대 북미 쇼핑 문화의 근본적 이동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6134" y="2890936"/>
            <a:ext cx="4305192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🚗 무제한 무료 주차장 제공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16134" y="3075086"/>
            <a:ext cx="2168827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자가용 중심 소비 트렌드 완벽 부합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16134" y="3449736"/>
            <a:ext cx="4305192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🛍️ 원스톱 쾌적 실내 환경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6134" y="3633886"/>
            <a:ext cx="2859968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기후 영향이 없는 안전한 중앙 집중식 보행 공간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6134" y="4008536"/>
            <a:ext cx="4305192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📈 대형 백화점 앵커 유치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6134" y="4192686"/>
            <a:ext cx="2951049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집객력을 극대화하여 도심 가로 상점의 고객 흡수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9142" y="2703611"/>
            <a:ext cx="102740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TRAFFIC OUTFLOW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4842" y="2951261"/>
            <a:ext cx="955904" cy="39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상권 고객 80% 이탈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5974" y="2181324"/>
            <a:ext cx="1015974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DECAYING DOWNTOWN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432" y="2457549"/>
            <a:ext cx="5603099" cy="313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>
                <a:latin typeface="Pretendard Variable"/>
              </a:defRPr>
            </a:pPr>
            <a:r>
              <a:rPr sz="2100" b="1">
                <a:solidFill>
                  <a:srgbClr val="000000"/>
                </a:solidFill>
                <a:latin typeface="Pretendard Variable"/>
              </a:rPr>
              <a:t>토론토 Bloor West 가로 상권의 붕괴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432" y="2730599"/>
            <a:ext cx="5603099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방치된 가로 환경과 상인들의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3379" y="3083024"/>
            <a:ext cx="1171411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1960년대 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3379" y="3200499"/>
            <a:ext cx="1171411" cy="212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공실률 2% 이하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5815" y="3352899"/>
            <a:ext cx="1617388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1968년 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5815" y="3476724"/>
            <a:ext cx="1617388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공실률 25% 돌파 ⚠️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432" y="3889474"/>
            <a:ext cx="5603099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🚧 가로등 노후화, 보도블록 유실, 청소 공백으로 밤거리가 어두워지며 슬럼화 발생. 상인 각자도생으로 활로 모색 불가.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3738" y="5024536"/>
            <a:ext cx="13329586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자발적 협회의 치명적 무임승차(FREE-RIDER) 딜레마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0088" y="5278536"/>
            <a:ext cx="2882669" cy="332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비용 분담 25%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82967" y="5278536"/>
            <a:ext cx="10043543" cy="332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무임승차 75% (혜택만 독점)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3738" y="5602386"/>
            <a:ext cx="2997482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💰 "소수가 낸 가로 개선 비용으로 청결해진 거리"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22359" y="5602386"/>
            <a:ext cx="4584069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🚫 "아무 돈도 내지 않은 대다수 상인이 낙수 혜택 독점 ➔ 협회 회비 고갈 파산"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1676" y="5967511"/>
            <a:ext cx="9700831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기부 형식의 자발적 협회가 지닌 무임승차 한계를 극복하기 위해 제도적 강제 과세의 필요성을 확인한 역사적 배경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569541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온타리오 지방자치법 제361조 개정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874341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무임승차자를 원천 차단하기 위한 강제 특별부과금 체계의 법제화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1230" y="2836961"/>
            <a:ext cx="890877" cy="250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STEP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68085" y="2836961"/>
            <a:ext cx="81103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1969년 초기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1230" y="3097311"/>
            <a:ext cx="296697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자발적 한계 봉착 &amp; 탄원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1230" y="3338611"/>
            <a:ext cx="3621830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Bloor West 상인 협회의 청원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1230" y="3573561"/>
            <a:ext cx="3621830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상인들의 대대적인 지방자치법 개정 요구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1230" y="3722786"/>
            <a:ext cx="3621830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공동 개선 비용의 의무 부과 제도 건의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230" y="3872011"/>
            <a:ext cx="3621830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상인 186명의 자발적 서명 동의서 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3778" y="4414936"/>
            <a:ext cx="237742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"소비자 이탈을 막을 유일한 수단 청구"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0238" y="3040161"/>
            <a:ext cx="908572" cy="250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0988" y="3040161"/>
            <a:ext cx="71852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1969년 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0238" y="3300511"/>
            <a:ext cx="3622008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온타리오 지방자치법 제361조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0238" y="3541811"/>
            <a:ext cx="3622008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특별부과지구(BIA) 신설의 법제화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0238" y="3776761"/>
            <a:ext cx="3622008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• 소유자/상인 과반 동의 시 지구 강제 획정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0238" y="3925986"/>
            <a:ext cx="3622008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• 획정 구역 내 모든 사업자 대상 자기과세권 위임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0238" y="4075211"/>
            <a:ext cx="3622008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• 무임승차(Free-Rider)의 법률적 원천 봉쇄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2786" y="4414936"/>
            <a:ext cx="2502254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"민간 상인의 연대 의무를 공법으로 보장"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9345" y="2836961"/>
            <a:ext cx="912169" cy="2501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STEP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5849" y="2836961"/>
            <a:ext cx="71018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1970년 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9345" y="3097311"/>
            <a:ext cx="3622008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Bloor West BIA 출범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9345" y="3338611"/>
            <a:ext cx="3622008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세계 최초 BIA의 실제 가동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39345" y="3573561"/>
            <a:ext cx="3622008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275개 전체 점포에 공평 분담금 일괄 부과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39345" y="3722786"/>
            <a:ext cx="3622008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시 재무당국이 재산세 고지서에 병기 수납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9345" y="3872011"/>
            <a:ext cx="3622008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수납액 100%를 BIA에 즉각 교부 및 정산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1893" y="4414936"/>
            <a:ext cx="2561367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"가로 청결 및 경관 조명 대대적 개선 완성"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544" y="5113436"/>
            <a:ext cx="8866104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지자체의 행정 징수망을 활용하되 기금의 오퍼레이션은 민간 상인이 전권을 갖는 효율적 민관 협력 구조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04536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뉴욕의 재정난과 치안 공백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350168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1970-80년대 뉴욕시 삼중고(재정난·범죄율·인프라 노후화)와 BID의 채택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729309"/>
            <a:ext cx="2612622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NYC FISCAL DEFICIT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305633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뉴욕시 공공 서비스의 강제 감축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415109"/>
            <a:ext cx="1492371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👮 경찰/치안 인력 규모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9120" y="3415109"/>
            <a:ext cx="871312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-20% 삭감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37" y="3837384"/>
            <a:ext cx="1618252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🧹 거리 미화 및 청소 예산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88127" y="3837384"/>
            <a:ext cx="872750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-35% 감축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37" y="4259659"/>
            <a:ext cx="2591013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🚨 미드타운 42번가 강력 범죄 건수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2535" y="4259659"/>
            <a:ext cx="837360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2.4배 폭등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8" y="2729309"/>
            <a:ext cx="2827108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PRIVATE SELF-TAXATION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838" y="3056334"/>
            <a:ext cx="6014569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공공 공백을 채우는 민간 자조 전환구조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838" y="3364309"/>
            <a:ext cx="6014569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기업들이 본사이전을 결정하는 오피스 붕괴 직전에 소유주들이 결단한 전환 메커니즘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0184" y="3783409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5775" y="3838971"/>
            <a:ext cx="2340988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시 행정 서비스 중단 ➔ 상권 붕괴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6910" y="4067571"/>
            <a:ext cx="1066247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TRANSITION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0184" y="4202509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자조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5775" y="4258071"/>
            <a:ext cx="3280546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소유주의 100% 분담금 추가 납세 ➔ 자체 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838" y="4881959"/>
            <a:ext cx="595634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"일반 지방세로 해결할 수 없는 권역 특화 서비스를 민간의 목적 기금을 징수해 해결하겠다"는 최초의 선언.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63520" y="5637609"/>
            <a:ext cx="10450370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도시 재정 위기 시기에 정부 세부담 없이 민간이 스스로 기금을 모아 청소와 치안 등 기초 공공 서비스를 유지한 위기 대응책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4727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필라델피아 Center City District 성공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5207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'BID 방법론의 교과서'가 증명한 실증 성과와 1,000여 개 지구로의 확산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501999"/>
            <a:ext cx="2161148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OPERATING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829024"/>
            <a:ext cx="5191630" cy="297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CCD 과학적 도시 관리 기법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136999"/>
            <a:ext cx="5191630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단순 가로 청소를 넘어 범죄 예방과 성과 측정을 전용 매뉴얼화한 혁신 사례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41533" y="3524349"/>
            <a:ext cx="3900072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👮 CSR 전담 예방 순찰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1533" y="3708499"/>
            <a:ext cx="3563788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민간 가이드 요원 배치를 통한 범죄 예방 환경 설계(CPTED)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1533" y="4133949"/>
            <a:ext cx="3900072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📊 정량적 세척/미화 지표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1533" y="4318099"/>
            <a:ext cx="3642189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가로 청결 수준을 지표화하여 매일 등급을 매겨 이사회에 공표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537" y="4832449"/>
            <a:ext cx="483588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"치안과 위생을 민간 비영리 협회가 브랜드 자산화하여 고객 만족도를 계량화함"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8850" y="2451199"/>
            <a:ext cx="2611054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CRIME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8850" y="2616299"/>
            <a:ext cx="2611054" cy="37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300">
                <a:latin typeface="Pretendard Variable"/>
              </a:defRPr>
            </a:pPr>
            <a:r>
              <a:rPr sz="3300" b="1">
                <a:solidFill>
                  <a:srgbClr val="000000"/>
                </a:solidFill>
                <a:latin typeface="Pretendard Variable"/>
              </a:rPr>
              <a:t>-50%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8850" y="2965549"/>
            <a:ext cx="1618395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강력 범죄율의 급격한 반감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8850" y="3359249"/>
            <a:ext cx="31800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CCD 출범 후 5년 내 실측 통계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2397" y="2451199"/>
            <a:ext cx="31800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VISITOR SATISFACTION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2397" y="2616299"/>
            <a:ext cx="2611054" cy="37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300">
                <a:latin typeface="Pretendard Variable"/>
              </a:defRPr>
            </a:pPr>
            <a:r>
              <a:rPr sz="3300" b="1">
                <a:solidFill>
                  <a:srgbClr val="000000"/>
                </a:solidFill>
                <a:latin typeface="Pretendard Variable"/>
              </a:rPr>
              <a:t>90%+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2397" y="2965549"/>
            <a:ext cx="152991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지구 청결 및 치안 만족도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2397" y="3359249"/>
            <a:ext cx="31800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방문객 및 소매점 설문 조사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8850" y="3981549"/>
            <a:ext cx="31800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STATE LEGISLATION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8850" y="4146649"/>
            <a:ext cx="2611054" cy="37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300">
                <a:latin typeface="Pretendard Variable"/>
              </a:defRPr>
            </a:pPr>
            <a:r>
              <a:rPr sz="3300" b="1">
                <a:solidFill>
                  <a:srgbClr val="000000"/>
                </a:solidFill>
                <a:latin typeface="Pretendard Variable"/>
              </a:rPr>
              <a:t>40개 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8850" y="4495899"/>
            <a:ext cx="152991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미국 전역 주법 제정 확산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68850" y="4889599"/>
            <a:ext cx="31800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미국 내 40개 주에서 합법성 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2397" y="3981549"/>
            <a:ext cx="31800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TOTAL ACTIVE BIDS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2397" y="4146649"/>
            <a:ext cx="2611054" cy="370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3300">
                <a:latin typeface="Pretendard Variable"/>
              </a:defRPr>
            </a:pPr>
            <a:r>
              <a:rPr sz="3300" b="1">
                <a:solidFill>
                  <a:srgbClr val="000000"/>
                </a:solidFill>
                <a:latin typeface="Pretendard Variable"/>
              </a:rPr>
              <a:t>1,000개+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02397" y="4495899"/>
            <a:ext cx="1512224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미국 전역 BID 지자체 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02397" y="4889599"/>
            <a:ext cx="318000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CCD 모델을 표준으로 삼아 전국 확산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6218" y="5435699"/>
            <a:ext cx="9036478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가로 미화와 도보 순찰 등 가장 기초적인 치안/환경 관리가 지역 상권 부활로 이어진 명확한 인과관계 증명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6385" y="2883495"/>
            <a:ext cx="1692917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7880" y="3220045"/>
            <a:ext cx="6329928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BID 제도적 작동 메커니즘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4314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민간 정부(Private Governments) 이론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7362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보충적이고 배타적인 공공재를 특정 구역에 한정하여 제공하는 거버넌스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75120" y="2648049"/>
            <a:ext cx="2095447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GOVERNMENT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75120" y="2787749"/>
            <a:ext cx="2095447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시 정부 (NYC 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2876" y="3009999"/>
            <a:ext cx="2539936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지방자치 조례 승인권 • 지방세 징수 인프라 연계 고지 • 0% 수수료 100% 반환 보증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2676" y="4102199"/>
            <a:ext cx="2095447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52676" y="4241899"/>
            <a:ext cx="2095447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지구 내 소유주/상인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0431" y="4464149"/>
            <a:ext cx="2539936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추가 자발적 부과금 동의/납부 • 이사회 임원 선출 의결권 행사 • 프리미엄 보완적 서비스 수혜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565" y="4102199"/>
            <a:ext cx="2095447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PRIVATE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565" y="4241899"/>
            <a:ext cx="2095447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지구관리협회 (DMA)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5320" y="4464149"/>
            <a:ext cx="2539936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비영리 운영 법인 발기 • 보완적 서비스 단독 기획/집행 • 구역 내 부동산 가치 디펜스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756" y="5251549"/>
            <a:ext cx="9099520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특정 지구의 공공재 생산을 활성화하기 위해 민간 기구에 법적 부담금 징수 권한을 부여하는 행정학적 배경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312366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특별부과지구(SAD) 지정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617166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부동산 소유주 및 사업자의 과반수 동의를 통한 특별부과지구의 지정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567086"/>
            <a:ext cx="2738527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MASSACHUSETTS STATE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894111"/>
            <a:ext cx="56488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소유자 서명 &amp; 평가액 가중 동의 요건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294161"/>
            <a:ext cx="1186661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소유자 동의 비율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1921" y="3275111"/>
            <a:ext cx="1384617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60% 이상 서명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37" y="3643411"/>
            <a:ext cx="1342033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대상 토지 가치 합산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1190" y="3624361"/>
            <a:ext cx="1342177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51% 초과 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537" y="3973611"/>
            <a:ext cx="1186661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공청회 이의 제기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9122" y="3973611"/>
            <a:ext cx="140317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30일 이내 서면 제출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2484" y="4532411"/>
            <a:ext cx="526020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"소수의 대형 건물주 독주와 대다수 영세 건물주 소외를 균형 있게 막기 위해 가장 까다로운 승인 허들을 설정"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0454" y="3551308"/>
            <a:ext cx="1444779" cy="443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0032" y="2567086"/>
            <a:ext cx="2818357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CALIFORNIA PROP 13 &amp; PROP 218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0032" y="2894111"/>
            <a:ext cx="564881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비례적 부담금 한도 &amp; 투표 요건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0032" y="3294161"/>
            <a:ext cx="1062363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과세 요율 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8295" y="3275111"/>
            <a:ext cx="1600844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Prop 13 연동 제한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0032" y="3643411"/>
            <a:ext cx="1186661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동의서 합산 기준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1819" y="3624361"/>
            <a:ext cx="1421734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평가액 비례 투표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0032" y="3992661"/>
            <a:ext cx="1186661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반대 청원 파기권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50656" y="3973611"/>
            <a:ext cx="1887420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50% 초과 시 자동파기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7980" y="4532411"/>
            <a:ext cx="526020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💡 "납세자 권리 보장(Prop 218)에 의거하여, 각 건물주가 낼 부과금이 당해 지구로부터 받게 될 실질적 혜택에 엄밀히 비례함을 입증해야 함"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9483" y="5370611"/>
            <a:ext cx="10068903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부동산 소유주 과반수 서명과 까다로운 동의 절차를 통해 지구 지정의 법률적 정당성과 이해관계 조율을 확보하는 절차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51526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특별부과금 징수와 100% 교부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820068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재산세와 일괄 징수하여 해당 지구관리협회(DMA)로 100% 반환하는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1230" y="3211909"/>
            <a:ext cx="1102069" cy="240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PROCESS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75417" y="3211909"/>
            <a:ext cx="945402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일괄 징수 인프라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1230" y="3462734"/>
            <a:ext cx="2966973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재산세 고지서 내 병기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1230" y="3684984"/>
            <a:ext cx="3621830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분담금 항목을 별도 추가하여 일괄 우편 발송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1230" y="3910409"/>
            <a:ext cx="296697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징수 비용 최소화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1230" y="4024709"/>
            <a:ext cx="362183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지방세와 동등한 납부 강제력 획득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3778" y="4475559"/>
            <a:ext cx="3324657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"징수 누락률 1% 미만 철저 통제"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0238" y="3364309"/>
            <a:ext cx="1118469" cy="240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PROCESS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8320" y="3364309"/>
            <a:ext cx="852897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체납 방지 대책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0238" y="3615134"/>
            <a:ext cx="2967117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법적 강제력 위임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0238" y="3837384"/>
            <a:ext cx="3622008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지방세 체납 시와 동일한 법적 패널티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0238" y="4062809"/>
            <a:ext cx="3622008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건물 및 자산에 저당권(Lien) 즉각 설정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0238" y="4177109"/>
            <a:ext cx="3622008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높은 연체 이자 부과로 성실 납부 유도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2786" y="4475559"/>
            <a:ext cx="3324836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"재정적 예측 안정성 99% 확보"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9345" y="3211909"/>
            <a:ext cx="1121922" cy="240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PROCESS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7260" y="3211909"/>
            <a:ext cx="969139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100% 자금 이관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39345" y="3462734"/>
            <a:ext cx="2967117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무수수료 즉시 송환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39345" y="3684984"/>
            <a:ext cx="3622008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시 당국의 행정 대행 수수료 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9345" y="3910409"/>
            <a:ext cx="3622008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징수 완료 후 30일 내 DMA 계좌 송금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9345" y="4024709"/>
            <a:ext cx="3622008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• 일반 시 예산과 혼용 금지, 당해 구역 전용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1893" y="4475559"/>
            <a:ext cx="3324836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"납세액 전액이 고스란히 지역에 환원"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6094" y="5167709"/>
            <a:ext cx="9936926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지자체가 세금 고지서로 징수 대행을 수행하되, 수수료 없이 해당 지구로 전액 돌려주어 온전히 환원시키는 재무 흐름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036141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지구성격별 요율 분담 공식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340941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가로 접면, 부지 면적, 감정평가액 등 자산 특성에 맞춘 분담금 배분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74" y="2240061"/>
            <a:ext cx="1015974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INPUT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3738" y="2516286"/>
            <a:ext cx="715754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분담금 산정의 3대 핵심 매개변수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1685" y="3005236"/>
            <a:ext cx="695942" cy="39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8075" y="3005236"/>
            <a:ext cx="28728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📏 가로 접면 길이 (Frontage)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8075" y="3189386"/>
            <a:ext cx="2872826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보행자용 환경 청소, 치안 혜택 범위와 직접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1685" y="3627536"/>
            <a:ext cx="695942" cy="39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8075" y="3627536"/>
            <a:ext cx="3304655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📐 총 부지/연면적 (Square Footage)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8075" y="3811686"/>
            <a:ext cx="3304655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건물 규모 및 입주 테넌트 밀도 비례 정적 공간 가치 반영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1685" y="4249836"/>
            <a:ext cx="695942" cy="39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8075" y="4249836"/>
            <a:ext cx="3118744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💵 재산세 감정가 (Assessed Value)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8075" y="4433986"/>
            <a:ext cx="3118744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자산 소유주의 실제 담세력 및 실질 임대 수익성 추종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5974" y="2240061"/>
            <a:ext cx="1015974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NYC EMPIRICAL CASE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3227" y="2516286"/>
            <a:ext cx="537450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뉴욕 주요 BID의 실증 산정식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175" y="3005236"/>
            <a:ext cx="1856832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Times Square BID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4784" y="3011586"/>
            <a:ext cx="928570" cy="240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정률세 방식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1175" y="3192561"/>
            <a:ext cx="4985895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부동산 공시가격(Assessed Value)의 약 0.3% 수준을 매년 분담금으로 부과하여 대형 자산에 높은 책임 부여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1175" y="3798986"/>
            <a:ext cx="1092718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Flatiron BID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5531" y="3805336"/>
            <a:ext cx="1028986" cy="240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혼합식 가중치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1175" y="3986311"/>
            <a:ext cx="4985895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상업용 연면적당 연 $0.17 부과 및 가로 접면 길이에 비례한 가중치를 종합 계산하여 합산 부과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1175" y="4592736"/>
            <a:ext cx="1374978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주거용 부동산 특례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4136" y="4599086"/>
            <a:ext cx="828009" cy="2406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감면 혜택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1175" y="4780061"/>
            <a:ext cx="4985895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지구 내 주거용 세대에 대해서는 마찰 회피 및 주민 동의 유도를 위해 연간 $1 수준의 형식적 과세만 적용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47289" y="5646836"/>
            <a:ext cx="9068803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각 자산의 가로 면적, 부지 규모, 평가 가치에 비례하여 징수액을 정교하게 나누는 합리적 형평성 달성 장치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19647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보완적 서비스(Supplemental)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0127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기존 시의 행정 서비스를 대체하지 않고 추가적으로 보완하는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74" y="2400399"/>
            <a:ext cx="1015974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BASE-LEVEL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676624"/>
            <a:ext cx="504177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시 정부 기본 행정 서비스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2956024"/>
            <a:ext cx="6197445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시가 세금으로 의무 제공하는 표준 공공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2484" y="335924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👮 일반 치안 및 소방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2484" y="3543399"/>
            <a:ext cx="2869255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일반 경찰 순찰 노선 운영 및 형사 사건사고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2484" y="398154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🚛 표준 위생 청소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2484" y="4165699"/>
            <a:ext cx="2869255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도로 위 가로 쓰레기 수거함 비우기 및 일일 청소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2484" y="4603849"/>
            <a:ext cx="5808834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⚠️ 행정 철수 금지 (Base-Level Lock-in)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2484" y="4787999"/>
            <a:ext cx="3562538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시 정부는 BID 구역 지정 후 기존 투입 자원을 축소할 수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4873" y="3556099"/>
            <a:ext cx="695942" cy="39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974" y="2400399"/>
            <a:ext cx="1015974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SUPPLEMENTAL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240" y="2676624"/>
            <a:ext cx="504177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BID 보완적 스페셜 서비스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240" y="2956024"/>
            <a:ext cx="6197445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DMA 주도로 추가 제공하는 부가가치 서비스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187" y="335924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🧹 고밀도 위생 케어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187" y="3543399"/>
            <a:ext cx="299391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매일 수회 가로 빗자루 청소 및 정기 고압수 물세척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187" y="398154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🛡️ 민간 전용 순찰대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187" y="4165699"/>
            <a:ext cx="3436811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비무장 순찰 요원 배치, 취약점 모니터링, 안전 핫라인 가동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187" y="460384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🎨 적극적 플레이스메이킹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187" y="4787999"/>
            <a:ext cx="346735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화단 가로수 가로등 미화, 특별 축제 개최, 공공 디자인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2135" y="5486499"/>
            <a:ext cx="9591177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기존 시정부의 청소/치안 의무 예산을 대체하지 않고, 오직 추가적인 고품질 환경 정비에만 기금을 투입하는 원칙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84417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지구관리협회(DMA) 이사회 구성 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14897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소수 자본의 독점을 방지하기 위한 이사회 법적 인적 구성 강제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0188" y="4838799"/>
            <a:ext cx="9706188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대형 소유주, 소상공인, 지역 공무원이 의사결정 보드를 공유하여 독점을 방지하고 투명한 공공성을 유지하는 지침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887339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4단계 설립 프로세스 타임라인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192139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기획에서 출범까지 평균 3~6년이 소요되는 정교한 민주적 의사결정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998" y="3266479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9593" y="3545879"/>
            <a:ext cx="2523585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🗺️ 기획 및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9593" y="3755429"/>
            <a:ext cx="933605" cy="23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9593" y="3971329"/>
            <a:ext cx="3071418" cy="509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핵심 건물주 발기인단 구성 • 대상 필지 정밀 획정 (Boundary) • 지구별 도시 기본 현황 조사 실시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3423" y="3266479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2017" y="3545879"/>
            <a:ext cx="2523585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📢 홍보 및 동의 획득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2017" y="3755429"/>
            <a:ext cx="979785" cy="23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OUTREACH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2017" y="3971329"/>
            <a:ext cx="3071418" cy="509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정기 공청회 및 건물주 서명회 • 소상공인 젠트리피케이션 대책 논의 • 과반수 동의율 확보 (서명 수집)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3266479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1" y="3545879"/>
            <a:ext cx="2523585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⚖️ 공청회 및 입법화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1" y="3755429"/>
            <a:ext cx="1050997" cy="23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LEGISLATIVE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1" y="3971329"/>
            <a:ext cx="3071418" cy="509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시 정부 주관 공식 청문회 개최 • 법정 이의 신청서 접수 및 타당성 심사 • 시의회 최종 설립 조례안 통과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8272" y="3266479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6866" y="3545879"/>
            <a:ext cx="2523585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🚀 법인 설립 및 출범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6866" y="3755429"/>
            <a:ext cx="878505" cy="23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STARTUP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6866" y="3971329"/>
            <a:ext cx="3071418" cy="509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비영리법인(DMA) 정식 법인 등기 • 시 재무국과 분담금 수납 위탁 계약 • 첫 특별부과금 징수 및 청소/보안 개시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402" y="4795639"/>
            <a:ext cx="9986395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기획부터 입법, 공청회 수렴까지 평균 수년의 소요 기간을 통해 사업 실행 시의 분쟁과 리스크를 선제 제어하는 로드맵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2955" y="2883495"/>
            <a:ext cx="169967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6149" y="3220045"/>
            <a:ext cx="5973290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법적 판례와 실패/비판론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1681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Kessler 판결: 1인 1표 원칙 예외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21618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Kessler v. Grand Central DMA 판결이 인정한 부동산 소유자 편중 의결권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849959"/>
            <a:ext cx="2211689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PLAINTIFF'S ARGUMENT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3126184"/>
            <a:ext cx="61974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원고: Kessler &amp; 지역 거주민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405584"/>
            <a:ext cx="6197445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헌법상 "1인 1표(One Person, One Vote)" 평등권 주장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2484" y="3808809"/>
            <a:ext cx="5808834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⚖️ 수정헌법 제14조 평등권 침해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2484" y="3992959"/>
            <a:ext cx="575115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지구관리협회(DMA)는 세금을 징수하고 치안/미화를 집행하므로 사실상의 지방 행정 기구라고 주장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2484" y="4431109"/>
            <a:ext cx="5808834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🚫 부동산 소유자 이사회 독점 반대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2484" y="4615259"/>
            <a:ext cx="5715253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소유주 지분 비율 과반을 강제한 조례는 주거용 세대와 일반 상인의 민주적 투표 지분을 훼손하여 불평등 유발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5240" y="2849959"/>
            <a:ext cx="2402422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FEDERAL COURT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5240" y="3126184"/>
            <a:ext cx="504177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연방 제2항소법원 판결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240" y="3405584"/>
            <a:ext cx="6197445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"제한 목적 특수 실체(Special/Limited Purpose Entity)" 인정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187" y="3808809"/>
            <a:ext cx="5808834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🏛️ 일반 행정 공권력의 부재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187" y="3992959"/>
            <a:ext cx="5413259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BID는 형사법 집행, 교육, 조세율 결정 등 일반 시 정부 수준의 절대적 통제 권한이 없음을 선언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187" y="443110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🔑 비례적 책임/의결권 용인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187" y="4615259"/>
            <a:ext cx="578168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실질 세원 부담자인 부동산 소유자가 더 큰 리스크를 안고 있으므로, 1인 1표 헌법주의 예외 적용 합법 판결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7190" y="5466159"/>
            <a:ext cx="9752979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자산 규모에 비례한 의결권 배분이 합헌임을 인정한 판례로, 투자 비례 효율성과 공공 책임성의 균형을 인정한 결정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739106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로체스터시(2024) 설립 무산 실패기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043906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젠트리피케이션 및 저소득층 축출 우려로 무산된 사례 분석 (Rochester, 2024)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3738" y="3397646"/>
            <a:ext cx="1797540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01. ECONOMIC BURDEN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3738" y="3604021"/>
            <a:ext cx="4002939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임대료 전가 및 이중과세 논란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3738" y="3896121"/>
            <a:ext cx="4002939" cy="6692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>
                <a:solidFill>
                  <a:srgbClr val="000000"/>
                </a:solidFill>
                <a:latin typeface="Pretendard Variable"/>
              </a:rPr>
              <a:t>• 특별부과금이 임대차 계약의 'NNN(Net Lease)' 조항에 의해 영세 임차 상인들에게 100% 전가되는 문제 발생. • 시 정부에 재산세를 이미 납부하고도 별도 청소/치안 부과금을 내야 하는 이중과세(Double Taxation) 저항 극대화.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4473" y="3397646"/>
            <a:ext cx="1805755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02. SOCIAL EXCLUSION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4473" y="3604021"/>
            <a:ext cx="3273978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치안 사유화 및 취약층 축출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4473" y="3896121"/>
            <a:ext cx="4002939" cy="6692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>
                <a:solidFill>
                  <a:srgbClr val="000000"/>
                </a:solidFill>
                <a:latin typeface="Pretendard Variable"/>
              </a:rPr>
              <a:t>• 민간 BID 경비 인력들이 공공 광장 내의 노숙인 및 유색인종 빈곤층을 위압적으로 정화/축출하려 한다는 비판 직면. • 상류층 소비자를 위한 공공 공간의 인위적 사유화 및 차별적 정제 리스크에 대해 지역 커뮤니티 연대 반발.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45208" y="3397646"/>
            <a:ext cx="1942912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03. DEMOCRATIC DEFICIT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45208" y="3604021"/>
            <a:ext cx="3273978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소통의 부재와 민주적 결핍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5208" y="3896121"/>
            <a:ext cx="4002939" cy="6692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>
                <a:solidFill>
                  <a:srgbClr val="000000"/>
                </a:solidFill>
                <a:latin typeface="Pretendard Variable"/>
              </a:rPr>
              <a:t>• 대형 디벨로퍼와 랜드마크 소유주 중심으로 계획이 은밀히 수립되어, **지역 소상공인과의 실질적 협의 및 의견 수렴 누락**. • 시의회가 로체스터 내 다수 소수계층 상인의 표심을 의식하여 **BID 설립 조례의 가결을 무기한 거부**하고 전면 백지화.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2772" y="4943871"/>
            <a:ext cx="9516884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상업 젠트리피케이션 우려 및 저소득 세입자의 배제 문제를 해결하지 못해 지역 사회의 거센 반대로 무산된 사례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37745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민주주의 결핍 등 구조적 비판 4선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682253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민주주의 결핍, 서비스 격차, 이중과세 논란, 공공공간의 사유화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3323" y="2567086"/>
            <a:ext cx="54862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716" y="2582961"/>
            <a:ext cx="1352536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🗳️ 민주주의 결핍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65952" y="2524224"/>
            <a:ext cx="8088348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토지 소유 비율에 따른 비례 의결권 제도로 인해, 대형 부동산 소유주 위주의 의결권 독점이 굳어져 소규모 영세 상인 및 현지 거주민의 발언권이 무시될 우려가 존재합니다.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3323" y="3262411"/>
            <a:ext cx="54862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2716" y="3278286"/>
            <a:ext cx="1666158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📈 서비스 격차 양극화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5952" y="3219549"/>
            <a:ext cx="8088348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재원이 풍부한 고급 상업용 업무지구(BID)는 최고급 미화와 치안 혜택을 누리는 반면, 부유하지 못한 외곽 소외 지역은 기본적인 공공 청소 공백마저 노출되는 도시 공간의 비정상적 격차를 유발합니다.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3323" y="3957736"/>
            <a:ext cx="54862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716" y="3973611"/>
            <a:ext cx="1352536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💸 이중과세 논란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5952" y="3914874"/>
            <a:ext cx="8088348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시 당국에 재산세를 적정하게 완납하여 기본 공공 서비스를 받을 권리가 있음에도 불구하고, 보완 서비스라는 명목으로 별도의 특별부과금을 추가 납부함으로써 이중 부담에 따른 원천 반발 발생.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3323" y="4653061"/>
            <a:ext cx="54862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2716" y="4668936"/>
            <a:ext cx="1666158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🛡️ 공공 공간의 사유화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5952" y="4610199"/>
            <a:ext cx="8088348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보도나 공원 등 누구나 누려야 하는 열린 공공 공간이 비영리 민간법인(DMA)의 마케팅 행사나 특정 단속권에 의해 독점 지배되며, 영세 노점상이나 노숙인 등을 인위적으로 정제 배제하는 부작용이 속출합니다.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9873" y="5305524"/>
            <a:ext cx="8879498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부자 지역과 가난한 지역의 격차 심화 및 노숙인 배제 등 민간 효율성 추구에 따른 공적 형평성 훼손 쟁점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3745" y="2883495"/>
            <a:ext cx="1018197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>
                <a:solidFill>
                  <a:srgbClr val="000000"/>
                </a:solidFill>
                <a:latin typeface="Pretendard Variable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27523" y="3220045"/>
            <a:ext cx="14100735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허드슨야드의 메가스케일 공공-민간 협력(PPP)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3073" y="2883495"/>
            <a:ext cx="165954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76475" y="3220045"/>
            <a:ext cx="6492638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메가 PPP 개발과 파이낸싱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8124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허드슨야드 PPP 개발 거버넌스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1172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북미 최대 250억 달러 민간 개발과 공공 인프라 결합 거버넌스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5519" y="4870549"/>
            <a:ext cx="9218997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초대형 개발 사업의 인허가 및 금융 리스크를 지자체(MTA/NYC)와 민간 디벨로퍼가 분산 매핑한 협력 체계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949449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지하철 7호선 연장선 ISP &amp; PILOT 채권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254250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미래의 세수를 담보로 24억 달러 규모의 공공 인프라 선투자를 실행한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4828" y="3328590"/>
            <a:ext cx="5854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9593" y="3557190"/>
            <a:ext cx="2523585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🎫 HYIC 채권 발행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9593" y="3769915"/>
            <a:ext cx="3071418" cy="509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뉴욕시 보증 특수 법인 **HYIC** 설립. • 미래 개발 증분 세수를 상환 재원으로 하는 **24억 달러 전용 채권** 발행.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253" y="3328590"/>
            <a:ext cx="5854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2017" y="3557190"/>
            <a:ext cx="2523585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🚇 지하철 7호선 선투자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2017" y="3769915"/>
            <a:ext cx="3071418" cy="648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채권 조달액 전액을 **지하철 7호선 연장 노선**에 즉각 투입. • 민간 마천루 착공 이전에 지구 중심까지 광역교통망 선제 개통.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9677" y="3328590"/>
            <a:ext cx="5854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441" y="3557190"/>
            <a:ext cx="2523585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📈 개발 조기 유인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1" y="3769915"/>
            <a:ext cx="3071418" cy="648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교통망 완비로 Related 등 **민간 디벨로퍼 마천루 착공 조기 유도**. • 주변 가로 및 일반 오피스 빌딩 임대 가치의 수직 상승 자극.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12102" y="3328590"/>
            <a:ext cx="5854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6866" y="3557190"/>
            <a:ext cx="2523585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💰 미래 증분 세수 상환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6866" y="3769915"/>
            <a:ext cx="3071418" cy="648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완공 후 **PILOT**(재산세 대체금) 및 **DIB**(용적률 상향 보너스 기금) 징수. • 신탁 계정 적재를 통한 **인프라 채권 원리금 100% 회수**.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692" y="4733528"/>
            <a:ext cx="10118372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신설 지하철 노선 주변에서 발생할 미래 재산세를 담보로 인프라 선투자를 실행하여 민간 개발을 유인한 가치 캡처 기법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43777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DIB(보너스) &amp; TDR(개발권) 작동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74257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디벨로퍼의 용적률 매입 대금으로 공원과 도로를 정비하는 선순환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3738" y="2641699"/>
            <a:ext cx="3187322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DISTRICT IMPROVEMENT BONUS (DIB)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3738" y="2917924"/>
            <a:ext cx="61974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지구 개선 보너스 용적률 매입식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1685" y="3430686"/>
            <a:ext cx="1208384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💰 초기 기준 가격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26037" y="3406874"/>
            <a:ext cx="2471001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$100 / SF (평방피트당)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1685" y="3919636"/>
            <a:ext cx="1208384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📈 물가 지수 연동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1987" y="3914874"/>
            <a:ext cx="3234291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CPI 지수 기준 가격 에스컬레이터 자동 반영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1685" y="4384774"/>
            <a:ext cx="4728726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🌳 징수 재원의 사용처 지정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1685" y="4543524"/>
            <a:ext cx="5808834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지구 내 공원(Bella Abzug Park) 조성, 가로 시설물 정비, 보행 인도 환경 정비 펀드로만 전용 귀속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6039" y="2641699"/>
            <a:ext cx="3594684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TRANSFER OF DEVELOPMENT RIGHTS (TDR)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6039" y="2917924"/>
            <a:ext cx="61974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MTA 차량기지 공중권 매각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039" y="4213324"/>
            <a:ext cx="6197445" cy="3700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MTA는 차량기지 지상의 남은 공중권(TDR)을 인근 민간 필지에 매각하여, 뉴욕시 재정 지원이나 부채 없이 **차량기지 자체 현대화 공사 자금**을 성공적으로 조달했습니다.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5368" y="5245199"/>
            <a:ext cx="9651540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증가하는 용적률 대금을 지구 공공 개선 기금으로 직접 연계하여 상업 개발과 인프라 개선을 일체화시킨 메커니즘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6385" y="2883495"/>
            <a:ext cx="1692917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2732" y="3220045"/>
            <a:ext cx="4820224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공간 운영 관리 체계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48351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NYC-Related-HYHK BID 3각 공조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788318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인허가, 개발, 그리고 입주 후 장기 관리로 이어지는 수직 통합적 관리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73323" y="3102371"/>
            <a:ext cx="54862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52716" y="3118246"/>
            <a:ext cx="2516898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🏛️ 공공 권한 (NYC / MTA)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7742" y="3059509"/>
            <a:ext cx="7653126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• **용도 지역 특별 변경(Re-zoning)** 및 특별계획지구 지정으로 용적률 대폭 규제 완화. • **PILOT(재산세 대체금) 및 HYIC 채권 보증** 조례 제정으로 공공 금융 구조화 승인.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3323" y="3824684"/>
            <a:ext cx="54675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1426" y="3754834"/>
            <a:ext cx="3017662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🏗️ 민간 개발 (Related / Oxford)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7742" y="3781821"/>
            <a:ext cx="7653126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• 철도 차량기지 상부 **인공 데크 및 마천루 복합 지구 개발** 리스크 전담. • 글로벌 앵커 테넌트(BlackRock, KKR, Meta 등) 선임차 계약 성사 및 분양/임대 실무 실행.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3323" y="4546996"/>
            <a:ext cx="548626" cy="29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716" y="4562871"/>
            <a:ext cx="2423139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🧹 장기 운영 (HYHK BID)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7742" y="4504134"/>
            <a:ext cx="7653126" cy="380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• 준공 후 기부채납된 **벨라 압죽 공원 및 공공 보행공간**의 미화, 청소, 보완 조경 실무 위탁 집행. • 지역 상권 활성화를 위한 **소프트웨어 문화 프로그램 상시 운용** 및 장기 자산 가치 방어.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2747" y="5199459"/>
            <a:ext cx="10416974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인허가 당국, 앵커 개발자, 그리고 현장 관리 BID의 연동을 통해 입주 후에도 장기적으로 자산의 최고 품질을 유지하는 모델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8124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HYHK Alliance 이사회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1172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디벨로퍼 임원들의 직접 참여를 통한 트로피 자산 가치 방어 거버넌스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2079" y="4870549"/>
            <a:ext cx="10203559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대형 디벨로퍼 임원들이 이사회 의사결정에 주도적으로 참여하여 지역 관리 품질을 트로피 자산 스펙으로 관리하는 구조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98186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벨라 압죽 공원 민간 위탁 운영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286668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공공 인프라를 민간 BID가 기부채납 형태로 완벽하게 위탁 관리하는 혁신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37" y="2615009"/>
            <a:ext cx="192737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PUBLIC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2891234"/>
            <a:ext cx="504177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뉴욕시 공원국 (DPR)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37" y="3170634"/>
            <a:ext cx="6197445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공원 부지의 영구 소유권 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2484" y="357385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🌳 공원 부지 영구 소유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2484" y="3758009"/>
            <a:ext cx="4790340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공공 광장 및 공원의 소유권을 시 정부에 묶어두어 **민간 사유화 시비 원천 차단**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2484" y="419615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⚖️ 최소 서비스 의무 보장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2484" y="4380309"/>
            <a:ext cx="3619151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지자체 소관의 소방, 최소 방재 등 법적 행정 지원 지속성 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4873" y="3770709"/>
            <a:ext cx="695942" cy="39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5240" y="2615009"/>
            <a:ext cx="197166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PRIVATE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240" y="2891234"/>
            <a:ext cx="61974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HYHK Alliance BID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5240" y="3170634"/>
            <a:ext cx="6197445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공원 일상 유지 관리권 &amp; 상업 임대권 위탁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187" y="357385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🧹 고품질 환경 정비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187" y="3758009"/>
            <a:ext cx="3903108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조경 식재, 쓰레기 분리배출, 정기 고압세척 및 전용 경비 순찰 집행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187" y="4196159"/>
            <a:ext cx="5808834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🍔 상업 키오스크 임대 및 수익 귀속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187" y="4380309"/>
            <a:ext cx="4382442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공원 내 푸드 키오스크 임대 권한을 행사하여 **자체 공원 운영 재원 확보**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187" y="4818459"/>
            <a:ext cx="472872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🎨 문화 프로그래밍 독점권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3187" y="5002609"/>
            <a:ext cx="4277253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미술품 야외 전시회, 콘서트, 스폰서 이벤트 유치로 지역 상권 활성화 주도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620" y="5701109"/>
            <a:ext cx="9128630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시 정부 대신 민간 BID가 공원 청소, 보수, 안전 비용을 자체 충당하고 높은 관리 품질을 보장하는 위탁 모델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2955" y="2883495"/>
            <a:ext cx="169967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2899" y="3220045"/>
            <a:ext cx="6779789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플레이스메이킹 실무와 갈등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354931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37번가 보행자 친화 가로 개선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659731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차량 중심의 미드블록을 넥다운(Neckdowns)과 조경을 통해 사람 중심으로 변경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94496" y="2924571"/>
            <a:ext cx="2408673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MNLA LANDSCAPE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20" y="3200796"/>
            <a:ext cx="784332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맨해튼 37번가 미드블록 공간 재설계 단면도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0416" y="2924571"/>
            <a:ext cx="198934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0416" y="3200796"/>
            <a:ext cx="371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설계의 주요 사양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2964" y="3664346"/>
            <a:ext cx="3476538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🚦 차량 주정차 예방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2964" y="3848496"/>
            <a:ext cx="424207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물리적으로 보도 폭을 코너마다 넓혀 차량의 불법 회차 및 주정차 원천 억제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2964" y="4388246"/>
            <a:ext cx="3476538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🌳 입체적 바이오가로 조경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2964" y="4572396"/>
            <a:ext cx="4208496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다년생 조경수 식재를 통해 콘크리트 미드블록의 열섬 완화 및 숲길 경험 선사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6888" y="5328046"/>
            <a:ext cx="9934247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차량 도로 폭을 줄이고 보도를 넓히는 넥다운 설계를 적용하여 걷기 좋은 환경을 마련하고 빌딩 접근성을 제고한 사례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198959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벨라 압죽 공원 소모스 댄스 파티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03759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차갑고 삭막한 고층 빌딩 숲을 인간 중심의 활력 공간으로 바꾸는 문화의 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3738" y="2832099"/>
            <a:ext cx="2425817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PROGRAMMING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3738" y="3108325"/>
            <a:ext cx="61974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SOMOS 라틴 댄스 파티 운용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1685" y="3597275"/>
            <a:ext cx="2261178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📆 가동 기간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1685" y="3721100"/>
            <a:ext cx="1234136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매년 5월 ~ 9월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3443" y="3597275"/>
            <a:ext cx="2261178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⏰ 개최 요일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3443" y="3721100"/>
            <a:ext cx="1576963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매주 목요일 (퇴근길)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1685" y="4190999"/>
            <a:ext cx="4728726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🕺 주요 프로그램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1685" y="4314825"/>
            <a:ext cx="4261358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실시간 라틴 라이브 밴드 연주 및 전문 댄스 코치 야외 무료 강습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6039" y="2832099"/>
            <a:ext cx="2592798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ECONOMIC &amp; SOCIAL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6039" y="3108325"/>
            <a:ext cx="619744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공간 활성화로 발생하는 실질 가치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3986" y="3621087"/>
            <a:ext cx="1208384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👥 주간 집객 규모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0228" y="3597275"/>
            <a:ext cx="1964675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수천 명 단위 자발적 유입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3986" y="4129087"/>
            <a:ext cx="1485465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🍔 인근 상권 F&amp;B 매출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9069" y="4105274"/>
            <a:ext cx="2082356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+20% 이상 매출 급증 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3986" y="4613275"/>
            <a:ext cx="5808834" cy="2247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>
                <a:latin typeface="Pretendard Variable"/>
              </a:defRPr>
            </a:pPr>
            <a:r>
              <a:rPr sz="1050" b="1">
                <a:solidFill>
                  <a:srgbClr val="000000"/>
                </a:solidFill>
                <a:latin typeface="Pretendard Variable"/>
              </a:rPr>
              <a:t>🏢 테넌트 락인 효과 (Trophy Tenants)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3986" y="4772025"/>
            <a:ext cx="5808834" cy="225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콘크리트 빌딩 숲 내부의 독자적 문화 복지 제공을 통해 글로벌 혁신 기업들의 장기 임차 지속 견인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1207" y="5484018"/>
            <a:ext cx="10854517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정기적 댄스 파티 등 다양한 문화 콘텐츠를 상시 가동하여 오피스 타운의 삭막함을 해소하고 상권 활성화를 유도하는 소프트웨어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2035472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베셀(Vessel) 자살 사고와 안전 대책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340272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2억 달러 규모 랜드마크 조형물이 겪은 안전사고와 공공 안전의 충돌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998" y="2985392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9593" y="3264792"/>
            <a:ext cx="2523585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🎨 화려한 탄생 (2019)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9593" y="3477517"/>
            <a:ext cx="802833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9593" y="3683892"/>
            <a:ext cx="3071418" cy="648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토머스 헤더윅 설계 조형물. • 총 2억 달러 전액 민간 투자. • 154개 계단실, 높이 46m로 개장 직후 글로벌 인스타 성지 등극.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73423" y="2985392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2017" y="3264792"/>
            <a:ext cx="2523585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⚠️ 난간 설계결함 노출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2017" y="3477517"/>
            <a:ext cx="1060205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DESIGN 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2017" y="3683892"/>
            <a:ext cx="3071418" cy="648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가슴 높이 수준의 낮은 난간 설계. • 1인 탑승자 및 통행인 보호에 취약. • 2020~21년 사이 조형물 내에서 **단기간에 4건의 투신 자살 발생**.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2985392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1" y="3264792"/>
            <a:ext cx="2523585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🛑 무기한 전면 폐쇄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1" y="3477517"/>
            <a:ext cx="841532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CLOSURE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1" y="3683892"/>
            <a:ext cx="3071418" cy="648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뉴욕시 공공 안전국 폐쇄령 발동. • 2억 달러 조형물이 미드타운 흉물로 방치될 장기 폐쇄기 돌입. • 브랜드 이미지 훼손 및 재산 손실 가중.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8272" y="2985392"/>
            <a:ext cx="622284" cy="345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6866" y="3264792"/>
            <a:ext cx="2523585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🔄 안전망 보강 및 재개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6866" y="3477517"/>
            <a:ext cx="984676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RE-OPENING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6866" y="3683892"/>
            <a:ext cx="3071418" cy="509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고장력 절단 불가 그물망 전면 설치. • **1인 단독 입장 엄격 제한** 규정 도입. • 보행 보안 가드 추가 배치 후 조건부 개방 완료.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2793" y="4647505"/>
            <a:ext cx="9480987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전망대 내 자살 사고로 인한 임시 폐쇄 위기를 안전 그물망 보강 및 동행 의무화 등의 운영 변경으로 극복한 사례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645741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가로수 화단 확장 및 노점상 갈등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950541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보행 환경 개선이라는 명분 이면에 숨겨진 비공식 영세 상인 축출 논란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11263" y="2786161"/>
            <a:ext cx="2775138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PHYSICAL SIDEWALK 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20" y="3062386"/>
            <a:ext cx="784332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가로수 보호틀(Tree Bed) 인위적 확장 비교 단면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0416" y="2786161"/>
            <a:ext cx="1881299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EXCLUSIVE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0416" y="3062386"/>
            <a:ext cx="371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물리적 축출 메커니즘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2964" y="3525936"/>
            <a:ext cx="3476538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🌭 길거리 F&amp;B 차단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2964" y="3710086"/>
            <a:ext cx="3929361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뉴욕 핫도그 등 1인 영세 상인의 물리적 카트 배치 구역을 원천 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2964" y="4097436"/>
            <a:ext cx="3476538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🏢 복합 쇼핑몰 매출 가두기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2964" y="4281586"/>
            <a:ext cx="4150811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지구 보행자 소비 수요를 민간 대기업의 복합몰(Mall) 내부 매장으로 유인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7660" y="5037236"/>
            <a:ext cx="9283467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보도 상 가로수 화단을 인위적으로 넓혀 무허가 노점상을 정비하는 등 청결 확보 이면의 젠트리피케이션 갈등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2905" y="2611139"/>
            <a:ext cx="1019779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>
                <a:solidFill>
                  <a:srgbClr val="000000"/>
                </a:solidFill>
                <a:latin typeface="Pretendard Variable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1904952" y="2947689"/>
            <a:ext cx="16255593" cy="11810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일본 도쿄 — '일본판 BID'와 에리어 매니지먼트(Area Management)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3073" y="2883495"/>
            <a:ext cx="165954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6659" y="3220045"/>
            <a:ext cx="9812270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타운 매니지먼트 철학과 디벨로퍼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80042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도쿄 타운 매니지먼트 / Mori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105223"/>
            <a:ext cx="10159746" cy="504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750">
                <a:latin typeface="Pretendard Variable"/>
              </a:defRPr>
            </a:pPr>
            <a:r>
              <a:rPr sz="3750" b="1">
                <a:solidFill>
                  <a:srgbClr val="000000"/>
                </a:solidFill>
                <a:latin typeface="Pretendard Variable"/>
              </a:rPr>
              <a:t>도시 유기체론에 입각한 ‘문화도심’ 창조와 아자부다이 힐즈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992" y="2911673"/>
            <a:ext cx="1777003" cy="256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DEVELOPER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4992" y="3178373"/>
            <a:ext cx="6574625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50">
                <a:latin typeface="Pretendard Variable"/>
              </a:defRPr>
            </a:pPr>
            <a:r>
              <a:rPr sz="1650" b="1">
                <a:solidFill>
                  <a:srgbClr val="000000"/>
                </a:solidFill>
                <a:latin typeface="Pretendard Variable"/>
              </a:rPr>
              <a:t>🏙️ 모리 빌딩의 ‘문화도심(Cultural Heart)’ 철학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992" y="3514923"/>
            <a:ext cx="6574625" cy="540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7">
                <a:latin typeface="Pretendard Variable"/>
              </a:defRPr>
            </a:pPr>
            <a:r>
              <a:rPr sz="1087">
                <a:solidFill>
                  <a:srgbClr val="000000"/>
                </a:solidFill>
                <a:latin typeface="Pretendard Variable"/>
              </a:rPr>
              <a:t>• 도심 유기체론 (Urban Organism) 도심을 단순한 파편화된 오피스 빌딩들의 집합이 아닌 일(Work), 주거(Live), 오락(Play), 문화(Culture)가 결합된 단일 생태계로 기획했습니다.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992" y="4065389"/>
            <a:ext cx="6574625" cy="540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7">
                <a:latin typeface="Pretendard Variable"/>
              </a:defRPr>
            </a:pPr>
            <a:r>
              <a:rPr sz="1087">
                <a:solidFill>
                  <a:srgbClr val="000000"/>
                </a:solidFill>
                <a:latin typeface="Pretendard Variable"/>
              </a:rPr>
              <a:t>• 소프트웨어 중심의 지속적 에어리어 큐레이션 단순한 분양 및 임대관리 모델을 탈피하여, 완공 후에도 미디어기획부 및 도시개발본부를 통해 문화·예술 프로그램을 지속 운영 및 직접 소유·관리합니다.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5240" y="2911673"/>
            <a:ext cx="2194544" cy="256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EMPIRICAL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5240" y="3178373"/>
            <a:ext cx="5345613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50">
                <a:latin typeface="Pretendard Variable"/>
              </a:defRPr>
            </a:pPr>
            <a:r>
              <a:rPr sz="1650" b="1">
                <a:solidFill>
                  <a:srgbClr val="000000"/>
                </a:solidFill>
                <a:latin typeface="Pretendard Variable"/>
              </a:rPr>
              <a:t>📈 메가 프로젝트 실증 실적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5240" y="3514923"/>
            <a:ext cx="6574625" cy="540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7">
                <a:latin typeface="Pretendard Variable"/>
              </a:defRPr>
            </a:pPr>
            <a:r>
              <a:rPr sz="1087">
                <a:solidFill>
                  <a:srgbClr val="000000"/>
                </a:solidFill>
                <a:latin typeface="Pretendard Variable"/>
              </a:rPr>
              <a:t>• 롯폰기 힐즈 (Roppongi Hills) 800세대 고급 주거, 296,000㎡ 오피스, 미술관(최상층 모리 미술관), 호텔(그랜드 하얏트)을 하나의 수직 생태계로 엮어 개관 이래 공실률 0% 수준 유지 중입니다.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5240" y="4065389"/>
            <a:ext cx="6574625" cy="540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7">
                <a:latin typeface="Pretendard Variable"/>
              </a:defRPr>
            </a:pPr>
            <a:r>
              <a:rPr sz="1087">
                <a:solidFill>
                  <a:srgbClr val="000000"/>
                </a:solidFill>
                <a:latin typeface="Pretendard Variable"/>
              </a:rPr>
              <a:t>• 아자부다이 힐즈 (Azabudai Hills) 580억 엔 규모의 투자로 일본 최고층 빌딩, 대규모 녹지(중앙 광장), 스타트업 허브, 영국학교, 70여 개 VC가 집결한 도쿄 VC 허브를 조성하며 공간 브랜드 가치를 극대화했습니다.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201" y="4882554"/>
            <a:ext cx="11119187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※ 모리빌딩은 단순 건설을 넘어 최상층 전망대에 미술관을 배치하는 등 소프트웨어적 기획력을 접목하여 자산 가치를 극대화했습니다.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877317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3대 디벨로퍼 실행 전략 / Major Developer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182117"/>
            <a:ext cx="10159746" cy="504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750">
                <a:latin typeface="Pretendard Variable"/>
              </a:defRPr>
            </a:pPr>
            <a:r>
              <a:rPr sz="3750" b="1">
                <a:solidFill>
                  <a:srgbClr val="000000"/>
                </a:solidFill>
                <a:latin typeface="Pretendard Variable"/>
              </a:rPr>
              <a:t>미쓰비시 · 모리 · 미쓰이의 에리어 매니지먼트 실행 모델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20846" y="2988567"/>
            <a:ext cx="1602342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MITSUBISHI ESTATE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0846" y="3194942"/>
            <a:ext cx="4475308" cy="27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🏢 미쓰비시 지쇼 (OMY 지구)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0846" y="3452117"/>
            <a:ext cx="4475308" cy="6486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지구 규모: 120ha 내 오피스 빌딩 106개 관리. • 용적 이전(TDR): 역사 복원 시 남은 공중 용적률을 다른 개발자에게 매각하여 수익화 및 환경 정비 재원 확보. • TMIP 플랫폼: 오픈 이노베이션을 촉진하기 위한 민관학 네트워크 구축.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3210" y="2988567"/>
            <a:ext cx="1117606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MORI BUILDING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3210" y="3194942"/>
            <a:ext cx="4475308" cy="27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🌳 모리 빌딩 (Hills 시리즈)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23210" y="3452117"/>
            <a:ext cx="4475308" cy="7879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수직 통합 모델: 단일 디벨로퍼가 부지를 통합 매수하여 장기 보유·직영 운영. • 문화·산업 클러스터: 미술관, 호텔, 주거에 더해 도쿄 스타트업 허브 및 VC 허브를 유기 결합. • 도시 기능 내재화: 재정 불안 없는 장기 에리어 큐레이션 역량 확보.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5574" y="2988567"/>
            <a:ext cx="1224641" cy="2216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MITSUI FUDOSAN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5574" y="3194942"/>
            <a:ext cx="4475487" cy="27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🏙️ 미쓰이 부동산 (니혼바시)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5574" y="3452117"/>
            <a:ext cx="4475487" cy="9272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2">
                <a:latin typeface="Pretendard Variable"/>
              </a:defRPr>
            </a:pPr>
            <a:r>
              <a:rPr sz="1012" b="1">
                <a:solidFill>
                  <a:srgbClr val="000000"/>
                </a:solidFill>
                <a:latin typeface="Pretendard Variable"/>
              </a:rPr>
              <a:t>• 도쿄 미드타운(롯폰기): 6.9ha 규모 복합 용도 개발에 약 20억 엔의 지자체 공공보조금 수령. • LINK-J 생태계: 라이프사이언스 및 바이오헬스케어 관련 다국적 기업, 연구소 클러스터 구축. • 우주·푸드테크: 미래 유망 신산업 지구 브랜딩과 에리어 매니지먼트의 결합.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90" y="4630836"/>
            <a:ext cx="11683707" cy="441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※ 일본 디벨로퍼들은 단순히 건물을 짓는 데 그치지 않고 역사 복원, 바이오 클러스터 구축, 오픈 이노베이션 등 소프트웨어 차별화에 투자했습니다.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6385" y="2883495"/>
            <a:ext cx="1692917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5933" y="3220045"/>
            <a:ext cx="9253822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일본판 BID 제도와 오사카 모델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2041227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일본의 도시재생 법제 체계 / Legal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346027"/>
            <a:ext cx="10159746" cy="504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750">
                <a:latin typeface="Pretendard Variable"/>
              </a:defRPr>
            </a:pPr>
            <a:r>
              <a:rPr sz="3750" b="1">
                <a:solidFill>
                  <a:srgbClr val="000000"/>
                </a:solidFill>
                <a:latin typeface="Pretendard Variable"/>
              </a:rPr>
              <a:t>다층적 제도 발전과 2018년 법정 지역재생 부담금 제도(일본판 BID)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92252" y="2898477"/>
            <a:ext cx="5854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0846" y="3177877"/>
            <a:ext cx="2638676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🏡 마치즈쿠리 (まちづくり)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0846" y="3390602"/>
            <a:ext cx="742410" cy="212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latin typeface="Pretendard Variable"/>
              </a:defRPr>
            </a:pPr>
            <a:r>
              <a:rPr sz="750" b="1">
                <a:solidFill>
                  <a:srgbClr val="000000"/>
                </a:solidFill>
                <a:latin typeface="Pretendard Variable"/>
              </a:rPr>
              <a:t>1960S ~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0846" y="3587452"/>
            <a:ext cx="3214289" cy="62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시민 참여형 자발적 마을 만들기. • 민법상 자발적 협의체 구조. • 강제력 및 재원 징수권이 없어 대규모 상업 지구 관리에 한계.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4050" y="2898477"/>
            <a:ext cx="5854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2644" y="3177877"/>
            <a:ext cx="2638676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🏢 도시재생특별지구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2644" y="3390602"/>
            <a:ext cx="698963" cy="212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latin typeface="Pretendard Variable"/>
              </a:defRPr>
            </a:pPr>
            <a:r>
              <a:rPr sz="750" b="1">
                <a:solidFill>
                  <a:srgbClr val="000000"/>
                </a:solidFill>
                <a:latin typeface="Pretendard Variable"/>
              </a:rPr>
              <a:t>2002 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2644" y="3587452"/>
            <a:ext cx="3214289" cy="62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도시재생특별조치법 제정. • 용적률 등 규제를 획기적으로 완화. • 민간이 제안한 도심 역세권 중심 대규모 복합개발 촉진.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5847" y="2898477"/>
            <a:ext cx="5854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441" y="3177877"/>
            <a:ext cx="2638676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🌟 오사카판 BID 조례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4441" y="3390602"/>
            <a:ext cx="685728" cy="212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latin typeface="Pretendard Variable"/>
              </a:defRPr>
            </a:pPr>
            <a:r>
              <a:rPr sz="750" b="1">
                <a:solidFill>
                  <a:srgbClr val="000000"/>
                </a:solidFill>
                <a:latin typeface="Pretendard Variable"/>
              </a:rPr>
              <a:t>2014 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1" y="3587452"/>
            <a:ext cx="3214289" cy="62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오사카시 독자 조례로 시범 적용. • 그랑프론트오사카(우메키타)에 최초 적용. • 지권자 12명에게 연 2,800만 엔을 징수하여 TMO에 교부하는 최초 시도.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7645" y="2898477"/>
            <a:ext cx="5854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6239" y="3177877"/>
            <a:ext cx="3214289" cy="2533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75">
                <a:latin typeface="Pretendard Variable"/>
              </a:defRPr>
            </a:pPr>
            <a:r>
              <a:rPr sz="1275" b="1">
                <a:solidFill>
                  <a:srgbClr val="000000"/>
                </a:solidFill>
                <a:latin typeface="Pretendard Variable"/>
              </a:rPr>
              <a:t>⚖️ 지역재생법 개정 (일본판 BID)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6239" y="3390602"/>
            <a:ext cx="684433" cy="2120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750">
                <a:latin typeface="Pretendard Variable"/>
              </a:defRPr>
            </a:pPr>
            <a:r>
              <a:rPr sz="750" b="1">
                <a:solidFill>
                  <a:srgbClr val="000000"/>
                </a:solidFill>
                <a:latin typeface="Pretendard Variable"/>
              </a:rPr>
              <a:t>2018 ~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6239" y="3587452"/>
            <a:ext cx="3214289" cy="62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• 전국 단위 부담금제 법제화 완성. • 수익자 2/3 서면 동의 ➔ 시정촌 승인 ➔ 조례 제정 ➔ 부담금 징수 후 100% 교부. • 무임승차(Free-rider) 문제 차단.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0990" y="4466927"/>
            <a:ext cx="11683707" cy="441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※ 2018년 개정안은 상업·업무지구 내 테넌트(사업자)를 대상으로 자산세·사업소세에 연계해 부담금을 징수함으로써 무임승차를 원천 봉쇄했습니다.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2955" y="2883495"/>
            <a:ext cx="169967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4893" y="3220045"/>
            <a:ext cx="8615901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미·일 비교 및 SBD 전략 적용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532036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작동 메커니즘 대조 / Governance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836836"/>
            <a:ext cx="10159746" cy="916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750">
                <a:latin typeface="Pretendard Variable"/>
              </a:defRPr>
            </a:pPr>
            <a:r>
              <a:rPr sz="3750" b="1">
                <a:solidFill>
                  <a:srgbClr val="000000"/>
                </a:solidFill>
                <a:latin typeface="Pretendard Variable"/>
              </a:rPr>
              <a:t>미국의 횡적 바텀업(Bottom-up) 연대 vs 일본의 종적 탑다운(Top-down) 통합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4992" y="3056036"/>
            <a:ext cx="2294554" cy="256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US: HORIZONTAL ALLIANCE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4992" y="3322736"/>
            <a:ext cx="6574625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50">
                <a:latin typeface="Pretendard Variable"/>
              </a:defRPr>
            </a:pPr>
            <a:r>
              <a:rPr sz="1650" b="1">
                <a:solidFill>
                  <a:srgbClr val="000000"/>
                </a:solidFill>
                <a:latin typeface="Pretendard Variable"/>
              </a:rPr>
              <a:t>🇺🇸 미국의 조세 중심 바텀업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992" y="3633886"/>
            <a:ext cx="6574625" cy="540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7">
                <a:latin typeface="Pretendard Variable"/>
              </a:defRPr>
            </a:pPr>
            <a:r>
              <a:rPr sz="1087" b="1">
                <a:solidFill>
                  <a:srgbClr val="000000"/>
                </a:solidFill>
                <a:latin typeface="Pretendard Variable"/>
              </a:rPr>
              <a:t>• 다수 소유자의 횡적 결집: 소유권이 잘게 쪼개진 상업 지구에서, 무임승차를 해결하기 위해 지권자들이 스스로 법적 추가 세금을 결의하여 기금을 공동 운영합니다.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992" y="4158952"/>
            <a:ext cx="6574625" cy="540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7">
                <a:latin typeface="Pretendard Variable"/>
              </a:defRPr>
            </a:pPr>
            <a:r>
              <a:rPr sz="1087" b="1">
                <a:solidFill>
                  <a:srgbClr val="000000"/>
                </a:solidFill>
                <a:latin typeface="Pretendard Variable"/>
              </a:rPr>
              <a:t>• 강력한 재원 강제성과 기획의 한계: 100% 강제 징수로 예산 안정성은 매우 높으나, 수백 명의 지권자 합의가 필요해 통합 마스터플랜의 빠른 실행과 통제가 어렵습니다.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5240" y="3056036"/>
            <a:ext cx="2738349" cy="2565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JP: VERTICAL INTEGRATION &amp; TOD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5240" y="3322736"/>
            <a:ext cx="6574625" cy="300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50">
                <a:latin typeface="Pretendard Variable"/>
              </a:defRPr>
            </a:pPr>
            <a:r>
              <a:rPr sz="1650" b="1">
                <a:solidFill>
                  <a:srgbClr val="000000"/>
                </a:solidFill>
                <a:latin typeface="Pretendard Variable"/>
              </a:rPr>
              <a:t>🇯🇵 일본의 자본 중심 탑다운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5240" y="3633886"/>
            <a:ext cx="6574625" cy="540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7">
                <a:latin typeface="Pretendard Variable"/>
              </a:defRPr>
            </a:pPr>
            <a:r>
              <a:rPr sz="1087" b="1">
                <a:solidFill>
                  <a:srgbClr val="000000"/>
                </a:solidFill>
                <a:latin typeface="Pretendard Variable"/>
              </a:rPr>
              <a:t>• 대형 디벨로퍼의 수직적 통합: 단일 또는 소수 앵커 디벨로퍼가 부지를 대규모로 확보해 직접 기획, 건설, 운영을 일체화하여 완결성 높은 장기 마스터플랜을 구사합니다.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5240" y="4158952"/>
            <a:ext cx="6574625" cy="540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7">
                <a:latin typeface="Pretendard Variable"/>
              </a:defRPr>
            </a:pPr>
            <a:r>
              <a:rPr sz="1087" b="1">
                <a:solidFill>
                  <a:srgbClr val="000000"/>
                </a:solidFill>
                <a:latin typeface="Pretendard Variable"/>
              </a:rPr>
              <a:t>• 철도 역세권(TOD) 및 타운 매니지먼트의 일체화: 시부야, 도쿄역 등 대형 복합 환승역과 주변 상업 개발에 철도사업자가 기획 단계부터 직접 참여하여 대중교통 연계 에리어 매니지먼트를 내재화했습니다.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90" y="4976117"/>
            <a:ext cx="11683707" cy="441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※ 미국은 조세라는 ‘제도적 장치’로 흩어진 소유주를 묶었고, 일본은 대기업의 ‘자본과 개발권’을 축으로 공간을 통합해 입체적으로 관리해 왔습니다.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744364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3각 비교 매트릭스 / 3-Way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049164"/>
            <a:ext cx="10159746" cy="5041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750">
                <a:latin typeface="Pretendard Variable"/>
              </a:defRPr>
            </a:pPr>
            <a:r>
              <a:rPr sz="3750" b="1">
                <a:solidFill>
                  <a:srgbClr val="000000"/>
                </a:solidFill>
                <a:latin typeface="Pretendard Variable"/>
              </a:rPr>
              <a:t>미국형 BID · 일본형 타운 매니지먼트 · 서울형 SBD 적용 모델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0990" y="4763789"/>
            <a:ext cx="11683707" cy="4412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25">
                <a:latin typeface="Pretendard Variable"/>
              </a:defRPr>
            </a:pPr>
            <a:r>
              <a:rPr sz="1425" b="1">
                <a:solidFill>
                  <a:srgbClr val="000000"/>
                </a:solidFill>
                <a:latin typeface="Pretendard Variable"/>
              </a:rPr>
              <a:t>※ 제안하는 서울형 SBD 모델은 미국의 공공 위탁 및 부분 강제 조항과 일본의 앵커 디벨로퍼 주도 기획력을 결합한 하이브리드 거버넌스를 목표로 합니다.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6213" y="2883495"/>
            <a:ext cx="1013161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>
                <a:solidFill>
                  <a:srgbClr val="000000"/>
                </a:solidFill>
                <a:latin typeface="Pretendard Variable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59926" y="3220045"/>
            <a:ext cx="12965443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서울의 제4 업무지구 SBD 정립과 미래 비전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93073" y="2883495"/>
            <a:ext cx="165954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6877" y="3220045"/>
            <a:ext cx="8231934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SBD 핵심 자산과 공공 기여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645741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SBD 서울역-남산 신업무 권역 선언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950541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서울역에서 남산에 이르는 메가스케일 트로피 에셋 공급축의 정립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9644" y="2786161"/>
            <a:ext cx="221847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GEOGRAPHIC AXIS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20" y="3062386"/>
            <a:ext cx="784332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SBD 서울역-남산 보행 녹지 및 비즈니스 공급축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0416" y="2786161"/>
            <a:ext cx="2095963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STRATEGIC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0416" y="3062386"/>
            <a:ext cx="371592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SBD의 차별적 사양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2964" y="3525936"/>
            <a:ext cx="3476538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🚇 서울역 광역 교통 결절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2964" y="3710086"/>
            <a:ext cx="4134024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GTX-A/B 조기 개통 및 유동 인구를 흡수하는 강북 최첨단 교통 결착점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2964" y="4097436"/>
            <a:ext cx="3476538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🌳 대자연 녹지 결합축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2964" y="4281586"/>
            <a:ext cx="4235463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양동-봉래 구역의 정비를 통해 서울역 광장에서 남산 중턱까지 끊김 없는 보행 공원 형성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0625" y="5037236"/>
            <a:ext cx="8264616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서울역 교통 인프라와 남산 생태축을 결합하여 구도심의 한계를 돌파하는 신업무 권역 공급 비전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344116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이오타 서울(힐튼재개발) 마스터플랜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648916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연면적 46만㎡ 규모의 강북 최대의 복합 트로피 에셋 탄생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5974" y="2338486"/>
            <a:ext cx="10159746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VERTICAL INTEGRATION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9228" y="2741711"/>
            <a:ext cx="1039920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RITZ-CARLTON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2939" y="2741711"/>
            <a:ext cx="692894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🏨 최상층: 럭셔리 호스피탈리티 호텔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2939" y="2919511"/>
            <a:ext cx="6928946" cy="225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글로벌 최고급 호텔 브랜드 유치를 통해 비즈니스 의전 및 VIP 투숙 수요 독점 흡수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2340" y="3409255"/>
            <a:ext cx="1078907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LEED PLATINUM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12939" y="3409255"/>
            <a:ext cx="692894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🏢 중·저층부: 친환경 최첨단 프라임 오피스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12939" y="3587055"/>
            <a:ext cx="6928946" cy="225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SOM &amp; Foster + Partners 설계 반영, 친환경 인증 획득으로 다국적 우량 임차인 유치 방어선 구축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2947" y="4076799"/>
            <a:ext cx="143893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RETAIL &amp; CULTURE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2939" y="4076799"/>
            <a:ext cx="6928946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🛍️ 지하 및 저층부: 서울로 연계 상업·예술 포디움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2939" y="4254599"/>
            <a:ext cx="6928946" cy="2255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보행 데크를 서울로 7017 및 서울역 지하도와 직접 연결하여 외부 집객 동선 극대화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3227" y="2516286"/>
            <a:ext cx="246921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FINANCING SAFETY BUFFER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3227" y="2792511"/>
            <a:ext cx="437885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이오타 2 PF 안정성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1175" y="3281461"/>
            <a:ext cx="4065803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💸 브릿지론 연정 구조화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175" y="3465611"/>
            <a:ext cx="4117237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시장 추가 금리 충격을 방어할 신용 연계 대주단 금융 협의 안정적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1175" y="3903761"/>
            <a:ext cx="4065803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🔑 에쿼티 추가 보강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1175" y="4087911"/>
            <a:ext cx="4558888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이지스 모태 펀드 자본금 투입을 통한 신용 등급 보강 및 대주단 안심 장치 가동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1175" y="4526061"/>
            <a:ext cx="4065803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🚀 본PF 전환 완료 목표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1175" y="4710211"/>
            <a:ext cx="4394764" cy="1866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인허가 완료 조율 일정에 연동하여 1금융권 신디케이트 론 전환 가이드 수립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6658" y="5338861"/>
            <a:ext cx="9647075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이지스 시행 및 Foster + Partners 설계로 강북 최대 규모의 친환경 트로피 복합 단지를 조성하는 코어 프로젝트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2505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7,000㎡ 공개녹지 기부채납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29853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개발 이익을 녹지와 보행 인프라로 연결하는 기부채납 플레이스메이킹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1038" y="2416274"/>
            <a:ext cx="290586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PEDESTRIAN CONNECTIVITY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1038" y="2692499"/>
            <a:ext cx="6517477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서울역-남산 입체 보행축 연결 구상도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4121" y="4070449"/>
            <a:ext cx="807293" cy="2025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75">
                <a:latin typeface="Pretendard Variable"/>
              </a:defRPr>
            </a:pPr>
            <a:r>
              <a:rPr sz="675" b="1">
                <a:solidFill>
                  <a:srgbClr val="000000"/>
                </a:solidFill>
                <a:latin typeface="Pretendard Variable"/>
              </a:rPr>
              <a:t>서울역 8번출구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0096" y="3530699"/>
            <a:ext cx="892172" cy="2025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75">
                <a:latin typeface="Pretendard Variable"/>
              </a:defRPr>
            </a:pPr>
            <a:r>
              <a:rPr sz="675" b="1">
                <a:solidFill>
                  <a:srgbClr val="000000"/>
                </a:solidFill>
                <a:latin typeface="Pretendard Variable"/>
              </a:rPr>
              <a:t>에스컬레이터 연결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3331" y="3530699"/>
            <a:ext cx="907278" cy="2025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675">
                <a:latin typeface="Pretendard Variable"/>
              </a:defRPr>
            </a:pPr>
            <a:r>
              <a:rPr sz="675" b="1">
                <a:solidFill>
                  <a:srgbClr val="000000"/>
                </a:solidFill>
                <a:latin typeface="Pretendard Variable"/>
              </a:rPr>
              <a:t>남산 보행교 브릿지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3586" y="4687986"/>
            <a:ext cx="6220304" cy="359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🚶‍♂️ 서울역 대중교통 노드에서 시작하여 입체적 보행 데크와 에스컬레이터를 거쳐 남산 정상까지 단절 없이 연결되는 쾌적한 보행 네트워크 확보.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735" y="2416274"/>
            <a:ext cx="229830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PROJECT SPECIFICATION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735" y="2692499"/>
            <a:ext cx="5968850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기부채납을 통한 친환경 오픈스페이스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3683" y="3143349"/>
            <a:ext cx="55802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🌲 축구장 크기의 도심 숲광장 (7,000㎡)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3683" y="3321149"/>
            <a:ext cx="5580240" cy="215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고층 오피스 빌딩 하부 면적의 상당 부분을 개방형 잔디광장과 자연 숲으로 조성하여 시민에 환원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3683" y="3762474"/>
            <a:ext cx="55802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🍃 남산에서 이어지는 바람길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3683" y="3940274"/>
            <a:ext cx="558024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도심 기온을 낮추고 대기 순환을 촉진하기 위해 남산의 산바람 경로를 반영한 타워 및 녹지 배치 설계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3683" y="4505424"/>
            <a:ext cx="5580240" cy="243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>
                <a:latin typeface="Pretendard Variable"/>
              </a:defRPr>
            </a:pPr>
            <a:r>
              <a:rPr sz="1200" b="1">
                <a:solidFill>
                  <a:srgbClr val="000000"/>
                </a:solidFill>
                <a:latin typeface="Pretendard Variable"/>
              </a:rPr>
              <a:t>🎭 지역사회 오픈 스테이지 데크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3683" y="4683224"/>
            <a:ext cx="5580240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>
                <a:solidFill>
                  <a:srgbClr val="000000"/>
                </a:solidFill>
                <a:latin typeface="Pretendard Variable"/>
              </a:rPr>
              <a:t>야외 콘서트, 전시회, 버스킹 등이 연중 가능한 목재 데크 플랫폼을 설치하여 활력 넘치는 문화공간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1676" y="5457924"/>
            <a:ext cx="9700831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대규모 녹지 광장 제공 및 서울역에서 남산으로 이어지는 입체 보행 인프라를 연결하여 시민에 개방하는 공공 기여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180306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SBD의 무기: 서울역 교통 &amp; 남산 자연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485106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타 업무지구(CBD·GBD·YBD)가 끝내 갖지 못한 녹지 축과 광역 연결성의 결합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1038" y="2800746"/>
            <a:ext cx="2278481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TRANSIT NODE PREMIUM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1038" y="3076971"/>
            <a:ext cx="507860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서울역 광역 교통 결절점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1038" y="3369071"/>
            <a:ext cx="6243163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KTX, GTX-A/B, 1/4호선, 공항철도 연계로 수도권 및 전국 비즈니스 노드를 최단 시간에 묶어주는 초광역 교통 거점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1038" y="4969271"/>
            <a:ext cx="4156705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💼 "지방 출장자 및 해외 파트너 접근성이 국내에서 가장 압도적인 입지 자산"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3339" y="2800746"/>
            <a:ext cx="236152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ECO-WELLNESS PREMIUM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339" y="3076971"/>
            <a:ext cx="507860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남산 그린 에코 벨트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3339" y="3369071"/>
            <a:ext cx="6243163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서울의 최상급 도심 자연 자산인 남산 녹지축을 기점으로 신선한 대기 공급 및 청정 조망을 확보하여 임직원 웰니스를 극대화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3339" y="4969271"/>
            <a:ext cx="4385478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🌳 "ESG 기준을 중요하게 평가하는 글로벌 테넌트들이 가장 선호하는 웰빙 환경"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7356" y="5502671"/>
            <a:ext cx="8780381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KTX/GTX 광역 대중교통 노드와 영구 조망권을 갖춘 남산 자연환경이 융합된 유일무이한 상징적 가치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6385" y="2883495"/>
            <a:ext cx="1692917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8526" y="3220045"/>
            <a:ext cx="8188537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지구 운영 가치 및 정량 지표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97781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SBD 차별화: 입지(Location) vs 운영(OS)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602581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자연발생적 집적을 넘어 자산 가치에 운영 성과를 내장시키는 한국 최초의 시도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1038" y="2918221"/>
            <a:ext cx="2297055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PARADIGM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1038" y="3194446"/>
            <a:ext cx="7203259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전통적 '입지' vs 미래형 '운영' 가치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70528" y="2918221"/>
            <a:ext cx="2424210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ASSET STRUCTURE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0528" y="3194446"/>
            <a:ext cx="5420224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에리어 매니지먼트 네트워크 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0528" y="3486546"/>
            <a:ext cx="5420224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빌딩 경계를 지우고 전체 구역을 하나로 묶어 공간 가치를 극대화하는 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9482" y="5385196"/>
            <a:ext cx="9384906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지리적 조건에 안주하지 않고, 가로 공간 전체의 케어와 콘텐츠 운영 품질을 자산 가치에 직접 반영시키는 전환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812428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SBD BID 도입 전/후 목표 지표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2117228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공실률 2%대 달성 및 주변 임대료 10~20% 프리미엄 창출의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5639" y="2978249"/>
            <a:ext cx="2445323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METRIC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5639" y="3108424"/>
            <a:ext cx="2974265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공실률 방어 (Vacancy)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5639" y="3521174"/>
            <a:ext cx="626312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7.5%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3209" y="3400524"/>
            <a:ext cx="1111708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latin typeface="Pretendard Variable"/>
              </a:defRPr>
            </a:pPr>
            <a:r>
              <a:rPr sz="2700" b="1">
                <a:solidFill>
                  <a:srgbClr val="000000"/>
                </a:solidFill>
                <a:latin typeface="Pretendard Variable"/>
              </a:rPr>
              <a:t>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5535" y="3552924"/>
            <a:ext cx="791036" cy="23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-5.5%p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5639" y="3794224"/>
            <a:ext cx="297426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글로벌 앵커 및 에코 테넌트 사전 임차 매칭을 통한 초저공실 사수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8690" y="2978249"/>
            <a:ext cx="2445323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METRIC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8690" y="3108424"/>
            <a:ext cx="244532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임대 프리미엄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690" y="3521174"/>
            <a:ext cx="674938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평균가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796" y="3400524"/>
            <a:ext cx="1180619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latin typeface="Pretendard Variable"/>
              </a:defRPr>
            </a:pPr>
            <a:r>
              <a:rPr sz="2700" b="1">
                <a:solidFill>
                  <a:srgbClr val="000000"/>
                </a:solidFill>
                <a:latin typeface="Pretendard Variable"/>
              </a:rPr>
              <a:t>+15%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9647" y="3552924"/>
            <a:ext cx="861961" cy="23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8690" y="3794224"/>
            <a:ext cx="297426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통합 가로 경관 가치 및 웰니스를 확보한 에리어 매니지먼트 프리미엄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1742" y="2978249"/>
            <a:ext cx="2445323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METRIC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11742" y="3108424"/>
            <a:ext cx="244532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보행 유동인구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1742" y="3521174"/>
            <a:ext cx="624730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8221" y="3400524"/>
            <a:ext cx="1235574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latin typeface="Pretendard Variable"/>
              </a:defRPr>
            </a:pPr>
            <a:r>
              <a:rPr sz="2700" b="1">
                <a:solidFill>
                  <a:srgbClr val="000000"/>
                </a:solidFill>
                <a:latin typeface="Pretendard Variable"/>
              </a:rPr>
              <a:t>+35%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45972" y="3552924"/>
            <a:ext cx="842827" cy="23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Increase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1742" y="3794224"/>
            <a:ext cx="297426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남산 보행축 개선 및 상설 문화행사 유입 효과로 일반 보행객 유입 극대화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4793" y="2978249"/>
            <a:ext cx="2445323" cy="196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25">
                <a:latin typeface="Pretendard Variable"/>
              </a:defRPr>
            </a:pPr>
            <a:r>
              <a:rPr sz="825" b="1">
                <a:solidFill>
                  <a:srgbClr val="000000"/>
                </a:solidFill>
                <a:latin typeface="Pretendard Variable"/>
              </a:rPr>
              <a:t>METRIC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4793" y="3108424"/>
            <a:ext cx="244532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500">
                <a:latin typeface="Pretendard Variable"/>
              </a:defRPr>
            </a:pPr>
            <a:r>
              <a:rPr sz="1500" b="1">
                <a:solidFill>
                  <a:srgbClr val="000000"/>
                </a:solidFill>
                <a:latin typeface="Pretendard Variable"/>
              </a:rPr>
              <a:t>안전 및 쾌적도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4793" y="3521174"/>
            <a:ext cx="620270" cy="2628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>
                <a:latin typeface="Pretendard Variable"/>
              </a:defRPr>
            </a:pPr>
            <a:r>
              <a:rPr sz="1350" b="1">
                <a:solidFill>
                  <a:srgbClr val="000000"/>
                </a:solidFill>
                <a:latin typeface="Pretendard Variable"/>
              </a:rPr>
              <a:t>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196" y="3400524"/>
            <a:ext cx="1019204" cy="4343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700">
                <a:latin typeface="Pretendard Variable"/>
              </a:defRPr>
            </a:pPr>
            <a:r>
              <a:rPr sz="2700" b="1">
                <a:solidFill>
                  <a:srgbClr val="000000"/>
                </a:solidFill>
                <a:latin typeface="Pretendard Variable"/>
              </a:rPr>
              <a:t>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6727" y="3552924"/>
            <a:ext cx="1016326" cy="231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Satisfaction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4793" y="3794224"/>
            <a:ext cx="297426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전용 청소/보안 스태프 상주 배치를 통한 무결점 공공 케어 완성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9853" y="4870549"/>
            <a:ext cx="8915395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초저공실 유지와 임대료 프리미엄 획득 등 타운 매니지먼트 실행 시 기대되는 정량적 재무 지표 시나리오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72955" y="2883495"/>
            <a:ext cx="1699678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950">
                <a:latin typeface="Pretendard Variable"/>
              </a:defRPr>
            </a:pPr>
            <a:r>
              <a:rPr sz="1950" b="1">
                <a:solidFill>
                  <a:srgbClr val="000000"/>
                </a:solidFill>
                <a:latin typeface="Pretendard Variable"/>
              </a:rP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9747" y="3220045"/>
            <a:ext cx="8766094" cy="63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950">
                <a:latin typeface="Pretendard Variable"/>
              </a:defRPr>
            </a:pPr>
            <a:r>
              <a:rPr sz="4950" b="1">
                <a:solidFill>
                  <a:srgbClr val="000000"/>
                </a:solidFill>
                <a:latin typeface="Pretendard Variable"/>
              </a:rPr>
              <a:t>용산 연계 및 미래 디지털 BID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232991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용산 IBD 타운매니지먼트 당위성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537791"/>
            <a:ext cx="10159746" cy="520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14.3조 초대형 용산 개발을 조율할 초광역 거버넌스 도입의 필연성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1038" y="2424211"/>
            <a:ext cx="2646554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VERTICAL STACK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1038" y="2700436"/>
            <a:ext cx="4747141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3차원 입체 복합 도시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3586" y="4700686"/>
            <a:ext cx="5534521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🏢 스카이 트레일(공중)-녹지 가로(지상)-공동 하역장(지하)의 수직 복합 레이어가 단일 시스템으로 연계되는 구조적 당위성 제시.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0943" y="2424211"/>
            <a:ext cx="2426532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GOVERNANCE IMPERATIVE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0943" y="2700436"/>
            <a:ext cx="6517477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파편적 관리를 넘는 초광역 운영 주체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7940" y="3144936"/>
            <a:ext cx="6106007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🚚 지하 공동물류 및 인프라 통합 관제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7940" y="3325911"/>
            <a:ext cx="3433775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개별 빌딩 하역장 통합 관리 및 로봇 자율주행 배송 인프라 통제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7940" y="3745011"/>
            <a:ext cx="6106007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🌉 40층 스카이 트레일 통합 오퍼레이션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7940" y="3925986"/>
            <a:ext cx="4393157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여러 마천루에 나뉘어 있는 입체 데크의 상업 시설 연계, 보수, 안전 점검 일괄 집행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7940" y="4345086"/>
            <a:ext cx="6106007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⚖️ 의결 보드 단일화 거버넌스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7940" y="4526061"/>
            <a:ext cx="4963393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코레일, SH공사, 개별 디벨로퍼들이 의결 지분을 공유하는 통합 타운 매니지먼트(DMA) 구축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2772" y="5449986"/>
            <a:ext cx="9516884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공중 스카이트레일 및 지하 공동물류 하역장 등 다차원 입체 설계를 조율하기 위한 통합 타운 거버넌스의 필요성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04854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블록체인 연계 5세대 디지털 BID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353343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스마트 코어(AI·디지털 트윈) 및 블록체인 기반의 디지털 분담금 징수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1038" y="2668984"/>
            <a:ext cx="1547758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DATA CYCLE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1038" y="2945209"/>
            <a:ext cx="507860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5세대 디지털 운영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51038" y="3237309"/>
            <a:ext cx="624316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아날로그 행정의 한계를 뛰어넘는 AI 관제와 스마트 분담금 연동 라이프사이클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3586" y="4885134"/>
            <a:ext cx="5945991" cy="3390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 b="1">
                <a:solidFill>
                  <a:srgbClr val="000000"/>
                </a:solidFill>
                <a:latin typeface="Pretendard Variable"/>
              </a:rPr>
              <a:t>🔗 IoT 센서 기반의 실시간 가로 데이터 수집과 스마트 계약에 의한 분담 정산, 신뢰도 높은 블록체인 장부 기록으로의 연속성 확보.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3339" y="2668984"/>
            <a:ext cx="2123823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CORE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3339" y="2945209"/>
            <a:ext cx="624316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스마트 도시 인프라 및 블록체인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1286" y="3396059"/>
            <a:ext cx="5854553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🖥️ 3D 디지털 트윈 기반 실시간 모니터링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1286" y="3564334"/>
            <a:ext cx="58545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공중 보행 스카이 트레일, 지하 하역 인프라 및 지상 도로의 물리적 상태와 혼잡도를 가상 3D 맵에 100% 동기화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1286" y="4110434"/>
            <a:ext cx="5854553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🤖 AI 알고리즘 기반 스마트 자원 배치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1286" y="4278709"/>
            <a:ext cx="5854553" cy="205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보행량 센서 및 쓰레기 적체 예측 기능을 통해 보안 미화 요원을 과밀 구간에 실시간 선배치 및 청결 유지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1286" y="4710509"/>
            <a:ext cx="5854553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🔗 스마트 컨트랙트 실시간 분담 정산 (D-BID)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1286" y="4878784"/>
            <a:ext cx="585455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트래픽, 오염 배출 등 각 자산의 실제 환경 영향 요인을 산정하여 임의 분담 방식이 아닌 알고리즘 기반 자동 과금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3044" y="5634434"/>
            <a:ext cx="9731905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디지털 트윈, IoT 예측 관제, 블록체인 스마트 컨트랙트를 통한 실시간 분담 정산으로 진화하는 미래형 스마트 관리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g_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162843"/>
            <a:ext cx="1015974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서울역-용산(SYBD) 3단계 통합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5974" y="1467643"/>
            <a:ext cx="10159746" cy="949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900">
                <a:latin typeface="Pretendard Variable"/>
              </a:defRPr>
            </a:pPr>
            <a:r>
              <a:rPr sz="3900" b="1">
                <a:solidFill>
                  <a:srgbClr val="000000"/>
                </a:solidFill>
                <a:latin typeface="Pretendard Variable"/>
              </a:rPr>
              <a:t>이오타서울 파일럿에서 용산 연계 SYBD(서울역-용산) 축 완성까지의 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1038" y="2783284"/>
            <a:ext cx="1950949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ROADMAP TIMELINE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1038" y="3059509"/>
            <a:ext cx="624316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3단계 통합 개발 및 운영 타임라인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3339" y="2783284"/>
            <a:ext cx="2595299" cy="2660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75">
                <a:latin typeface="Pretendard Variable"/>
              </a:defRPr>
            </a:pPr>
            <a:r>
              <a:rPr sz="975" b="1">
                <a:solidFill>
                  <a:srgbClr val="000000"/>
                </a:solidFill>
                <a:latin typeface="Pretendard Variable"/>
              </a:rPr>
              <a:t>RISK &amp; GOVERNANCE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3339" y="3059509"/>
            <a:ext cx="6243163" cy="2819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>
                <a:latin typeface="Pretendard Variable"/>
              </a:defRPr>
            </a:pPr>
            <a:r>
              <a:rPr sz="1800" b="1">
                <a:solidFill>
                  <a:srgbClr val="000000"/>
                </a:solidFill>
                <a:latin typeface="Pretendard Variable"/>
              </a:rPr>
              <a:t>지속 가능 거버넌스 보장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40336" y="3504009"/>
            <a:ext cx="5831694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💸 재정 리스크 방지 (민간 중심 자조)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0336" y="3684984"/>
            <a:ext cx="4663541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정부 세금 지원(TIF 등) 최소화, 부동산 소유주 자발적 자조 분담금 70% 구성 원칙 확립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0336" y="4104084"/>
            <a:ext cx="5831694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⚖️ 상업적 사유화 통제 (당연직 참여)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0336" y="4285059"/>
            <a:ext cx="4726047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지자체 대리인 및 서울시의원 등 당연직 공무원 4인의 이사의 당연직 참여로 사유화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0336" y="4704159"/>
            <a:ext cx="5831694" cy="2343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25">
                <a:latin typeface="Pretendard Variable"/>
              </a:defRPr>
            </a:pPr>
            <a:r>
              <a:rPr sz="1125" b="1">
                <a:solidFill>
                  <a:srgbClr val="000000"/>
                </a:solidFill>
                <a:latin typeface="Pretendard Variable"/>
              </a:rPr>
              <a:t>🛡️ 젠트리피케이션 완화 (상생 조력)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0336" y="4885134"/>
            <a:ext cx="4708189" cy="1803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00">
                <a:latin typeface="Pretendard Variable"/>
              </a:defRPr>
            </a:pPr>
            <a:r>
              <a:rPr sz="900">
                <a:solidFill>
                  <a:srgbClr val="000000"/>
                </a:solidFill>
                <a:latin typeface="Pretendard Variable"/>
              </a:rPr>
              <a:t>구역 내 영세 상인의 급격한 임대료 상승 충격 완화를 위한 BID 자체 상생 조력 기금 조성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863" y="5520134"/>
            <a:ext cx="9102735" cy="2663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25">
                <a:latin typeface="Pretendard Variable"/>
              </a:defRPr>
            </a:pPr>
            <a:r>
              <a:rPr sz="1425">
                <a:solidFill>
                  <a:srgbClr val="000000"/>
                </a:solidFill>
                <a:latin typeface="Pretendard Variable"/>
              </a:rPr>
              <a:t>▪ 양동-봉래 시범 지구를 거쳐 서울역 전체로 확장하고, 궁극적으로 용산 IBD를 결합하는 3단계 추진 로드맵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