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6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8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9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0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1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2.pn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3.pn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4.pn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5.pn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6.pn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7.pn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8.pn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9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0.pn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1.pn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2.pn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91679" y="2432049"/>
            <a:ext cx="2262329" cy="2120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>
                <a:latin typeface="Pretendard Variable"/>
              </a:defRPr>
            </a:pPr>
            <a:r>
              <a:rPr sz="1200" b="1">
                <a:solidFill>
                  <a:srgbClr val="1E3A8A"/>
                </a:solidFill>
                <a:latin typeface="Pretendard Variable"/>
              </a:rPr>
              <a:t>이지스자산운용 전략 기획안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94187" y="2774949"/>
            <a:ext cx="9257215" cy="110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>
                <a:latin typeface="Pretendard Variable"/>
              </a:defRPr>
            </a:pPr>
            <a:r>
              <a:rPr sz="1200">
                <a:solidFill>
                  <a:srgbClr val="FFFFFF"/>
                </a:solidFill>
                <a:latin typeface="Pretendard Variable"/>
              </a:rPr>
              <a:t>IOTA SEOUL의 BID 적용과 SBD 전략 마스터플랜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79823" y="4305300"/>
            <a:ext cx="904832" cy="2247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50">
                <a:latin typeface="Pretendard Variable"/>
              </a:defRPr>
            </a:pPr>
            <a:r>
              <a:rPr sz="1050">
                <a:solidFill>
                  <a:srgbClr val="1E3A8A"/>
                </a:solidFill>
                <a:latin typeface="Pretendard Variable"/>
              </a:rPr>
              <a:t>기획추진센터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5262" y="4305300"/>
            <a:ext cx="292692" cy="2247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50">
                <a:latin typeface="Pretendard Variable"/>
              </a:defRPr>
            </a:pPr>
            <a:r>
              <a:rPr sz="1050">
                <a:solidFill>
                  <a:srgbClr val="1E3A8A"/>
                </a:solidFill>
                <a:latin typeface="Pretendard Variable"/>
              </a:rPr>
              <a:t>|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80506" y="4305300"/>
            <a:ext cx="763414" cy="2247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50">
                <a:latin typeface="Pretendard Variable"/>
              </a:defRPr>
            </a:pPr>
            <a:r>
              <a:rPr sz="1050">
                <a:solidFill>
                  <a:srgbClr val="1E3A8A"/>
                </a:solidFill>
                <a:latin typeface="Pretendard Variable"/>
              </a:rPr>
              <a:t>2026. 06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609600"/>
            <a:ext cx="10159746" cy="5105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3300">
                <a:latin typeface="Pretendard Variable"/>
              </a:defRPr>
            </a:pPr>
            <a:r>
              <a:rPr sz="3300" b="1">
                <a:solidFill>
                  <a:srgbClr val="0F172A"/>
                </a:solidFill>
                <a:latin typeface="Pretendard Variable"/>
              </a:rP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130299"/>
            <a:ext cx="10159746" cy="106378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12">
                <a:latin typeface="Pretendard Variable"/>
              </a:defRPr>
            </a:pPr>
            <a:r>
              <a:rPr sz="1312">
                <a:solidFill>
                  <a:srgbClr val="1E3A8A"/>
                </a:solidFill>
                <a:latin typeface="Pretendard Variable"/>
              </a:rPr>
              <a:t>본 보고서는 이지스자산운용이 운용자산(AUM) 100조 원을 돌파하고 진정한 글로벌 탑티어 운용사로 도약하기 위한 로드맵을 구조화한 마스터플랜의 연장선입니다. 본 전략의 궁극적인 목표는 한국 상업용 부동산 역사상 최대 규모인 7조 원 규모의 IOTA 서울 프로젝트 파이낸싱(PF)을 성공적으로 실행하고, 이를 지렛대 삼아 글로벌 LP 자본을 성공적으로 유치하는 데 있습니다. 특히, 본 보고서는 뉴욕의 업무환경개선지구(BID) 및 일본의 에리어 매니지먼트(Area Management) 모델을 심층 분석하여, 이를 IOTA 서울에 적용하고 서울역-남산 일대를 제4의 핵심 업무 권역인 SBD(Seoul Business District)로 격상시키기 위한 슬라이드 전체 구조와 상세 시나리오를 제시합니다.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11382" y="2413793"/>
            <a:ext cx="12438069" cy="2533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75">
                <a:latin typeface="Pretendard Variable"/>
              </a:defRPr>
            </a:pPr>
            <a:r>
              <a:rPr sz="1275" b="1">
                <a:solidFill>
                  <a:srgbClr val="1E3A8A"/>
                </a:solidFill>
                <a:latin typeface="Pretendard Variable"/>
              </a:rPr>
              <a:t>Part 1. 글로벌 비즈니스 지구의 부활 공식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11382" y="2601118"/>
            <a:ext cx="12438069" cy="24622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1E3A8A"/>
                </a:solidFill>
                <a:latin typeface="Pretendard Variable"/>
              </a:rPr>
              <a:t>세계적 대도시들의 성공 사례 분석을 통한 도심 재생과 자산 가치 극대화의 핵심 비결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11382" y="3098800"/>
            <a:ext cx="12438069" cy="2533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75">
                <a:latin typeface="Pretendard Variable"/>
              </a:defRPr>
            </a:pPr>
            <a:r>
              <a:rPr sz="1275" b="1">
                <a:solidFill>
                  <a:srgbClr val="1E3A8A"/>
                </a:solidFill>
                <a:latin typeface="Pretendard Variable"/>
              </a:rPr>
              <a:t>Part 2. BID의 탄생 배경과 제도적 메커니즘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11382" y="3286125"/>
            <a:ext cx="12438069" cy="24622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1E3A8A"/>
                </a:solidFill>
                <a:latin typeface="Pretendard Variable"/>
              </a:rPr>
              <a:t>무임승차 문제를 법제화와 재정적 작동 구조로 극복하여 민간 주도 공공 서비스를 실현한 메커니즘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11382" y="3783806"/>
            <a:ext cx="12438069" cy="2533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75">
                <a:latin typeface="Pretendard Variable"/>
              </a:defRPr>
            </a:pPr>
            <a:r>
              <a:rPr sz="1275" b="1">
                <a:solidFill>
                  <a:srgbClr val="1E3A8A"/>
                </a:solidFill>
                <a:latin typeface="Pretendard Variable"/>
              </a:rPr>
              <a:t>Part 3. 허드슨야드의 메가스케일 공공-민간 협력(PPP)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11382" y="3971131"/>
            <a:ext cx="12438069" cy="24622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1E3A8A"/>
                </a:solidFill>
                <a:latin typeface="Pretendard Variable"/>
              </a:rPr>
              <a:t>미래 세수를 담보로 24억 달러 규모의 공공 인프라 선투자를 성공시킨 뉴욕의 PPP 파이낸싱과 통합 운영 체계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11382" y="4468812"/>
            <a:ext cx="12438069" cy="2533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75">
                <a:latin typeface="Pretendard Variable"/>
              </a:defRPr>
            </a:pPr>
            <a:r>
              <a:rPr sz="1275" b="1">
                <a:solidFill>
                  <a:srgbClr val="1E3A8A"/>
                </a:solidFill>
                <a:latin typeface="Pretendard Variable"/>
              </a:rPr>
              <a:t>Part 4. 일본 도쿄의 에리어 매니지먼트와 '일본판 BID'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11382" y="4656137"/>
            <a:ext cx="12438069" cy="24622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1E3A8A"/>
                </a:solidFill>
                <a:latin typeface="Pretendard Variable"/>
              </a:rPr>
              <a:t>대형 디벨로퍼 주도의 수직 통합형 에리어 매니지먼트 특징 및 2018년 지역재생법 개정 세부 제도 분석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11382" y="5153818"/>
            <a:ext cx="12438069" cy="2533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75">
                <a:latin typeface="Pretendard Variable"/>
              </a:defRPr>
            </a:pPr>
            <a:r>
              <a:rPr sz="1275" b="1">
                <a:solidFill>
                  <a:srgbClr val="1E3A8A"/>
                </a:solidFill>
                <a:latin typeface="Pretendard Variable"/>
              </a:rPr>
              <a:t>Part 5. 서울의 제4 업무지구 SBD 정립과 미래 비전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11382" y="5341143"/>
            <a:ext cx="12438069" cy="24622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1E3A8A"/>
                </a:solidFill>
                <a:latin typeface="Pretendard Variable"/>
              </a:rPr>
              <a:t>서울역에서 남산, 용산으로 이어지는 대한민국 신업무축 정립과 5세대 디지털 BID 운영 체계의 미래 청사진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03434" y="6035674"/>
            <a:ext cx="10381990" cy="2628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50">
                <a:latin typeface="Pretendard Variable"/>
              </a:defRPr>
            </a:pPr>
            <a:r>
              <a:rPr sz="1350" b="1">
                <a:solidFill>
                  <a:srgbClr val="1E3A8A"/>
                </a:solidFill>
                <a:latin typeface="Pretendard Variable"/>
              </a:rPr>
              <a:t>DISCLAIMER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03434" y="6283325"/>
            <a:ext cx="12826679" cy="51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12">
                <a:latin typeface="Pretendard Variable"/>
              </a:defRPr>
            </a:pPr>
            <a:r>
              <a:rPr sz="1012" b="1">
                <a:solidFill>
                  <a:srgbClr val="1E3A8A"/>
                </a:solidFill>
                <a:latin typeface="Pretendard Variable"/>
              </a:rPr>
              <a:t>본 문서는 전략적 정보 제공 및 내부 기획을 목적으로 작성되었으며, 재무적, 법률적, 또는 전문적인 투자 자문을 구성하지 않습니다. 문서에 포함된 시장 전망, 수익률 추정치, 펀딩 목표 및 특정 기업/기관과 관련된 미래 예측 진술은 작성 시점의 거시경제 데이터와 분석을 바탕으로 한 시나리오이며, 실제 시장 상황, 금리 변동, 규제 변화 및 예기치 못한 리스크에 따라 크게 달라질 수 있습니다. 의사결정 시 반드시 개별적인 법무·회계·재무 실사를 거쳐야 합니다.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735181" y="2883495"/>
            <a:ext cx="975325" cy="339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950">
                <a:latin typeface="Pretendard Variable"/>
              </a:defRPr>
            </a:pPr>
            <a:r>
              <a:rPr sz="1950">
                <a:solidFill>
                  <a:srgbClr val="FFFFFF"/>
                </a:solidFill>
                <a:latin typeface="Pretendard Variable"/>
              </a:rPr>
              <a:t>PART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17185" y="3220045"/>
            <a:ext cx="10011219" cy="63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4950">
                <a:latin typeface="Pretendard Variable"/>
              </a:defRPr>
            </a:pPr>
            <a:r>
              <a:rPr sz="4950" b="1">
                <a:solidFill>
                  <a:srgbClr val="FFFFFF"/>
                </a:solidFill>
                <a:latin typeface="Pretendard Variable"/>
              </a:rPr>
              <a:t>글로벌 비즈니스 지구의 부활 공식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93073" y="2611139"/>
            <a:ext cx="1659540" cy="339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950">
                <a:latin typeface="Pretendard Variable"/>
              </a:defRPr>
            </a:pPr>
            <a:r>
              <a:rPr sz="1950" b="1">
                <a:solidFill>
                  <a:srgbClr val="0F172A"/>
                </a:solidFill>
                <a:latin typeface="Pretendard Variable"/>
              </a:rPr>
              <a:t>CHAPTER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72856" y="2947689"/>
            <a:ext cx="6499975" cy="11810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4950">
                <a:latin typeface="Pretendard Variable"/>
              </a:defRPr>
            </a:pPr>
            <a:r>
              <a:rPr sz="4950" b="1">
                <a:solidFill>
                  <a:srgbClr val="0F172A"/>
                </a:solidFill>
                <a:latin typeface="Pretendard Variable"/>
              </a:rPr>
              <a:t>뉴욕시 BID 가치 분석 브라이언 파크의 부활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345703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E11D48"/>
                </a:solidFill>
                <a:latin typeface="Pretendard Variable"/>
              </a:rPr>
              <a:t>브라이언트 파크의 쇠퇴 (Before 1980s)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650503"/>
            <a:ext cx="10159746" cy="5206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900">
                <a:latin typeface="Pretendard Variable"/>
              </a:defRPr>
            </a:pPr>
            <a:r>
              <a:rPr sz="3900" b="1">
                <a:solidFill>
                  <a:srgbClr val="1D1D1F"/>
                </a:solidFill>
                <a:latin typeface="Pretendard Variable"/>
              </a:rPr>
              <a:t>1980년대 미드타운 한복판의 마약 밀매 거점과 강력범죄의 해방구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14537" y="2600424"/>
            <a:ext cx="2116322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FFFFFF"/>
                </a:solidFill>
                <a:latin typeface="Pretendard Variable"/>
              </a:rPr>
              <a:t>SLUM PARK ZONE 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14537" y="2927449"/>
            <a:ext cx="6014569" cy="2978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950">
                <a:latin typeface="Pretendard Variable"/>
              </a:defRPr>
            </a:pPr>
            <a:r>
              <a:rPr sz="1950" b="1">
                <a:solidFill>
                  <a:srgbClr val="1E3A8A"/>
                </a:solidFill>
                <a:latin typeface="Pretendard Variable"/>
              </a:rPr>
              <a:t>뉴욕공공도서관 뒤편의 치안 붕괴 영역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22604" y="3591024"/>
            <a:ext cx="858508" cy="2120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750">
                <a:latin typeface="Pretendard Variable"/>
              </a:defRPr>
            </a:pPr>
            <a:r>
              <a:rPr sz="750" b="1">
                <a:solidFill>
                  <a:srgbClr val="FFFFFF"/>
                </a:solidFill>
                <a:latin typeface="Pretendard Variable"/>
              </a:rPr>
              <a:t>마약 밀매 거점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30591" y="3845024"/>
            <a:ext cx="841388" cy="2120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750">
                <a:latin typeface="Pretendard Variable"/>
              </a:defRPr>
            </a:pPr>
            <a:r>
              <a:rPr sz="750" b="1">
                <a:solidFill>
                  <a:srgbClr val="FFFFFF"/>
                </a:solidFill>
                <a:latin typeface="Pretendard Variable"/>
              </a:rPr>
              <a:t>강력범죄 빈발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14537" y="4480024"/>
            <a:ext cx="6014569" cy="3803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 b="1">
                <a:solidFill>
                  <a:srgbClr val="1E3A8A"/>
                </a:solidFill>
                <a:latin typeface="Pretendard Variable"/>
              </a:rPr>
              <a:t>🚧 공원 내부 통행로가 어둡고 밀폐되어 보행자가 회피함에 따라 자연스럽게 노숙자와 마약 범죄자들의 아지트로 전락함.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6838" y="2600424"/>
            <a:ext cx="2617622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FFFFFF"/>
                </a:solidFill>
                <a:latin typeface="Pretendard Variable"/>
              </a:rPr>
              <a:t>ABANDONED PUBLIC SERVICE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6838" y="2927449"/>
            <a:ext cx="6014569" cy="2978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950">
                <a:latin typeface="Pretendard Variable"/>
              </a:defRPr>
            </a:pPr>
            <a:r>
              <a:rPr sz="1950" b="1">
                <a:solidFill>
                  <a:srgbClr val="FFFFFF"/>
                </a:solidFill>
                <a:latin typeface="Pretendard Variable"/>
              </a:rPr>
              <a:t>범죄 지표 및 시의 행정 포기 실태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03834" y="3387824"/>
            <a:ext cx="4562995" cy="2628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50">
                <a:latin typeface="Pretendard Variable"/>
              </a:defRPr>
            </a:pPr>
            <a:r>
              <a:rPr sz="1350" b="1">
                <a:solidFill>
                  <a:srgbClr val="FFFFFF"/>
                </a:solidFill>
                <a:latin typeface="Pretendard Variable"/>
              </a:rPr>
              <a:t>🚨 연간 500건+ 강력범죄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03834" y="3591024"/>
            <a:ext cx="3495210" cy="1866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>
                <a:solidFill>
                  <a:srgbClr val="1E3A8A"/>
                </a:solidFill>
                <a:latin typeface="Pretendard Variable"/>
              </a:rPr>
              <a:t>살인, 무장강도, 총격 사건 등 미드타운 내 범죄 최다 발생지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3834" y="4016474"/>
            <a:ext cx="4562995" cy="2628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50">
                <a:latin typeface="Pretendard Variable"/>
              </a:defRPr>
            </a:pPr>
            <a:r>
              <a:rPr sz="1350" b="1">
                <a:solidFill>
                  <a:srgbClr val="FFFFFF"/>
                </a:solidFill>
                <a:latin typeface="Pretendard Variable"/>
              </a:rPr>
              <a:t>🚫 시 정부 예산 지원 0$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03834" y="4219674"/>
            <a:ext cx="3766844" cy="1866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>
                <a:solidFill>
                  <a:srgbClr val="1E3A8A"/>
                </a:solidFill>
                <a:latin typeface="Pretendard Variable"/>
              </a:rPr>
              <a:t>재정난을 이유로 뉴욕시 공원국이 청소와 보수 예산을 전면 철회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6838" y="4734024"/>
            <a:ext cx="5925810" cy="1866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1E3A8A"/>
                </a:solidFill>
                <a:latin typeface="Pretendard Variable"/>
              </a:rPr>
              <a:t>💡 "대낮에도 시민들이 진입을 기피하여 미드타운 전체의 부동산 자산 가치를 훼손한 도시 흉물로 전락"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77401" y="5337274"/>
            <a:ext cx="7160398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1E3A8A"/>
                </a:solidFill>
                <a:latin typeface="Pretendard Variable"/>
              </a:rPr>
              <a:t>▪ 예산 지원 중단과 치안 부재로 인해 핵심 도심 공원이 급격히 슬럼화된 대표적 사례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440953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10B981"/>
                </a:solidFill>
                <a:latin typeface="Pretendard Variable"/>
              </a:rPr>
              <a:t>브라이언트 파크의 부활 (After 1988)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745753"/>
            <a:ext cx="10159746" cy="5206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900">
                <a:latin typeface="Pretendard Variable"/>
              </a:defRPr>
            </a:pPr>
            <a:r>
              <a:rPr sz="3900" b="1">
                <a:solidFill>
                  <a:srgbClr val="1D1D1F"/>
                </a:solidFill>
                <a:latin typeface="Pretendard Variable"/>
              </a:rPr>
              <a:t>BID 법인 설립과 전면 리노베이션을 통한 도심 광장의 대전환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14537" y="2695674"/>
            <a:ext cx="2501004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FFFFFF"/>
                </a:solidFill>
                <a:latin typeface="Pretendard Variable"/>
              </a:rPr>
              <a:t>BPC FINANCIAL AUTONOMY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14537" y="3022699"/>
            <a:ext cx="6014569" cy="2978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950">
                <a:latin typeface="Pretendard Variable"/>
              </a:defRPr>
            </a:pPr>
            <a:r>
              <a:rPr sz="1950" b="1">
                <a:solidFill>
                  <a:srgbClr val="FFFFFF"/>
                </a:solidFill>
                <a:latin typeface="Pretendard Variable"/>
              </a:rPr>
              <a:t>시 지원금 0원의 자립형 예산 구조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537" y="3330674"/>
            <a:ext cx="6014569" cy="3581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 b="1">
                <a:solidFill>
                  <a:srgbClr val="1E3A8A"/>
                </a:solidFill>
                <a:latin typeface="Pretendard Variable"/>
              </a:rPr>
              <a:t>부동산 소유주 특별부과금과 자체 사업 수익(키오스크 임대, 이벤트 등)만으로 3,000만 달러 예산 달성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14537" y="3749774"/>
            <a:ext cx="2953549" cy="2247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 b="1">
                <a:solidFill>
                  <a:srgbClr val="1E3A8A"/>
                </a:solidFill>
                <a:latin typeface="Pretendard Variable"/>
              </a:rPr>
              <a:t>🏢 주변 소유주 특별부과금 (Assessment)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18408" y="3749774"/>
            <a:ext cx="538843" cy="2247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 b="1">
                <a:solidFill>
                  <a:srgbClr val="1E3A8A"/>
                </a:solidFill>
                <a:latin typeface="Pretendard Variable"/>
              </a:rPr>
              <a:t>40%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14537" y="4086324"/>
            <a:ext cx="3438597" cy="2247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 b="1">
                <a:solidFill>
                  <a:srgbClr val="1E3A8A"/>
                </a:solidFill>
                <a:latin typeface="Pretendard Variable"/>
              </a:rPr>
              <a:t>🎟️ 공원 자체 상업 수익 (매점, 스케이트장, 스폰서십)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19797" y="4086324"/>
            <a:ext cx="536829" cy="2247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 b="1">
                <a:solidFill>
                  <a:srgbClr val="10B981"/>
                </a:solidFill>
                <a:latin typeface="Pretendard Variable"/>
              </a:rPr>
              <a:t>60%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4537" y="4638774"/>
            <a:ext cx="5990638" cy="1866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1E3A8A"/>
                </a:solidFill>
                <a:latin typeface="Pretendard Variable"/>
              </a:rPr>
              <a:t>💡 "시 예산에 의존하지 않아 관료주의적 결재를 피하고, 오직 상권 가치 보존에만 전념하여 신속히 집행"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6838" y="2695674"/>
            <a:ext cx="3423060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FFFFFF"/>
                </a:solidFill>
                <a:latin typeface="Pretendard Variable"/>
              </a:rPr>
              <a:t>PERFORMANCE OUTCOMES (POST-1988)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6838" y="3022699"/>
            <a:ext cx="6014569" cy="2978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950">
                <a:latin typeface="Pretendard Variable"/>
              </a:defRPr>
            </a:pPr>
            <a:r>
              <a:rPr sz="1950" b="1">
                <a:solidFill>
                  <a:srgbClr val="1E3A8A"/>
                </a:solidFill>
                <a:latin typeface="Pretendard Variable"/>
              </a:rPr>
              <a:t>범죄 해방구에서 뉴욕 최고 명소로의 도약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4785" y="3489424"/>
            <a:ext cx="2187520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강력 범죄율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4785" y="3629124"/>
            <a:ext cx="2187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2700">
                <a:latin typeface="Pretendard Variable"/>
              </a:defRPr>
            </a:pPr>
            <a:r>
              <a:rPr sz="2700" b="1">
                <a:solidFill>
                  <a:srgbClr val="10B981"/>
                </a:solidFill>
                <a:latin typeface="Pretendard Variable"/>
              </a:rPr>
              <a:t>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4785" y="3921224"/>
            <a:ext cx="946840" cy="1803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슬럼가 완전 탈피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35744" y="3489424"/>
            <a:ext cx="2187520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연간 방문객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5744" y="3629124"/>
            <a:ext cx="2187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2700">
                <a:latin typeface="Pretendard Variable"/>
              </a:defRPr>
            </a:pPr>
            <a:r>
              <a:rPr sz="2700" b="1">
                <a:solidFill>
                  <a:srgbClr val="10B981"/>
                </a:solidFill>
                <a:latin typeface="Pretendard Variable"/>
              </a:rPr>
              <a:t>1,200만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35744" y="3921224"/>
            <a:ext cx="1154435" cy="1803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인구 밀집도 최고 도달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6838" y="4295874"/>
            <a:ext cx="6014569" cy="5549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1E3A8A"/>
                </a:solidFill>
                <a:latin typeface="Pretendard Variable"/>
              </a:rPr>
              <a:t>🛋️ **혁신 기법**: 못박힌 벤치를 치우고, 프랑스 뤽상부르 공원 스타일의 **이동식 개별 의자 2,000개**를 배치해 시민들이 보행과 쉼을 스스로 조율하도록 자율성 부여.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27257" y="5242024"/>
            <a:ext cx="8780739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1E3A8A"/>
                </a:solidFill>
                <a:latin typeface="Pretendard Variable"/>
              </a:rPr>
              <a:t>▪ 민간 비즈니스 기법과 자체 재원 마련을 통해 도심 공공 공간을 복합 문화 랜드마크로 전환한 성공 모델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494928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1E3A8A"/>
                </a:solidFill>
                <a:latin typeface="Pretendard Variable"/>
              </a:rPr>
              <a:t>브라이언트 파크 부동산 파급 효과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799728"/>
            <a:ext cx="10159746" cy="5206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900">
                <a:latin typeface="Pretendard Variable"/>
              </a:defRPr>
            </a:pPr>
            <a:r>
              <a:rPr sz="3900" b="1">
                <a:solidFill>
                  <a:srgbClr val="1D1D1F"/>
                </a:solidFill>
                <a:latin typeface="Pretendard Variable"/>
              </a:rPr>
              <a:t>공원의 부활이 견인한 주변 오피스 임대료 급등과 재개발 촉진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206" y="3437036"/>
            <a:ext cx="1015175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>
                <a:latin typeface="Pretendard Variable"/>
              </a:defRPr>
            </a:pPr>
            <a:r>
              <a:rPr sz="900" b="1">
                <a:solidFill>
                  <a:srgbClr val="FFFFFF"/>
                </a:solidFill>
                <a:latin typeface="Pretendard Variable"/>
              </a:rPr>
              <a:t>ANCHOR CORE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51338" y="3576736"/>
            <a:ext cx="1543011" cy="3771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50">
                <a:latin typeface="Pretendard Variable"/>
              </a:defRPr>
            </a:pPr>
            <a:r>
              <a:rPr sz="1350" b="1">
                <a:solidFill>
                  <a:srgbClr val="FFFFFF"/>
                </a:solidFill>
                <a:latin typeface="Pretendard Variable"/>
              </a:rPr>
              <a:t>브라이언트 공원 리노베이션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31463" y="3913286"/>
            <a:ext cx="982662" cy="1962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825">
                <a:latin typeface="Pretendard Variable"/>
              </a:defRPr>
            </a:pPr>
            <a:r>
              <a:rPr sz="825" b="1">
                <a:solidFill>
                  <a:srgbClr val="1E3A8A"/>
                </a:solidFill>
                <a:latin typeface="Pretendard Variable"/>
              </a:rPr>
              <a:t>7,000평 도심 녹지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38419" y="2775049"/>
            <a:ext cx="2095447" cy="1962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825">
                <a:latin typeface="Pretendard Variable"/>
              </a:defRPr>
            </a:pPr>
            <a:r>
              <a:rPr sz="825" b="1">
                <a:solidFill>
                  <a:srgbClr val="1E3A8A"/>
                </a:solidFill>
                <a:latin typeface="Pretendard Variable"/>
              </a:rPr>
              <a:t>PROPERTY 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38419" y="2905224"/>
            <a:ext cx="2095447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1E3A8A"/>
                </a:solidFill>
                <a:latin typeface="Pretendard Variable"/>
              </a:rPr>
              <a:t>Grace Building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38419" y="3108424"/>
            <a:ext cx="2539936" cy="4343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• 공원 개보수 직후 공실률 제로 수렴 • 1년 만에 임대료 60% 초고속 폭등 • 공원 조망 보유에 따른 프리미엄 획득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3307" y="2775049"/>
            <a:ext cx="2095447" cy="1962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825">
                <a:latin typeface="Pretendard Variable"/>
              </a:defRPr>
            </a:pPr>
            <a:r>
              <a:rPr sz="825" b="1">
                <a:solidFill>
                  <a:srgbClr val="1E3A8A"/>
                </a:solidFill>
                <a:latin typeface="Pretendard Variable"/>
              </a:rPr>
              <a:t>PROPERTY 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3307" y="2905224"/>
            <a:ext cx="2539936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1E3A8A"/>
                </a:solidFill>
                <a:latin typeface="Pretendard Variable"/>
              </a:rPr>
              <a:t>1095 Ave of the Americas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3307" y="3108424"/>
            <a:ext cx="2539936" cy="4343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• 건물 전면을 통유리 파사드로 리노베이션 • 글로벌 운용사 BlackRock 본사 유치 • 공원을 앞마당으로 활용하는 거점 설계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4281" y="4181574"/>
            <a:ext cx="2997125" cy="1962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825">
                <a:latin typeface="Pretendard Variable"/>
              </a:defRPr>
            </a:pPr>
            <a:r>
              <a:rPr sz="825" b="1">
                <a:solidFill>
                  <a:srgbClr val="1E3A8A"/>
                </a:solidFill>
                <a:latin typeface="Pretendard Variable"/>
              </a:rPr>
              <a:t>MARKET VALUE RERATING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24281" y="4311749"/>
            <a:ext cx="2997125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>
                <a:latin typeface="Pretendard Variable"/>
              </a:defRPr>
            </a:pPr>
            <a:r>
              <a:rPr sz="1200" b="1">
                <a:solidFill>
                  <a:srgbClr val="FFFFFF"/>
                </a:solidFill>
                <a:latin typeface="Pretendard Variable"/>
              </a:rPr>
              <a:t>주변 임대 시장 Rerating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24281" y="4514949"/>
            <a:ext cx="299712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"공원과 인접해 있을수록 평방피트당 임대료가 경쟁 건물 대비 평균 15~22% 할증 거래되는 현상 고착화"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70625" y="5188049"/>
            <a:ext cx="8264616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1E3A8A"/>
                </a:solidFill>
                <a:latin typeface="Pretendard Variable"/>
              </a:rPr>
              <a:t>▪ 환경 개선이 인근 오피스의 수요와 자산 가치 상승을 직접적으로 유도함을 입증한 랜드마크 분석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76385" y="2611139"/>
            <a:ext cx="1692917" cy="339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950">
                <a:latin typeface="Pretendard Variable"/>
              </a:defRPr>
            </a:pPr>
            <a:r>
              <a:rPr sz="1950" b="1">
                <a:solidFill>
                  <a:srgbClr val="0F172A"/>
                </a:solidFill>
                <a:latin typeface="Pretendard Variable"/>
              </a:rPr>
              <a:t>CHAPTER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72856" y="2947689"/>
            <a:ext cx="6499975" cy="11810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4950">
                <a:latin typeface="Pretendard Variable"/>
              </a:defRPr>
            </a:pPr>
            <a:r>
              <a:rPr sz="4950" b="1">
                <a:solidFill>
                  <a:srgbClr val="0F172A"/>
                </a:solidFill>
                <a:latin typeface="Pretendard Variable"/>
              </a:rPr>
              <a:t>뉴욕시 BID 가치 분석 타임스퀘어 재생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263153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E11D48"/>
                </a:solidFill>
                <a:latin typeface="Pretendard Variable"/>
              </a:rPr>
              <a:t>타임스스퀘어의 몰락 (Before 1984)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567953"/>
            <a:ext cx="10159746" cy="5206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900">
                <a:latin typeface="Pretendard Variable"/>
              </a:defRPr>
            </a:pPr>
            <a:r>
              <a:rPr sz="3900" b="1">
                <a:solidFill>
                  <a:srgbClr val="1D1D1F"/>
                </a:solidFill>
                <a:latin typeface="Pretendard Variable"/>
              </a:rPr>
              <a:t>세계 최악의 우범 지대였던 42번가 타임스스퀘어의 실태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14537" y="2517874"/>
            <a:ext cx="2294733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FFFFFF"/>
                </a:solidFill>
                <a:latin typeface="Pretendard Variable"/>
              </a:rPr>
              <a:t>STREET DECAY FACTORS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14537" y="2844899"/>
            <a:ext cx="6014569" cy="2978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950">
                <a:latin typeface="Pretendard Variable"/>
              </a:defRPr>
            </a:pPr>
            <a:r>
              <a:rPr sz="1950" b="1">
                <a:solidFill>
                  <a:srgbClr val="1E3A8A"/>
                </a:solidFill>
                <a:latin typeface="Pretendard Variable"/>
              </a:rPr>
              <a:t>성인 유흥업 점령과 가로 환경 붕괴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41533" y="3305274"/>
            <a:ext cx="4562995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1E3A8A"/>
                </a:solidFill>
                <a:latin typeface="Pretendard Variable"/>
              </a:rPr>
              <a:t>🔞 성인 상점 난립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41533" y="3489424"/>
            <a:ext cx="3489495" cy="1866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>
                <a:solidFill>
                  <a:srgbClr val="1E3A8A"/>
                </a:solidFill>
                <a:latin typeface="Pretendard Variable"/>
              </a:rPr>
              <a:t>42번가 일대 150여 개 성인 극장 및 유흥 상점 무질서 점령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41533" y="3914874"/>
            <a:ext cx="4562995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1E3A8A"/>
                </a:solidFill>
                <a:latin typeface="Pretendard Variable"/>
              </a:rPr>
              <a:t>🚬 비공식 마약 밀매 거점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41533" y="4099024"/>
            <a:ext cx="3550930" cy="1866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>
                <a:solidFill>
                  <a:srgbClr val="1E3A8A"/>
                </a:solidFill>
                <a:latin typeface="Pretendard Variable"/>
              </a:rPr>
              <a:t>조도 부족과 치안 공백을 틈탄 뉴욕 최대의 마약 소매 기지화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14537" y="4473674"/>
            <a:ext cx="6014569" cy="5549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1E3A8A"/>
                </a:solidFill>
                <a:latin typeface="Pretendard Variable"/>
              </a:rPr>
              <a:t>⚠️ **주변 부동산의 파탄**: 임차인을 구하지 못한 빌딩 소유주들이 고의 방화나 관리를 방치하여 빌딩 붕괴 현상 다수 발생.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6838" y="2517874"/>
            <a:ext cx="2986766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FFFFFF"/>
                </a:solidFill>
                <a:latin typeface="Pretendard Variable"/>
              </a:rPr>
              <a:t>SLUM CRISIS STATS (BEFORE 1984)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6838" y="2844899"/>
            <a:ext cx="6014569" cy="2978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950">
                <a:latin typeface="Pretendard Variable"/>
              </a:defRPr>
            </a:pPr>
            <a:r>
              <a:rPr sz="1950" b="1">
                <a:solidFill>
                  <a:srgbClr val="FFFFFF"/>
                </a:solidFill>
                <a:latin typeface="Pretendard Variable"/>
              </a:rPr>
              <a:t>통제력을 상실했던 공권력 지표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10184" y="3387824"/>
            <a:ext cx="2113862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강력 범죄 건수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10184" y="3552924"/>
            <a:ext cx="2113862" cy="332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2850">
                <a:latin typeface="Pretendard Variable"/>
              </a:defRPr>
            </a:pPr>
            <a:r>
              <a:rPr sz="2850" b="1">
                <a:solidFill>
                  <a:srgbClr val="FFFFFF"/>
                </a:solidFill>
                <a:latin typeface="Pretendard Variable"/>
              </a:rPr>
              <a:t>연 2,300건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10184" y="3883124"/>
            <a:ext cx="1040927" cy="1803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도심 최악의 범죄율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1143" y="3387824"/>
            <a:ext cx="2113862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주변 오피스 가치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61143" y="3552924"/>
            <a:ext cx="2113862" cy="332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2850">
                <a:latin typeface="Pretendard Variable"/>
              </a:defRPr>
            </a:pPr>
            <a:r>
              <a:rPr sz="2850" b="1">
                <a:solidFill>
                  <a:srgbClr val="FFFFFF"/>
                </a:solidFill>
                <a:latin typeface="Pretendard Variable"/>
              </a:rPr>
              <a:t>-50% 폭락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61143" y="3883124"/>
            <a:ext cx="948423" cy="1803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기업 이탈 가속화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6838" y="4689574"/>
            <a:ext cx="6014569" cy="339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1E3A8A"/>
                </a:solidFill>
                <a:latin typeface="Pretendard Variable"/>
              </a:rPr>
              <a:t>🚨 "관광객들이 낮에도 절대 진입을 기피하여 맨해튼의 얼굴이었던 타임스스퀘어가 우범지대의 대명사로 전락"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59126" y="5419824"/>
            <a:ext cx="7946012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1E3A8A"/>
                </a:solidFill>
                <a:latin typeface="Pretendard Variable"/>
              </a:rPr>
              <a:t>▪ 치안 공백과 유흥업 난립이 도심 전체의 공실률과 자산 가치 폭락에 미치는 부정적 영향 분석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247278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10B981"/>
                </a:solidFill>
                <a:latin typeface="Pretendard Variable"/>
              </a:rPr>
              <a:t>타임스스퀘어의 재생 (After 1992)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552078"/>
            <a:ext cx="10159746" cy="5206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900">
                <a:latin typeface="Pretendard Variable"/>
              </a:defRPr>
            </a:pPr>
            <a:r>
              <a:rPr sz="3900" b="1">
                <a:solidFill>
                  <a:srgbClr val="1D1D1F"/>
                </a:solidFill>
                <a:latin typeface="Pretendard Variable"/>
              </a:rPr>
              <a:t>Times Square Alliance BID 설립 후 범죄율 97% 감소의 실증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14537" y="2501999"/>
            <a:ext cx="2577083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FFFFFF"/>
                </a:solidFill>
                <a:latin typeface="Pretendard Variable"/>
              </a:rPr>
              <a:t>PRIVATE PROTECTION FORCE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14537" y="2829024"/>
            <a:ext cx="6014569" cy="2978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950">
                <a:latin typeface="Pretendard Variable"/>
              </a:defRPr>
            </a:pPr>
            <a:r>
              <a:rPr sz="1950" b="1">
                <a:solidFill>
                  <a:srgbClr val="FFFFFF"/>
                </a:solidFill>
                <a:latin typeface="Pretendard Variable"/>
              </a:rPr>
              <a:t>자체 미화단 및 민간 순찰대(PSA) 가동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537" y="3136999"/>
            <a:ext cx="6014569" cy="2247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 b="1">
                <a:solidFill>
                  <a:srgbClr val="1E3A8A"/>
                </a:solidFill>
                <a:latin typeface="Pretendard Variable"/>
              </a:rPr>
              <a:t>시 경찰과 연계하는 무장 해제 민간 경비단(Public Safety Officers)을 24시간 도심에 배치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41533" y="3524349"/>
            <a:ext cx="5603099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FFFFFF"/>
                </a:solidFill>
                <a:latin typeface="Pretendard Variable"/>
              </a:rPr>
              <a:t>🧹 24시간 쓰레기 수거 및 고압 살수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41533" y="3708499"/>
            <a:ext cx="3543965" cy="1866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>
                <a:solidFill>
                  <a:srgbClr val="1E3A8A"/>
                </a:solidFill>
                <a:latin typeface="Pretendard Variable"/>
              </a:rPr>
              <a:t>깨진 유리창 이론 차단: 낙서와 전단을 2시간 내에 완전 제거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41533" y="4133949"/>
            <a:ext cx="4562995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FFFFFF"/>
                </a:solidFill>
                <a:latin typeface="Pretendard Variable"/>
              </a:rPr>
              <a:t>👮 NYPD 공동 밀착 협업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41533" y="4318099"/>
            <a:ext cx="3709339" cy="1866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>
                <a:solidFill>
                  <a:srgbClr val="1E3A8A"/>
                </a:solidFill>
                <a:latin typeface="Pretendard Variable"/>
              </a:rPr>
              <a:t>무전 채널 공유 및 매주 범죄 핫스팟 정보를 공유하여 예방 배치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4537" y="4832449"/>
            <a:ext cx="5738113" cy="1866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1E3A8A"/>
                </a:solidFill>
                <a:latin typeface="Pretendard Variable"/>
              </a:rPr>
              <a:t>💡 "단순 순찰에 그치지 않고, 가로등 조도를 3배 높이고 노상 불법 행위를 민관 합동으로 지속 단속"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6838" y="2501999"/>
            <a:ext cx="2204367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FFFFFF"/>
                </a:solidFill>
                <a:latin typeface="Pretendard Variable"/>
              </a:rPr>
              <a:t>EMPIRICAL CRIME DROP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6838" y="2829024"/>
            <a:ext cx="6014569" cy="2978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950">
                <a:latin typeface="Pretendard Variable"/>
              </a:defRPr>
            </a:pPr>
            <a:r>
              <a:rPr sz="1950" b="1">
                <a:solidFill>
                  <a:srgbClr val="1E3A8A"/>
                </a:solidFill>
                <a:latin typeface="Pretendard Variable"/>
              </a:rPr>
              <a:t>범죄 해방구 딱지를 뗀 대전환 지표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4785" y="3244949"/>
            <a:ext cx="1123217" cy="1962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825">
                <a:latin typeface="Pretendard Variable"/>
              </a:defRPr>
            </a:pPr>
            <a:r>
              <a:rPr sz="825" b="1">
                <a:solidFill>
                  <a:srgbClr val="1E3A8A"/>
                </a:solidFill>
                <a:latin typeface="Pretendard Variable"/>
              </a:rPr>
              <a:t>1992 (BID 설립)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4785" y="3368774"/>
            <a:ext cx="1123217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1E3A8A"/>
                </a:solidFill>
                <a:latin typeface="Pretendard Variable"/>
              </a:rPr>
              <a:t>범죄 최고점 기록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38789" y="3705324"/>
            <a:ext cx="1784414" cy="1962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825">
                <a:latin typeface="Pretendard Variable"/>
              </a:defRPr>
            </a:pPr>
            <a:r>
              <a:rPr sz="825" b="1">
                <a:solidFill>
                  <a:srgbClr val="1E3A8A"/>
                </a:solidFill>
                <a:latin typeface="Pretendard Variable"/>
              </a:rPr>
              <a:t>1998~현재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8789" y="3829149"/>
            <a:ext cx="1784414" cy="2247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350">
                <a:latin typeface="Pretendard Variable"/>
              </a:defRPr>
            </a:pPr>
            <a:r>
              <a:rPr sz="1350" b="1">
                <a:solidFill>
                  <a:srgbClr val="10B981"/>
                </a:solidFill>
                <a:latin typeface="Pretendard Variable"/>
              </a:rPr>
              <a:t>전체 범죄 97% 감소 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4785" y="4597499"/>
            <a:ext cx="5625959" cy="339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1E3A8A"/>
                </a:solidFill>
                <a:latin typeface="Pretendard Variable"/>
              </a:rPr>
              <a:t>🔑 **지구 청결 관리와 범죄 예방의 인과성**: 깨진 유리창 이론을 도시 행정에 완벽히 이식하여, 깨끗하고 조명이 밝아진 거리에 우범 분자들이 스스로 자취를 감춤.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83701" y="5435699"/>
            <a:ext cx="8937719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1E3A8A"/>
                </a:solidFill>
                <a:latin typeface="Pretendard Variable"/>
              </a:rPr>
              <a:t>▪ 전담 안전/청소 인력 상주 등 민간 거버넌스의 신속한 의사결정으로 범죄율을 획기적으로 낮춘 혁신 사례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396503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1E3A8A"/>
                </a:solidFill>
                <a:latin typeface="Pretendard Variable"/>
              </a:rPr>
              <a:t>타임스스퀘어 보행화 및 매출 폭등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701303"/>
            <a:ext cx="10159746" cy="5206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900">
                <a:latin typeface="Pretendard Variable"/>
              </a:defRPr>
            </a:pPr>
            <a:r>
              <a:rPr sz="3900" b="1">
                <a:solidFill>
                  <a:srgbClr val="1D1D1F"/>
                </a:solidFill>
                <a:latin typeface="Pretendard Variable"/>
              </a:rPr>
              <a:t>차도 축소와 광장 조성이 이끌어낸 보행량 11% 증가 및 매출 71% 폭등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14537" y="2651224"/>
            <a:ext cx="3214646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FFFFFF"/>
                </a:solidFill>
                <a:latin typeface="Pretendard Variable"/>
              </a:rPr>
              <a:t>JAN GEHL'S SPATIAL REDESIGN (2009)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14537" y="2978249"/>
            <a:ext cx="6014569" cy="2978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950">
                <a:latin typeface="Pretendard Variable"/>
              </a:defRPr>
            </a:pPr>
            <a:r>
              <a:rPr sz="1950" b="1">
                <a:solidFill>
                  <a:srgbClr val="1E3A8A"/>
                </a:solidFill>
                <a:latin typeface="Pretendard Variable"/>
              </a:rPr>
              <a:t>차도를 차단한 영구 보행자 전용 공간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537" y="3286224"/>
            <a:ext cx="6014569" cy="3581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 b="1">
                <a:solidFill>
                  <a:srgbClr val="1E3A8A"/>
                </a:solidFill>
                <a:latin typeface="Pretendard Variable"/>
              </a:rPr>
              <a:t>뉴욕시 교통국과 BID가 협업하여 브로드웨이 차도를 차단하고 임시 컬러 페인팅과 아웃도어 의자 배치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14537" y="3705324"/>
            <a:ext cx="548626" cy="29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1E3A8A"/>
                </a:solidFill>
                <a:latin typeface="Pretendard Variable"/>
              </a:rPr>
              <a:t>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93930" y="3740249"/>
            <a:ext cx="2816749" cy="2247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 b="1">
                <a:solidFill>
                  <a:srgbClr val="1E3A8A"/>
                </a:solidFill>
                <a:latin typeface="Pretendard Variable"/>
              </a:rPr>
              <a:t>차량 혼잡, 매연, 협소한 보도로 보행 불가능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14537" y="3984724"/>
            <a:ext cx="548626" cy="29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1E3A8A"/>
                </a:solidFill>
                <a:latin typeface="Pretendard Variable"/>
              </a:rPr>
              <a:t>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93930" y="4019649"/>
            <a:ext cx="2933368" cy="2247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 b="1">
                <a:solidFill>
                  <a:srgbClr val="1E3A8A"/>
                </a:solidFill>
                <a:latin typeface="Pretendard Variable"/>
              </a:rPr>
              <a:t>보행량 11% 즉각 상승 및 체류 시간 3배 연장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22484" y="4448274"/>
            <a:ext cx="5625959" cy="339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1E3A8A"/>
                </a:solidFill>
                <a:latin typeface="Pretendard Variable"/>
              </a:rPr>
              <a:t>💡 "보행자가 머물 수 있는 의자와 테이블을 비치하자마자, 가로 매장 매출이 상상을 초월해 급증하기 시작"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6838" y="2651224"/>
            <a:ext cx="3105528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FFFFFF"/>
                </a:solidFill>
                <a:latin typeface="Pretendard Variable"/>
              </a:rPr>
              <a:t>ECONOMIC PERFORMANCE METRICS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6838" y="2978249"/>
            <a:ext cx="6014569" cy="2978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950">
                <a:latin typeface="Pretendard Variable"/>
              </a:defRPr>
            </a:pPr>
            <a:r>
              <a:rPr sz="1950" b="1">
                <a:solidFill>
                  <a:srgbClr val="FFFFFF"/>
                </a:solidFill>
                <a:latin typeface="Pretendard Variable"/>
              </a:rPr>
              <a:t>가로 보행화가 낳은 세수/매출 폭발 성과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4785" y="3444974"/>
            <a:ext cx="2187520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소매 매장 매출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4785" y="3584674"/>
            <a:ext cx="2187520" cy="4533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2850">
                <a:latin typeface="Pretendard Variable"/>
              </a:defRPr>
            </a:pPr>
            <a:r>
              <a:rPr sz="2850" b="1">
                <a:solidFill>
                  <a:srgbClr val="FFFFFF"/>
                </a:solidFill>
                <a:latin typeface="Pretendard Variable"/>
              </a:rPr>
              <a:t>+71%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4785" y="4010124"/>
            <a:ext cx="1247084" cy="1803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도심 상권 역사적 신기록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35744" y="3444974"/>
            <a:ext cx="2187520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지구 연간 세수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5744" y="3584674"/>
            <a:ext cx="2187520" cy="4533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2850">
                <a:latin typeface="Pretendard Variable"/>
              </a:defRPr>
            </a:pPr>
            <a:r>
              <a:rPr sz="2850" b="1">
                <a:solidFill>
                  <a:srgbClr val="FFFFFF"/>
                </a:solidFill>
                <a:latin typeface="Pretendard Variable"/>
              </a:rPr>
              <a:t>24억$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35744" y="4010124"/>
            <a:ext cx="1362174" cy="1803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뉴욕 전체 세수의 지대한 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6838" y="4556224"/>
            <a:ext cx="6014569" cy="339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1E3A8A"/>
                </a:solidFill>
                <a:latin typeface="Pretendard Variable"/>
              </a:rPr>
              <a:t>🔑 **보행 경제(Pedestrian Economy)**: 차도를 없애면 경제가 망할 것이라는 상인들의 우려를 완전히 불식하고, 보행자가 곧 돈이라는 명제를 실증한 전환점.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92145" y="5286474"/>
            <a:ext cx="8547322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1E3A8A"/>
                </a:solidFill>
                <a:latin typeface="Pretendard Variable"/>
              </a:rPr>
              <a:t>▪ 차도를 보행 광장으로 전환하여 통행량을 늘리고 가로 상업 매출 및 세수를 극대화한 가치 창출 흐름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72955" y="2883495"/>
            <a:ext cx="1699678" cy="339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950">
                <a:latin typeface="Pretendard Variable"/>
              </a:defRPr>
            </a:pPr>
            <a:r>
              <a:rPr sz="1950" b="1">
                <a:solidFill>
                  <a:srgbClr val="0F172A"/>
                </a:solidFill>
                <a:latin typeface="Pretendard Variable"/>
              </a:rPr>
              <a:t>CHAPTER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9070" y="3220045"/>
            <a:ext cx="10787546" cy="63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4950">
                <a:latin typeface="Pretendard Variable"/>
              </a:defRPr>
            </a:pPr>
            <a:r>
              <a:rPr sz="4950" b="1">
                <a:solidFill>
                  <a:srgbClr val="0F172A"/>
                </a:solidFill>
                <a:latin typeface="Pretendard Variable"/>
              </a:rPr>
              <a:t>플레이스메이킹과 에리어매니지먼트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383803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1E3A8A"/>
                </a:solidFill>
                <a:latin typeface="Pretendard Variable"/>
              </a:rPr>
              <a:t>허드슨야드 혁신: 입지 vs 장소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688603"/>
            <a:ext cx="10159746" cy="5206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900">
                <a:latin typeface="Pretendard Variable"/>
              </a:defRPr>
            </a:pPr>
            <a:r>
              <a:rPr sz="3900" b="1">
                <a:solidFill>
                  <a:srgbClr val="1D1D1F"/>
                </a:solidFill>
                <a:latin typeface="Pretendard Variable"/>
              </a:rPr>
              <a:t>전통적 "입지(Location)" 패러다임을 파괴한 최초의 공간 가치 선언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14537" y="2638524"/>
            <a:ext cx="2696023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1E3A8A"/>
                </a:solidFill>
                <a:latin typeface="Pretendard Variable"/>
              </a:rPr>
              <a:t>LEGACY REAL ESTATE THEORY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14537" y="2965549"/>
            <a:ext cx="5648818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>
                <a:latin typeface="Pretendard Variable"/>
              </a:defRPr>
            </a:pPr>
            <a:r>
              <a:rPr sz="1800" b="1">
                <a:solidFill>
                  <a:srgbClr val="1E3A8A"/>
                </a:solidFill>
                <a:latin typeface="Pretendard Variable"/>
              </a:rPr>
              <a:t>외생적 입지 결정론 (Location)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537" y="3346549"/>
            <a:ext cx="5648818" cy="2914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1E3A8A"/>
                </a:solidFill>
                <a:latin typeface="Pretendard Variable"/>
              </a:rPr>
              <a:t>• 전철역과의 단순 거리(도보 분수) 위주 평가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14537" y="3648174"/>
            <a:ext cx="5648818" cy="2914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1E3A8A"/>
                </a:solidFill>
                <a:latin typeface="Pretendard Variable"/>
              </a:rPr>
              <a:t>• 전통적으로 형성된 강남/여의도 등 간판 입지 의존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14537" y="3949799"/>
            <a:ext cx="5648818" cy="2914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1E3A8A"/>
                </a:solidFill>
                <a:latin typeface="Pretendard Variable"/>
              </a:rPr>
              <a:t>• 건물 단독 빌딩 스펙과 로비 내부 마감 중심 관리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22484" y="4460974"/>
            <a:ext cx="5260208" cy="339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1E3A8A"/>
                </a:solidFill>
                <a:latin typeface="Pretendard Variable"/>
              </a:rPr>
              <a:t>🚧 "빌딩 바깥 가로 환경이 아무리 황폐하고 쓰레기가 넘쳐도 소유주가 제어하지 못하는 방치형 구조"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41814" y="3495255"/>
            <a:ext cx="796807" cy="2244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750">
                <a:latin typeface="Pretendard Variable"/>
              </a:defRPr>
            </a:pPr>
            <a:r>
              <a:rPr sz="750" b="1">
                <a:solidFill>
                  <a:srgbClr val="1E3A8A"/>
                </a:solidFill>
                <a:latin typeface="Pretendard Variable"/>
              </a:rPr>
              <a:t>RENT SURGE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94157" y="3606221"/>
            <a:ext cx="1058270" cy="3246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100">
                <a:latin typeface="Pretendard Variable"/>
              </a:defRPr>
            </a:pPr>
            <a:r>
              <a:rPr sz="2100" b="1">
                <a:solidFill>
                  <a:srgbClr val="FFFFFF"/>
                </a:solidFill>
                <a:latin typeface="Pretendard Variable"/>
              </a:rPr>
              <a:t>+40%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6374" y="3814406"/>
            <a:ext cx="879088" cy="2398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825">
                <a:latin typeface="Pretendard Variable"/>
              </a:defRPr>
            </a:pPr>
            <a:r>
              <a:rPr sz="825" b="1">
                <a:solidFill>
                  <a:srgbClr val="FFFFFF"/>
                </a:solidFill>
                <a:latin typeface="Pretendard Variable"/>
              </a:rPr>
              <a:t>임대료 프리미엄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80032" y="2638524"/>
            <a:ext cx="3272866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FFFFFF"/>
                </a:solidFill>
                <a:latin typeface="Pretendard Variable"/>
              </a:rPr>
              <a:t>5TH GENERATION AREA MANAGEMENT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80032" y="2965549"/>
            <a:ext cx="5648818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>
                <a:latin typeface="Pretendard Variable"/>
              </a:defRPr>
            </a:pPr>
            <a:r>
              <a:rPr sz="1800" b="1">
                <a:solidFill>
                  <a:srgbClr val="FFFFFF"/>
                </a:solidFill>
                <a:latin typeface="Pretendard Variable"/>
              </a:rPr>
              <a:t>통합 장소 가치 창조론 (Place)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80032" y="3346549"/>
            <a:ext cx="5648818" cy="2914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1E3A8A"/>
                </a:solidFill>
                <a:latin typeface="Pretendard Variable"/>
              </a:rPr>
              <a:t>• 지구 전체의 쾌적성, 청결, 보안을 하나의 브랜딩으로 통합 통제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80032" y="3648174"/>
            <a:ext cx="5648818" cy="2914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1E3A8A"/>
                </a:solidFill>
                <a:latin typeface="Pretendard Variable"/>
              </a:rPr>
              <a:t>• 야외 광장, 아트 갤러리, 정기 이벤트(소프트웨어)의 상시 프로그래밍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80032" y="3949799"/>
            <a:ext cx="5648818" cy="2914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1E3A8A"/>
                </a:solidFill>
                <a:latin typeface="Pretendard Variable"/>
              </a:rPr>
              <a:t>• 빌딩 로비를 넘어 '가로수, 보도, 대중교통 인프라'까지 민간이 제어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7980" y="4460974"/>
            <a:ext cx="5260208" cy="339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1E3A8A"/>
                </a:solidFill>
                <a:latin typeface="Pretendard Variable"/>
              </a:rPr>
              <a:t>🚀 "Related 컨소시엄은 버려진 철도 기지 위를 뉴욕에서 가장 힙한 '장소'로 둔갑시켜, 미드타운 평균 대비 40% 높은 임대료 프리미엄을 방어함"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89853" y="5299174"/>
            <a:ext cx="8915395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1E3A8A"/>
                </a:solidFill>
                <a:latin typeface="Pretendard Variable"/>
              </a:rPr>
              <a:t>▪ 물리적 입지의 한계를 뛰어넘어 독창적인 장소 가치 창조로 주변 시세 대비 프리미엄을 확보한 개발 방식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317128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1E3A8A"/>
                </a:solidFill>
                <a:latin typeface="Pretendard Variable"/>
              </a:rPr>
              <a:t>허드슨야드 트로피타워 임대료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621928"/>
            <a:ext cx="10159746" cy="5206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900">
                <a:latin typeface="Pretendard Variable"/>
              </a:defRPr>
            </a:pPr>
            <a:r>
              <a:rPr sz="3900" b="1">
                <a:solidFill>
                  <a:srgbClr val="1D1D1F"/>
                </a:solidFill>
                <a:latin typeface="Pretendard Variable"/>
              </a:rPr>
              <a:t>미드타운 평균 대비 10~20% 임대료 할증을 지불하는 글로벌 테넌트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14537" y="2571849"/>
            <a:ext cx="2599942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FFFFFF"/>
                </a:solidFill>
                <a:latin typeface="Pretendard Variable"/>
              </a:rPr>
              <a:t>RENT PREMIUM COMPARISON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14537" y="2898874"/>
            <a:ext cx="6014569" cy="2978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950">
                <a:latin typeface="Pretendard Variable"/>
              </a:defRPr>
            </a:pPr>
            <a:r>
              <a:rPr sz="1950" b="1">
                <a:solidFill>
                  <a:srgbClr val="1E3A8A"/>
                </a:solidFill>
                <a:latin typeface="Pretendard Variable"/>
              </a:rPr>
              <a:t>미드타운 평균 대비 압도적 임대 스펙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537" y="3257649"/>
            <a:ext cx="3240006" cy="2343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1E3A8A"/>
                </a:solidFill>
                <a:latin typeface="Pretendard Variable"/>
              </a:rPr>
              <a:t>🏢 허드슨야드 트로피 타워군 (10/30 HY 등)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75894" y="3257649"/>
            <a:ext cx="1584126" cy="2343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1E3A8A"/>
                </a:solidFill>
                <a:latin typeface="Pretendard Variable"/>
              </a:rPr>
              <a:t>$120 ~ $150 / SF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14537" y="3705324"/>
            <a:ext cx="2525649" cy="2343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1E3A8A"/>
                </a:solidFill>
                <a:latin typeface="Pretendard Variable"/>
              </a:rPr>
              <a:t>🌆 맨해튼 미드타운 평균 임대 가격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64692" y="3705324"/>
            <a:ext cx="1196731" cy="2343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1E3A8A"/>
                </a:solidFill>
                <a:latin typeface="Pretendard Variable"/>
              </a:rPr>
              <a:t>$80 ~ $95 / SF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14537" y="4419699"/>
            <a:ext cx="6014569" cy="5549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1E3A8A"/>
                </a:solidFill>
                <a:latin typeface="Pretendard Variable"/>
              </a:rPr>
              <a:t>📈 **프리미엄 지불 의사**: KKR, BlackRock 등 글로벌 IB들은 임직원 리텐션을 위한 최고 환경 보장을 위해 평방피트당 $140 이상의 초고가 임대료를 기꺼이 승인함.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6838" y="2571849"/>
            <a:ext cx="2466357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FFFFFF"/>
                </a:solidFill>
                <a:latin typeface="Pretendard Variable"/>
              </a:rPr>
              <a:t>GLOBAL ANCHOR TENANTS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6838" y="2898874"/>
            <a:ext cx="6014569" cy="2978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950">
                <a:latin typeface="Pretendard Variable"/>
              </a:defRPr>
            </a:pPr>
            <a:r>
              <a:rPr sz="1950" b="1">
                <a:solidFill>
                  <a:srgbClr val="FFFFFF"/>
                </a:solidFill>
                <a:latin typeface="Pretendard Variable"/>
              </a:rPr>
              <a:t>허드슨야드 주요 마천루별 입주사 스펙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3834" y="3359249"/>
            <a:ext cx="5603099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FFFFFF"/>
                </a:solidFill>
                <a:latin typeface="Pretendard Variable"/>
              </a:rPr>
              <a:t>🏢 30 Hudson Yards (100층 타워)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03834" y="3543399"/>
            <a:ext cx="2899436" cy="1866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1E3A8A"/>
                </a:solidFill>
                <a:latin typeface="Pretendard Variable"/>
              </a:rPr>
              <a:t>KKR, Wells Fargo, WarnerMedia 본사 입주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03834" y="3968849"/>
            <a:ext cx="5603099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FFFFFF"/>
                </a:solidFill>
                <a:latin typeface="Pretendard Variable"/>
              </a:rPr>
              <a:t>🏢 50 Hudson Yards (신축 앵커)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03834" y="4152999"/>
            <a:ext cx="3143925" cy="1866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1E3A8A"/>
                </a:solidFill>
                <a:latin typeface="Pretendard Variable"/>
              </a:rPr>
              <a:t>BlackRock (명목 임대 면적 최대 규모), Meta 입주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6838" y="4635599"/>
            <a:ext cx="6014569" cy="339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1E3A8A"/>
                </a:solidFill>
                <a:latin typeface="Pretendard Variable"/>
              </a:rPr>
              <a:t>💡 "초고층 빌딩 내부 레이아웃과 공원 전망, 보행자 친화 환경이 글로벌 공룡 IT/금융 회사 유치의 킬러 컨텐츠가 됨"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89853" y="5365849"/>
            <a:ext cx="8915395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1E3A8A"/>
                </a:solidFill>
                <a:latin typeface="Pretendard Variable"/>
              </a:rPr>
              <a:t>▪ 글로벌 하이테크 및 금융 앵커 임차인들이 직원 생산성 향상을 위해 고액의 임대료 할증을 수용하는 현상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494928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1E3A8A"/>
                </a:solidFill>
                <a:latin typeface="Pretendard Variable"/>
              </a:rPr>
              <a:t>도쿄 마루노우치 에리어매니지먼트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799728"/>
            <a:ext cx="10159746" cy="5206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900">
                <a:latin typeface="Pretendard Variable"/>
              </a:defRPr>
            </a:pPr>
            <a:r>
              <a:rPr sz="3900" b="1">
                <a:solidFill>
                  <a:srgbClr val="1D1D1F"/>
                </a:solidFill>
                <a:latin typeface="Pretendard Variable"/>
              </a:rPr>
              <a:t>미쓰비시 지쇼 주도 하에 도로를 보행자 광장으로 바꾼 공공 공간 관리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9084" y="2648049"/>
            <a:ext cx="2187520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GOVERNANCE CORE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9084" y="2787749"/>
            <a:ext cx="2187520" cy="2628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50">
                <a:latin typeface="Pretendard Variable"/>
              </a:defRPr>
            </a:pPr>
            <a:r>
              <a:rPr sz="1350" b="1">
                <a:solidFill>
                  <a:srgbClr val="FFFFFF"/>
                </a:solidFill>
                <a:latin typeface="Pretendard Variable"/>
              </a:rPr>
              <a:t>OMY 에리어 매니지먼트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95727" y="3009999"/>
            <a:ext cx="2654233" cy="4343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• 치요다구와 미쓰비시지쇼 간의 연대 • 가로 전반의 일관성 있는 디자인 통제 • 지구 경제 활성화용 이벤트 총괄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30431" y="3930749"/>
            <a:ext cx="2539936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STREET ACTIVATION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30431" y="4070449"/>
            <a:ext cx="2539936" cy="4343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50">
                <a:latin typeface="Pretendard Variable"/>
              </a:defRPr>
            </a:pPr>
            <a:r>
              <a:rPr sz="1350" b="1">
                <a:solidFill>
                  <a:srgbClr val="1E3A8A"/>
                </a:solidFill>
                <a:latin typeface="Pretendard Variable"/>
              </a:rPr>
              <a:t>나카도리(Naka-dori) 보행화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30431" y="4464149"/>
            <a:ext cx="2539936" cy="4343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• 차량 차도를 영구 보행광장으로 전환 • 가로수 식재 및 고급 테이블/의자 비치 • 연중 무휴 푸드트럭 및 오픈 마켓 유치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97565" y="4102199"/>
            <a:ext cx="2095447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REGULATORY LEAP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97565" y="4241899"/>
            <a:ext cx="2095447" cy="2628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50">
                <a:latin typeface="Pretendard Variable"/>
              </a:defRPr>
            </a:pPr>
            <a:r>
              <a:rPr sz="1350" b="1">
                <a:solidFill>
                  <a:srgbClr val="1E3A8A"/>
                </a:solidFill>
                <a:latin typeface="Pretendard Variable"/>
              </a:rPr>
              <a:t>도로 점용 규제 완화 협의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75320" y="4464149"/>
            <a:ext cx="2539936" cy="4343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• 공공 도로 상업 행위 허용권 취득 • 주변 빌딩들의 용적률 인센티브 획득 • 지구 내 자산들의 가치 선순환 보장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0949" y="5188049"/>
            <a:ext cx="8731448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1E3A8A"/>
                </a:solidFill>
                <a:latin typeface="Pretendard Variable"/>
              </a:rPr>
              <a:t>▪ 민간 주도의 유기적 거버넌스를 통해 차도를 보행자 중심 가로로 개조하고 지역 매력을 높인 선진 사례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291728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1E3A8A"/>
                </a:solidFill>
                <a:latin typeface="Pretendard Variable"/>
              </a:rPr>
              <a:t>마루노우치 공실률 방어 및 거래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596528"/>
            <a:ext cx="10159746" cy="5206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900">
                <a:latin typeface="Pretendard Variable"/>
              </a:defRPr>
            </a:pPr>
            <a:r>
              <a:rPr sz="3900" b="1">
                <a:solidFill>
                  <a:srgbClr val="1D1D1F"/>
                </a:solidFill>
                <a:latin typeface="Pretendard Variable"/>
              </a:rPr>
              <a:t>공실률 1.40% 유지와 건물주가 임차인을 선택하는 시장의 형성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14537" y="2546449"/>
            <a:ext cx="2653697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FFFFFF"/>
                </a:solidFill>
                <a:latin typeface="Pretendard Variable"/>
              </a:rPr>
              <a:t>VACANCY RATE COMPARISON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14537" y="2873474"/>
            <a:ext cx="6014569" cy="2978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950">
                <a:latin typeface="Pretendard Variable"/>
              </a:defRPr>
            </a:pPr>
            <a:r>
              <a:rPr sz="1950" b="1">
                <a:solidFill>
                  <a:srgbClr val="1E3A8A"/>
                </a:solidFill>
                <a:latin typeface="Pretendard Variable"/>
              </a:rPr>
              <a:t>도쿄 평균 대비 절반 수준 이하인 OMY 지구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537" y="3232249"/>
            <a:ext cx="2340452" cy="2343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1E3A8A"/>
                </a:solidFill>
                <a:latin typeface="Pretendard Variable"/>
              </a:rPr>
              <a:t>🌆 도심 주요 5개구 평균 공실률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06492" y="3232249"/>
            <a:ext cx="701121" cy="2343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1E3A8A"/>
                </a:solidFill>
                <a:latin typeface="Pretendard Variable"/>
              </a:rPr>
              <a:t>6.40%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14537" y="3679924"/>
            <a:ext cx="2769780" cy="2343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1E3A8A"/>
                </a:solidFill>
                <a:latin typeface="Pretendard Variable"/>
              </a:rPr>
              <a:t>🏢 마루노우치 OMY 지구 평균 공실률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9341" y="3679924"/>
            <a:ext cx="2027921" cy="2343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1E3A8A"/>
                </a:solidFill>
                <a:latin typeface="Pretendard Variable"/>
              </a:rPr>
              <a:t>1.40% (사실상 완전 임차)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14537" y="4445099"/>
            <a:ext cx="6014569" cy="5549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1E3A8A"/>
                </a:solidFill>
                <a:latin typeface="Pretendard Variable"/>
              </a:rPr>
              <a:t>📊 **완전 임차 도달 효과**: 공실률 1.4%는 자연 발생적인 공실 수준 이하로, 건물주가 입주 대기 임차인들을 면접하여 임차 업종과 브랜드를 골라서 받는 '임차인 선별제'를 가동하게 만듭니다.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6838" y="2546449"/>
            <a:ext cx="2477430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FFFFFF"/>
                </a:solidFill>
                <a:latin typeface="Pretendard Variable"/>
              </a:rPr>
              <a:t>ASSET TRANSACTION SPEC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6838" y="2873474"/>
            <a:ext cx="6014569" cy="2978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950">
                <a:latin typeface="Pretendard Variable"/>
              </a:defRPr>
            </a:pPr>
            <a:r>
              <a:rPr sz="1950" b="1">
                <a:solidFill>
                  <a:srgbClr val="FFFFFF"/>
                </a:solidFill>
                <a:latin typeface="Pretendard Variable"/>
              </a:rPr>
              <a:t>역사적 재개발 거래 및 자산 가치 방어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3834" y="3333849"/>
            <a:ext cx="5603099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FFFFFF"/>
                </a:solidFill>
                <a:latin typeface="Pretendard Variable"/>
              </a:rPr>
              <a:t>💰 ¥4,200억 역사적 재개발 거래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03834" y="3517999"/>
            <a:ext cx="3149283" cy="1866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1E3A8A"/>
                </a:solidFill>
                <a:latin typeface="Pretendard Variable"/>
              </a:rPr>
              <a:t>도쿄역 바로 뒤 빌딩 지분 거래로 사상 최고 지가 갱신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03834" y="3943449"/>
            <a:ext cx="5603099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FFFFFF"/>
                </a:solidFill>
                <a:latin typeface="Pretendard Variable"/>
              </a:rPr>
              <a:t>🏢 미쓰비시 지쇼의 포트폴리오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03834" y="4127599"/>
            <a:ext cx="4261180" cy="1866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1E3A8A"/>
                </a:solidFill>
                <a:latin typeface="Pretendard Variable"/>
              </a:rPr>
              <a:t>OMY 지구 내 약 30개 동 오피스를 수직 계열화하여 자산 가치 상호 방증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6838" y="4660999"/>
            <a:ext cx="6014569" cy="339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1E3A8A"/>
                </a:solidFill>
                <a:latin typeface="Pretendard Variable"/>
              </a:rPr>
              <a:t>💡 "에리어 매니지먼트가 완성한 공간 브랜딩이 금융 위기나 장기 불황 속에서도 오피스 공실 대란을 차단하는 방어막 역할을 수행"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34271" y="5391249"/>
            <a:ext cx="9835665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1E3A8A"/>
                </a:solidFill>
                <a:latin typeface="Pretendard Variable"/>
              </a:rPr>
              <a:t>▪ 지속적인 지역 가치 제고를 통해 경기 침체기에도 도심 오피스의 안정적인 초저공실률과 자산 가치를 방어하는 구조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215528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1E3A8A"/>
                </a:solidFill>
                <a:latin typeface="Pretendard Variable"/>
              </a:rPr>
              <a:t>롯폰기힐스 복합 생태계 부가가치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520328"/>
            <a:ext cx="10159746" cy="5206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900">
                <a:latin typeface="Pretendard Variable"/>
              </a:defRPr>
            </a:pPr>
            <a:r>
              <a:rPr sz="3900" b="1">
                <a:solidFill>
                  <a:srgbClr val="1D1D1F"/>
                </a:solidFill>
                <a:latin typeface="Pretendard Variable"/>
              </a:rPr>
              <a:t>일, 휴식, 주거, 예술이 결합되어 투자가치 60% 순증을 달성한 비결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14537" y="2470249"/>
            <a:ext cx="2968015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FFFFFF"/>
                </a:solidFill>
                <a:latin typeface="Pretendard Variable"/>
              </a:rPr>
              <a:t>VERTICAL GARDEN CITY CONCEPT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14537" y="2797274"/>
            <a:ext cx="6014569" cy="2978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950">
                <a:latin typeface="Pretendard Variable"/>
              </a:defRPr>
            </a:pPr>
            <a:r>
              <a:rPr sz="1950" b="1">
                <a:solidFill>
                  <a:srgbClr val="FFFFFF"/>
                </a:solidFill>
                <a:latin typeface="Pretendard Variable"/>
              </a:rPr>
              <a:t>롯폰기 힐스 모리타워의 복합 용도 수직 구성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6134" y="3232249"/>
            <a:ext cx="5694537" cy="2343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FFFFFF"/>
                </a:solidFill>
                <a:latin typeface="Pretendard Variable"/>
              </a:rPr>
              <a:t>🎨 TOP LEVEL (52F ~ 54F)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16134" y="3413224"/>
            <a:ext cx="3370555" cy="1803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Mori Art Museum (미술관), 도심 전망대, 롯폰기 힐즈 클럽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16134" y="3730724"/>
            <a:ext cx="5694537" cy="2343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FFFFFF"/>
                </a:solidFill>
                <a:latin typeface="Pretendard Variable"/>
              </a:rPr>
              <a:t>💼 MIDDLE LEVEL (7F ~ 51F)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16134" y="3911699"/>
            <a:ext cx="2943191" cy="1803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골드만삭스, 구글 등 글로벌 금융/IT 앵커 기업 오피스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16134" y="4229199"/>
            <a:ext cx="5694537" cy="2343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FFFFFF"/>
                </a:solidFill>
                <a:latin typeface="Pretendard Variable"/>
              </a:rPr>
              <a:t>🏨 LOWER LEVEL &amp; GROUND (B6F ~ 6F)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6134" y="4410174"/>
            <a:ext cx="3670406" cy="1803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Grand Hyatt Hotel, 로드 매장, 아사히TV, 정원 공원, 주거동 연계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14537" y="4861024"/>
            <a:ext cx="6014569" cy="215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1E3A8A"/>
                </a:solidFill>
                <a:latin typeface="Pretendard Variable"/>
              </a:rPr>
              <a:t>💡 "일과 생활, 여가와 문화가 단 한 보의 수직 동선으로 해결되는 수직 계열 생태계 구축"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6838" y="2470249"/>
            <a:ext cx="2173114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FFFFFF"/>
                </a:solidFill>
                <a:latin typeface="Pretendard Variable"/>
              </a:rPr>
              <a:t>ECONOMIC VALUATION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6838" y="2797274"/>
            <a:ext cx="6014569" cy="2978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950">
                <a:latin typeface="Pretendard Variable"/>
              </a:defRPr>
            </a:pPr>
            <a:r>
              <a:rPr sz="1950" b="1">
                <a:solidFill>
                  <a:srgbClr val="1E3A8A"/>
                </a:solidFill>
                <a:latin typeface="Pretendard Variable"/>
              </a:rPr>
              <a:t>복합 용도 시너지가 낳은 자산가치 폭증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4785" y="3263999"/>
            <a:ext cx="2187520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투자 가치 상승률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4785" y="3403699"/>
            <a:ext cx="2187520" cy="4343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2700">
                <a:latin typeface="Pretendard Variable"/>
              </a:defRPr>
            </a:pPr>
            <a:r>
              <a:rPr sz="2700" b="1">
                <a:solidFill>
                  <a:srgbClr val="1E3A8A"/>
                </a:solidFill>
                <a:latin typeface="Pretendard Variable"/>
              </a:rPr>
              <a:t>+60%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4785" y="3810099"/>
            <a:ext cx="1177022" cy="1803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준공 후 자산 가치 순증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5744" y="3263999"/>
            <a:ext cx="2187520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오피스 공실률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35744" y="3403699"/>
            <a:ext cx="2187520" cy="4343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2700">
                <a:latin typeface="Pretendard Variable"/>
              </a:defRPr>
            </a:pPr>
            <a:r>
              <a:rPr sz="2700" b="1">
                <a:solidFill>
                  <a:srgbClr val="1E3A8A"/>
                </a:solidFill>
                <a:latin typeface="Pretendard Variable"/>
              </a:rPr>
              <a:t>0%대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35744" y="3810099"/>
            <a:ext cx="1154435" cy="1803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도쿄 평균 압도적 방어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76838" y="4397474"/>
            <a:ext cx="6014569" cy="6788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1E3A8A"/>
                </a:solidFill>
                <a:latin typeface="Pretendard Variable"/>
              </a:rPr>
              <a:t>🔑 **지속적인 문화 인센티브**: 모리 미술관(Mori Art Museum)을 통해 연중 예술 프로그램을 상시 가동하여, 단순 빌딩 숲이 아닌 **도쿄에서 가장 방문하고 싶은 복합 문화 타운**의 지위를 유지함.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12335" y="5467449"/>
            <a:ext cx="10274459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1E3A8A"/>
                </a:solidFill>
                <a:latin typeface="Pretendard Variable"/>
              </a:rPr>
              <a:t>▪ 문화, 비즈니스, 주거, 여가를 수직으로 결합하여 자산의 공실 위험을 낮추고 장기 자산 가치를 상승시킨 복합 생태계 모델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911052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1E3A8A"/>
                </a:solidFill>
                <a:latin typeface="Pretendard Variable"/>
              </a:rPr>
              <a:t>글로벌 비즈니스 지구 공식 / Key Formula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2215852"/>
            <a:ext cx="10159746" cy="5041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750">
                <a:latin typeface="Pretendard Variable"/>
              </a:defRPr>
            </a:pPr>
            <a:r>
              <a:rPr sz="3750" b="1">
                <a:solidFill>
                  <a:srgbClr val="1D1D1F"/>
                </a:solidFill>
                <a:latin typeface="Pretendard Variable"/>
              </a:rPr>
              <a:t>글로벌 비즈니스 지구의 부활 공식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55588" y="3432472"/>
            <a:ext cx="705437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>
                <a:latin typeface="Pretendard Variable"/>
              </a:defRPr>
            </a:pPr>
            <a:r>
              <a:rPr sz="1200" b="1">
                <a:solidFill>
                  <a:srgbClr val="1E3A8A"/>
                </a:solidFill>
                <a:latin typeface="Pretendard Variable"/>
              </a:rPr>
              <a:t>STEP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52276" y="3661072"/>
            <a:ext cx="2311962" cy="287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650">
                <a:latin typeface="Pretendard Variable"/>
              </a:defRPr>
            </a:pPr>
            <a:r>
              <a:rPr sz="1650" b="1">
                <a:solidFill>
                  <a:srgbClr val="FFFFFF"/>
                </a:solidFill>
                <a:latin typeface="Pretendard Variable"/>
              </a:rPr>
              <a:t>공공 관리 방치로 인한 쇠퇴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9645" y="3334742"/>
            <a:ext cx="726297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>
                <a:latin typeface="Pretendard Variable"/>
              </a:defRPr>
            </a:pPr>
            <a:r>
              <a:rPr sz="1200" b="1">
                <a:solidFill>
                  <a:srgbClr val="1E3A8A"/>
                </a:solidFill>
                <a:latin typeface="Pretendard Variable"/>
              </a:rPr>
              <a:t>STEP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47141" y="3563342"/>
            <a:ext cx="2951406" cy="482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650">
                <a:latin typeface="Pretendard Variable"/>
              </a:defRPr>
            </a:pPr>
            <a:r>
              <a:rPr sz="1650" b="1">
                <a:solidFill>
                  <a:srgbClr val="FFFFFF"/>
                </a:solidFill>
                <a:latin typeface="Pretendard Variable"/>
              </a:rPr>
              <a:t>민관협력 에리어매니지먼트/BID 도입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72146" y="3432472"/>
            <a:ext cx="730469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>
                <a:latin typeface="Pretendard Variable"/>
              </a:defRPr>
            </a:pPr>
            <a:r>
              <a:rPr sz="1200" b="1">
                <a:solidFill>
                  <a:srgbClr val="1E3A8A"/>
                </a:solidFill>
                <a:latin typeface="Pretendard Variable"/>
              </a:rPr>
              <a:t>STEP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1350" y="3661072"/>
            <a:ext cx="2311962" cy="287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650">
                <a:latin typeface="Pretendard Variable"/>
              </a:defRPr>
            </a:pPr>
            <a:r>
              <a:rPr sz="1650" b="1">
                <a:solidFill>
                  <a:srgbClr val="FFFFFF"/>
                </a:solidFill>
                <a:latin typeface="Pretendard Variable"/>
              </a:rPr>
              <a:t>지속 가능한 자산 가치 창출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0990" y="4597102"/>
            <a:ext cx="11683707" cy="44128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425">
                <a:latin typeface="Pretendard Variable"/>
              </a:defRPr>
            </a:pPr>
            <a:r>
              <a:rPr sz="1425" b="1">
                <a:solidFill>
                  <a:srgbClr val="1E3A8A"/>
                </a:solidFill>
                <a:latin typeface="Pretendard Variable"/>
              </a:rPr>
              <a:t>※ 행정력 공백으로 슬럼화된 지구를 민관협력 거버넌스(BID/AM) 모델로 재정비함으로써, 집객 효과 증대와 자산 가치 상승의 선순환 구조를 구축하는 것이 핵심 요체입니다.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717364" y="2729507"/>
            <a:ext cx="1010860" cy="339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950">
                <a:latin typeface="Pretendard Variable"/>
              </a:defRPr>
            </a:pPr>
            <a:r>
              <a:rPr sz="1950">
                <a:solidFill>
                  <a:srgbClr val="FFFFFF"/>
                </a:solidFill>
                <a:latin typeface="Pretendard Variable"/>
              </a:rPr>
              <a:t>PART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2118" y="3066057"/>
            <a:ext cx="10561452" cy="63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4950">
                <a:latin typeface="Pretendard Variable"/>
              </a:defRPr>
            </a:pPr>
            <a:r>
              <a:rPr sz="4950" b="1">
                <a:solidFill>
                  <a:srgbClr val="FFFFFF"/>
                </a:solidFill>
                <a:latin typeface="Pretendard Variable"/>
              </a:rPr>
              <a:t>BID의 탄생 배경과 제도적 메커니즘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38567" y="3712467"/>
            <a:ext cx="7368455" cy="2978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500">
                <a:latin typeface="Pretendard Variable"/>
              </a:defRPr>
            </a:pPr>
            <a:r>
              <a:rPr sz="1500">
                <a:solidFill>
                  <a:srgbClr val="FFFFFF"/>
                </a:solidFill>
                <a:latin typeface="Pretendard Variable"/>
              </a:rPr>
              <a:t>무임승차를 극복하고 민간 주도의 공공 서비스를 실현한 법제화와 재정적 작동 구조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93073" y="2883495"/>
            <a:ext cx="1659540" cy="339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950">
                <a:latin typeface="Pretendard Variable"/>
              </a:defRPr>
            </a:pPr>
            <a:r>
              <a:rPr sz="1950" b="1">
                <a:solidFill>
                  <a:srgbClr val="0F172A"/>
                </a:solidFill>
                <a:latin typeface="Pretendard Variable"/>
              </a:rPr>
              <a:t>CHAPTER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37377" y="3220045"/>
            <a:ext cx="5370933" cy="63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4950">
                <a:latin typeface="Pretendard Variable"/>
              </a:defRPr>
            </a:pPr>
            <a:r>
              <a:rPr sz="4950" b="1">
                <a:solidFill>
                  <a:srgbClr val="0F172A"/>
                </a:solidFill>
                <a:latin typeface="Pretendard Variable"/>
              </a:rPr>
              <a:t>BIA/BID 기원과 역사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715466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1E3A8A"/>
                </a:solidFill>
                <a:latin typeface="Pretendard Variable"/>
              </a:rPr>
              <a:t>BIA의 탄생: 토론토 Bloor West BIA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020266"/>
            <a:ext cx="10159746" cy="5206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900">
                <a:latin typeface="Pretendard Variable"/>
              </a:defRPr>
            </a:pPr>
            <a:r>
              <a:rPr sz="3900" b="1">
                <a:solidFill>
                  <a:srgbClr val="1D1D1F"/>
                </a:solidFill>
                <a:latin typeface="Pretendard Variable"/>
              </a:rPr>
              <a:t>교외형 쇼핑몰 확산에 따른 도심 공동화 위기와 무임승차 문제의 발생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5974" y="1970186"/>
            <a:ext cx="10159746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FFFFFF"/>
                </a:solidFill>
                <a:latin typeface="Pretendard Variable"/>
              </a:rPr>
              <a:t>MARKET DISRUPTOR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5974" y="2246411"/>
            <a:ext cx="10159746" cy="3136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2100">
                <a:latin typeface="Pretendard Variable"/>
              </a:defRPr>
            </a:pPr>
            <a:r>
              <a:rPr sz="2100" b="1">
                <a:solidFill>
                  <a:srgbClr val="FFFFFF"/>
                </a:solidFill>
                <a:latin typeface="Pretendard Variable"/>
              </a:rPr>
              <a:t>교외형 복합 쇼핑몰의 급부상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537" y="2519461"/>
            <a:ext cx="5603099" cy="2343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1E3A8A"/>
                </a:solidFill>
                <a:latin typeface="Pretendard Variable"/>
              </a:rPr>
              <a:t>1960년대 북미 쇼핑 문화의 근본적 이동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16134" y="2890936"/>
            <a:ext cx="4305192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FFFFFF"/>
                </a:solidFill>
                <a:latin typeface="Pretendard Variable"/>
              </a:rPr>
              <a:t>🚗 무제한 무료 주차장 제공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16134" y="3075086"/>
            <a:ext cx="2168827" cy="1866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>
                <a:solidFill>
                  <a:srgbClr val="1E3A8A"/>
                </a:solidFill>
                <a:latin typeface="Pretendard Variable"/>
              </a:rPr>
              <a:t>자가용 중심 소비 트렌드 완벽 부합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16134" y="3449736"/>
            <a:ext cx="4305192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FFFFFF"/>
                </a:solidFill>
                <a:latin typeface="Pretendard Variable"/>
              </a:rPr>
              <a:t>🛍️ 원스톱 쾌적 실내 환경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16134" y="3633886"/>
            <a:ext cx="2859968" cy="1866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>
                <a:solidFill>
                  <a:srgbClr val="1E3A8A"/>
                </a:solidFill>
                <a:latin typeface="Pretendard Variable"/>
              </a:rPr>
              <a:t>기후 영향이 없는 안전한 중앙 집중식 보행 공간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6134" y="4008536"/>
            <a:ext cx="4305192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FFFFFF"/>
                </a:solidFill>
                <a:latin typeface="Pretendard Variable"/>
              </a:rPr>
              <a:t>📈 대형 백화점 앵커 유치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16134" y="4192686"/>
            <a:ext cx="2951049" cy="1866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>
                <a:solidFill>
                  <a:srgbClr val="1E3A8A"/>
                </a:solidFill>
                <a:latin typeface="Pretendard Variable"/>
              </a:rPr>
              <a:t>집객력을 극대화하여 도심 가로 상점의 고객 흡수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09142" y="2703611"/>
            <a:ext cx="102740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TRAFFIC OUTFLOW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44842" y="2951261"/>
            <a:ext cx="955904" cy="39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50">
                <a:latin typeface="Pretendard Variable"/>
              </a:defRPr>
            </a:pPr>
            <a:r>
              <a:rPr sz="1350" b="1">
                <a:solidFill>
                  <a:srgbClr val="FFFFFF"/>
                </a:solidFill>
                <a:latin typeface="Pretendard Variable"/>
              </a:rPr>
              <a:t>상권 고객 80% 이탈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5974" y="2181324"/>
            <a:ext cx="10159746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FFFFFF"/>
                </a:solidFill>
                <a:latin typeface="Pretendard Variable"/>
              </a:rPr>
              <a:t>DECAYING DOWNTOWN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05432" y="2457549"/>
            <a:ext cx="5603099" cy="3136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2100">
                <a:latin typeface="Pretendard Variable"/>
              </a:defRPr>
            </a:pPr>
            <a:r>
              <a:rPr sz="2100" b="1">
                <a:solidFill>
                  <a:srgbClr val="1E3A8A"/>
                </a:solidFill>
                <a:latin typeface="Pretendard Variable"/>
              </a:rPr>
              <a:t>토론토 Bloor West 가로 상권의 붕괴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05432" y="2730599"/>
            <a:ext cx="5603099" cy="2343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1E3A8A"/>
                </a:solidFill>
                <a:latin typeface="Pretendard Variable"/>
              </a:rPr>
              <a:t>방치된 가로 환경과 상인들의 한계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13379" y="3083024"/>
            <a:ext cx="1171411" cy="1962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825">
                <a:latin typeface="Pretendard Variable"/>
              </a:defRPr>
            </a:pPr>
            <a:r>
              <a:rPr sz="825" b="1">
                <a:solidFill>
                  <a:srgbClr val="1E3A8A"/>
                </a:solidFill>
                <a:latin typeface="Pretendard Variable"/>
              </a:rPr>
              <a:t>1960년대 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3379" y="3200499"/>
            <a:ext cx="1171411" cy="2120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1E3A8A"/>
                </a:solidFill>
                <a:latin typeface="Pretendard Variable"/>
              </a:rPr>
              <a:t>공실률 2% 이하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05815" y="3352899"/>
            <a:ext cx="1617388" cy="1962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825">
                <a:latin typeface="Pretendard Variable"/>
              </a:defRPr>
            </a:pPr>
            <a:r>
              <a:rPr sz="825" b="1">
                <a:solidFill>
                  <a:srgbClr val="1E3A8A"/>
                </a:solidFill>
                <a:latin typeface="Pretendard Variable"/>
              </a:rPr>
              <a:t>1968년 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05815" y="3476724"/>
            <a:ext cx="1617388" cy="2247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350">
                <a:latin typeface="Pretendard Variable"/>
              </a:defRPr>
            </a:pPr>
            <a:r>
              <a:rPr sz="1350" b="1">
                <a:solidFill>
                  <a:srgbClr val="1E3A8A"/>
                </a:solidFill>
                <a:latin typeface="Pretendard Variable"/>
              </a:rPr>
              <a:t>공실률 25% 돌파 ⚠️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05432" y="3889474"/>
            <a:ext cx="5603099" cy="3803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 b="1">
                <a:solidFill>
                  <a:srgbClr val="1E3A8A"/>
                </a:solidFill>
                <a:latin typeface="Pretendard Variable"/>
              </a:rPr>
              <a:t>🚧 가로등 노후화, 보도블록 유실, 청소 공백으로 밤거리가 어두워지며 슬럼화 발생. 상인 각자도생으로 활로 모색 불가.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63738" y="5024536"/>
            <a:ext cx="13329586" cy="2628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50">
                <a:latin typeface="Pretendard Variable"/>
              </a:defRPr>
            </a:pPr>
            <a:r>
              <a:rPr sz="1350" b="1">
                <a:solidFill>
                  <a:srgbClr val="1E3A8A"/>
                </a:solidFill>
                <a:latin typeface="Pretendard Variable"/>
              </a:rPr>
              <a:t>자발적 협회의 치명적 무임승차(FREE-RIDER) 딜레마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70088" y="5278536"/>
            <a:ext cx="2882669" cy="332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 b="1">
                <a:solidFill>
                  <a:srgbClr val="FFFFFF"/>
                </a:solidFill>
                <a:latin typeface="Pretendard Variable"/>
              </a:rPr>
              <a:t>비용 분담 25%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82967" y="5278536"/>
            <a:ext cx="10043543" cy="332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 b="1">
                <a:solidFill>
                  <a:srgbClr val="FFFFFF"/>
                </a:solidFill>
                <a:latin typeface="Pretendard Variable"/>
              </a:rPr>
              <a:t>무임승차 75% (혜택만 독점)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63738" y="5602386"/>
            <a:ext cx="2997482" cy="215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1E3A8A"/>
                </a:solidFill>
                <a:latin typeface="Pretendard Variable"/>
              </a:rPr>
              <a:t>💰 "소수가 낸 가로 개선 비용으로 청결해진 거리"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22359" y="5602386"/>
            <a:ext cx="4584069" cy="215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1E3A8A"/>
                </a:solidFill>
                <a:latin typeface="Pretendard Variable"/>
              </a:rPr>
              <a:t>🚫 "아무 돈도 내지 않은 대다수 상인이 낙수 혜택 독점 ➔ 협회 회비 고갈 파산"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71676" y="5967511"/>
            <a:ext cx="9700831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1E3A8A"/>
                </a:solidFill>
                <a:latin typeface="Pretendard Variable"/>
              </a:rPr>
              <a:t>▪ 기부 형식의 자발적 협회가 지닌 무임승차 한계를 극복하기 위해 제도적 강제 과세의 필요성을 확인한 역사적 배경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569541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1E3A8A"/>
                </a:solidFill>
                <a:latin typeface="Pretendard Variable"/>
              </a:rPr>
              <a:t>온타리오 지방자치법 제361조 개정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874341"/>
            <a:ext cx="10159746" cy="5206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900">
                <a:latin typeface="Pretendard Variable"/>
              </a:defRPr>
            </a:pPr>
            <a:r>
              <a:rPr sz="3900" b="1">
                <a:solidFill>
                  <a:srgbClr val="1D1D1F"/>
                </a:solidFill>
                <a:latin typeface="Pretendard Variable"/>
              </a:rPr>
              <a:t>무임승차자를 원천 차단하기 위한 강제 특별부과금 체계의 법제화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81230" y="2836961"/>
            <a:ext cx="890877" cy="2501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 b="1">
                <a:solidFill>
                  <a:srgbClr val="FFFFFF"/>
                </a:solidFill>
                <a:latin typeface="Pretendard Variable"/>
              </a:rPr>
              <a:t>STEP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68085" y="2836961"/>
            <a:ext cx="811033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1969년 초기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81230" y="3097311"/>
            <a:ext cx="2966973" cy="2819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500">
                <a:latin typeface="Pretendard Variable"/>
              </a:defRPr>
            </a:pPr>
            <a:r>
              <a:rPr sz="1500" b="1">
                <a:solidFill>
                  <a:srgbClr val="1E3A8A"/>
                </a:solidFill>
                <a:latin typeface="Pretendard Variable"/>
              </a:rPr>
              <a:t>자발적 한계 봉착 &amp; 탄원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81230" y="3338611"/>
            <a:ext cx="3621830" cy="2247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 b="1">
                <a:solidFill>
                  <a:srgbClr val="1E3A8A"/>
                </a:solidFill>
                <a:latin typeface="Pretendard Variable"/>
              </a:rPr>
              <a:t>Bloor West 상인 협회의 청원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1230" y="3573561"/>
            <a:ext cx="3621830" cy="215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1E3A8A"/>
                </a:solidFill>
                <a:latin typeface="Pretendard Variable"/>
              </a:rPr>
              <a:t>• 상인들의 대대적인 지방자치법 개정 요구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81230" y="3722786"/>
            <a:ext cx="3621830" cy="215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1E3A8A"/>
                </a:solidFill>
                <a:latin typeface="Pretendard Variable"/>
              </a:rPr>
              <a:t>• 공동 개선 비용의 의무 부과 제도 건의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81230" y="3872011"/>
            <a:ext cx="3621830" cy="215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1E3A8A"/>
                </a:solidFill>
                <a:latin typeface="Pretendard Variable"/>
              </a:rPr>
              <a:t>• 상인 186명의 자발적 서명 동의서 확보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63778" y="4414936"/>
            <a:ext cx="2377420" cy="1866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1E3A8A"/>
                </a:solidFill>
                <a:latin typeface="Pretendard Variable"/>
              </a:rPr>
              <a:t>"소비자 이탈을 막을 유일한 수단 청구"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60238" y="3040161"/>
            <a:ext cx="908572" cy="2501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 b="1">
                <a:solidFill>
                  <a:srgbClr val="1E3A8A"/>
                </a:solidFill>
                <a:latin typeface="Pretendard Variable"/>
              </a:rPr>
              <a:t>STEP 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10988" y="3040161"/>
            <a:ext cx="718529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1969년 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60238" y="3300511"/>
            <a:ext cx="3622008" cy="2819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500">
                <a:latin typeface="Pretendard Variable"/>
              </a:defRPr>
            </a:pPr>
            <a:r>
              <a:rPr sz="1500" b="1">
                <a:solidFill>
                  <a:srgbClr val="FFFFFF"/>
                </a:solidFill>
                <a:latin typeface="Pretendard Variable"/>
              </a:rPr>
              <a:t>온타리오 지방자치법 제361조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60238" y="3541811"/>
            <a:ext cx="3622008" cy="2247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 b="1">
                <a:solidFill>
                  <a:srgbClr val="1E3A8A"/>
                </a:solidFill>
                <a:latin typeface="Pretendard Variable"/>
              </a:rPr>
              <a:t>특별부과지구(BIA) 신설의 법제화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60238" y="3776761"/>
            <a:ext cx="3622008" cy="215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>
                <a:solidFill>
                  <a:srgbClr val="1E3A8A"/>
                </a:solidFill>
                <a:latin typeface="Pretendard Variable"/>
              </a:rPr>
              <a:t>• 소유자/상인 과반 동의 시 지구 강제 획정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60238" y="3925986"/>
            <a:ext cx="3622008" cy="215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>
                <a:solidFill>
                  <a:srgbClr val="1E3A8A"/>
                </a:solidFill>
                <a:latin typeface="Pretendard Variable"/>
              </a:rPr>
              <a:t>• 획정 구역 내 모든 사업자 대상 자기과세권 위임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60238" y="4075211"/>
            <a:ext cx="3622008" cy="215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>
                <a:solidFill>
                  <a:srgbClr val="1E3A8A"/>
                </a:solidFill>
                <a:latin typeface="Pretendard Variable"/>
              </a:rPr>
              <a:t>• 무임승차(Free-Rider)의 법률적 원천 봉쇄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42786" y="4414936"/>
            <a:ext cx="2502254" cy="1866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FFFFFF"/>
                </a:solidFill>
                <a:latin typeface="Pretendard Variable"/>
              </a:rPr>
              <a:t>"민간 상인의 연대 의무를 공법으로 보장"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39345" y="2836961"/>
            <a:ext cx="912169" cy="2501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 b="1">
                <a:solidFill>
                  <a:srgbClr val="FFFFFF"/>
                </a:solidFill>
                <a:latin typeface="Pretendard Variable"/>
              </a:rPr>
              <a:t>STEP 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95849" y="2836961"/>
            <a:ext cx="710185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1970년 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39345" y="3097311"/>
            <a:ext cx="3622008" cy="2819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500">
                <a:latin typeface="Pretendard Variable"/>
              </a:defRPr>
            </a:pPr>
            <a:r>
              <a:rPr sz="1500" b="1">
                <a:solidFill>
                  <a:srgbClr val="1E3A8A"/>
                </a:solidFill>
                <a:latin typeface="Pretendard Variable"/>
              </a:rPr>
              <a:t>Bloor West BIA 출범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39345" y="3338611"/>
            <a:ext cx="3622008" cy="2247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 b="1">
                <a:solidFill>
                  <a:srgbClr val="1E3A8A"/>
                </a:solidFill>
                <a:latin typeface="Pretendard Variable"/>
              </a:rPr>
              <a:t>세계 최초 BIA의 실제 가동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39345" y="3573561"/>
            <a:ext cx="3622008" cy="215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1E3A8A"/>
                </a:solidFill>
                <a:latin typeface="Pretendard Variable"/>
              </a:rPr>
              <a:t>• 275개 전체 점포에 공평 분담금 일괄 부과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39345" y="3722786"/>
            <a:ext cx="3622008" cy="215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1E3A8A"/>
                </a:solidFill>
                <a:latin typeface="Pretendard Variable"/>
              </a:rPr>
              <a:t>• 시 재무당국이 재산세 고지서에 병기 수납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39345" y="3872011"/>
            <a:ext cx="3622008" cy="215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1E3A8A"/>
                </a:solidFill>
                <a:latin typeface="Pretendard Variable"/>
              </a:rPr>
              <a:t>• 수납액 100%를 BIA에 즉각 교부 및 정산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21893" y="4414936"/>
            <a:ext cx="2561367" cy="1866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1E3A8A"/>
                </a:solidFill>
                <a:latin typeface="Pretendard Variable"/>
              </a:rPr>
              <a:t>"가로 청결 및 경관 조명 대대적 개선 완성"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03544" y="5113436"/>
            <a:ext cx="8866104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1E3A8A"/>
                </a:solidFill>
                <a:latin typeface="Pretendard Variable"/>
              </a:rPr>
              <a:t>▪ 지자체의 행정 징수망을 활용하되 기금의 오퍼레이션은 민간 상인이 전권을 갖는 효율적 민관 협력 구조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045368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1E3A8A"/>
                </a:solidFill>
                <a:latin typeface="Pretendard Variable"/>
              </a:rPr>
              <a:t>뉴욕의 재정난과 치안 공백 해결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350168"/>
            <a:ext cx="10159746" cy="949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900">
                <a:latin typeface="Pretendard Variable"/>
              </a:defRPr>
            </a:pPr>
            <a:r>
              <a:rPr sz="3900" b="1">
                <a:solidFill>
                  <a:srgbClr val="1D1D1F"/>
                </a:solidFill>
                <a:latin typeface="Pretendard Variable"/>
              </a:rPr>
              <a:t>1970-80년대 뉴욕시 삼중고(재정난·범죄율·인프라 노후화)와 BID의 채택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14537" y="2729309"/>
            <a:ext cx="2612622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FFFFFF"/>
                </a:solidFill>
                <a:latin typeface="Pretendard Variable"/>
              </a:rPr>
              <a:t>NYC FISCAL DEFICIT METRICS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14537" y="3056334"/>
            <a:ext cx="6014569" cy="2978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950">
                <a:latin typeface="Pretendard Variable"/>
              </a:defRPr>
            </a:pPr>
            <a:r>
              <a:rPr sz="1950" b="1">
                <a:solidFill>
                  <a:srgbClr val="1E3A8A"/>
                </a:solidFill>
                <a:latin typeface="Pretendard Variable"/>
              </a:rPr>
              <a:t>뉴욕시 공공 서비스의 강제 감축 지표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537" y="3415109"/>
            <a:ext cx="1492371" cy="2343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1E3A8A"/>
                </a:solidFill>
                <a:latin typeface="Pretendard Variable"/>
              </a:rPr>
              <a:t>👮 경찰/치안 인력 규모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89120" y="3415109"/>
            <a:ext cx="871312" cy="2343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1E3A8A"/>
                </a:solidFill>
                <a:latin typeface="Pretendard Variable"/>
              </a:rPr>
              <a:t>-20% 삭감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14537" y="3837384"/>
            <a:ext cx="1618252" cy="2343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1E3A8A"/>
                </a:solidFill>
                <a:latin typeface="Pretendard Variable"/>
              </a:rPr>
              <a:t>🧹 거리 미화 및 청소 예산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88127" y="3837384"/>
            <a:ext cx="872750" cy="2343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1E3A8A"/>
                </a:solidFill>
                <a:latin typeface="Pretendard Variable"/>
              </a:rPr>
              <a:t>-35% 감축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14537" y="4259659"/>
            <a:ext cx="2591013" cy="2343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1E3A8A"/>
                </a:solidFill>
                <a:latin typeface="Pretendard Variable"/>
              </a:rPr>
              <a:t>🚨 미드타운 42번가 강력 범죄 건수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12535" y="4259659"/>
            <a:ext cx="837360" cy="2343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1E3A8A"/>
                </a:solidFill>
                <a:latin typeface="Pretendard Variable"/>
              </a:rPr>
              <a:t>2.4배 폭등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6838" y="2729309"/>
            <a:ext cx="2827108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FFFFFF"/>
                </a:solidFill>
                <a:latin typeface="Pretendard Variable"/>
              </a:rPr>
              <a:t>PRIVATE SELF-TAXATION MODEL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6838" y="3056334"/>
            <a:ext cx="6014569" cy="2978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950">
                <a:latin typeface="Pretendard Variable"/>
              </a:defRPr>
            </a:pPr>
            <a:r>
              <a:rPr sz="1950" b="1">
                <a:solidFill>
                  <a:srgbClr val="FFFFFF"/>
                </a:solidFill>
                <a:latin typeface="Pretendard Variable"/>
              </a:rPr>
              <a:t>공공 공백을 채우는 민간 자조 전환구조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6838" y="3364309"/>
            <a:ext cx="6014569" cy="2247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 b="1">
                <a:solidFill>
                  <a:srgbClr val="1E3A8A"/>
                </a:solidFill>
                <a:latin typeface="Pretendard Variable"/>
              </a:rPr>
              <a:t>기업들이 본사이전을 결정하는 오피스 붕괴 직전에 소유주들이 결단한 전환 메커니즘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10184" y="3783409"/>
            <a:ext cx="622284" cy="345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FFFFFF"/>
                </a:solidFill>
                <a:latin typeface="Pretendard Variable"/>
              </a:rPr>
              <a:t>위기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65775" y="3838971"/>
            <a:ext cx="2340988" cy="2343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FFFFFF"/>
                </a:solidFill>
                <a:latin typeface="Pretendard Variable"/>
              </a:rPr>
              <a:t>시 행정 서비스 중단 ➔ 상권 붕괴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96910" y="4067571"/>
            <a:ext cx="1066247" cy="1962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825">
                <a:latin typeface="Pretendard Variable"/>
              </a:defRPr>
            </a:pPr>
            <a:r>
              <a:rPr sz="825" b="1">
                <a:solidFill>
                  <a:srgbClr val="93C5FD"/>
                </a:solidFill>
                <a:latin typeface="Pretendard Variable"/>
              </a:rPr>
              <a:t>TRANSITION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10184" y="4202509"/>
            <a:ext cx="622284" cy="345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FFFFFF"/>
                </a:solidFill>
                <a:latin typeface="Pretendard Variable"/>
              </a:rPr>
              <a:t>자조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65775" y="4258071"/>
            <a:ext cx="3280546" cy="2343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60A5FA"/>
                </a:solidFill>
                <a:latin typeface="Pretendard Variable"/>
              </a:rPr>
              <a:t>소유주의 100% 분담금 추가 납세 ➔ 자체 해결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6838" y="4881959"/>
            <a:ext cx="5956349" cy="339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1E3A8A"/>
                </a:solidFill>
                <a:latin typeface="Pretendard Variable"/>
              </a:rPr>
              <a:t>💡 "일반 지방세로 해결할 수 없는 권역 특화 서비스를 민간의 목적 기금을 징수해 해결하겠다"는 최초의 선언.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63520" y="5637609"/>
            <a:ext cx="10450370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1E3A8A"/>
                </a:solidFill>
                <a:latin typeface="Pretendard Variable"/>
              </a:rPr>
              <a:t>▪ 도시 재정 위기 시기에 정부 세부담 없이 민간이 스스로 기금을 모아 청소와 치안 등 기초 공공 서비스를 유지한 위기 대응책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247278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1E3A8A"/>
                </a:solidFill>
                <a:latin typeface="Pretendard Variable"/>
              </a:rPr>
              <a:t>필라델피아 Center City District 성공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552078"/>
            <a:ext cx="10159746" cy="5206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900">
                <a:latin typeface="Pretendard Variable"/>
              </a:defRPr>
            </a:pPr>
            <a:r>
              <a:rPr sz="3900" b="1">
                <a:solidFill>
                  <a:srgbClr val="1D1D1F"/>
                </a:solidFill>
                <a:latin typeface="Pretendard Variable"/>
              </a:rPr>
              <a:t>'BID 방법론의 교과서'가 증명한 실증 성과와 1,000여 개 지구로의 확산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14537" y="2501999"/>
            <a:ext cx="2161148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FFFFFF"/>
                </a:solidFill>
                <a:latin typeface="Pretendard Variable"/>
              </a:rPr>
              <a:t>OPERATING STANDARD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14537" y="2829024"/>
            <a:ext cx="5191630" cy="2978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950">
                <a:latin typeface="Pretendard Variable"/>
              </a:defRPr>
            </a:pPr>
            <a:r>
              <a:rPr sz="1950" b="1">
                <a:solidFill>
                  <a:srgbClr val="FFFFFF"/>
                </a:solidFill>
                <a:latin typeface="Pretendard Variable"/>
              </a:rPr>
              <a:t>CCD 과학적 도시 관리 기법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537" y="3136999"/>
            <a:ext cx="5191630" cy="2247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 b="1">
                <a:solidFill>
                  <a:srgbClr val="1E3A8A"/>
                </a:solidFill>
                <a:latin typeface="Pretendard Variable"/>
              </a:rPr>
              <a:t>단순 가로 청소를 넘어 범죄 예방과 성과 측정을 전용 매뉴얼화한 혁신 사례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41533" y="3524349"/>
            <a:ext cx="3900072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FFFFFF"/>
                </a:solidFill>
                <a:latin typeface="Pretendard Variable"/>
              </a:rPr>
              <a:t>👮 CSR 전담 예방 순찰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41533" y="3708499"/>
            <a:ext cx="3563788" cy="1866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>
                <a:solidFill>
                  <a:srgbClr val="1E3A8A"/>
                </a:solidFill>
                <a:latin typeface="Pretendard Variable"/>
              </a:rPr>
              <a:t>민간 가이드 요원 배치를 통한 범죄 예방 환경 설계(CPTED)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41533" y="4133949"/>
            <a:ext cx="3900072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FFFFFF"/>
                </a:solidFill>
                <a:latin typeface="Pretendard Variable"/>
              </a:rPr>
              <a:t>📊 정량적 세척/미화 지표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41533" y="4318099"/>
            <a:ext cx="3642189" cy="1866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>
                <a:solidFill>
                  <a:srgbClr val="1E3A8A"/>
                </a:solidFill>
                <a:latin typeface="Pretendard Variable"/>
              </a:rPr>
              <a:t>가로 청결 수준을 지표화하여 매일 등급을 매겨 이사회에 공표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4537" y="4832449"/>
            <a:ext cx="4835880" cy="1866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1E3A8A"/>
                </a:solidFill>
                <a:latin typeface="Pretendard Variable"/>
              </a:rPr>
              <a:t>💡 "치안과 위생을 민간 비영리 협회가 브랜드 자산화하여 고객 만족도를 계량화함"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68850" y="2451199"/>
            <a:ext cx="2611054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CRIME REDUCTION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68850" y="2616299"/>
            <a:ext cx="2611054" cy="370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3300">
                <a:latin typeface="Pretendard Variable"/>
              </a:defRPr>
            </a:pPr>
            <a:r>
              <a:rPr sz="3300" b="1">
                <a:solidFill>
                  <a:srgbClr val="1E3A8A"/>
                </a:solidFill>
                <a:latin typeface="Pretendard Variable"/>
              </a:rPr>
              <a:t>-50%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68850" y="2965549"/>
            <a:ext cx="1618395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1E3A8A"/>
                </a:solidFill>
                <a:latin typeface="Pretendard Variable"/>
              </a:rPr>
              <a:t>강력 범죄율의 급격한 반감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68850" y="3359249"/>
            <a:ext cx="3180000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CCD 출범 후 5년 내 실측 통계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02397" y="2451199"/>
            <a:ext cx="3180000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VISITOR SATISFACTION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02397" y="2616299"/>
            <a:ext cx="2611054" cy="370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3300">
                <a:latin typeface="Pretendard Variable"/>
              </a:defRPr>
            </a:pPr>
            <a:r>
              <a:rPr sz="3300" b="1">
                <a:solidFill>
                  <a:srgbClr val="1E3A8A"/>
                </a:solidFill>
                <a:latin typeface="Pretendard Variable"/>
              </a:rPr>
              <a:t>90%+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02397" y="2965549"/>
            <a:ext cx="1529919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1E3A8A"/>
                </a:solidFill>
                <a:latin typeface="Pretendard Variable"/>
              </a:rPr>
              <a:t>지구 청결 및 치안 만족도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02397" y="3359249"/>
            <a:ext cx="3180000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방문객 및 소매점 설문 조사 결과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68850" y="3981549"/>
            <a:ext cx="3180000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STATE LEGISLATION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68850" y="4146649"/>
            <a:ext cx="2611054" cy="370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3300">
                <a:latin typeface="Pretendard Variable"/>
              </a:defRPr>
            </a:pPr>
            <a:r>
              <a:rPr sz="3300" b="1">
                <a:solidFill>
                  <a:srgbClr val="1E3A8A"/>
                </a:solidFill>
                <a:latin typeface="Pretendard Variable"/>
              </a:rPr>
              <a:t>40개 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68850" y="4495899"/>
            <a:ext cx="1529919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1E3A8A"/>
                </a:solidFill>
                <a:latin typeface="Pretendard Variable"/>
              </a:rPr>
              <a:t>미국 전역 주법 제정 확산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68850" y="4889599"/>
            <a:ext cx="3180000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미국 내 40개 주에서 합법성 인가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02397" y="3981549"/>
            <a:ext cx="3180000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TOTAL ACTIVE BIDS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02397" y="4146649"/>
            <a:ext cx="2611054" cy="370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3300">
                <a:latin typeface="Pretendard Variable"/>
              </a:defRPr>
            </a:pPr>
            <a:r>
              <a:rPr sz="3300" b="1">
                <a:solidFill>
                  <a:srgbClr val="10B981"/>
                </a:solidFill>
                <a:latin typeface="Pretendard Variable"/>
              </a:rPr>
              <a:t>1,000개+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02397" y="4495899"/>
            <a:ext cx="1512224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1E3A8A"/>
                </a:solidFill>
                <a:latin typeface="Pretendard Variable"/>
              </a:rPr>
              <a:t>미국 전역 BID 지자체 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02397" y="4889599"/>
            <a:ext cx="3180000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CCD 모델을 표준으로 삼아 전국 확산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6218" y="5435699"/>
            <a:ext cx="9036478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1E3A8A"/>
                </a:solidFill>
                <a:latin typeface="Pretendard Variable"/>
              </a:rPr>
              <a:t>▪ 가로 미화와 도보 순찰 등 가장 기초적인 치안/환경 관리가 지역 상권 부활로 이어진 명확한 인과관계 증명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76385" y="2883495"/>
            <a:ext cx="1692917" cy="339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950">
                <a:latin typeface="Pretendard Variable"/>
              </a:defRPr>
            </a:pPr>
            <a:r>
              <a:rPr sz="1950" b="1">
                <a:solidFill>
                  <a:srgbClr val="0F172A"/>
                </a:solidFill>
                <a:latin typeface="Pretendard Variable"/>
              </a:rPr>
              <a:t>CHAPTER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57880" y="3220045"/>
            <a:ext cx="6329928" cy="63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4950">
                <a:latin typeface="Pretendard Variable"/>
              </a:defRPr>
            </a:pPr>
            <a:r>
              <a:rPr sz="4950" b="1">
                <a:solidFill>
                  <a:srgbClr val="0F172A"/>
                </a:solidFill>
                <a:latin typeface="Pretendard Variable"/>
              </a:rPr>
              <a:t>BID 제도적 작동 메커니즘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431428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1E3A8A"/>
                </a:solidFill>
                <a:latin typeface="Pretendard Variable"/>
              </a:rPr>
              <a:t>민간 정부(Private Governments) 이론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736228"/>
            <a:ext cx="10159746" cy="5206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900">
                <a:latin typeface="Pretendard Variable"/>
              </a:defRPr>
            </a:pPr>
            <a:r>
              <a:rPr sz="3900" b="1">
                <a:solidFill>
                  <a:srgbClr val="1D1D1F"/>
                </a:solidFill>
                <a:latin typeface="Pretendard Variable"/>
              </a:rPr>
              <a:t>보충적이고 배타적인 공공재를 특정 구역에 한정하여 제공하는 거버넌스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75120" y="2648049"/>
            <a:ext cx="2095447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GOVERNMENT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75120" y="2787749"/>
            <a:ext cx="2095447" cy="2628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50">
                <a:latin typeface="Pretendard Variable"/>
              </a:defRPr>
            </a:pPr>
            <a:r>
              <a:rPr sz="1350" b="1">
                <a:solidFill>
                  <a:srgbClr val="1E3A8A"/>
                </a:solidFill>
                <a:latin typeface="Pretendard Variable"/>
              </a:rPr>
              <a:t>시 정부 (NYC 등)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52876" y="3009999"/>
            <a:ext cx="2539936" cy="4343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• 지방자치 조례 승인권 • 지방세 징수 인프라 연계 고지 • 0% 수수료 100% 반환 보증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52676" y="4102199"/>
            <a:ext cx="2095447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>
                <a:latin typeface="Pretendard Variable"/>
              </a:defRPr>
            </a:pPr>
            <a:r>
              <a:rPr sz="900" b="1">
                <a:solidFill>
                  <a:srgbClr val="E11D48"/>
                </a:solidFill>
                <a:latin typeface="Pretendard Variable"/>
              </a:rPr>
              <a:t>MEMBER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52676" y="4241899"/>
            <a:ext cx="2095447" cy="2628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50">
                <a:latin typeface="Pretendard Variable"/>
              </a:defRPr>
            </a:pPr>
            <a:r>
              <a:rPr sz="1350" b="1">
                <a:solidFill>
                  <a:srgbClr val="1E3A8A"/>
                </a:solidFill>
                <a:latin typeface="Pretendard Variable"/>
              </a:rPr>
              <a:t>지구 내 소유주/상인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30431" y="4464149"/>
            <a:ext cx="2539936" cy="4343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• 추가 자발적 부과금 동의/납부 • 이사회 임원 선출 의결권 행사 • 프리미엄 보완적 서비스 수혜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97565" y="4102199"/>
            <a:ext cx="2095447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PRIVATE AGENT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97565" y="4241899"/>
            <a:ext cx="2095447" cy="2628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50">
                <a:latin typeface="Pretendard Variable"/>
              </a:defRPr>
            </a:pPr>
            <a:r>
              <a:rPr sz="1350" b="1">
                <a:solidFill>
                  <a:srgbClr val="FFFFFF"/>
                </a:solidFill>
                <a:latin typeface="Pretendard Variable"/>
              </a:rPr>
              <a:t>지구관리협회 (DMA)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75320" y="4464149"/>
            <a:ext cx="2539936" cy="4343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• 비영리 운영 법인 발기 • 보완적 서비스 단독 기획/집행 • 구역 내 부동산 가치 디펜스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8756" y="5251549"/>
            <a:ext cx="9099520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1E3A8A"/>
                </a:solidFill>
                <a:latin typeface="Pretendard Variable"/>
              </a:rPr>
              <a:t>▪ 특정 지구의 공공재 생산을 활성화하기 위해 민간 기구에 법적 부담금 징수 권한을 부여하는 행정학적 배경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312366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1E3A8A"/>
                </a:solidFill>
                <a:latin typeface="Pretendard Variable"/>
              </a:rPr>
              <a:t>특별부과지구(SAD) 지정 요건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617166"/>
            <a:ext cx="10159746" cy="5206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900">
                <a:latin typeface="Pretendard Variable"/>
              </a:defRPr>
            </a:pPr>
            <a:r>
              <a:rPr sz="3900" b="1">
                <a:solidFill>
                  <a:srgbClr val="1D1D1F"/>
                </a:solidFill>
                <a:latin typeface="Pretendard Variable"/>
              </a:rPr>
              <a:t>부동산 소유주 및 사업자의 과반수 동의를 통한 특별부과지구의 지정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14537" y="2567086"/>
            <a:ext cx="2738527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FFFFFF"/>
                </a:solidFill>
                <a:latin typeface="Pretendard Variable"/>
              </a:rPr>
              <a:t>MASSACHUSETTS STATE CODE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14537" y="2894111"/>
            <a:ext cx="5648818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>
                <a:latin typeface="Pretendard Variable"/>
              </a:defRPr>
            </a:pPr>
            <a:r>
              <a:rPr sz="1800" b="1">
                <a:solidFill>
                  <a:srgbClr val="1E3A8A"/>
                </a:solidFill>
                <a:latin typeface="Pretendard Variable"/>
              </a:rPr>
              <a:t>소유자 서명 &amp; 평가액 가중 동의 요건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537" y="3294161"/>
            <a:ext cx="1186661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1E3A8A"/>
                </a:solidFill>
                <a:latin typeface="Pretendard Variable"/>
              </a:rPr>
              <a:t>소유자 동의 비율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31921" y="3275111"/>
            <a:ext cx="1384617" cy="2819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500">
                <a:latin typeface="Pretendard Variable"/>
              </a:defRPr>
            </a:pPr>
            <a:r>
              <a:rPr sz="1500" b="1">
                <a:solidFill>
                  <a:srgbClr val="1E3A8A"/>
                </a:solidFill>
                <a:latin typeface="Pretendard Variable"/>
              </a:rPr>
              <a:t>60% 이상 서명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14537" y="3643411"/>
            <a:ext cx="1342033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1E3A8A"/>
                </a:solidFill>
                <a:latin typeface="Pretendard Variable"/>
              </a:rPr>
              <a:t>대상 토지 가치 합산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61190" y="3624361"/>
            <a:ext cx="1342177" cy="2819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500">
                <a:latin typeface="Pretendard Variable"/>
              </a:defRPr>
            </a:pPr>
            <a:r>
              <a:rPr sz="1500" b="1">
                <a:solidFill>
                  <a:srgbClr val="1E3A8A"/>
                </a:solidFill>
                <a:latin typeface="Pretendard Variable"/>
              </a:rPr>
              <a:t>51% 초과 찬성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14537" y="3973611"/>
            <a:ext cx="1186661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1E3A8A"/>
                </a:solidFill>
                <a:latin typeface="Pretendard Variable"/>
              </a:rPr>
              <a:t>공청회 이의 제기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19122" y="3973611"/>
            <a:ext cx="1403176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1E3A8A"/>
                </a:solidFill>
                <a:latin typeface="Pretendard Variable"/>
              </a:rPr>
              <a:t>30일 이내 서면 제출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22484" y="4532411"/>
            <a:ext cx="5260208" cy="339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1E3A8A"/>
                </a:solidFill>
                <a:latin typeface="Pretendard Variable"/>
              </a:rPr>
              <a:t>💡 "소수의 대형 건물주 독주와 대다수 영세 건물주 소외를 균형 있게 막기 위해 가장 까다로운 승인 허들을 설정"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00454" y="3551308"/>
            <a:ext cx="1444779" cy="443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500">
                <a:latin typeface="Pretendard Variable"/>
              </a:defRPr>
            </a:pPr>
            <a:r>
              <a:rPr sz="1500" b="1">
                <a:solidFill>
                  <a:srgbClr val="E11D48"/>
                </a:solidFill>
                <a:latin typeface="Pretendard Variable"/>
              </a:rPr>
              <a:t>APPROVED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80032" y="2567086"/>
            <a:ext cx="2818357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FFFFFF"/>
                </a:solidFill>
                <a:latin typeface="Pretendard Variable"/>
              </a:rPr>
              <a:t>CALIFORNIA PROP 13 &amp; PROP 218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80032" y="2894111"/>
            <a:ext cx="5648818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>
                <a:latin typeface="Pretendard Variable"/>
              </a:defRPr>
            </a:pPr>
            <a:r>
              <a:rPr sz="1800" b="1">
                <a:solidFill>
                  <a:srgbClr val="1E3A8A"/>
                </a:solidFill>
                <a:latin typeface="Pretendard Variable"/>
              </a:rPr>
              <a:t>비례적 부담금 한도 &amp; 투표 요건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80032" y="3294161"/>
            <a:ext cx="1062363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1E3A8A"/>
                </a:solidFill>
                <a:latin typeface="Pretendard Variable"/>
              </a:rPr>
              <a:t>과세 요율 한도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48295" y="3275111"/>
            <a:ext cx="1600844" cy="2819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500">
                <a:latin typeface="Pretendard Variable"/>
              </a:defRPr>
            </a:pPr>
            <a:r>
              <a:rPr sz="1500" b="1">
                <a:solidFill>
                  <a:srgbClr val="1E3A8A"/>
                </a:solidFill>
                <a:latin typeface="Pretendard Variable"/>
              </a:rPr>
              <a:t>Prop 13 연동 제한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80032" y="3643411"/>
            <a:ext cx="1186661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1E3A8A"/>
                </a:solidFill>
                <a:latin typeface="Pretendard Variable"/>
              </a:rPr>
              <a:t>동의서 합산 기준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71819" y="3624361"/>
            <a:ext cx="1421734" cy="2819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500">
                <a:latin typeface="Pretendard Variable"/>
              </a:defRPr>
            </a:pPr>
            <a:r>
              <a:rPr sz="1500" b="1">
                <a:solidFill>
                  <a:srgbClr val="1E3A8A"/>
                </a:solidFill>
                <a:latin typeface="Pretendard Variable"/>
              </a:rPr>
              <a:t>평가액 비례 투표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80032" y="3992661"/>
            <a:ext cx="1186661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1E3A8A"/>
                </a:solidFill>
                <a:latin typeface="Pretendard Variable"/>
              </a:rPr>
              <a:t>반대 청원 파기권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50656" y="3973611"/>
            <a:ext cx="1887420" cy="2819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500">
                <a:latin typeface="Pretendard Variable"/>
              </a:defRPr>
            </a:pPr>
            <a:r>
              <a:rPr sz="1500" b="1">
                <a:solidFill>
                  <a:srgbClr val="E11D48"/>
                </a:solidFill>
                <a:latin typeface="Pretendard Variable"/>
              </a:rPr>
              <a:t>50% 초과 시 자동파기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87980" y="4532411"/>
            <a:ext cx="5260208" cy="339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1E3A8A"/>
                </a:solidFill>
                <a:latin typeface="Pretendard Variable"/>
              </a:rPr>
              <a:t>💡 "납세자 권리 보장(Prop 218)에 의거하여, 각 건물주가 낼 부과금이 당해 지구로부터 받게 될 실질적 혜택에 엄밀히 비례함을 입증해야 함"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69483" y="5370611"/>
            <a:ext cx="10068903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1E3A8A"/>
                </a:solidFill>
                <a:latin typeface="Pretendard Variable"/>
              </a:rPr>
              <a:t>▪ 부동산 소유주 과반수 서명과 까다로운 동의 절차를 통해 지구 지정의 법률적 정당성과 이해관계 조율을 확보하는 절차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515268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1E3A8A"/>
                </a:solidFill>
                <a:latin typeface="Pretendard Variable"/>
              </a:rPr>
              <a:t>특별부과금 징수와 100% 교부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820068"/>
            <a:ext cx="10159746" cy="949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900">
                <a:latin typeface="Pretendard Variable"/>
              </a:defRPr>
            </a:pPr>
            <a:r>
              <a:rPr sz="3900" b="1">
                <a:solidFill>
                  <a:srgbClr val="1D1D1F"/>
                </a:solidFill>
                <a:latin typeface="Pretendard Variable"/>
              </a:rPr>
              <a:t>재산세와 일괄 징수하여 해당 지구관리협회(DMA)로 100% 반환하는 구조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81230" y="3211909"/>
            <a:ext cx="1102069" cy="2406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FFFFFF"/>
                </a:solidFill>
                <a:latin typeface="Pretendard Variable"/>
              </a:rPr>
              <a:t>PROCESS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75417" y="3211909"/>
            <a:ext cx="945402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일괄 징수 인프라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81230" y="3462734"/>
            <a:ext cx="2966973" cy="2628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50">
                <a:latin typeface="Pretendard Variable"/>
              </a:defRPr>
            </a:pPr>
            <a:r>
              <a:rPr sz="1350" b="1">
                <a:solidFill>
                  <a:srgbClr val="1E3A8A"/>
                </a:solidFill>
                <a:latin typeface="Pretendard Variable"/>
              </a:rPr>
              <a:t>재산세 고지서 내 병기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81230" y="3684984"/>
            <a:ext cx="3621830" cy="215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1E3A8A"/>
                </a:solidFill>
                <a:latin typeface="Pretendard Variable"/>
              </a:rPr>
              <a:t>분담금 항목을 별도 추가하여 일괄 우편 발송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1230" y="3910409"/>
            <a:ext cx="2966973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• 징수 비용 최소화 효과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81230" y="4024709"/>
            <a:ext cx="3621830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• 지방세와 동등한 납부 강제력 획득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63778" y="4475559"/>
            <a:ext cx="3324657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"징수 누락률 1% 미만 철저 통제"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0238" y="3364309"/>
            <a:ext cx="1118469" cy="2406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FFFFFF"/>
                </a:solidFill>
                <a:latin typeface="Pretendard Variable"/>
              </a:rPr>
              <a:t>PROCESS 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18320" y="3364309"/>
            <a:ext cx="852897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체납 방지 대책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60238" y="3615134"/>
            <a:ext cx="2967117" cy="2628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50">
                <a:latin typeface="Pretendard Variable"/>
              </a:defRPr>
            </a:pPr>
            <a:r>
              <a:rPr sz="1350" b="1">
                <a:solidFill>
                  <a:srgbClr val="1E3A8A"/>
                </a:solidFill>
                <a:latin typeface="Pretendard Variable"/>
              </a:rPr>
              <a:t>법적 강제력 위임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60238" y="3837384"/>
            <a:ext cx="3622008" cy="215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1E3A8A"/>
                </a:solidFill>
                <a:latin typeface="Pretendard Variable"/>
              </a:rPr>
              <a:t>지방세 체납 시와 동일한 법적 패널티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60238" y="4062809"/>
            <a:ext cx="3622008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• 건물 및 자산에 저당권(Lien) 즉각 설정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60238" y="4177109"/>
            <a:ext cx="3622008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• 높은 연체 이자 부과로 성실 납부 유도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42786" y="4475559"/>
            <a:ext cx="3324836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"재정적 예측 안정성 99% 확보"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39345" y="3211909"/>
            <a:ext cx="1121922" cy="2406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0F172A"/>
                </a:solidFill>
                <a:latin typeface="Pretendard Variable"/>
              </a:rPr>
              <a:t>PROCESS 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7260" y="3211909"/>
            <a:ext cx="969139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100% 자금 이관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39345" y="3462734"/>
            <a:ext cx="2967117" cy="2628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50">
                <a:latin typeface="Pretendard Variable"/>
              </a:defRPr>
            </a:pPr>
            <a:r>
              <a:rPr sz="1350" b="1">
                <a:solidFill>
                  <a:srgbClr val="FFFFFF"/>
                </a:solidFill>
                <a:latin typeface="Pretendard Variable"/>
              </a:rPr>
              <a:t>무수수료 즉시 송환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39345" y="3684984"/>
            <a:ext cx="3622008" cy="215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1E3A8A"/>
                </a:solidFill>
                <a:latin typeface="Pretendard Variable"/>
              </a:rPr>
              <a:t>시 당국의 행정 대행 수수료 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39345" y="3910409"/>
            <a:ext cx="3622008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• 징수 완료 후 30일 내 DMA 계좌 송금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39345" y="4024709"/>
            <a:ext cx="3622008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• 일반 시 예산과 혼용 금지, 당해 구역 전용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21893" y="4475559"/>
            <a:ext cx="3324836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"납세액 전액이 고스란히 지역에 환원"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06094" y="5167709"/>
            <a:ext cx="9936926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1E3A8A"/>
                </a:solidFill>
                <a:latin typeface="Pretendard Variable"/>
              </a:rPr>
              <a:t>▪ 지자체가 세금 고지서로 징수 대행을 수행하되, 수수료 없이 해당 지구로 전액 돌려주어 온전히 환원시키는 재무 흐름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036141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1E3A8A"/>
                </a:solidFill>
                <a:latin typeface="Pretendard Variable"/>
              </a:rPr>
              <a:t>지구성격별 요율 분담 공식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340941"/>
            <a:ext cx="10159746" cy="5206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900">
                <a:latin typeface="Pretendard Variable"/>
              </a:defRPr>
            </a:pPr>
            <a:r>
              <a:rPr sz="3900" b="1">
                <a:solidFill>
                  <a:srgbClr val="1D1D1F"/>
                </a:solidFill>
                <a:latin typeface="Pretendard Variable"/>
              </a:rPr>
              <a:t>가로 접면, 부지 면적, 감정평가액 등 자산 특성에 맞춘 분담금 배분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5974" y="2240061"/>
            <a:ext cx="10159746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FFFFFF"/>
                </a:solidFill>
                <a:latin typeface="Pretendard Variable"/>
              </a:rPr>
              <a:t>INPUT PARAMETERS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63738" y="2516286"/>
            <a:ext cx="7157541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>
                <a:latin typeface="Pretendard Variable"/>
              </a:defRPr>
            </a:pPr>
            <a:r>
              <a:rPr sz="1800" b="1">
                <a:solidFill>
                  <a:srgbClr val="1E3A8A"/>
                </a:solidFill>
                <a:latin typeface="Pretendard Variable"/>
              </a:rPr>
              <a:t>분담금 산정의 3대 핵심 매개변수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71685" y="3005236"/>
            <a:ext cx="695942" cy="39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500">
                <a:latin typeface="Pretendard Variable"/>
              </a:defRPr>
            </a:pPr>
            <a:r>
              <a:rPr sz="1500" b="1">
                <a:solidFill>
                  <a:srgbClr val="FFFFFF"/>
                </a:solidFill>
                <a:latin typeface="Pretendard Variable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78075" y="3005236"/>
            <a:ext cx="2872826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1E3A8A"/>
                </a:solidFill>
                <a:latin typeface="Pretendard Variable"/>
              </a:rPr>
              <a:t>📏 가로 접면 길이 (Frontage)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78075" y="3189386"/>
            <a:ext cx="2872826" cy="1866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1E3A8A"/>
                </a:solidFill>
                <a:latin typeface="Pretendard Variable"/>
              </a:rPr>
              <a:t>보행자용 환경 청소, 치안 혜택 범위와 직접 연동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71685" y="3627536"/>
            <a:ext cx="695942" cy="39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500">
                <a:latin typeface="Pretendard Variable"/>
              </a:defRPr>
            </a:pPr>
            <a:r>
              <a:rPr sz="1500" b="1">
                <a:solidFill>
                  <a:srgbClr val="FFFFFF"/>
                </a:solidFill>
                <a:latin typeface="Pretendard Variable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78075" y="3627536"/>
            <a:ext cx="3304655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1E3A8A"/>
                </a:solidFill>
                <a:latin typeface="Pretendard Variable"/>
              </a:rPr>
              <a:t>📐 총 부지/연면적 (Square Footage)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78075" y="3811686"/>
            <a:ext cx="3304655" cy="1866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1E3A8A"/>
                </a:solidFill>
                <a:latin typeface="Pretendard Variable"/>
              </a:rPr>
              <a:t>건물 규모 및 입주 테넌트 밀도 비례 정적 공간 가치 반영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71685" y="4249836"/>
            <a:ext cx="695942" cy="39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500">
                <a:latin typeface="Pretendard Variable"/>
              </a:defRPr>
            </a:pPr>
            <a:r>
              <a:rPr sz="1500" b="1">
                <a:solidFill>
                  <a:srgbClr val="FFFFFF"/>
                </a:solidFill>
                <a:latin typeface="Pretendard Variable"/>
              </a:rPr>
              <a:t>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78075" y="4249836"/>
            <a:ext cx="3118744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1E3A8A"/>
                </a:solidFill>
                <a:latin typeface="Pretendard Variable"/>
              </a:rPr>
              <a:t>💵 재산세 감정가 (Assessed Value)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78075" y="4433986"/>
            <a:ext cx="3118744" cy="1866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1E3A8A"/>
                </a:solidFill>
                <a:latin typeface="Pretendard Variable"/>
              </a:rPr>
              <a:t>자산 소유주의 실제 담세력 및 실질 임대 수익성 추종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5974" y="2240061"/>
            <a:ext cx="10159746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FFFFFF"/>
                </a:solidFill>
                <a:latin typeface="Pretendard Variable"/>
              </a:rPr>
              <a:t>NYC EMPIRICAL CASE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83227" y="2516286"/>
            <a:ext cx="537450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>
                <a:latin typeface="Pretendard Variable"/>
              </a:defRPr>
            </a:pPr>
            <a:r>
              <a:rPr sz="1800" b="1">
                <a:solidFill>
                  <a:srgbClr val="FFFFFF"/>
                </a:solidFill>
                <a:latin typeface="Pretendard Variable"/>
              </a:rPr>
              <a:t>뉴욕 주요 BID의 실증 산정식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91175" y="3005236"/>
            <a:ext cx="1856832" cy="2533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75">
                <a:latin typeface="Pretendard Variable"/>
              </a:defRPr>
            </a:pPr>
            <a:r>
              <a:rPr sz="1275" b="1">
                <a:solidFill>
                  <a:srgbClr val="93C5FD"/>
                </a:solidFill>
                <a:latin typeface="Pretendard Variable"/>
              </a:rPr>
              <a:t>Times Square BID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54784" y="3011586"/>
            <a:ext cx="928570" cy="2406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FFFFFF"/>
                </a:solidFill>
                <a:latin typeface="Pretendard Variable"/>
              </a:rPr>
              <a:t>정률세 방식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91175" y="3192561"/>
            <a:ext cx="4985895" cy="3803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 b="1">
                <a:solidFill>
                  <a:srgbClr val="1E3A8A"/>
                </a:solidFill>
                <a:latin typeface="Pretendard Variable"/>
              </a:rPr>
              <a:t>부동산 공시가격(Assessed Value)의 약 0.3% 수준을 매년 분담금으로 부과하여 대형 자산에 높은 책임 부여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91175" y="3798986"/>
            <a:ext cx="1092718" cy="2533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75">
                <a:latin typeface="Pretendard Variable"/>
              </a:defRPr>
            </a:pPr>
            <a:r>
              <a:rPr sz="1275" b="1">
                <a:solidFill>
                  <a:srgbClr val="93C5FD"/>
                </a:solidFill>
                <a:latin typeface="Pretendard Variable"/>
              </a:rPr>
              <a:t>Flatiron BID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85531" y="3805336"/>
            <a:ext cx="1028986" cy="2406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FFFFFF"/>
                </a:solidFill>
                <a:latin typeface="Pretendard Variable"/>
              </a:rPr>
              <a:t>혼합식 가중치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1175" y="3986311"/>
            <a:ext cx="4985895" cy="3803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 b="1">
                <a:solidFill>
                  <a:srgbClr val="1E3A8A"/>
                </a:solidFill>
                <a:latin typeface="Pretendard Variable"/>
              </a:rPr>
              <a:t>상업용 연면적당 연 $0.17 부과 및 가로 접면 길이에 비례한 가중치를 종합 계산하여 합산 부과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1175" y="4592736"/>
            <a:ext cx="1374978" cy="2533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75">
                <a:latin typeface="Pretendard Variable"/>
              </a:defRPr>
            </a:pPr>
            <a:r>
              <a:rPr sz="1275" b="1">
                <a:solidFill>
                  <a:srgbClr val="A7F3D0"/>
                </a:solidFill>
                <a:latin typeface="Pretendard Variable"/>
              </a:rPr>
              <a:t>주거용 부동산 특례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24136" y="4599086"/>
            <a:ext cx="828009" cy="2406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FFFFFF"/>
                </a:solidFill>
                <a:latin typeface="Pretendard Variable"/>
              </a:rPr>
              <a:t>감면 혜택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91175" y="4780061"/>
            <a:ext cx="4985895" cy="3803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 b="1">
                <a:solidFill>
                  <a:srgbClr val="1E3A8A"/>
                </a:solidFill>
                <a:latin typeface="Pretendard Variable"/>
              </a:rPr>
              <a:t>지구 내 주거용 세대에 대해서는 마찰 회피 및 주민 동의 유도를 위해 연간 $1 수준의 형식적 과세만 적용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47289" y="5646836"/>
            <a:ext cx="9068803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1E3A8A"/>
                </a:solidFill>
                <a:latin typeface="Pretendard Variable"/>
              </a:rPr>
              <a:t>▪ 각 자산의 가로 면적, 부지 규모, 평가 가치에 비례하여 징수액을 정교하게 나누는 합리적 형평성 달성 장치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196478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1E3A8A"/>
                </a:solidFill>
                <a:latin typeface="Pretendard Variable"/>
              </a:rPr>
              <a:t>보완적 서비스(Supplemental) 원칙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501278"/>
            <a:ext cx="10159746" cy="5206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900">
                <a:latin typeface="Pretendard Variable"/>
              </a:defRPr>
            </a:pPr>
            <a:r>
              <a:rPr sz="3900" b="1">
                <a:solidFill>
                  <a:srgbClr val="1D1D1F"/>
                </a:solidFill>
                <a:latin typeface="Pretendard Variable"/>
              </a:rPr>
              <a:t>기존 시의 행정 서비스를 대체하지 않고 추가적으로 보완하는 원칙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5974" y="2400399"/>
            <a:ext cx="10159746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FFFFFF"/>
                </a:solidFill>
                <a:latin typeface="Pretendard Variable"/>
              </a:rPr>
              <a:t>BASE-LEVEL SERVICES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14537" y="2676624"/>
            <a:ext cx="504177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>
                <a:latin typeface="Pretendard Variable"/>
              </a:defRPr>
            </a:pPr>
            <a:r>
              <a:rPr sz="1800" b="1">
                <a:solidFill>
                  <a:srgbClr val="1E3A8A"/>
                </a:solidFill>
                <a:latin typeface="Pretendard Variable"/>
              </a:rPr>
              <a:t>시 정부 기본 행정 서비스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537" y="2956024"/>
            <a:ext cx="6197445" cy="2343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1E3A8A"/>
                </a:solidFill>
                <a:latin typeface="Pretendard Variable"/>
              </a:rPr>
              <a:t>시가 세금으로 의무 제공하는 표준 공공 서비스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22484" y="3359249"/>
            <a:ext cx="4728726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1E3A8A"/>
                </a:solidFill>
                <a:latin typeface="Pretendard Variable"/>
              </a:rPr>
              <a:t>👮 일반 치안 및 소방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22484" y="3543399"/>
            <a:ext cx="2869255" cy="1866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1E3A8A"/>
                </a:solidFill>
                <a:latin typeface="Pretendard Variable"/>
              </a:rPr>
              <a:t>일반 경찰 순찰 노선 운영 및 형사 사건사고 처리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22484" y="3981549"/>
            <a:ext cx="4728726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1E3A8A"/>
                </a:solidFill>
                <a:latin typeface="Pretendard Variable"/>
              </a:rPr>
              <a:t>🚛 표준 위생 청소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22484" y="4165699"/>
            <a:ext cx="2869255" cy="1866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1E3A8A"/>
                </a:solidFill>
                <a:latin typeface="Pretendard Variable"/>
              </a:rPr>
              <a:t>도로 위 가로 쓰레기 수거함 비우기 및 일일 청소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22484" y="4603849"/>
            <a:ext cx="5808834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1E3A8A"/>
                </a:solidFill>
                <a:latin typeface="Pretendard Variable"/>
              </a:rPr>
              <a:t>⚠️ 행정 철수 금지 (Base-Level Lock-in)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22484" y="4787999"/>
            <a:ext cx="3562538" cy="1866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1E3A8A"/>
                </a:solidFill>
                <a:latin typeface="Pretendard Variable"/>
              </a:rPr>
              <a:t>시 정부는 BID 구역 지정 후 기존 투입 자원을 축소할 수 없음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4873" y="3556099"/>
            <a:ext cx="695942" cy="39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50">
                <a:latin typeface="Pretendard Variable"/>
              </a:defRPr>
            </a:pPr>
            <a:r>
              <a:rPr sz="1350" b="1">
                <a:solidFill>
                  <a:srgbClr val="FFFFFF"/>
                </a:solidFill>
                <a:latin typeface="Pretendard Variable"/>
              </a:rPr>
              <a:t>VS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5974" y="2400399"/>
            <a:ext cx="10159746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FFFFFF"/>
                </a:solidFill>
                <a:latin typeface="Pretendard Variable"/>
              </a:rPr>
              <a:t>SUPPLEMENTAL SERVICES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5240" y="2676624"/>
            <a:ext cx="504177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>
                <a:latin typeface="Pretendard Variable"/>
              </a:defRPr>
            </a:pPr>
            <a:r>
              <a:rPr sz="1800" b="1">
                <a:solidFill>
                  <a:srgbClr val="FFFFFF"/>
                </a:solidFill>
                <a:latin typeface="Pretendard Variable"/>
              </a:rPr>
              <a:t>BID 보완적 스페셜 서비스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5240" y="2956024"/>
            <a:ext cx="6197445" cy="2343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1E3A8A"/>
                </a:solidFill>
                <a:latin typeface="Pretendard Variable"/>
              </a:rPr>
              <a:t>DMA 주도로 추가 제공하는 부가가치 서비스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83187" y="3359249"/>
            <a:ext cx="4728726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FFFFFF"/>
                </a:solidFill>
                <a:latin typeface="Pretendard Variable"/>
              </a:rPr>
              <a:t>🧹 고밀도 위생 케어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187" y="3543399"/>
            <a:ext cx="2993910" cy="1866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1E3A8A"/>
                </a:solidFill>
                <a:latin typeface="Pretendard Variable"/>
              </a:rPr>
              <a:t>매일 수회 가로 빗자루 청소 및 정기 고압수 물세척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83187" y="3981549"/>
            <a:ext cx="4728726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FFFFFF"/>
                </a:solidFill>
                <a:latin typeface="Pretendard Variable"/>
              </a:rPr>
              <a:t>🛡️ 민간 전용 순찰대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83187" y="4165699"/>
            <a:ext cx="3436811" cy="1866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1E3A8A"/>
                </a:solidFill>
                <a:latin typeface="Pretendard Variable"/>
              </a:rPr>
              <a:t>비무장 순찰 요원 배치, 취약점 모니터링, 안전 핫라인 가동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83187" y="4603849"/>
            <a:ext cx="4728726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FFFFFF"/>
                </a:solidFill>
                <a:latin typeface="Pretendard Variable"/>
              </a:rPr>
              <a:t>🎨 적극적 플레이스메이킹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83187" y="4787999"/>
            <a:ext cx="3467350" cy="1866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1E3A8A"/>
                </a:solidFill>
                <a:latin typeface="Pretendard Variable"/>
              </a:rPr>
              <a:t>화단 가로수 가로등 미화, 특별 축제 개최, 공공 디자인 적용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02135" y="5486499"/>
            <a:ext cx="9591177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1E3A8A"/>
                </a:solidFill>
                <a:latin typeface="Pretendard Variable"/>
              </a:rPr>
              <a:t>▪ 기존 시정부의 청소/치안 의무 예산을 대체하지 않고, 오직 추가적인 고품질 환경 정비에만 기금을 투입하는 원칙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844178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1E3A8A"/>
                </a:solidFill>
                <a:latin typeface="Pretendard Variable"/>
              </a:rPr>
              <a:t>지구관리협회(DMA) 이사회 구성 요건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2148978"/>
            <a:ext cx="10159746" cy="5206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900">
                <a:latin typeface="Pretendard Variable"/>
              </a:defRPr>
            </a:pPr>
            <a:r>
              <a:rPr sz="3900" b="1">
                <a:solidFill>
                  <a:srgbClr val="1D1D1F"/>
                </a:solidFill>
                <a:latin typeface="Pretendard Variable"/>
              </a:rPr>
              <a:t>소수 자본의 독점을 방지하기 위한 이사회 법적 인적 구성 강제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0188" y="4838799"/>
            <a:ext cx="9706188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1E3A8A"/>
                </a:solidFill>
                <a:latin typeface="Pretendard Variable"/>
              </a:rPr>
              <a:t>▪ 대형 소유주, 소상공인, 지역 공무원이 의사결정 보드를 공유하여 독점을 방지하고 투명한 공공성을 유지하는 지침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887339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1E3A8A"/>
                </a:solidFill>
                <a:latin typeface="Pretendard Variable"/>
              </a:rPr>
              <a:t>4단계 설립 프로세스 타임라인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2192139"/>
            <a:ext cx="10159746" cy="949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900">
                <a:latin typeface="Pretendard Variable"/>
              </a:defRPr>
            </a:pPr>
            <a:r>
              <a:rPr sz="3900" b="1">
                <a:solidFill>
                  <a:srgbClr val="1D1D1F"/>
                </a:solidFill>
                <a:latin typeface="Pretendard Variable"/>
              </a:rPr>
              <a:t>기획에서 출범까지 평균 3~6년이 소요되는 정교한 민주적 의사결정 과정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50998" y="3266479"/>
            <a:ext cx="622284" cy="345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FFFFFF"/>
                </a:solidFill>
                <a:latin typeface="Pretendard Variable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79593" y="3545879"/>
            <a:ext cx="2523585" cy="2628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50">
                <a:latin typeface="Pretendard Variable"/>
              </a:defRPr>
            </a:pPr>
            <a:r>
              <a:rPr sz="1350" b="1">
                <a:solidFill>
                  <a:srgbClr val="1E3A8A"/>
                </a:solidFill>
                <a:latin typeface="Pretendard Variable"/>
              </a:rPr>
              <a:t>🗺️ 기획 및 설계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79593" y="3755429"/>
            <a:ext cx="933605" cy="2311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PLANNING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79593" y="3971329"/>
            <a:ext cx="3071418" cy="5093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12">
                <a:latin typeface="Pretendard Variable"/>
              </a:defRPr>
            </a:pPr>
            <a:r>
              <a:rPr sz="1012" b="1">
                <a:solidFill>
                  <a:srgbClr val="1E3A8A"/>
                </a:solidFill>
                <a:latin typeface="Pretendard Variable"/>
              </a:rPr>
              <a:t>• 핵심 건물주 발기인단 구성 • 대상 필지 정밀 획정 (Boundary) • 지구별 도시 기본 현황 조사 실시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73423" y="3266479"/>
            <a:ext cx="622284" cy="345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FFFFFF"/>
                </a:solidFill>
                <a:latin typeface="Pretendard Variable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02017" y="3545879"/>
            <a:ext cx="2523585" cy="2628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50">
                <a:latin typeface="Pretendard Variable"/>
              </a:defRPr>
            </a:pPr>
            <a:r>
              <a:rPr sz="1350" b="1">
                <a:solidFill>
                  <a:srgbClr val="1E3A8A"/>
                </a:solidFill>
                <a:latin typeface="Pretendard Variable"/>
              </a:rPr>
              <a:t>📢 홍보 및 동의 획득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02017" y="3755429"/>
            <a:ext cx="979785" cy="2311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OUTREACH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02017" y="3971329"/>
            <a:ext cx="3071418" cy="5093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12">
                <a:latin typeface="Pretendard Variable"/>
              </a:defRPr>
            </a:pPr>
            <a:r>
              <a:rPr sz="1012" b="1">
                <a:solidFill>
                  <a:srgbClr val="1E3A8A"/>
                </a:solidFill>
                <a:latin typeface="Pretendard Variable"/>
              </a:rPr>
              <a:t>• 정기 공청회 및 건물주 서명회 • 소상공인 젠트리피케이션 대책 논의 • 과반수 동의율 확보 (서명 수집)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5847" y="3266479"/>
            <a:ext cx="622284" cy="345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FFFFFF"/>
                </a:solidFill>
                <a:latin typeface="Pretendard Variable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24441" y="3545879"/>
            <a:ext cx="2523585" cy="2628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50">
                <a:latin typeface="Pretendard Variable"/>
              </a:defRPr>
            </a:pPr>
            <a:r>
              <a:rPr sz="1350" b="1">
                <a:solidFill>
                  <a:srgbClr val="FFFFFF"/>
                </a:solidFill>
                <a:latin typeface="Pretendard Variable"/>
              </a:rPr>
              <a:t>⚖️ 공청회 및 입법화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4441" y="3755429"/>
            <a:ext cx="1050997" cy="2311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LEGISLATIVE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24441" y="3971329"/>
            <a:ext cx="3071418" cy="5093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12">
                <a:latin typeface="Pretendard Variable"/>
              </a:defRPr>
            </a:pPr>
            <a:r>
              <a:rPr sz="1012" b="1">
                <a:solidFill>
                  <a:srgbClr val="1E3A8A"/>
                </a:solidFill>
                <a:latin typeface="Pretendard Variable"/>
              </a:rPr>
              <a:t>• 시 정부 주관 공식 청문회 개최 • 법정 이의 신청서 접수 및 타당성 심사 • 시의회 최종 설립 조례안 통과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18272" y="3266479"/>
            <a:ext cx="622284" cy="345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FFFFFF"/>
                </a:solidFill>
                <a:latin typeface="Pretendard Variable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46866" y="3545879"/>
            <a:ext cx="2523585" cy="2628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50">
                <a:latin typeface="Pretendard Variable"/>
              </a:defRPr>
            </a:pPr>
            <a:r>
              <a:rPr sz="1350" b="1">
                <a:solidFill>
                  <a:srgbClr val="FFFFFF"/>
                </a:solidFill>
                <a:latin typeface="Pretendard Variable"/>
              </a:rPr>
              <a:t>🚀 법인 설립 및 출범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46866" y="3755429"/>
            <a:ext cx="878505" cy="2311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STARTUP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46866" y="3971329"/>
            <a:ext cx="3071418" cy="5093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12">
                <a:latin typeface="Pretendard Variable"/>
              </a:defRPr>
            </a:pPr>
            <a:r>
              <a:rPr sz="1012" b="1">
                <a:solidFill>
                  <a:srgbClr val="1E3A8A"/>
                </a:solidFill>
                <a:latin typeface="Pretendard Variable"/>
              </a:rPr>
              <a:t>• 비영리법인(DMA) 정식 법인 등기 • 시 재무국과 분담금 수납 위탁 계약 • 첫 특별부과금 징수 및 청소/보안 개시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92402" y="4795639"/>
            <a:ext cx="9986395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1E3A8A"/>
                </a:solidFill>
                <a:latin typeface="Pretendard Variable"/>
              </a:rPr>
              <a:t>▪ 기획부터 입법, 공청회 수렴까지 평균 수년의 소요 기간을 통해 사업 실행 시의 분쟁과 리스크를 선제 제어하는 로드맵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72955" y="2883495"/>
            <a:ext cx="1699678" cy="339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950">
                <a:latin typeface="Pretendard Variable"/>
              </a:defRPr>
            </a:pPr>
            <a:r>
              <a:rPr sz="1950" b="1">
                <a:solidFill>
                  <a:srgbClr val="0F172A"/>
                </a:solidFill>
                <a:latin typeface="Pretendard Variable"/>
              </a:rPr>
              <a:t>CHAPTER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36149" y="3220045"/>
            <a:ext cx="5973290" cy="63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4950">
                <a:latin typeface="Pretendard Variable"/>
              </a:defRPr>
            </a:pPr>
            <a:r>
              <a:rPr sz="4950" b="1">
                <a:solidFill>
                  <a:srgbClr val="0F172A"/>
                </a:solidFill>
                <a:latin typeface="Pretendard Variable"/>
              </a:rPr>
              <a:t>법적 판례와 실패/비판론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216818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1E3A8A"/>
                </a:solidFill>
                <a:latin typeface="Pretendard Variable"/>
              </a:rPr>
              <a:t>Kessler 판결: 1인 1표 원칙 예외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521618"/>
            <a:ext cx="10159746" cy="949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900">
                <a:latin typeface="Pretendard Variable"/>
              </a:defRPr>
            </a:pPr>
            <a:r>
              <a:rPr sz="3900" b="1">
                <a:solidFill>
                  <a:srgbClr val="1D1D1F"/>
                </a:solidFill>
                <a:latin typeface="Pretendard Variable"/>
              </a:rPr>
              <a:t>Kessler v. Grand Central DMA 판결이 인정한 부동산 소유자 편중 의결권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14537" y="2849959"/>
            <a:ext cx="2211689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FFFFFF"/>
                </a:solidFill>
                <a:latin typeface="Pretendard Variable"/>
              </a:rPr>
              <a:t>PLAINTIFF'S ARGUMENT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14537" y="3126184"/>
            <a:ext cx="619744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>
                <a:latin typeface="Pretendard Variable"/>
              </a:defRPr>
            </a:pPr>
            <a:r>
              <a:rPr sz="1800" b="1">
                <a:solidFill>
                  <a:srgbClr val="1E3A8A"/>
                </a:solidFill>
                <a:latin typeface="Pretendard Variable"/>
              </a:rPr>
              <a:t>원고: Kessler &amp; 지역 거주민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537" y="3405584"/>
            <a:ext cx="6197445" cy="2343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1E3A8A"/>
                </a:solidFill>
                <a:latin typeface="Pretendard Variable"/>
              </a:rPr>
              <a:t>헌법상 "1인 1표(One Person, One Vote)" 평등권 주장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22484" y="3808809"/>
            <a:ext cx="5808834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1E3A8A"/>
                </a:solidFill>
                <a:latin typeface="Pretendard Variable"/>
              </a:rPr>
              <a:t>⚖️ 수정헌법 제14조 평등권 침해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22484" y="3992959"/>
            <a:ext cx="5751150" cy="1866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>
                <a:solidFill>
                  <a:srgbClr val="1E3A8A"/>
                </a:solidFill>
                <a:latin typeface="Pretendard Variable"/>
              </a:rPr>
              <a:t>지구관리협회(DMA)는 세금을 징수하고 치안/미화를 집행하므로 사실상의 지방 행정 기구라고 주장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22484" y="4431109"/>
            <a:ext cx="5808834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1E3A8A"/>
                </a:solidFill>
                <a:latin typeface="Pretendard Variable"/>
              </a:rPr>
              <a:t>🚫 부동산 소유자 이사회 독점 반대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22484" y="4615259"/>
            <a:ext cx="5715253" cy="339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>
                <a:solidFill>
                  <a:srgbClr val="1E3A8A"/>
                </a:solidFill>
                <a:latin typeface="Pretendard Variable"/>
              </a:rPr>
              <a:t>소유주 지분 비율 과반을 강제한 조례는 주거용 세대와 일반 상인의 민주적 투표 지분을 훼손하여 불평등 유발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5240" y="2849959"/>
            <a:ext cx="2402422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FFFFFF"/>
                </a:solidFill>
                <a:latin typeface="Pretendard Variable"/>
              </a:rPr>
              <a:t>FEDERAL COURT DECISION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5240" y="3126184"/>
            <a:ext cx="504177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>
                <a:latin typeface="Pretendard Variable"/>
              </a:defRPr>
            </a:pPr>
            <a:r>
              <a:rPr sz="1800" b="1">
                <a:solidFill>
                  <a:srgbClr val="FFFFFF"/>
                </a:solidFill>
                <a:latin typeface="Pretendard Variable"/>
              </a:rPr>
              <a:t>연방 제2항소법원 판결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5240" y="3405584"/>
            <a:ext cx="6197445" cy="2343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1E3A8A"/>
                </a:solidFill>
                <a:latin typeface="Pretendard Variable"/>
              </a:rPr>
              <a:t>"제한 목적 특수 실체(Special/Limited Purpose Entity)" 인정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83187" y="3808809"/>
            <a:ext cx="5808834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93C5FD"/>
                </a:solidFill>
                <a:latin typeface="Pretendard Variable"/>
              </a:rPr>
              <a:t>🏛️ 일반 행정 공권력의 부재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3187" y="3992959"/>
            <a:ext cx="5413259" cy="1866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>
                <a:solidFill>
                  <a:srgbClr val="1E3A8A"/>
                </a:solidFill>
                <a:latin typeface="Pretendard Variable"/>
              </a:rPr>
              <a:t>BID는 형사법 집행, 교육, 조세율 결정 등 일반 시 정부 수준의 절대적 통제 권한이 없음을 선언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83187" y="4431109"/>
            <a:ext cx="4728726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93C5FD"/>
                </a:solidFill>
                <a:latin typeface="Pretendard Variable"/>
              </a:rPr>
              <a:t>🔑 비례적 책임/의결권 용인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83187" y="4615259"/>
            <a:ext cx="5781689" cy="339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>
                <a:solidFill>
                  <a:srgbClr val="1E3A8A"/>
                </a:solidFill>
                <a:latin typeface="Pretendard Variable"/>
              </a:rPr>
              <a:t>실질 세원 부담자인 부동산 소유자가 더 큰 리스크를 안고 있으므로, 1인 1표 헌법주의 예외 적용 합법 판결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57190" y="5466159"/>
            <a:ext cx="9752979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1E3A8A"/>
                </a:solidFill>
                <a:latin typeface="Pretendard Variable"/>
              </a:rPr>
              <a:t>▪ 자산 규모에 비례한 의결권 배분이 합헌임을 인정한 판례로, 투자 비례 효율성과 공공 책임성의 균형을 인정한 결정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739106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1E3A8A"/>
                </a:solidFill>
                <a:latin typeface="Pretendard Variable"/>
              </a:rPr>
              <a:t>로체스터시(2024) 설립 무산 실패기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2043906"/>
            <a:ext cx="10159746" cy="949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900">
                <a:latin typeface="Pretendard Variable"/>
              </a:defRPr>
            </a:pPr>
            <a:r>
              <a:rPr sz="3900" b="1">
                <a:solidFill>
                  <a:srgbClr val="1D1D1F"/>
                </a:solidFill>
                <a:latin typeface="Pretendard Variable"/>
              </a:rPr>
              <a:t>젠트리피케이션 및 저소득층 축출 우려로 무산된 사례 분석 (Rochester, 2024)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3738" y="3397646"/>
            <a:ext cx="1797540" cy="2216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825">
                <a:latin typeface="Pretendard Variable"/>
              </a:defRPr>
            </a:pPr>
            <a:r>
              <a:rPr sz="825" b="1">
                <a:solidFill>
                  <a:srgbClr val="FFFFFF"/>
                </a:solidFill>
                <a:latin typeface="Pretendard Variable"/>
              </a:rPr>
              <a:t>01. ECONOMIC BURDEN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63738" y="3604021"/>
            <a:ext cx="4002939" cy="2819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500">
                <a:latin typeface="Pretendard Variable"/>
              </a:defRPr>
            </a:pPr>
            <a:r>
              <a:rPr sz="1500" b="1">
                <a:solidFill>
                  <a:srgbClr val="1E3A8A"/>
                </a:solidFill>
                <a:latin typeface="Pretendard Variable"/>
              </a:rPr>
              <a:t>임대료 전가 및 이중과세 논란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3738" y="3896121"/>
            <a:ext cx="4002939" cy="6692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>
                <a:solidFill>
                  <a:srgbClr val="1E3A8A"/>
                </a:solidFill>
                <a:latin typeface="Pretendard Variable"/>
              </a:rPr>
              <a:t>• 특별부과금이 임대차 계약의 'NNN(Net Lease)' 조항에 의해 영세 임차 상인들에게 100% 전가되는 문제 발생. • 시 정부에 재산세를 이미 납부하고도 별도 청소/치안 부과금을 내야 하는 이중과세(Double Taxation) 저항 극대화.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54473" y="3397646"/>
            <a:ext cx="1805755" cy="2216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825">
                <a:latin typeface="Pretendard Variable"/>
              </a:defRPr>
            </a:pPr>
            <a:r>
              <a:rPr sz="825" b="1">
                <a:solidFill>
                  <a:srgbClr val="FFFFFF"/>
                </a:solidFill>
                <a:latin typeface="Pretendard Variable"/>
              </a:rPr>
              <a:t>02. SOCIAL EXCLUSION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54473" y="3604021"/>
            <a:ext cx="3273978" cy="2819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500">
                <a:latin typeface="Pretendard Variable"/>
              </a:defRPr>
            </a:pPr>
            <a:r>
              <a:rPr sz="1500" b="1">
                <a:solidFill>
                  <a:srgbClr val="1E3A8A"/>
                </a:solidFill>
                <a:latin typeface="Pretendard Variable"/>
              </a:rPr>
              <a:t>치안 사유화 및 취약층 축출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54473" y="3896121"/>
            <a:ext cx="4002939" cy="6692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>
                <a:solidFill>
                  <a:srgbClr val="1E3A8A"/>
                </a:solidFill>
                <a:latin typeface="Pretendard Variable"/>
              </a:rPr>
              <a:t>• 민간 BID 경비 인력들이 공공 광장 내의 노숙인 및 유색인종 빈곤층을 위압적으로 정화/축출하려 한다는 비판 직면. • 상류층 소비자를 위한 공공 공간의 인위적 사유화 및 차별적 정제 리스크에 대해 지역 커뮤니티 연대 반발.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45208" y="3397646"/>
            <a:ext cx="1942912" cy="2216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825">
                <a:latin typeface="Pretendard Variable"/>
              </a:defRPr>
            </a:pPr>
            <a:r>
              <a:rPr sz="825" b="1">
                <a:solidFill>
                  <a:srgbClr val="FFFFFF"/>
                </a:solidFill>
                <a:latin typeface="Pretendard Variable"/>
              </a:rPr>
              <a:t>03. DEMOCRATIC DEFICIT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45208" y="3604021"/>
            <a:ext cx="3273978" cy="2819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500">
                <a:latin typeface="Pretendard Variable"/>
              </a:defRPr>
            </a:pPr>
            <a:r>
              <a:rPr sz="1500" b="1">
                <a:solidFill>
                  <a:srgbClr val="FFFFFF"/>
                </a:solidFill>
                <a:latin typeface="Pretendard Variable"/>
              </a:rPr>
              <a:t>소통의 부재와 민주적 결핍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45208" y="3896121"/>
            <a:ext cx="4002939" cy="6692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>
                <a:solidFill>
                  <a:srgbClr val="1E3A8A"/>
                </a:solidFill>
                <a:latin typeface="Pretendard Variable"/>
              </a:rPr>
              <a:t>• 대형 디벨로퍼와 랜드마크 소유주 중심으로 계획이 은밀히 수립되어, **지역 소상공인과의 실질적 협의 및 의견 수렴 누락**. • 시의회가 로체스터 내 다수 소수계층 상인의 표심을 의식하여 **BID 설립 조례의 가결을 무기한 거부**하고 전면 백지화.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2772" y="4943871"/>
            <a:ext cx="9516884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1E3A8A"/>
                </a:solidFill>
                <a:latin typeface="Pretendard Variable"/>
              </a:rPr>
              <a:t>▪ 상업 젠트리피케이션 우려 및 저소득 세입자의 배제 문제를 해결하지 못해 지역 사회의 거센 반대로 무산된 사례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377453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1E3A8A"/>
                </a:solidFill>
                <a:latin typeface="Pretendard Variable"/>
              </a:rPr>
              <a:t>민주주의 결핍 등 구조적 비판 4선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682253"/>
            <a:ext cx="10159746" cy="5206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900">
                <a:latin typeface="Pretendard Variable"/>
              </a:defRPr>
            </a:pPr>
            <a:r>
              <a:rPr sz="3900" b="1">
                <a:solidFill>
                  <a:srgbClr val="1D1D1F"/>
                </a:solidFill>
                <a:latin typeface="Pretendard Variable"/>
              </a:rPr>
              <a:t>민주주의 결핍, 서비스 격차, 이중과세 논란, 공공공간의 사유화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73323" y="2567086"/>
            <a:ext cx="548626" cy="29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 b="1">
                <a:solidFill>
                  <a:srgbClr val="FFFFFF"/>
                </a:solidFill>
                <a:latin typeface="Pretendard Variable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52716" y="2582961"/>
            <a:ext cx="1352536" cy="2628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50">
                <a:latin typeface="Pretendard Variable"/>
              </a:defRPr>
            </a:pPr>
            <a:r>
              <a:rPr sz="1350" b="1">
                <a:solidFill>
                  <a:srgbClr val="1E3A8A"/>
                </a:solidFill>
                <a:latin typeface="Pretendard Variable"/>
              </a:rPr>
              <a:t>🗳️ 민주주의 결핍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5952" y="2524224"/>
            <a:ext cx="8088348" cy="3803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 b="1">
                <a:solidFill>
                  <a:srgbClr val="1E3A8A"/>
                </a:solidFill>
                <a:latin typeface="Pretendard Variable"/>
              </a:rPr>
              <a:t>토지 소유 비율에 따른 비례 의결권 제도로 인해, 대형 부동산 소유주 위주의 의결권 독점이 굳어져 소규모 영세 상인 및 현지 거주민의 발언권이 무시될 우려가 존재합니다.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73323" y="3262411"/>
            <a:ext cx="548626" cy="29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 b="1">
                <a:solidFill>
                  <a:srgbClr val="FFFFFF"/>
                </a:solidFill>
                <a:latin typeface="Pretendard Variable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52716" y="3278286"/>
            <a:ext cx="1666158" cy="2628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50">
                <a:latin typeface="Pretendard Variable"/>
              </a:defRPr>
            </a:pPr>
            <a:r>
              <a:rPr sz="1350" b="1">
                <a:solidFill>
                  <a:srgbClr val="1E3A8A"/>
                </a:solidFill>
                <a:latin typeface="Pretendard Variable"/>
              </a:rPr>
              <a:t>📈 서비스 격차 양극화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65952" y="3219549"/>
            <a:ext cx="8088348" cy="3803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 b="1">
                <a:solidFill>
                  <a:srgbClr val="1E3A8A"/>
                </a:solidFill>
                <a:latin typeface="Pretendard Variable"/>
              </a:rPr>
              <a:t>재원이 풍부한 고급 상업용 업무지구(BID)는 최고급 미화와 치안 혜택을 누리는 반면, 부유하지 못한 외곽 소외 지역은 기본적인 공공 청소 공백마저 노출되는 도시 공간의 비정상적 격차를 유발합니다.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73323" y="3957736"/>
            <a:ext cx="548626" cy="29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 b="1">
                <a:solidFill>
                  <a:srgbClr val="FFFFFF"/>
                </a:solidFill>
                <a:latin typeface="Pretendard Variable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52716" y="3973611"/>
            <a:ext cx="1352536" cy="2628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50">
                <a:latin typeface="Pretendard Variable"/>
              </a:defRPr>
            </a:pPr>
            <a:r>
              <a:rPr sz="1350" b="1">
                <a:solidFill>
                  <a:srgbClr val="FFFFFF"/>
                </a:solidFill>
                <a:latin typeface="Pretendard Variable"/>
              </a:rPr>
              <a:t>💸 이중과세 논란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65952" y="3914874"/>
            <a:ext cx="8088348" cy="3803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 b="1">
                <a:solidFill>
                  <a:srgbClr val="1E3A8A"/>
                </a:solidFill>
                <a:latin typeface="Pretendard Variable"/>
              </a:rPr>
              <a:t>시 당국에 재산세를 적정하게 완납하여 기본 공공 서비스를 받을 권리가 있음에도 불구하고, 보완 서비스라는 명목으로 별도의 특별부과금을 추가 납부함으로써 이중 부담에 따른 원천 반발 발생.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73323" y="4653061"/>
            <a:ext cx="548626" cy="29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 b="1">
                <a:solidFill>
                  <a:srgbClr val="FFFFFF"/>
                </a:solidFill>
                <a:latin typeface="Pretendard Variable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2716" y="4668936"/>
            <a:ext cx="1666158" cy="2628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50">
                <a:latin typeface="Pretendard Variable"/>
              </a:defRPr>
            </a:pPr>
            <a:r>
              <a:rPr sz="1350" b="1">
                <a:solidFill>
                  <a:srgbClr val="FFFFFF"/>
                </a:solidFill>
                <a:latin typeface="Pretendard Variable"/>
              </a:rPr>
              <a:t>🛡️ 공공 공간의 사유화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5952" y="4610199"/>
            <a:ext cx="8088348" cy="3803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 b="1">
                <a:solidFill>
                  <a:srgbClr val="1E3A8A"/>
                </a:solidFill>
                <a:latin typeface="Pretendard Variable"/>
              </a:rPr>
              <a:t>보도나 공원 등 누구나 누려야 하는 열린 공공 공간이 비영리 민간법인(DMA)의 마케팅 행사나 특정 단속권에 의해 독점 지배되며, 영세 노점상이나 노숙인 등을 인위적으로 정제 배제하는 부작용이 속출합니다.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99873" y="5305524"/>
            <a:ext cx="8879498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1E3A8A"/>
                </a:solidFill>
                <a:latin typeface="Pretendard Variable"/>
              </a:rPr>
              <a:t>▪ 부자 지역과 가난한 지역의 격차 심화 및 노숙인 배제 등 민간 효율성 추구에 따른 공적 형평성 훼손 쟁점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70365" y="2611139"/>
            <a:ext cx="1704857" cy="339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950">
                <a:latin typeface="Pretendard Variable"/>
              </a:defRPr>
            </a:pPr>
            <a:r>
              <a:rPr sz="1950" b="1">
                <a:solidFill>
                  <a:srgbClr val="0F172A"/>
                </a:solidFill>
                <a:latin typeface="Pretendard Variable"/>
              </a:rPr>
              <a:t>CHAPTER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45780" y="2947689"/>
            <a:ext cx="5954027" cy="11810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4950">
                <a:latin typeface="Pretendard Variable"/>
              </a:defRPr>
            </a:pPr>
            <a:r>
              <a:rPr sz="4950" b="1">
                <a:solidFill>
                  <a:srgbClr val="0F172A"/>
                </a:solidFill>
                <a:latin typeface="Pretendard Variable"/>
              </a:rPr>
              <a:t>뉴욕 현황 72개 BID의 생태계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247179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1E3A8A"/>
                </a:solidFill>
                <a:latin typeface="Pretendard Variable"/>
              </a:rPr>
              <a:t>뉴욕시 BID 생태계 현황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551979"/>
            <a:ext cx="10159746" cy="5206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900">
                <a:latin typeface="Pretendard Variable"/>
              </a:defRPr>
            </a:pPr>
            <a:r>
              <a:rPr sz="3900" b="1">
                <a:solidFill>
                  <a:srgbClr val="1D1D1F"/>
                </a:solidFill>
                <a:latin typeface="Pretendard Variable"/>
              </a:rPr>
              <a:t>SBS 행정 감독 하의 78개 지구 네트워크와 보충적 서비스 성과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14537" y="2425700"/>
            <a:ext cx="2274017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FFFFFF"/>
                </a:solidFill>
                <a:latin typeface="Pretendard Variable"/>
              </a:rPr>
              <a:t>NETWORK SCALE (FY25)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14537" y="2892425"/>
            <a:ext cx="985108" cy="2247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 b="1">
                <a:solidFill>
                  <a:srgbClr val="1E3A8A"/>
                </a:solidFill>
                <a:latin typeface="Pretendard Variable"/>
              </a:rPr>
              <a:t>총 운영 지구 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55018" y="2752725"/>
            <a:ext cx="1506326" cy="4152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2550">
                <a:latin typeface="Pretendard Variable"/>
              </a:defRPr>
            </a:pPr>
            <a:r>
              <a:rPr sz="2550" b="1">
                <a:solidFill>
                  <a:srgbClr val="1E3A8A"/>
                </a:solidFill>
                <a:latin typeface="Pretendard Variable"/>
              </a:rPr>
              <a:t>78개 지구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14537" y="3451225"/>
            <a:ext cx="1066822" cy="2247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 b="1">
                <a:solidFill>
                  <a:srgbClr val="1E3A8A"/>
                </a:solidFill>
                <a:latin typeface="Pretendard Variable"/>
              </a:rPr>
              <a:t>연간 자원 투입액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14458" y="3311525"/>
            <a:ext cx="2725138" cy="4152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2550">
                <a:latin typeface="Pretendard Variable"/>
              </a:defRPr>
            </a:pPr>
            <a:r>
              <a:rPr sz="2550" b="1">
                <a:solidFill>
                  <a:srgbClr val="1E3A8A"/>
                </a:solidFill>
                <a:latin typeface="Pretendard Variable"/>
              </a:rPr>
              <a:t>$2.16억 (약 3천억)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14537" y="4010024"/>
            <a:ext cx="1202054" cy="2247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 b="1">
                <a:solidFill>
                  <a:srgbClr val="1E3A8A"/>
                </a:solidFill>
                <a:latin typeface="Pretendard Variable"/>
              </a:rPr>
              <a:t>밀착 관리 가로 길이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2012" y="3870324"/>
            <a:ext cx="1945685" cy="4152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2550">
                <a:latin typeface="Pretendard Variable"/>
              </a:defRPr>
            </a:pPr>
            <a:r>
              <a:rPr sz="2550" b="1">
                <a:solidFill>
                  <a:srgbClr val="1E3A8A"/>
                </a:solidFill>
                <a:latin typeface="Pretendard Variable"/>
              </a:rPr>
              <a:t>320 Miles+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4537" y="4429125"/>
            <a:ext cx="5481480" cy="4533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>
                <a:solidFill>
                  <a:srgbClr val="1E3A8A"/>
                </a:solidFill>
                <a:latin typeface="Pretendard Variable"/>
              </a:rPr>
              <a:t>* 뉴욕시 소기업청(SBS)이 당연직 이사회 대표를 파견하여 거버넌스 및 계약 운영 투명성을 상시 감사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28281" y="2425700"/>
            <a:ext cx="3420560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FFFFFF"/>
                </a:solidFill>
                <a:latin typeface="Pretendard Variable"/>
              </a:rPr>
              <a:t>ANNUAL SUPPLEMENTAL SERVICE VALUE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36228" y="2860674"/>
            <a:ext cx="1557253" cy="4343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2700">
                <a:latin typeface="Pretendard Variable"/>
              </a:defRPr>
            </a:pPr>
            <a:r>
              <a:rPr sz="2700">
                <a:solidFill>
                  <a:srgbClr val="FFFFFF"/>
                </a:solidFill>
                <a:latin typeface="Pretendard Variable"/>
              </a:rPr>
              <a:t>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36228" y="3254375"/>
            <a:ext cx="1557253" cy="3009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650">
                <a:latin typeface="Pretendard Variable"/>
              </a:defRPr>
            </a:pPr>
            <a:r>
              <a:rPr sz="1650" b="1">
                <a:solidFill>
                  <a:srgbClr val="93C5FD"/>
                </a:solidFill>
                <a:latin typeface="Pretendard Variable"/>
              </a:rPr>
              <a:t>400만 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36228" y="3489324"/>
            <a:ext cx="187183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>
                <a:solidFill>
                  <a:srgbClr val="1E3A8A"/>
                </a:solidFill>
                <a:latin typeface="Pretendard Variable"/>
              </a:rPr>
              <a:t>연간 쓰레기봉투 수거 및 가로 위생 정비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03319" y="2860674"/>
            <a:ext cx="1557253" cy="4343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2700">
                <a:latin typeface="Pretendard Variable"/>
              </a:defRPr>
            </a:pPr>
            <a:r>
              <a:rPr sz="2700">
                <a:solidFill>
                  <a:srgbClr val="FFFFFF"/>
                </a:solidFill>
                <a:latin typeface="Pretendard Variable"/>
              </a:rPr>
              <a:t>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03319" y="3254375"/>
            <a:ext cx="1557253" cy="3009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650">
                <a:latin typeface="Pretendard Variable"/>
              </a:defRPr>
            </a:pPr>
            <a:r>
              <a:rPr sz="1650" b="1">
                <a:solidFill>
                  <a:srgbClr val="93C5FD"/>
                </a:solidFill>
                <a:latin typeface="Pretendard Variable"/>
              </a:rPr>
              <a:t>448,000건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03319" y="3489324"/>
            <a:ext cx="187183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>
                <a:solidFill>
                  <a:srgbClr val="1E3A8A"/>
                </a:solidFill>
                <a:latin typeface="Pretendard Variable"/>
              </a:rPr>
              <a:t>노상 낙서 신속 제거 및 도시 가로 경관 정화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70410" y="2860674"/>
            <a:ext cx="1557253" cy="4343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2700">
                <a:latin typeface="Pretendard Variable"/>
              </a:defRPr>
            </a:pPr>
            <a:r>
              <a:rPr sz="2700">
                <a:solidFill>
                  <a:srgbClr val="FFFFFF"/>
                </a:solidFill>
                <a:latin typeface="Pretendard Variable"/>
              </a:rPr>
              <a:t>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70410" y="3254375"/>
            <a:ext cx="1557253" cy="3009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650">
                <a:latin typeface="Pretendard Variable"/>
              </a:defRPr>
            </a:pPr>
            <a:r>
              <a:rPr sz="1650" b="1">
                <a:solidFill>
                  <a:srgbClr val="93C5FD"/>
                </a:solidFill>
                <a:latin typeface="Pretendard Variable"/>
              </a:rPr>
              <a:t>4,092건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70410" y="3489324"/>
            <a:ext cx="187183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>
                <a:solidFill>
                  <a:srgbClr val="1E3A8A"/>
                </a:solidFill>
                <a:latin typeface="Pretendard Variable"/>
              </a:rPr>
              <a:t>가로 축제 및 공공 행사 개최 (참가자 1,470만명)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28281" y="4559300"/>
            <a:ext cx="6821971" cy="3232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>
                <a:solidFill>
                  <a:srgbClr val="1E3A8A"/>
                </a:solidFill>
                <a:latin typeface="Pretendard Variable"/>
              </a:rPr>
              <a:t>* 시 예산 지원 없이 민간 부동산 소유자들의 자기 과세 재원만으로 달성한 순수 증분 성과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62022" y="5210174"/>
            <a:ext cx="10815585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1E3A8A"/>
                </a:solidFill>
                <a:latin typeface="Pretendard Variable"/>
              </a:rPr>
              <a:t>▪ 뉴욕시는 미국 내에서 가장 방대하고 조직화된 BID 네트워크를 구축하여 도시 위생 및 치안 공백을 민간 자조로 보완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62022" y="5435897"/>
            <a:ext cx="10815585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1E3A8A"/>
                </a:solidFill>
                <a:latin typeface="Pretendard Variable"/>
              </a:rPr>
              <a:t>▪ 모든 BID 이사회에 시장을 대리하는 당연직 인원을 배치하여 민주적 책임성과 투명한 기금 감사를 확보하는 이중 거버넌스 구현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069181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1E3A8A"/>
                </a:solidFill>
                <a:latin typeface="Pretendard Variable"/>
              </a:rPr>
              <a:t>맨해튼 주요 BID 재무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373981"/>
            <a:ext cx="10159746" cy="5206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900">
                <a:latin typeface="Pretendard Variable"/>
              </a:defRPr>
            </a:pPr>
            <a:r>
              <a:rPr sz="3900" b="1">
                <a:solidFill>
                  <a:srgbClr val="1D1D1F"/>
                </a:solidFill>
                <a:latin typeface="Pretendard Variable"/>
              </a:rPr>
              <a:t>5대 핵심 지구의 지출 규모 대조 및 비즈니스 모델 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5974" y="2146101"/>
            <a:ext cx="10159746" cy="2628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50">
                <a:latin typeface="Pretendard Variable"/>
              </a:defRPr>
            </a:pPr>
            <a:r>
              <a:rPr sz="1350" b="1">
                <a:solidFill>
                  <a:srgbClr val="1E3A8A"/>
                </a:solidFill>
                <a:latin typeface="Pretendard Variable"/>
              </a:rPr>
              <a:t>Bryant Park Corp.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5974" y="2317551"/>
            <a:ext cx="10159746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BUSINESS SELF-SUFFICIENT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5974" y="2225476"/>
            <a:ext cx="10159746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$2,965만 / 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5974" y="2224682"/>
            <a:ext cx="10159746" cy="2200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12">
                <a:latin typeface="Pretendard Variable"/>
              </a:defRPr>
            </a:pPr>
            <a:r>
              <a:rPr sz="1012" b="1">
                <a:solidFill>
                  <a:srgbClr val="1E3A8A"/>
                </a:solidFill>
                <a:latin typeface="Pretendard Variable"/>
              </a:rPr>
              <a:t>🎭 겨울장터, 식음료, 브랜딩 결합 수익모델 극대화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76358" y="2762051"/>
            <a:ext cx="3568610" cy="2628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50">
                <a:latin typeface="Pretendard Variable"/>
              </a:defRPr>
            </a:pPr>
            <a:r>
              <a:rPr sz="1350" b="1">
                <a:solidFill>
                  <a:srgbClr val="1E3A8A"/>
                </a:solidFill>
                <a:latin typeface="Pretendard Variable"/>
              </a:rPr>
              <a:t>Times Square Alliance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76358" y="2933501"/>
            <a:ext cx="3568610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GLOBAL BRANDING &amp; PATROL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37831" y="2841426"/>
            <a:ext cx="879800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$2,707만 / 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91383" y="2840632"/>
            <a:ext cx="3966329" cy="2200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12">
                <a:latin typeface="Pretendard Variable"/>
              </a:defRPr>
            </a:pPr>
            <a:r>
              <a:rPr sz="1012" b="1">
                <a:solidFill>
                  <a:srgbClr val="1E3A8A"/>
                </a:solidFill>
                <a:latin typeface="Pretendard Variable"/>
              </a:rPr>
              <a:t>🚨 치안·미화 및 글로벌 새해 행사 중심 브랜딩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76358" y="3378001"/>
            <a:ext cx="3568610" cy="2628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50">
                <a:latin typeface="Pretendard Variable"/>
              </a:defRPr>
            </a:pPr>
            <a:r>
              <a:rPr sz="1350" b="1">
                <a:solidFill>
                  <a:srgbClr val="1E3A8A"/>
                </a:solidFill>
                <a:latin typeface="Pretendard Variable"/>
              </a:rPr>
              <a:t>Downtown Alliance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76358" y="3549451"/>
            <a:ext cx="3568610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RESIDENTIAL SHIFT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26163" y="3457376"/>
            <a:ext cx="893611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$2,263만 / 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1383" y="3456582"/>
            <a:ext cx="3966329" cy="2200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12">
                <a:latin typeface="Pretendard Variable"/>
              </a:defRPr>
            </a:pPr>
            <a:r>
              <a:rPr sz="1012" b="1">
                <a:solidFill>
                  <a:srgbClr val="1E3A8A"/>
                </a:solidFill>
                <a:latin typeface="Pretendard Variable"/>
              </a:rPr>
              <a:t>🏙️ 예산 60% 위생·안전 투입, 하부 주거인구 5배 견인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76358" y="3993951"/>
            <a:ext cx="3568610" cy="2628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50">
                <a:latin typeface="Pretendard Variable"/>
              </a:defRPr>
            </a:pPr>
            <a:r>
              <a:rPr sz="1350" b="1">
                <a:solidFill>
                  <a:srgbClr val="1E3A8A"/>
                </a:solidFill>
                <a:latin typeface="Pretendard Variable"/>
              </a:rPr>
              <a:t>34th Street Partnership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76358" y="4165401"/>
            <a:ext cx="3568610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MIDTOWN COMMERCIAL CORE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5211" y="4073326"/>
            <a:ext cx="859227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$1,541만 / 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91383" y="4072532"/>
            <a:ext cx="3966329" cy="2200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12">
                <a:latin typeface="Pretendard Variable"/>
              </a:defRPr>
            </a:pPr>
            <a:r>
              <a:rPr sz="1012" b="1">
                <a:solidFill>
                  <a:srgbClr val="1E3A8A"/>
                </a:solidFill>
                <a:latin typeface="Pretendard Variable"/>
              </a:rPr>
              <a:t>🏢 미드타운 상업축 관리, BP와 공동 경영진 공유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76358" y="4609901"/>
            <a:ext cx="3568610" cy="2628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50">
                <a:latin typeface="Pretendard Variable"/>
              </a:defRPr>
            </a:pPr>
            <a:r>
              <a:rPr sz="1350" b="1">
                <a:solidFill>
                  <a:srgbClr val="1E3A8A"/>
                </a:solidFill>
                <a:latin typeface="Pretendard Variable"/>
              </a:rPr>
              <a:t>Grand Central Partnership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76358" y="4781351"/>
            <a:ext cx="3568610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LANDSCAPE BONDING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5367" y="4689276"/>
            <a:ext cx="870880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$1,307만 / 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1383" y="4688482"/>
            <a:ext cx="3966329" cy="2200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12">
                <a:latin typeface="Pretendard Variable"/>
              </a:defRPr>
            </a:pPr>
            <a:r>
              <a:rPr sz="1012" b="1">
                <a:solidFill>
                  <a:srgbClr val="1E3A8A"/>
                </a:solidFill>
                <a:latin typeface="Pretendard Variable"/>
              </a:rPr>
              <a:t>🏛️ 미국 최초로 채권을 활용한 가로경관 선투자 개선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0926" y="5213151"/>
            <a:ext cx="11683707" cy="44128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1E3A8A"/>
                </a:solidFill>
                <a:latin typeface="Pretendard Variable"/>
              </a:rPr>
              <a:t>▪ 맨해튼 미드타운 및 다운타운 일대의 주요 대형 지구들은 단일 BID당 중소도시 전체에 맞먹는 대규모 재정을 가동하여 독자적 행정 지원 제공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20926" y="5613796"/>
            <a:ext cx="11683707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1E3A8A"/>
                </a:solidFill>
                <a:latin typeface="Pretendard Variable"/>
              </a:rPr>
              <a:t>▪ 단순 환경 미화를 뛰어넘어 공공 채권 발행, 인프라 선투자, 공원 상업 앵커 유치 등 고도의 금융 및 리테일 융합 기법 도입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769467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1E3A8A"/>
                </a:solidFill>
                <a:latin typeface="Pretendard Variable"/>
              </a:rPr>
              <a:t>BID 작동 메커니즘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2074267"/>
            <a:ext cx="10159746" cy="5206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900">
                <a:latin typeface="Pretendard Variable"/>
              </a:defRPr>
            </a:pPr>
            <a:r>
              <a:rPr sz="3900" b="1">
                <a:solidFill>
                  <a:srgbClr val="1D1D1F"/>
                </a:solidFill>
                <a:latin typeface="Pretendard Variable"/>
              </a:rPr>
              <a:t>부동산 소유주 자기 과세 기반의 민관협력 자금 순환 구조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78403" y="4687887"/>
            <a:ext cx="10396614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1E3A8A"/>
                </a:solidFill>
                <a:latin typeface="Pretendard Variable"/>
              </a:rPr>
              <a:t>▪ 지방정부는 징수 수수료를 전혀 취하지 않으며, 수납된 기금 전액은 구역의 이익 환원을 위해 해당 지구에 100% 반환 보장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78403" y="4913610"/>
            <a:ext cx="10396614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1E3A8A"/>
                </a:solidFill>
                <a:latin typeface="Pretendard Variable"/>
              </a:rPr>
              <a:t>▪ 소유자가 직접 낸 만큼 혜택이 돌아가도록 공법상의 강제 징수력과 민간의 자율 경영 기법을 결합시킨 정교한 PPP 루프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713745" y="2883495"/>
            <a:ext cx="1018197" cy="339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950">
                <a:latin typeface="Pretendard Variable"/>
              </a:defRPr>
            </a:pPr>
            <a:r>
              <a:rPr sz="1950">
                <a:solidFill>
                  <a:srgbClr val="FFFFFF"/>
                </a:solidFill>
                <a:latin typeface="Pretendard Variable"/>
              </a:rPr>
              <a:t>PART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-827523" y="3220045"/>
            <a:ext cx="14100735" cy="63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4950">
                <a:latin typeface="Pretendard Variable"/>
              </a:defRPr>
            </a:pPr>
            <a:r>
              <a:rPr sz="4950" b="1">
                <a:solidFill>
                  <a:srgbClr val="FFFFFF"/>
                </a:solidFill>
                <a:latin typeface="Pretendard Variable"/>
              </a:rPr>
              <a:t>허드슨야드의 메가스케일 공공-민간 협력(PPP)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93073" y="2883495"/>
            <a:ext cx="1659540" cy="339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950">
                <a:latin typeface="Pretendard Variable"/>
              </a:defRPr>
            </a:pPr>
            <a:r>
              <a:rPr sz="1950" b="1">
                <a:solidFill>
                  <a:srgbClr val="0F172A"/>
                </a:solidFill>
                <a:latin typeface="Pretendard Variable"/>
              </a:rPr>
              <a:t>CHAPTER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76475" y="3220045"/>
            <a:ext cx="6492638" cy="63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4950">
                <a:latin typeface="Pretendard Variable"/>
              </a:defRPr>
            </a:pPr>
            <a:r>
              <a:rPr sz="4950" b="1">
                <a:solidFill>
                  <a:srgbClr val="0F172A"/>
                </a:solidFill>
                <a:latin typeface="Pretendard Variable"/>
              </a:rPr>
              <a:t>메가 PPP 개발과 파이낸싱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4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812428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1E3A8A"/>
                </a:solidFill>
                <a:latin typeface="Pretendard Variable"/>
              </a:rPr>
              <a:t>허드슨야드 PPP 개발 거버넌스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2117228"/>
            <a:ext cx="10159746" cy="5206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900">
                <a:latin typeface="Pretendard Variable"/>
              </a:defRPr>
            </a:pPr>
            <a:r>
              <a:rPr sz="3900" b="1">
                <a:solidFill>
                  <a:srgbClr val="1D1D1F"/>
                </a:solidFill>
                <a:latin typeface="Pretendard Variable"/>
              </a:rPr>
              <a:t>북미 최대 250억 달러 민간 개발과 공공 인프라 결합 거버넌스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5519" y="4870549"/>
            <a:ext cx="9218997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1E3A8A"/>
                </a:solidFill>
                <a:latin typeface="Pretendard Variable"/>
              </a:rPr>
              <a:t>▪ 초대형 개발 사업의 인허가 및 금융 리스크를 지자체(MTA/NYC)와 민간 디벨로퍼가 분산 매핑한 협력 체계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792386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1E3A8A"/>
                </a:solidFill>
                <a:latin typeface="Pretendard Variable"/>
              </a:rPr>
              <a:t>지하철 7호선 연장선 ISP &amp; PILOT 채권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2097186"/>
            <a:ext cx="10159746" cy="949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900">
                <a:latin typeface="Pretendard Variable"/>
              </a:defRPr>
            </a:pPr>
            <a:r>
              <a:rPr sz="3900" b="1">
                <a:solidFill>
                  <a:srgbClr val="1D1D1F"/>
                </a:solidFill>
                <a:latin typeface="Pretendard Variable"/>
              </a:rPr>
              <a:t>미래 세수를 담보로 한 30억 달러 채권 발행과 선제적 인프라 선투자 구조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4828" y="3171527"/>
            <a:ext cx="58545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FFFFFF"/>
                </a:solidFill>
                <a:latin typeface="Pretendard Variable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79593" y="3400127"/>
            <a:ext cx="2523585" cy="2533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75">
                <a:latin typeface="Pretendard Variable"/>
              </a:defRPr>
            </a:pPr>
            <a:r>
              <a:rPr sz="1275" b="1">
                <a:solidFill>
                  <a:srgbClr val="0F172A"/>
                </a:solidFill>
                <a:latin typeface="Pretendard Variable"/>
              </a:rPr>
              <a:t>🎫 HYIC 채권 발행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79593" y="3612852"/>
            <a:ext cx="3071418" cy="5093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12">
                <a:latin typeface="Pretendard Variable"/>
              </a:defRPr>
            </a:pPr>
            <a:r>
              <a:rPr sz="1012" b="1">
                <a:solidFill>
                  <a:srgbClr val="1E3A8A"/>
                </a:solidFill>
                <a:latin typeface="Pretendard Variable"/>
              </a:rPr>
              <a:t>• 뉴욕시 보증 특수 법인 **HYIC** 설립 • 총 **30억 달러 전용 채권** 발행 (2006년 20억$, 2011년 10억$ 분할 발행)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67253" y="3171527"/>
            <a:ext cx="58545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FFFFFF"/>
                </a:solidFill>
                <a:latin typeface="Pretendard Variable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2017" y="3400127"/>
            <a:ext cx="2523585" cy="2533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75">
                <a:latin typeface="Pretendard Variable"/>
              </a:defRPr>
            </a:pPr>
            <a:r>
              <a:rPr sz="1275" b="1">
                <a:solidFill>
                  <a:srgbClr val="0F172A"/>
                </a:solidFill>
                <a:latin typeface="Pretendard Variable"/>
              </a:rPr>
              <a:t>🚇 지하철 7호선 선투자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02017" y="3612852"/>
            <a:ext cx="3071418" cy="5093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12">
                <a:latin typeface="Pretendard Variable"/>
              </a:defRPr>
            </a:pPr>
            <a:r>
              <a:rPr sz="1012" b="1">
                <a:solidFill>
                  <a:srgbClr val="1E3A8A"/>
                </a:solidFill>
                <a:latin typeface="Pretendard Variable"/>
              </a:rPr>
              <a:t>• 사업비: 당초 21억$ ➔ **24억 달러** 증액 • 타임스스퀘어 ~ 34번가-11번가(2.4km) 노선 신설 및 2015년 9월 선제 개통 완료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89677" y="3171527"/>
            <a:ext cx="58545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FFFFFF"/>
                </a:solidFill>
                <a:latin typeface="Pretendard Variable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24441" y="3400127"/>
            <a:ext cx="2523585" cy="2533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75">
                <a:latin typeface="Pretendard Variable"/>
              </a:defRPr>
            </a:pPr>
            <a:r>
              <a:rPr sz="1275" b="1">
                <a:solidFill>
                  <a:srgbClr val="93C5FD"/>
                </a:solidFill>
                <a:latin typeface="Pretendard Variable"/>
              </a:rPr>
              <a:t>📊 다각화된 미래 세원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4441" y="3612852"/>
            <a:ext cx="3071418" cy="6486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12">
                <a:latin typeface="Pretendard Variable"/>
              </a:defRPr>
            </a:pPr>
            <a:r>
              <a:rPr sz="1012" b="1">
                <a:solidFill>
                  <a:srgbClr val="1E3A8A"/>
                </a:solidFill>
                <a:latin typeface="Pretendard Variable"/>
              </a:rPr>
              <a:t>• 상업용지: **PILOT** (재산세 대체납부) • 주거용지: **TEP** (세수 균등금) • 용적률 보너스(**DIB**) 및 개발권(**TDR**) 매각 대금을 연동하여 전액 상환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12102" y="3171527"/>
            <a:ext cx="58545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FFFFFF"/>
                </a:solidFill>
                <a:latin typeface="Pretendard Variable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46866" y="3400127"/>
            <a:ext cx="2523585" cy="2533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75">
                <a:latin typeface="Pretendard Variable"/>
              </a:defRPr>
            </a:pPr>
            <a:r>
              <a:rPr sz="1275" b="1">
                <a:solidFill>
                  <a:srgbClr val="1E3A8A"/>
                </a:solidFill>
                <a:latin typeface="Pretendard Variable"/>
              </a:rPr>
              <a:t>💰 이자지원보증 (ISP)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46866" y="3612852"/>
            <a:ext cx="3071418" cy="7879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12">
                <a:latin typeface="Pretendard Variable"/>
              </a:defRPr>
            </a:pPr>
            <a:r>
              <a:rPr sz="1012" b="1">
                <a:solidFill>
                  <a:srgbClr val="1E3A8A"/>
                </a:solidFill>
                <a:latin typeface="Pretendard Variable"/>
              </a:rPr>
              <a:t>• 개발 초기 증분 세수 부족 시 뉴욕시가 **ISP(Interest Support Payments)**를 자동 지급 • 채권 원리금 상환 신용을 보강하여 조달 금리 인하 및 안정성 확보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0926" y="4715767"/>
            <a:ext cx="11683707" cy="44128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1E3A8A"/>
                </a:solidFill>
                <a:latin typeface="Pretendard Variable"/>
              </a:rPr>
              <a:t>▪ 미래의 세수(PILOT/TEP)와 용적률 보너스(DIB)를 상환 재원으로 채권을 선발행하여 교통망을 우선 확충하고, 세수 부족 시 시(市)가 이자지원(ISP)을 보증한 밸류 캡처 메커니즘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437778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1E3A8A"/>
                </a:solidFill>
                <a:latin typeface="Pretendard Variable"/>
              </a:rPr>
              <a:t>DIB(보너스) &amp; TDR(개발권) 작동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742578"/>
            <a:ext cx="10159746" cy="5206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900">
                <a:latin typeface="Pretendard Variable"/>
              </a:defRPr>
            </a:pPr>
            <a:r>
              <a:rPr sz="3900" b="1">
                <a:solidFill>
                  <a:srgbClr val="1D1D1F"/>
                </a:solidFill>
                <a:latin typeface="Pretendard Variable"/>
              </a:rPr>
              <a:t>디벨로퍼의 용적률 매입 대금으로 공원과 도로를 정비하는 선순환 구조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3738" y="2641699"/>
            <a:ext cx="3187322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FFFFFF"/>
                </a:solidFill>
                <a:latin typeface="Pretendard Variable"/>
              </a:rPr>
              <a:t>DISTRICT IMPROVEMENT BONUS (DIB)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63738" y="2917924"/>
            <a:ext cx="619744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>
                <a:latin typeface="Pretendard Variable"/>
              </a:defRPr>
            </a:pPr>
            <a:r>
              <a:rPr sz="1800" b="1">
                <a:solidFill>
                  <a:srgbClr val="1E3A8A"/>
                </a:solidFill>
                <a:latin typeface="Pretendard Variable"/>
              </a:rPr>
              <a:t>지구 개선 보너스 용적률 매입식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71685" y="3430686"/>
            <a:ext cx="1208384" cy="2343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1E3A8A"/>
                </a:solidFill>
                <a:latin typeface="Pretendard Variable"/>
              </a:rPr>
              <a:t>💰 초기 기준 가격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26037" y="3406874"/>
            <a:ext cx="2471001" cy="2819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500">
                <a:latin typeface="Pretendard Variable"/>
              </a:defRPr>
            </a:pPr>
            <a:r>
              <a:rPr sz="1500" b="1">
                <a:solidFill>
                  <a:srgbClr val="1E3A8A"/>
                </a:solidFill>
                <a:latin typeface="Pretendard Variable"/>
              </a:rPr>
              <a:t>$100 / SF (평방피트당)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71685" y="3919636"/>
            <a:ext cx="1208384" cy="2343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1E3A8A"/>
                </a:solidFill>
                <a:latin typeface="Pretendard Variable"/>
              </a:rPr>
              <a:t>📈 물가 지수 연동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01987" y="3914874"/>
            <a:ext cx="3234291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1E3A8A"/>
                </a:solidFill>
                <a:latin typeface="Pretendard Variable"/>
              </a:rPr>
              <a:t>CPI 지수 기준 가격 에스컬레이터 자동 반영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71685" y="4384774"/>
            <a:ext cx="4728726" cy="2247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 b="1">
                <a:solidFill>
                  <a:srgbClr val="93C5FD"/>
                </a:solidFill>
                <a:latin typeface="Pretendard Variable"/>
              </a:rPr>
              <a:t>🌳 징수 재원의 사용처 지정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71685" y="4543524"/>
            <a:ext cx="5808834" cy="215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>
                <a:solidFill>
                  <a:srgbClr val="1E3A8A"/>
                </a:solidFill>
                <a:latin typeface="Pretendard Variable"/>
              </a:rPr>
              <a:t>지구 내 공원(Bella Abzug Park) 조성, 가로 시설물 정비, 보행 인도 환경 정비 펀드로만 전용 귀속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6039" y="2641699"/>
            <a:ext cx="3594684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FFFFFF"/>
                </a:solidFill>
                <a:latin typeface="Pretendard Variable"/>
              </a:rPr>
              <a:t>TRANSFER OF DEVELOPMENT RIGHTS (TDR)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6039" y="2917924"/>
            <a:ext cx="619744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>
                <a:latin typeface="Pretendard Variable"/>
              </a:defRPr>
            </a:pPr>
            <a:r>
              <a:rPr sz="1800" b="1">
                <a:solidFill>
                  <a:srgbClr val="FFFFFF"/>
                </a:solidFill>
                <a:latin typeface="Pretendard Variable"/>
              </a:rPr>
              <a:t>MTA 차량기지 공중권 매각 구조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6039" y="4213324"/>
            <a:ext cx="6197445" cy="3700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12">
                <a:latin typeface="Pretendard Variable"/>
              </a:defRPr>
            </a:pPr>
            <a:r>
              <a:rPr sz="1012" b="1">
                <a:solidFill>
                  <a:srgbClr val="1E3A8A"/>
                </a:solidFill>
                <a:latin typeface="Pretendard Variable"/>
              </a:rPr>
              <a:t>MTA는 차량기지 지상의 남은 공중권(TDR)을 인근 민간 필지에 매각하여, 뉴욕시 재정 지원이나 부채 없이 **차량기지 자체 현대화 공사 자금**을 성공적으로 조달했습니다.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85368" y="5245199"/>
            <a:ext cx="9651540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1E3A8A"/>
                </a:solidFill>
                <a:latin typeface="Pretendard Variable"/>
              </a:rPr>
              <a:t>▪ 증가하는 용적률 대금을 지구 공공 개선 기금으로 직접 연계하여 상업 개발과 인프라 개선을 일체화시킨 메커니즘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76385" y="2883495"/>
            <a:ext cx="1692917" cy="339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950">
                <a:latin typeface="Pretendard Variable"/>
              </a:defRPr>
            </a:pPr>
            <a:r>
              <a:rPr sz="1950" b="1">
                <a:solidFill>
                  <a:srgbClr val="0F172A"/>
                </a:solidFill>
                <a:latin typeface="Pretendard Variable"/>
              </a:rPr>
              <a:t>CHAPTER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12732" y="3220045"/>
            <a:ext cx="4820224" cy="63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4950">
                <a:latin typeface="Pretendard Variable"/>
              </a:defRPr>
            </a:pPr>
            <a:r>
              <a:rPr sz="4950" b="1">
                <a:solidFill>
                  <a:srgbClr val="0F172A"/>
                </a:solidFill>
                <a:latin typeface="Pretendard Variable"/>
              </a:rPr>
              <a:t>공간 운영 관리 체계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253232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1E3A8A"/>
                </a:solidFill>
                <a:latin typeface="Pretendard Variable"/>
              </a:rPr>
              <a:t>NYC-Related-HYHK BID 3각 공조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558032"/>
            <a:ext cx="10159746" cy="949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900">
                <a:latin typeface="Pretendard Variable"/>
              </a:defRPr>
            </a:pPr>
            <a:r>
              <a:rPr sz="3900" b="1">
                <a:solidFill>
                  <a:srgbClr val="1D1D1F"/>
                </a:solidFill>
                <a:latin typeface="Pretendard Variable"/>
              </a:rPr>
              <a:t>공공 인허가, 민간 개발, 장기 운영이 결합된 지속가능한 거버넌스 3각 공조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00966" y="2743497"/>
            <a:ext cx="2243656" cy="2390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62">
                <a:latin typeface="Pretendard Variable"/>
              </a:defRPr>
            </a:pPr>
            <a:r>
              <a:rPr sz="1162" b="1">
                <a:solidFill>
                  <a:srgbClr val="1E3A8A"/>
                </a:solidFill>
                <a:latin typeface="Pretendard Variable"/>
              </a:rPr>
              <a:t>🏛️ 뉴욕시 (SBS + 도시계획)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52370" y="2916535"/>
            <a:ext cx="1940948" cy="21050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37">
                <a:latin typeface="Pretendard Variable"/>
              </a:defRPr>
            </a:pPr>
            <a:r>
              <a:rPr sz="937" b="1">
                <a:solidFill>
                  <a:srgbClr val="1E3A8A"/>
                </a:solidFill>
                <a:latin typeface="Pretendard Variable"/>
              </a:rPr>
              <a:t>인허가 · 감독 · 공공 인프라 투자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61655" y="3897610"/>
            <a:ext cx="3090170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>
                <a:latin typeface="Pretendard Variable"/>
              </a:defRPr>
            </a:pPr>
            <a:r>
              <a:rPr sz="1200" b="1">
                <a:solidFill>
                  <a:srgbClr val="1E3A8A"/>
                </a:solidFill>
                <a:latin typeface="Pretendard Variable"/>
              </a:rPr>
              <a:t>🏗️ 민간 디벨로퍼 (Related + Oxford)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68104" y="4075410"/>
            <a:ext cx="2677271" cy="215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75">
                <a:latin typeface="Pretendard Variable"/>
              </a:defRPr>
            </a:pPr>
            <a:r>
              <a:rPr sz="975" b="1">
                <a:solidFill>
                  <a:srgbClr val="1E3A8A"/>
                </a:solidFill>
                <a:latin typeface="Pretendard Variable"/>
              </a:rPr>
              <a:t>28에이커 캠퍼스 복합 개발 ($250억 투자)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40214" y="4211935"/>
            <a:ext cx="2533150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오피스 타워, 숍스, 에퀴녹스, Vessel 등 설치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75538" y="3895228"/>
            <a:ext cx="2526720" cy="24860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37">
                <a:latin typeface="Pretendard Variable"/>
              </a:defRPr>
            </a:pPr>
            <a:r>
              <a:rPr sz="1237" b="1">
                <a:solidFill>
                  <a:srgbClr val="93C5FD"/>
                </a:solidFill>
                <a:latin typeface="Pretendard Variable"/>
              </a:rPr>
              <a:t>🧹 지구관리협회 (HYHK BID)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44325" y="4077791"/>
            <a:ext cx="2589048" cy="215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75">
                <a:latin typeface="Pretendard Variable"/>
              </a:defRPr>
            </a:pPr>
            <a:r>
              <a:rPr sz="975" b="1">
                <a:solidFill>
                  <a:srgbClr val="1E3A8A"/>
                </a:solidFill>
                <a:latin typeface="Pretendard Variable"/>
              </a:rPr>
              <a:t>기부채납 공원 및 공공 공간 일상 운영 위탁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70934" y="4214316"/>
            <a:ext cx="2535828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청소 · 보안 · 조경 및 문화 프로그램 기획·운영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5380" y="4727872"/>
            <a:ext cx="3254829" cy="2247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50">
                <a:latin typeface="Pretendard Variable"/>
              </a:defRPr>
            </a:pPr>
            <a:r>
              <a:rPr sz="1050" b="1">
                <a:solidFill>
                  <a:srgbClr val="1E3A8A"/>
                </a:solidFill>
                <a:latin typeface="Pretendard Variable"/>
              </a:rPr>
              <a:t>👥 토지/재산 소유자 + 임차인 (앵커 테넌트 포함)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9634" y="4873922"/>
            <a:ext cx="3086419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BID 특별부과금(Assessment) 납부 ➔ 운영 재원 조달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0926" y="5254922"/>
            <a:ext cx="11683707" cy="44128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1E3A8A"/>
                </a:solidFill>
                <a:latin typeface="Pretendard Variable"/>
              </a:rPr>
              <a:t>▪ 디벨로퍼가 개발 과정에서 공공 공간을 기부채납하고, BID가 앵커 테넌트 부과금을 통해 이를 지속 관리하여 공공 재정 절감과 자산 가치 상승을 상호 보장하는 PPP 핵심 거버넌스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812428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1E3A8A"/>
                </a:solidFill>
                <a:latin typeface="Pretendard Variable"/>
              </a:rPr>
              <a:t>HYHK Alliance 이사회 구성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2117228"/>
            <a:ext cx="10159746" cy="5206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900">
                <a:latin typeface="Pretendard Variable"/>
              </a:defRPr>
            </a:pPr>
            <a:r>
              <a:rPr sz="3900" b="1">
                <a:solidFill>
                  <a:srgbClr val="1D1D1F"/>
                </a:solidFill>
                <a:latin typeface="Pretendard Variable"/>
              </a:rPr>
              <a:t>디벨로퍼 임원들의 직접 참여를 통한 트로피 자산 가치 방어 거버넌스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32079" y="4870549"/>
            <a:ext cx="10203559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1E3A8A"/>
                </a:solidFill>
                <a:latin typeface="Pretendard Variable"/>
              </a:rPr>
              <a:t>▪ 대형 디벨로퍼 임원들이 이사회 의사결정에 주도적으로 참여하여 지역 관리 품질을 트로피 자산 스펙으로 관리하는 구조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4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981868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1E3A8A"/>
                </a:solidFill>
                <a:latin typeface="Pretendard Variable"/>
              </a:rPr>
              <a:t>벨라 압죽 공원 민간 위탁 운영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286668"/>
            <a:ext cx="10159746" cy="949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900">
                <a:latin typeface="Pretendard Variable"/>
              </a:defRPr>
            </a:pPr>
            <a:r>
              <a:rPr sz="3900" b="1">
                <a:solidFill>
                  <a:srgbClr val="1D1D1F"/>
                </a:solidFill>
                <a:latin typeface="Pretendard Variable"/>
              </a:rPr>
              <a:t>공공 인프라를 민간 BID가 기부채납 형태로 완벽하게 위탁 관리하는 혁신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14537" y="2615009"/>
            <a:ext cx="1927375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FFFFFF"/>
                </a:solidFill>
                <a:latin typeface="Pretendard Variable"/>
              </a:rPr>
              <a:t>PUBLIC OWNERSHIP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14537" y="2891234"/>
            <a:ext cx="504177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>
                <a:latin typeface="Pretendard Variable"/>
              </a:defRPr>
            </a:pPr>
            <a:r>
              <a:rPr sz="1800" b="1">
                <a:solidFill>
                  <a:srgbClr val="1E3A8A"/>
                </a:solidFill>
                <a:latin typeface="Pretendard Variable"/>
              </a:rPr>
              <a:t>뉴욕시 공원국 (DPR)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537" y="3170634"/>
            <a:ext cx="6197445" cy="2343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1E3A8A"/>
                </a:solidFill>
                <a:latin typeface="Pretendard Variable"/>
              </a:rPr>
              <a:t>공원 부지의 영구 소유권 보유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22484" y="3573859"/>
            <a:ext cx="4728726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1E3A8A"/>
                </a:solidFill>
                <a:latin typeface="Pretendard Variable"/>
              </a:rPr>
              <a:t>🌳 공원 부지 영구 소유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22484" y="3758009"/>
            <a:ext cx="4790340" cy="1866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>
                <a:solidFill>
                  <a:srgbClr val="1E3A8A"/>
                </a:solidFill>
                <a:latin typeface="Pretendard Variable"/>
              </a:rPr>
              <a:t>공공 광장 및 공원의 소유권을 시 정부에 묶어두어 **민간 사유화 시비 원천 차단**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22484" y="4196159"/>
            <a:ext cx="4728726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1E3A8A"/>
                </a:solidFill>
                <a:latin typeface="Pretendard Variable"/>
              </a:rPr>
              <a:t>⚖️ 최소 서비스 의무 보장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22484" y="4380309"/>
            <a:ext cx="3619151" cy="1866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>
                <a:solidFill>
                  <a:srgbClr val="1E3A8A"/>
                </a:solidFill>
                <a:latin typeface="Pretendard Variable"/>
              </a:rPr>
              <a:t>지자체 소관의 소방, 최소 방재 등 법적 행정 지원 지속성 제공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74873" y="3770709"/>
            <a:ext cx="695942" cy="39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>
                <a:latin typeface="Pretendard Variable"/>
              </a:defRPr>
            </a:pPr>
            <a:r>
              <a:rPr sz="1200" b="1">
                <a:solidFill>
                  <a:srgbClr val="FFFFFF"/>
                </a:solidFill>
                <a:latin typeface="Pretendard Variable"/>
              </a:rPr>
              <a:t>CO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5240" y="2615009"/>
            <a:ext cx="1971665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FFFFFF"/>
                </a:solidFill>
                <a:latin typeface="Pretendard Variable"/>
              </a:rPr>
              <a:t>PRIVATE OPERATION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5240" y="2891234"/>
            <a:ext cx="619744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>
                <a:latin typeface="Pretendard Variable"/>
              </a:defRPr>
            </a:pPr>
            <a:r>
              <a:rPr sz="1800" b="1">
                <a:solidFill>
                  <a:srgbClr val="FFFFFF"/>
                </a:solidFill>
                <a:latin typeface="Pretendard Variable"/>
              </a:rPr>
              <a:t>HYHK Alliance BID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5240" y="3170634"/>
            <a:ext cx="6197445" cy="2343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93C5FD"/>
                </a:solidFill>
                <a:latin typeface="Pretendard Variable"/>
              </a:rPr>
              <a:t>공원 일상 유지 관리권 &amp; 상업 임대권 위탁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3187" y="3573859"/>
            <a:ext cx="4728726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93C5FD"/>
                </a:solidFill>
                <a:latin typeface="Pretendard Variable"/>
              </a:rPr>
              <a:t>🧹 고품질 환경 정비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83187" y="3758009"/>
            <a:ext cx="3903108" cy="1866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>
                <a:solidFill>
                  <a:srgbClr val="1E3A8A"/>
                </a:solidFill>
                <a:latin typeface="Pretendard Variable"/>
              </a:rPr>
              <a:t>조경 식재, 쓰레기 분리배출, 정기 고압세척 및 전용 경비 순찰 집행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83187" y="4196159"/>
            <a:ext cx="5808834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93C5FD"/>
                </a:solidFill>
                <a:latin typeface="Pretendard Variable"/>
              </a:rPr>
              <a:t>🍔 상업 키오스크 임대 및 수익 귀속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187" y="4380309"/>
            <a:ext cx="4382442" cy="1866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>
                <a:solidFill>
                  <a:srgbClr val="1E3A8A"/>
                </a:solidFill>
                <a:latin typeface="Pretendard Variable"/>
              </a:rPr>
              <a:t>공원 내 푸드 키오스크 임대 권한을 행사하여 **자체 공원 운영 재원 확보**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83187" y="4818459"/>
            <a:ext cx="4728726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93C5FD"/>
                </a:solidFill>
                <a:latin typeface="Pretendard Variable"/>
              </a:rPr>
              <a:t>🎨 문화 프로그래밍 독점권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83187" y="5002609"/>
            <a:ext cx="4277253" cy="1866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>
                <a:solidFill>
                  <a:srgbClr val="1E3A8A"/>
                </a:solidFill>
                <a:latin typeface="Pretendard Variable"/>
              </a:rPr>
              <a:t>미술품 야외 전시회, 콘서트, 스폰서 이벤트 유치로 지역 상권 활성화 주도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620" y="5701109"/>
            <a:ext cx="9128630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1E3A8A"/>
                </a:solidFill>
                <a:latin typeface="Pretendard Variable"/>
              </a:rPr>
              <a:t>▪ 시 정부 대신 민간 BID가 공원 청소, 보수, 안전 비용을 자체 충당하고 높은 관리 품질을 보장하는 위탁 모델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72955" y="2883495"/>
            <a:ext cx="1699678" cy="339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950">
                <a:latin typeface="Pretendard Variable"/>
              </a:defRPr>
            </a:pPr>
            <a:r>
              <a:rPr sz="1950" b="1">
                <a:solidFill>
                  <a:srgbClr val="0F172A"/>
                </a:solidFill>
                <a:latin typeface="Pretendard Variable"/>
              </a:rPr>
              <a:t>CHAPTER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32899" y="3220045"/>
            <a:ext cx="6779789" cy="63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4950">
                <a:latin typeface="Pretendard Variable"/>
              </a:defRPr>
            </a:pPr>
            <a:r>
              <a:rPr sz="4950" b="1">
                <a:solidFill>
                  <a:srgbClr val="0F172A"/>
                </a:solidFill>
                <a:latin typeface="Pretendard Variable"/>
              </a:rPr>
              <a:t>플레이스메이킹 실무와 갈등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432123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1E3A8A"/>
                </a:solidFill>
                <a:latin typeface="Pretendard Variable"/>
              </a:rPr>
              <a:t>[갈등의 전제] 플레이스메이킹을 통한 공간의 철저한 설계와 통제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736923"/>
            <a:ext cx="10159746" cy="5206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900">
                <a:latin typeface="Pretendard Variable"/>
              </a:defRPr>
            </a:pPr>
            <a:r>
              <a:rPr sz="3900" b="1">
                <a:solidFill>
                  <a:srgbClr val="1D1D1F"/>
                </a:solidFill>
                <a:latin typeface="Pretendard Variable"/>
              </a:rPr>
              <a:t>차량 중심 도로의 보행 공간화 및 광역 녹지 보행 네트워크 구축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79593" y="2585243"/>
            <a:ext cx="2569582" cy="2565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FFFFFF"/>
                </a:solidFill>
                <a:latin typeface="Pretendard Variable"/>
              </a:rPr>
              <a:t>37TH ST STREETSCAPE (MNLA)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79593" y="2826543"/>
            <a:ext cx="6666063" cy="2819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500">
                <a:latin typeface="Pretendard Variable"/>
              </a:defRPr>
            </a:pPr>
            <a:r>
              <a:rPr sz="1500" b="1">
                <a:solidFill>
                  <a:srgbClr val="1E3A8A"/>
                </a:solidFill>
                <a:latin typeface="Pretendard Variable"/>
              </a:rPr>
              <a:t>37번가 미드블록 공간 재설계 단면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79593" y="4172743"/>
            <a:ext cx="6666063" cy="215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1E3A8A"/>
                </a:solidFill>
                <a:latin typeface="Pretendard Variable"/>
              </a:rPr>
              <a:t>• **넥다운(Neckdowns) 설계**: 코너별 도로 연석 확장으로 주정차를 물리적으로 억제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79593" y="4347368"/>
            <a:ext cx="6666063" cy="215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1E3A8A"/>
                </a:solidFill>
                <a:latin typeface="Pretendard Variable"/>
              </a:rPr>
              <a:t>• **보행 환경 극대화**: 미드블록 차도를 축소하여 보도를 15피트 넓이로 대폭 확장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49841" y="2585243"/>
            <a:ext cx="3593256" cy="2565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FFFFFF"/>
                </a:solidFill>
                <a:latin typeface="Pretendard Variable"/>
              </a:rPr>
              <a:t>GREEN NETWORK (HIGH LINE &amp; HUDSON GREEN)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49841" y="2826543"/>
            <a:ext cx="6666063" cy="2819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500">
                <a:latin typeface="Pretendard Variable"/>
              </a:defRPr>
            </a:pPr>
            <a:r>
              <a:rPr sz="1500" b="1">
                <a:solidFill>
                  <a:srgbClr val="93C5FD"/>
                </a:solidFill>
                <a:latin typeface="Pretendard Variable"/>
              </a:rPr>
              <a:t>광역 보행 네트워크 및 2단계 녹지 계획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32389" y="3201193"/>
            <a:ext cx="6368890" cy="2390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62">
                <a:latin typeface="Pretendard Variable"/>
              </a:defRPr>
            </a:pPr>
            <a:r>
              <a:rPr sz="1162" b="1">
                <a:solidFill>
                  <a:srgbClr val="1E3A8A"/>
                </a:solidFill>
                <a:latin typeface="Pretendard Variable"/>
              </a:rPr>
              <a:t>🔗 하이라인(High Line) 보행망 연결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2389" y="3374231"/>
            <a:ext cx="6368890" cy="3597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>
                <a:solidFill>
                  <a:srgbClr val="1E3A8A"/>
                </a:solidFill>
                <a:latin typeface="Pretendard Variable"/>
              </a:rPr>
              <a:t>• 공공 광장이 하이라인 자연공원의 종착점 역할을 수행해 입체 보행로 완성 • **MNLA 설계 스트리트스케이프 마스터플랜**(113에이커)을 BID 예산으로 실행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32389" y="3909218"/>
            <a:ext cx="6368890" cy="2390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62">
                <a:latin typeface="Pretendard Variable"/>
              </a:defRPr>
            </a:pPr>
            <a:r>
              <a:rPr sz="1162" b="1">
                <a:solidFill>
                  <a:srgbClr val="1E3A8A"/>
                </a:solidFill>
                <a:latin typeface="Pretendard Variable"/>
              </a:rPr>
              <a:t>🌳 허드슨그린 (Hudson Green) 2단계 계획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32389" y="4082256"/>
            <a:ext cx="6368890" cy="6280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>
                <a:solidFill>
                  <a:srgbClr val="1E3A8A"/>
                </a:solidFill>
                <a:latin typeface="Pretendard Variable"/>
              </a:rPr>
              <a:t>• Related+Oxford+Wynn이 추진하는 **130억 달러 규모 2단계 복합 개발**의 핵심 • **5.6에이커 규모**의 공공 녹지 공원 (SOM 마스터플랜, Hollander &amp; Sasaki 설계) • 주거 1,500세대, K-8 공립학교 결합 (2025년 NYC 도시계획위 승인), MTA에 **27억 달러** 세수 기여 예정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0926" y="5076031"/>
            <a:ext cx="11683707" cy="44128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1E3A8A"/>
                </a:solidFill>
                <a:latin typeface="Pretendard Variable"/>
              </a:rPr>
              <a:t>▪ 차량을 제어하여 보도를 넓히는 37번가 실무 설계와 하이라인 보행 연계, 그리고 5.6에이커의 2단계 허드슨그린 공원 계획을 통해 맨해튼 서부의 입체적 장소성을 완성한 사례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5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198959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1E3A8A"/>
                </a:solidFill>
                <a:latin typeface="Pretendard Variable"/>
              </a:rPr>
              <a:t>[활성화의 성과] 소프트웨어 큐레이션으로 극대화된 공간 가치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503759"/>
            <a:ext cx="10159746" cy="949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900">
                <a:latin typeface="Pretendard Variable"/>
              </a:defRPr>
            </a:pPr>
            <a:r>
              <a:rPr sz="3900" b="1">
                <a:solidFill>
                  <a:srgbClr val="1D1D1F"/>
                </a:solidFill>
                <a:latin typeface="Pretendard Variable"/>
              </a:rPr>
              <a:t>차갑고 삭막한 고층 빌딩 숲을 인간 중심의 활력 공간으로 바꾸는 문화의 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3738" y="2832099"/>
            <a:ext cx="2425817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FFFFFF"/>
                </a:solidFill>
                <a:latin typeface="Pretendard Variable"/>
              </a:rPr>
              <a:t>PROGRAMMING SCHEDULE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63738" y="3108325"/>
            <a:ext cx="619744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>
                <a:latin typeface="Pretendard Variable"/>
              </a:defRPr>
            </a:pPr>
            <a:r>
              <a:rPr sz="1800" b="1">
                <a:solidFill>
                  <a:srgbClr val="FFFFFF"/>
                </a:solidFill>
                <a:latin typeface="Pretendard Variable"/>
              </a:rPr>
              <a:t>SOMOS 라틴 댄스 파티 운용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71685" y="3597275"/>
            <a:ext cx="2261178" cy="1962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825">
                <a:latin typeface="Pretendard Variable"/>
              </a:defRPr>
            </a:pPr>
            <a:r>
              <a:rPr sz="825" b="1">
                <a:solidFill>
                  <a:srgbClr val="1E3A8A"/>
                </a:solidFill>
                <a:latin typeface="Pretendard Variable"/>
              </a:rPr>
              <a:t>📆 가동 기간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71685" y="3721100"/>
            <a:ext cx="1234136" cy="2247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50">
                <a:latin typeface="Pretendard Variable"/>
              </a:defRPr>
            </a:pPr>
            <a:r>
              <a:rPr sz="1350" b="1">
                <a:solidFill>
                  <a:srgbClr val="93C5FD"/>
                </a:solidFill>
                <a:latin typeface="Pretendard Variable"/>
              </a:rPr>
              <a:t>매년 5월 ~ 9월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73443" y="3597275"/>
            <a:ext cx="2261178" cy="1962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825">
                <a:latin typeface="Pretendard Variable"/>
              </a:defRPr>
            </a:pPr>
            <a:r>
              <a:rPr sz="825" b="1">
                <a:solidFill>
                  <a:srgbClr val="1E3A8A"/>
                </a:solidFill>
                <a:latin typeface="Pretendard Variable"/>
              </a:rPr>
              <a:t>⏰ 개최 요일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73443" y="3721100"/>
            <a:ext cx="1576963" cy="2247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50">
                <a:latin typeface="Pretendard Variable"/>
              </a:defRPr>
            </a:pPr>
            <a:r>
              <a:rPr sz="1350" b="1">
                <a:solidFill>
                  <a:srgbClr val="93C5FD"/>
                </a:solidFill>
                <a:latin typeface="Pretendard Variable"/>
              </a:rPr>
              <a:t>매주 목요일 (퇴근길)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71685" y="4190999"/>
            <a:ext cx="4728726" cy="1962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825">
                <a:latin typeface="Pretendard Variable"/>
              </a:defRPr>
            </a:pPr>
            <a:r>
              <a:rPr sz="825" b="1">
                <a:solidFill>
                  <a:srgbClr val="1E3A8A"/>
                </a:solidFill>
                <a:latin typeface="Pretendard Variable"/>
              </a:rPr>
              <a:t>🕺 주요 프로그램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71685" y="4314825"/>
            <a:ext cx="4261358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FFFFFF"/>
                </a:solidFill>
                <a:latin typeface="Pretendard Variable"/>
              </a:rPr>
              <a:t>실시간 라틴 라이브 밴드 연주 및 전문 댄스 코치 야외 무료 강습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6039" y="2832099"/>
            <a:ext cx="2592798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FFFFFF"/>
                </a:solidFill>
                <a:latin typeface="Pretendard Variable"/>
              </a:rPr>
              <a:t>ECONOMIC &amp; SOCIAL IMPACT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6039" y="3108325"/>
            <a:ext cx="619744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>
                <a:latin typeface="Pretendard Variable"/>
              </a:defRPr>
            </a:pPr>
            <a:r>
              <a:rPr sz="1800" b="1">
                <a:solidFill>
                  <a:srgbClr val="1E3A8A"/>
                </a:solidFill>
                <a:latin typeface="Pretendard Variable"/>
              </a:rPr>
              <a:t>공간 활성화로 발생하는 실질 가치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3986" y="3621087"/>
            <a:ext cx="1208384" cy="2343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1E3A8A"/>
                </a:solidFill>
                <a:latin typeface="Pretendard Variable"/>
              </a:rPr>
              <a:t>👥 주간 집객 규모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40228" y="3597275"/>
            <a:ext cx="1964675" cy="2819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500">
                <a:latin typeface="Pretendard Variable"/>
              </a:defRPr>
            </a:pPr>
            <a:r>
              <a:rPr sz="1500" b="1">
                <a:solidFill>
                  <a:srgbClr val="1E3A8A"/>
                </a:solidFill>
                <a:latin typeface="Pretendard Variable"/>
              </a:rPr>
              <a:t>수천 명 단위 자발적 유입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3986" y="4129087"/>
            <a:ext cx="1485465" cy="2343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1E3A8A"/>
                </a:solidFill>
                <a:latin typeface="Pretendard Variable"/>
              </a:rPr>
              <a:t>🍔 인근 상권 F&amp;B 매출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9069" y="4105274"/>
            <a:ext cx="2082356" cy="2819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500">
                <a:latin typeface="Pretendard Variable"/>
              </a:defRPr>
            </a:pPr>
            <a:r>
              <a:rPr sz="1500" b="1">
                <a:solidFill>
                  <a:srgbClr val="EF4444"/>
                </a:solidFill>
                <a:latin typeface="Pretendard Variable"/>
              </a:rPr>
              <a:t>+20% 이상 매출 급증 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3986" y="4613275"/>
            <a:ext cx="5808834" cy="2247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 b="1">
                <a:solidFill>
                  <a:srgbClr val="93C5FD"/>
                </a:solidFill>
                <a:latin typeface="Pretendard Variable"/>
              </a:rPr>
              <a:t>🏢 테넌트 락인 효과 (Trophy Tenants)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3986" y="4772025"/>
            <a:ext cx="5808834" cy="22558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1E3A8A"/>
                </a:solidFill>
                <a:latin typeface="Pretendard Variable"/>
              </a:rPr>
              <a:t>콘크리트 빌딩 숲 내부의 독자적 문화 복지 제공을 통해 글로벌 혁신 기업들의 장기 임차 지속 견인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51207" y="5484018"/>
            <a:ext cx="10854517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1E3A8A"/>
                </a:solidFill>
                <a:latin typeface="Pretendard Variable"/>
              </a:rPr>
              <a:t>▪ 정기적 댄스 파티 등 다양한 문화 콘텐츠를 상시 가동하여 오피스 타운의 삭막함을 해소하고 상권 활성화를 유도하는 소프트웨어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5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2035472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1E3A8A"/>
                </a:solidFill>
                <a:latin typeface="Pretendard Variable"/>
              </a:rPr>
              <a:t>[디자인의 부작용] 심미성 중심 랜드마크가 놓친 인간적 포용성과 안전의 비극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2340272"/>
            <a:ext cx="10159746" cy="5206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900">
                <a:latin typeface="Pretendard Variable"/>
              </a:defRPr>
            </a:pPr>
            <a:r>
              <a:rPr sz="3900" b="1">
                <a:solidFill>
                  <a:srgbClr val="1D1D1F"/>
                </a:solidFill>
                <a:latin typeface="Pretendard Variable"/>
              </a:rPr>
              <a:t>2억 달러 규모 랜드마크 조형물이 겪은 안전사고와 공공 안전의 충돌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50998" y="2985392"/>
            <a:ext cx="622284" cy="345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FFFFFF"/>
                </a:solidFill>
                <a:latin typeface="Pretendard Variable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79593" y="3264792"/>
            <a:ext cx="2523585" cy="2533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75">
                <a:latin typeface="Pretendard Variable"/>
              </a:defRPr>
            </a:pPr>
            <a:r>
              <a:rPr sz="1275" b="1">
                <a:solidFill>
                  <a:srgbClr val="1E3A8A"/>
                </a:solidFill>
                <a:latin typeface="Pretendard Variable"/>
              </a:rPr>
              <a:t>🎨 화려한 탄생 (2019)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79593" y="3477517"/>
            <a:ext cx="802833" cy="2216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825">
                <a:latin typeface="Pretendard Variable"/>
              </a:defRPr>
            </a:pPr>
            <a:r>
              <a:rPr sz="825" b="1">
                <a:solidFill>
                  <a:srgbClr val="1E3A8A"/>
                </a:solidFill>
                <a:latin typeface="Pretendard Variable"/>
              </a:rPr>
              <a:t>LAUNCH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79593" y="3683892"/>
            <a:ext cx="3071418" cy="6486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12">
                <a:latin typeface="Pretendard Variable"/>
              </a:defRPr>
            </a:pPr>
            <a:r>
              <a:rPr sz="1012" b="1">
                <a:solidFill>
                  <a:srgbClr val="1E3A8A"/>
                </a:solidFill>
                <a:latin typeface="Pretendard Variable"/>
              </a:rPr>
              <a:t>• 토머스 헤더윅 설계 조형물. • 총 2억 달러 전액 민간 투자. • 154개 계단실, 높이 46m로 개장 직후 글로벌 인스타 성지 등극.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73423" y="2985392"/>
            <a:ext cx="622284" cy="345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FFFFFF"/>
                </a:solidFill>
                <a:latin typeface="Pretendard Variable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02017" y="3264792"/>
            <a:ext cx="2523585" cy="2533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75">
                <a:latin typeface="Pretendard Variable"/>
              </a:defRPr>
            </a:pPr>
            <a:r>
              <a:rPr sz="1275" b="1">
                <a:solidFill>
                  <a:srgbClr val="1E3A8A"/>
                </a:solidFill>
                <a:latin typeface="Pretendard Variable"/>
              </a:rPr>
              <a:t>⚠️ 난간 설계결함 노출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02017" y="3477517"/>
            <a:ext cx="1060205" cy="2216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825">
                <a:latin typeface="Pretendard Variable"/>
              </a:defRPr>
            </a:pPr>
            <a:r>
              <a:rPr sz="825" b="1">
                <a:solidFill>
                  <a:srgbClr val="1E3A8A"/>
                </a:solidFill>
                <a:latin typeface="Pretendard Variable"/>
              </a:rPr>
              <a:t>DESIGN FAULT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02017" y="3683892"/>
            <a:ext cx="3071418" cy="6486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12">
                <a:latin typeface="Pretendard Variable"/>
              </a:defRPr>
            </a:pPr>
            <a:r>
              <a:rPr sz="1012" b="1">
                <a:solidFill>
                  <a:srgbClr val="1E3A8A"/>
                </a:solidFill>
                <a:latin typeface="Pretendard Variable"/>
              </a:rPr>
              <a:t>• 가슴 높이 수준의 낮은 난간 설계. • 1인 탑승자 및 통행인 보호에 취약. • 2020~21년 사이 조형물 내에서 **단기간에 4건의 투신 자살 발생**.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5847" y="2985392"/>
            <a:ext cx="622284" cy="345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FFFFFF"/>
                </a:solidFill>
                <a:latin typeface="Pretendard Variable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24441" y="3264792"/>
            <a:ext cx="2523585" cy="2533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75">
                <a:latin typeface="Pretendard Variable"/>
              </a:defRPr>
            </a:pPr>
            <a:r>
              <a:rPr sz="1275" b="1">
                <a:solidFill>
                  <a:srgbClr val="1E3A8A"/>
                </a:solidFill>
                <a:latin typeface="Pretendard Variable"/>
              </a:rPr>
              <a:t>🛑 무기한 전면 폐쇄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4441" y="3477517"/>
            <a:ext cx="841532" cy="2216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825">
                <a:latin typeface="Pretendard Variable"/>
              </a:defRPr>
            </a:pPr>
            <a:r>
              <a:rPr sz="825" b="1">
                <a:solidFill>
                  <a:srgbClr val="1E3A8A"/>
                </a:solidFill>
                <a:latin typeface="Pretendard Variable"/>
              </a:rPr>
              <a:t>CLOSURE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24441" y="3683892"/>
            <a:ext cx="3071418" cy="6486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12">
                <a:latin typeface="Pretendard Variable"/>
              </a:defRPr>
            </a:pPr>
            <a:r>
              <a:rPr sz="1012" b="1">
                <a:solidFill>
                  <a:srgbClr val="1E3A8A"/>
                </a:solidFill>
                <a:latin typeface="Pretendard Variable"/>
              </a:rPr>
              <a:t>• 뉴욕시 공공 안전국 폐쇄령 발동. • 2억 달러 조형물이 미드타운 흉물로 방치될 장기 폐쇄기 돌입. • 브랜드 이미지 훼손 및 재산 손실 가중.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18272" y="2985392"/>
            <a:ext cx="622284" cy="345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FFFFFF"/>
                </a:solidFill>
                <a:latin typeface="Pretendard Variable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46866" y="3264792"/>
            <a:ext cx="2523585" cy="2533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75">
                <a:latin typeface="Pretendard Variable"/>
              </a:defRPr>
            </a:pPr>
            <a:r>
              <a:rPr sz="1275" b="1">
                <a:solidFill>
                  <a:srgbClr val="1E3A8A"/>
                </a:solidFill>
                <a:latin typeface="Pretendard Variable"/>
              </a:rPr>
              <a:t>🔄 안전망 보강 및 재개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46866" y="3477517"/>
            <a:ext cx="984676" cy="2216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825">
                <a:latin typeface="Pretendard Variable"/>
              </a:defRPr>
            </a:pPr>
            <a:r>
              <a:rPr sz="825" b="1">
                <a:solidFill>
                  <a:srgbClr val="1E3A8A"/>
                </a:solidFill>
                <a:latin typeface="Pretendard Variable"/>
              </a:rPr>
              <a:t>RE-OPENING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46866" y="3683892"/>
            <a:ext cx="3071418" cy="5093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12">
                <a:latin typeface="Pretendard Variable"/>
              </a:defRPr>
            </a:pPr>
            <a:r>
              <a:rPr sz="1012" b="1">
                <a:solidFill>
                  <a:srgbClr val="1E3A8A"/>
                </a:solidFill>
                <a:latin typeface="Pretendard Variable"/>
              </a:rPr>
              <a:t>• 고장력 절단 불가 그물망 전면 설치. • **1인 단독 입장 엄격 제한** 규정 도입. • 보행 보안 가드 추가 배치 후 조건부 개방 완료.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32793" y="4647505"/>
            <a:ext cx="9480987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1E3A8A"/>
                </a:solidFill>
                <a:latin typeface="Pretendard Variable"/>
              </a:rPr>
              <a:t>▪ 전망대 내 자살 사고로 인한 임시 폐쇄 위기를 안전 그물망 보강 및 동행 의무화 등의 운영 변경으로 극복한 사례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645741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1E3A8A"/>
                </a:solidFill>
                <a:latin typeface="Pretendard Variable"/>
              </a:rPr>
              <a:t>[공간의 배제] 환경 개선 디자인을 도구로 한 영세 노점상의 물리적 축출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950541"/>
            <a:ext cx="10159746" cy="5206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900">
                <a:latin typeface="Pretendard Variable"/>
              </a:defRPr>
            </a:pPr>
            <a:r>
              <a:rPr sz="3900" b="1">
                <a:solidFill>
                  <a:srgbClr val="1D1D1F"/>
                </a:solidFill>
                <a:latin typeface="Pretendard Variable"/>
              </a:rPr>
              <a:t>보행 환경 개선이라는 명분 이면에 숨겨진 비공식 영세 상인 축출 논란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11263" y="2786161"/>
            <a:ext cx="2775138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75">
                <a:latin typeface="Pretendard Variable"/>
              </a:defRPr>
            </a:pPr>
            <a:r>
              <a:rPr sz="975" b="1">
                <a:solidFill>
                  <a:srgbClr val="FFFFFF"/>
                </a:solidFill>
                <a:latin typeface="Pretendard Variable"/>
              </a:rPr>
              <a:t>PHYSICAL SIDEWALK CONFLICT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20" y="3062386"/>
            <a:ext cx="7843323" cy="2819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500">
                <a:latin typeface="Pretendard Variable"/>
              </a:defRPr>
            </a:pPr>
            <a:r>
              <a:rPr sz="1500" b="1">
                <a:solidFill>
                  <a:srgbClr val="1E3A8A"/>
                </a:solidFill>
                <a:latin typeface="Pretendard Variable"/>
              </a:rPr>
              <a:t>가로수 보호틀(Tree Bed) 인위적 확장 비교 단면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40416" y="2786161"/>
            <a:ext cx="1881299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FFFFFF"/>
                </a:solidFill>
                <a:latin typeface="Pretendard Variable"/>
              </a:rPr>
              <a:t>EXCLUSIVE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40416" y="3062386"/>
            <a:ext cx="3715927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>
                <a:latin typeface="Pretendard Variable"/>
              </a:defRPr>
            </a:pPr>
            <a:r>
              <a:rPr sz="1800" b="1">
                <a:solidFill>
                  <a:srgbClr val="FFFFFF"/>
                </a:solidFill>
                <a:latin typeface="Pretendard Variable"/>
              </a:rPr>
              <a:t>물리적 축출 메커니즘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22964" y="3525936"/>
            <a:ext cx="3476538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1E3A8A"/>
                </a:solidFill>
                <a:latin typeface="Pretendard Variable"/>
              </a:rPr>
              <a:t>🌭 길거리 F&amp;B 차단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2964" y="3710086"/>
            <a:ext cx="3929361" cy="1866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>
                <a:solidFill>
                  <a:srgbClr val="1E3A8A"/>
                </a:solidFill>
                <a:latin typeface="Pretendard Variable"/>
              </a:rPr>
              <a:t>뉴욕 핫도그 등 1인 영세 상인의 물리적 카트 배치 구역을 원천 말소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22964" y="4097436"/>
            <a:ext cx="3476538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93C5FD"/>
                </a:solidFill>
                <a:latin typeface="Pretendard Variable"/>
              </a:rPr>
              <a:t>🏢 복합 쇼핑몰 매출 가두기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22964" y="4281586"/>
            <a:ext cx="4150811" cy="339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>
                <a:solidFill>
                  <a:srgbClr val="1E3A8A"/>
                </a:solidFill>
                <a:latin typeface="Pretendard Variable"/>
              </a:rPr>
              <a:t>지구 보행자 소비 수요를 민간 대기업의 복합몰(Mall) 내부 매장으로 유인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7660" y="5037236"/>
            <a:ext cx="9283467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1E3A8A"/>
                </a:solidFill>
                <a:latin typeface="Pretendard Variable"/>
              </a:rPr>
              <a:t>▪ 보도 상 가로수 화단을 인위적으로 넓혀 무허가 노점상을 정비하는 등 청결 확보 이면의 젠트리피케이션 갈등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448891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1E3A8A"/>
                </a:solidFill>
                <a:latin typeface="Pretendard Variable"/>
              </a:rPr>
              <a:t>[거시적 형평성] 공공 재정의 실질 부담과 사적 특혜 분배의 구조적 갈등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753691"/>
            <a:ext cx="10159746" cy="949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900">
                <a:latin typeface="Pretendard Variable"/>
              </a:defRPr>
            </a:pPr>
            <a:r>
              <a:rPr sz="3900" b="1">
                <a:solidFill>
                  <a:srgbClr val="1D1D1F"/>
                </a:solidFill>
                <a:latin typeface="Pretendard Variable"/>
              </a:rPr>
              <a:t>뉴욕 뉴스쿨(SCEPA) 연구가 분석한 공적 보조의 실질 부담과 형평성 문제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04992" y="3056632"/>
            <a:ext cx="2959442" cy="2565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FFFFFF"/>
                </a:solidFill>
                <a:latin typeface="Pretendard Variable"/>
              </a:rPr>
              <a:t>PUBLIC FINANCIAL BURDEN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04992" y="3323332"/>
            <a:ext cx="6574625" cy="3009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650">
                <a:latin typeface="Pretendard Variable"/>
              </a:defRPr>
            </a:pPr>
            <a:r>
              <a:rPr sz="1650" b="1">
                <a:solidFill>
                  <a:srgbClr val="1E3A8A"/>
                </a:solidFill>
                <a:latin typeface="Pretendard Variable"/>
              </a:rPr>
              <a:t>🏛️ 시(市) 재정의 실질 부담 규모 규명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992" y="3659882"/>
            <a:ext cx="6574625" cy="54030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87">
                <a:latin typeface="Pretendard Variable"/>
              </a:defRPr>
            </a:pPr>
            <a:r>
              <a:rPr sz="1087" b="1">
                <a:solidFill>
                  <a:srgbClr val="1E3A8A"/>
                </a:solidFill>
                <a:latin typeface="Pretendard Variable"/>
              </a:rPr>
              <a:t>• 실질적인 공공 부채 전가 자금 전액을 자체 충당하는 "자기금융"이라는 초기 주장과 달리, 2018년 뉴스쿨 연구(Bridget Fisher &amp; Flávia Leite) 결과 뉴욕시가 실질적으로 약 22억 달러를 부담했다고 분석.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04992" y="4210347"/>
            <a:ext cx="6574625" cy="54030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87">
                <a:latin typeface="Pretendard Variable"/>
              </a:defRPr>
            </a:pPr>
            <a:r>
              <a:rPr sz="1087" b="1">
                <a:solidFill>
                  <a:srgbClr val="1E3A8A"/>
                </a:solidFill>
                <a:latin typeface="Pretendard Variable"/>
              </a:rPr>
              <a:t>• 총 60억 달러 이상의 대규모 공공 투자 지하철 7호선 연장(24억 달러), 녹지 공원 조성(12억 달러), 이자지원(ISP) 3.59억 달러 등 복합적인 공공 비용이 추가 발생하며 시 재정적 지출이 대거 투입됨.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75240" y="3056632"/>
            <a:ext cx="2873184" cy="2565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FFFFFF"/>
                </a:solidFill>
                <a:latin typeface="Pretendard Variable"/>
              </a:rPr>
              <a:t>PILOT DISCOUNTS &amp; EQUITY DEBATE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5240" y="3323332"/>
            <a:ext cx="6574625" cy="3009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650">
                <a:latin typeface="Pretendard Variable"/>
              </a:defRPr>
            </a:pPr>
            <a:r>
              <a:rPr sz="1650" b="1">
                <a:solidFill>
                  <a:srgbClr val="93C5FD"/>
                </a:solidFill>
                <a:latin typeface="Pretendard Variable"/>
              </a:rPr>
              <a:t>📈 세제 혜택 감면과 형평성 갈등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5240" y="3659882"/>
            <a:ext cx="6574625" cy="54030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87">
                <a:latin typeface="Pretendard Variable"/>
              </a:defRPr>
            </a:pPr>
            <a:r>
              <a:rPr sz="1087" b="1">
                <a:solidFill>
                  <a:srgbClr val="1E3A8A"/>
                </a:solidFill>
                <a:latin typeface="Pretendard Variable"/>
              </a:rPr>
              <a:t>• PILOT 세제 감면에 따른 세수 손실 상업용 오피스 빌딩 8개 동에 최대 40%에 달하는 PILOT(재산세 대체납부) 할인을 승인함에 따라, 25년간 누적 약 11억 달러 이상의 세수 손실 유발.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5240" y="4210347"/>
            <a:ext cx="6574625" cy="54030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87">
                <a:latin typeface="Pretendard Variable"/>
              </a:defRPr>
            </a:pPr>
            <a:r>
              <a:rPr sz="1087" b="1">
                <a:solidFill>
                  <a:srgbClr val="1E3A8A"/>
                </a:solidFill>
                <a:latin typeface="Pretendard Variable"/>
              </a:rPr>
              <a:t>• "But-For" 적절성 논쟁 "공적 보조금 지원이 없었더라면 개발이 불가능했을 것인가?"에 대한 회의적 시각. 초과 자산을 보유한 거대 개발사에 과도한 혜택이 돌아갔다는 형평성 문제 제기.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0926" y="5059263"/>
            <a:ext cx="11683707" cy="44128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1E3A8A"/>
                </a:solidFill>
                <a:latin typeface="Pretendard Variable"/>
              </a:rPr>
              <a:t>▪ 초거대 민관협력 개발에 지급된 세제 혜택(PILOT 할인)이 공공 재정에 끼친 영향과, 공공-민간 협력 모델의 형평성 및 공공성 조화를 둘러싼 학술적·정책적 비판 사례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712905" y="2611139"/>
            <a:ext cx="1019779" cy="339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950">
                <a:latin typeface="Pretendard Variable"/>
              </a:defRPr>
            </a:pPr>
            <a:r>
              <a:rPr sz="1950">
                <a:solidFill>
                  <a:srgbClr val="FFFFFF"/>
                </a:solidFill>
                <a:latin typeface="Pretendard Variable"/>
              </a:rPr>
              <a:t>PART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-1904952" y="2947689"/>
            <a:ext cx="16255593" cy="11810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4950">
                <a:latin typeface="Pretendard Variable"/>
              </a:defRPr>
            </a:pPr>
            <a:r>
              <a:rPr sz="4950" b="1">
                <a:solidFill>
                  <a:srgbClr val="FFFFFF"/>
                </a:solidFill>
                <a:latin typeface="Pretendard Variable"/>
              </a:rPr>
              <a:t>일본 도쿄 — '일본판 BID'와 에리어 매니지먼트(Area Management)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93073" y="2883495"/>
            <a:ext cx="1659540" cy="339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950">
                <a:latin typeface="Pretendard Variable"/>
              </a:defRPr>
            </a:pPr>
            <a:r>
              <a:rPr sz="1950" b="1">
                <a:solidFill>
                  <a:srgbClr val="0F172A"/>
                </a:solidFill>
                <a:latin typeface="Pretendard Variable"/>
              </a:rPr>
              <a:t>CHAPTER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16659" y="3220045"/>
            <a:ext cx="9812270" cy="63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4950">
                <a:latin typeface="Pretendard Variable"/>
              </a:defRPr>
            </a:pPr>
            <a:r>
              <a:rPr sz="4950" b="1">
                <a:solidFill>
                  <a:srgbClr val="0F172A"/>
                </a:solidFill>
                <a:latin typeface="Pretendard Variable"/>
              </a:rPr>
              <a:t>타운 매니지먼트 철학과 디벨로퍼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5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800423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1E3A8A"/>
                </a:solidFill>
                <a:latin typeface="Pretendard Variable"/>
              </a:rPr>
              <a:t>[개발의 철학] 도시 유기체론에 입각한 모리빌딩의 '문화도심' 기획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2105223"/>
            <a:ext cx="10159746" cy="5041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750">
                <a:latin typeface="Pretendard Variable"/>
              </a:defRPr>
            </a:pPr>
            <a:r>
              <a:rPr sz="3750" b="1">
                <a:solidFill>
                  <a:srgbClr val="1D1D1F"/>
                </a:solidFill>
                <a:latin typeface="Pretendard Variable"/>
              </a:rPr>
              <a:t>도시 유기체론에 입각한 ‘문화도심’ 창조와 아자부다이 힐즈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04992" y="2911673"/>
            <a:ext cx="1777003" cy="2565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FFFFFF"/>
                </a:solidFill>
                <a:latin typeface="Pretendard Variable"/>
              </a:rPr>
              <a:t>DEVELOPER 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04992" y="3178373"/>
            <a:ext cx="6574625" cy="3009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650">
                <a:latin typeface="Pretendard Variable"/>
              </a:defRPr>
            </a:pPr>
            <a:r>
              <a:rPr sz="1650" b="1">
                <a:solidFill>
                  <a:srgbClr val="1E3A8A"/>
                </a:solidFill>
                <a:latin typeface="Pretendard Variable"/>
              </a:rPr>
              <a:t>🏙️ 모리 빌딩의 ‘문화도심(Cultural Heart)’ 철학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992" y="3514923"/>
            <a:ext cx="6574625" cy="54030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87">
                <a:latin typeface="Pretendard Variable"/>
              </a:defRPr>
            </a:pPr>
            <a:r>
              <a:rPr sz="1087">
                <a:solidFill>
                  <a:srgbClr val="1E3A8A"/>
                </a:solidFill>
                <a:latin typeface="Pretendard Variable"/>
              </a:rPr>
              <a:t>• 도심 유기체론 (Urban Organism) 도심을 단순한 파편화된 오피스 빌딩들의 집합이 아닌 일(Work), 주거(Live), 오락(Play), 문화(Culture)가 결합된 단일 생태계로 기획했습니다.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04992" y="4065389"/>
            <a:ext cx="6574625" cy="54030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87">
                <a:latin typeface="Pretendard Variable"/>
              </a:defRPr>
            </a:pPr>
            <a:r>
              <a:rPr sz="1087">
                <a:solidFill>
                  <a:srgbClr val="1E3A8A"/>
                </a:solidFill>
                <a:latin typeface="Pretendard Variable"/>
              </a:rPr>
              <a:t>• 소프트웨어 중심의 지속적 에어리어 큐레이션 단순한 분양 및 임대관리 모델을 탈피하여, 완공 후에도 미디어기획부 및 도시개발본부를 통해 문화·예술 프로그램을 지속 운영 및 직접 소유·관리합니다.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75240" y="2911673"/>
            <a:ext cx="2194544" cy="2565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FFFFFF"/>
                </a:solidFill>
                <a:latin typeface="Pretendard Variable"/>
              </a:rPr>
              <a:t>EMPIRICAL BENCHMARKS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5240" y="3178373"/>
            <a:ext cx="5345613" cy="3009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650">
                <a:latin typeface="Pretendard Variable"/>
              </a:defRPr>
            </a:pPr>
            <a:r>
              <a:rPr sz="1650" b="1">
                <a:solidFill>
                  <a:srgbClr val="93C5FD"/>
                </a:solidFill>
                <a:latin typeface="Pretendard Variable"/>
              </a:rPr>
              <a:t>📈 메가 프로젝트 실증 실적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5240" y="3514923"/>
            <a:ext cx="6574625" cy="54030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87">
                <a:latin typeface="Pretendard Variable"/>
              </a:defRPr>
            </a:pPr>
            <a:r>
              <a:rPr sz="1087">
                <a:solidFill>
                  <a:srgbClr val="1E3A8A"/>
                </a:solidFill>
                <a:latin typeface="Pretendard Variable"/>
              </a:rPr>
              <a:t>• 롯폰기 힐즈 (Roppongi Hills) 800세대 고급 주거, 296,000㎡ 오피스, 미술관(최상층 모리 미술관), 호텔(그랜드 하얏트)을 하나의 수직 생태계로 엮어 개관 이래 공실률 0% 수준 유지 중입니다.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5240" y="4065389"/>
            <a:ext cx="6574625" cy="54030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87">
                <a:latin typeface="Pretendard Variable"/>
              </a:defRPr>
            </a:pPr>
            <a:r>
              <a:rPr sz="1087">
                <a:solidFill>
                  <a:srgbClr val="1E3A8A"/>
                </a:solidFill>
                <a:latin typeface="Pretendard Variable"/>
              </a:rPr>
              <a:t>• 아자부다이 힐즈 (Azabudai Hills) 580억 엔 규모의 투자로 일본 최고층 빌딩, 대규모 녹지(중앙 광장), 스타트업 허브, 영국학교, 70여 개 VC가 집결한 도쿄 VC 허브를 조성하며 공간 브랜드 가치를 극대화했습니다.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3201" y="4882554"/>
            <a:ext cx="11119187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425">
                <a:latin typeface="Pretendard Variable"/>
              </a:defRPr>
            </a:pPr>
            <a:r>
              <a:rPr sz="1425" b="1">
                <a:solidFill>
                  <a:srgbClr val="1E3A8A"/>
                </a:solidFill>
                <a:latin typeface="Pretendard Variable"/>
              </a:rPr>
              <a:t>※ 모리빌딩은 단순 건설을 넘어 최상층 전망대에 미술관을 배치하는 등 소프트웨어적 기획력을 접목하여 자산 가치를 극대화했습니다.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877317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1E3A8A"/>
                </a:solidFill>
                <a:latin typeface="Pretendard Variable"/>
              </a:rPr>
              <a:t>[실행의 모델] 3대 디벨로퍼(미쓰비시·모리·미쓰이)의 독자적 차별화 전략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2182117"/>
            <a:ext cx="10159746" cy="5041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750">
                <a:latin typeface="Pretendard Variable"/>
              </a:defRPr>
            </a:pPr>
            <a:r>
              <a:rPr sz="3750" b="1">
                <a:solidFill>
                  <a:srgbClr val="1D1D1F"/>
                </a:solidFill>
                <a:latin typeface="Pretendard Variable"/>
              </a:rPr>
              <a:t>미쓰비시 · 모리 · 미쓰이의 에리어 매니지먼트 실행 모델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20846" y="2988567"/>
            <a:ext cx="1602342" cy="2216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825">
                <a:latin typeface="Pretendard Variable"/>
              </a:defRPr>
            </a:pPr>
            <a:r>
              <a:rPr sz="825" b="1">
                <a:solidFill>
                  <a:srgbClr val="FFFFFF"/>
                </a:solidFill>
                <a:latin typeface="Pretendard Variable"/>
              </a:rPr>
              <a:t>MITSUBISHI ESTATE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20846" y="3194942"/>
            <a:ext cx="4475308" cy="2724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 b="1">
                <a:solidFill>
                  <a:srgbClr val="1E3A8A"/>
                </a:solidFill>
                <a:latin typeface="Pretendard Variable"/>
              </a:rPr>
              <a:t>🏢 미쓰비시 지쇼 (OMY 지구)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20846" y="3452117"/>
            <a:ext cx="4475308" cy="6486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12">
                <a:latin typeface="Pretendard Variable"/>
              </a:defRPr>
            </a:pPr>
            <a:r>
              <a:rPr sz="1012" b="1">
                <a:solidFill>
                  <a:srgbClr val="1E3A8A"/>
                </a:solidFill>
                <a:latin typeface="Pretendard Variable"/>
              </a:rPr>
              <a:t>• 지구 규모: 120ha 내 오피스 빌딩 106개 관리. • 용적 이전(TDR): 역사 복원 시 남은 공중 용적률을 다른 개발자에게 매각하여 수익화 및 환경 정비 재원 확보. • TMIP 플랫폼: 오픈 이노베이션을 촉진하기 위한 민관학 네트워크 구축.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23210" y="2988567"/>
            <a:ext cx="1117606" cy="2216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825">
                <a:latin typeface="Pretendard Variable"/>
              </a:defRPr>
            </a:pPr>
            <a:r>
              <a:rPr sz="825" b="1">
                <a:solidFill>
                  <a:srgbClr val="FFFFFF"/>
                </a:solidFill>
                <a:latin typeface="Pretendard Variable"/>
              </a:rPr>
              <a:t>MORI BUILDING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23210" y="3194942"/>
            <a:ext cx="4475308" cy="2724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 b="1">
                <a:solidFill>
                  <a:srgbClr val="93C5FD"/>
                </a:solidFill>
                <a:latin typeface="Pretendard Variable"/>
              </a:rPr>
              <a:t>🌳 모리 빌딩 (Hills 시리즈)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23210" y="3452117"/>
            <a:ext cx="4475308" cy="7879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12">
                <a:latin typeface="Pretendard Variable"/>
              </a:defRPr>
            </a:pPr>
            <a:r>
              <a:rPr sz="1012" b="1">
                <a:solidFill>
                  <a:srgbClr val="1E3A8A"/>
                </a:solidFill>
                <a:latin typeface="Pretendard Variable"/>
              </a:rPr>
              <a:t>• 수직 통합 모델: 단일 디벨로퍼가 부지를 통합 매수하여 장기 보유·직영 운영. • 문화·산업 클러스터: 미술관, 호텔, 주거에 더해 도쿄 스타트업 허브 및 VC 허브를 유기 결합. • 도시 기능 내재화: 재정 불안 없는 장기 에리어 큐레이션 역량 확보.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25574" y="2988567"/>
            <a:ext cx="1224641" cy="2216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825">
                <a:latin typeface="Pretendard Variable"/>
              </a:defRPr>
            </a:pPr>
            <a:r>
              <a:rPr sz="825" b="1">
                <a:solidFill>
                  <a:srgbClr val="FFFFFF"/>
                </a:solidFill>
                <a:latin typeface="Pretendard Variable"/>
              </a:rPr>
              <a:t>MITSUI FUDOSAN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5574" y="3194942"/>
            <a:ext cx="4475487" cy="2724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 b="1">
                <a:solidFill>
                  <a:srgbClr val="1E3A8A"/>
                </a:solidFill>
                <a:latin typeface="Pretendard Variable"/>
              </a:rPr>
              <a:t>🏙️ 미쓰이 부동산 (니혼바시)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25574" y="3452117"/>
            <a:ext cx="4475487" cy="92725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12">
                <a:latin typeface="Pretendard Variable"/>
              </a:defRPr>
            </a:pPr>
            <a:r>
              <a:rPr sz="1012" b="1">
                <a:solidFill>
                  <a:srgbClr val="1E3A8A"/>
                </a:solidFill>
                <a:latin typeface="Pretendard Variable"/>
              </a:rPr>
              <a:t>• 도쿄 미드타운(롯폰기): 6.9ha 규모 복합 용도 개발에 약 20억 엔의 지자체 공공보조금 수령. • LINK-J 생태계: 라이프사이언스 및 바이오헬스케어 관련 다국적 기업, 연구소 클러스터 구축. • 우주·푸드테크: 미래 유망 신산업 지구 브랜딩과 에리어 매니지먼트의 결합.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90" y="4630836"/>
            <a:ext cx="11683707" cy="44128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425">
                <a:latin typeface="Pretendard Variable"/>
              </a:defRPr>
            </a:pPr>
            <a:r>
              <a:rPr sz="1425" b="1">
                <a:solidFill>
                  <a:srgbClr val="1E3A8A"/>
                </a:solidFill>
                <a:latin typeface="Pretendard Variable"/>
              </a:rPr>
              <a:t>※ 일본 디벨로퍼들은 단순히 건물을 짓는 데 그치지 않고 역사 복원, 바이오 클러스터 구축, 오픈 이노베이션 등 소프트웨어 차별화에 투자했습니다.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76385" y="2883495"/>
            <a:ext cx="1692917" cy="339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950">
                <a:latin typeface="Pretendard Variable"/>
              </a:defRPr>
            </a:pPr>
            <a:r>
              <a:rPr sz="1950" b="1">
                <a:solidFill>
                  <a:srgbClr val="0F172A"/>
                </a:solidFill>
                <a:latin typeface="Pretendard Variable"/>
              </a:rPr>
              <a:t>CHAPTER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95933" y="3220045"/>
            <a:ext cx="9253822" cy="63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4950">
                <a:latin typeface="Pretendard Variable"/>
              </a:defRPr>
            </a:pPr>
            <a:r>
              <a:rPr sz="4950" b="1">
                <a:solidFill>
                  <a:srgbClr val="0F172A"/>
                </a:solidFill>
                <a:latin typeface="Pretendard Variable"/>
              </a:rPr>
              <a:t>일본판 BID 제도와 오사카 모델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2041227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1E3A8A"/>
                </a:solidFill>
                <a:latin typeface="Pretendard Variable"/>
              </a:rPr>
              <a:t>[제도의 진화] 자발적 마을 만들기에서 법정 부담금 제도(일본판 BID)로의 도약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2346027"/>
            <a:ext cx="10159746" cy="5041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750">
                <a:latin typeface="Pretendard Variable"/>
              </a:defRPr>
            </a:pPr>
            <a:r>
              <a:rPr sz="3750" b="1">
                <a:solidFill>
                  <a:srgbClr val="1D1D1F"/>
                </a:solidFill>
                <a:latin typeface="Pretendard Variable"/>
              </a:rPr>
              <a:t>다층적 제도 발전과 2018년 법정 지역재생 부담금 제도(일본판 BID)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92252" y="2898477"/>
            <a:ext cx="58545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FFFFFF"/>
                </a:solidFill>
                <a:latin typeface="Pretendard Variable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20846" y="3177877"/>
            <a:ext cx="2638676" cy="2533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75">
                <a:latin typeface="Pretendard Variable"/>
              </a:defRPr>
            </a:pPr>
            <a:r>
              <a:rPr sz="1275" b="1">
                <a:solidFill>
                  <a:srgbClr val="1E3A8A"/>
                </a:solidFill>
                <a:latin typeface="Pretendard Variable"/>
              </a:rPr>
              <a:t>🏡 마치즈쿠리 (まちづくり)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20846" y="3390602"/>
            <a:ext cx="742410" cy="2120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750">
                <a:latin typeface="Pretendard Variable"/>
              </a:defRPr>
            </a:pPr>
            <a:r>
              <a:rPr sz="750" b="1">
                <a:solidFill>
                  <a:srgbClr val="1E3A8A"/>
                </a:solidFill>
                <a:latin typeface="Pretendard Variable"/>
              </a:rPr>
              <a:t>1960S ~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20846" y="3587452"/>
            <a:ext cx="3214289" cy="6280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1E3A8A"/>
                </a:solidFill>
                <a:latin typeface="Pretendard Variable"/>
              </a:rPr>
              <a:t>• 시민 참여형 자발적 마을 만들기. • 민법상 자발적 협의체 구조. • 강제력 및 재원 징수권이 없어 대규모 상업 지구 관리에 한계.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94050" y="2898477"/>
            <a:ext cx="58545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FFFFFF"/>
                </a:solidFill>
                <a:latin typeface="Pretendard Variable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22644" y="3177877"/>
            <a:ext cx="2638676" cy="2533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75">
                <a:latin typeface="Pretendard Variable"/>
              </a:defRPr>
            </a:pPr>
            <a:r>
              <a:rPr sz="1275" b="1">
                <a:solidFill>
                  <a:srgbClr val="1E3A8A"/>
                </a:solidFill>
                <a:latin typeface="Pretendard Variable"/>
              </a:rPr>
              <a:t>🏢 도시재생특별지구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22644" y="3390602"/>
            <a:ext cx="698963" cy="2120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750">
                <a:latin typeface="Pretendard Variable"/>
              </a:defRPr>
            </a:pPr>
            <a:r>
              <a:rPr sz="750" b="1">
                <a:solidFill>
                  <a:srgbClr val="1E3A8A"/>
                </a:solidFill>
                <a:latin typeface="Pretendard Variable"/>
              </a:rPr>
              <a:t>2002 ~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22644" y="3587452"/>
            <a:ext cx="3214289" cy="6280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1E3A8A"/>
                </a:solidFill>
                <a:latin typeface="Pretendard Variable"/>
              </a:rPr>
              <a:t>• 도시재생특별조치법 제정. • 용적률 등 규제를 획기적으로 완화. • 민간이 제안한 도심 역세권 중심 대규모 복합개발 촉진.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5847" y="2898477"/>
            <a:ext cx="58545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FFFFFF"/>
                </a:solidFill>
                <a:latin typeface="Pretendard Variable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24441" y="3177877"/>
            <a:ext cx="2638676" cy="2533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75">
                <a:latin typeface="Pretendard Variable"/>
              </a:defRPr>
            </a:pPr>
            <a:r>
              <a:rPr sz="1275" b="1">
                <a:solidFill>
                  <a:srgbClr val="1E3A8A"/>
                </a:solidFill>
                <a:latin typeface="Pretendard Variable"/>
              </a:rPr>
              <a:t>🌟 오사카판 BID 조례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4441" y="3390602"/>
            <a:ext cx="685728" cy="2120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750">
                <a:latin typeface="Pretendard Variable"/>
              </a:defRPr>
            </a:pPr>
            <a:r>
              <a:rPr sz="750" b="1">
                <a:solidFill>
                  <a:srgbClr val="1E3A8A"/>
                </a:solidFill>
                <a:latin typeface="Pretendard Variable"/>
              </a:rPr>
              <a:t>2014 ~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24441" y="3587452"/>
            <a:ext cx="3214289" cy="6280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1E3A8A"/>
                </a:solidFill>
                <a:latin typeface="Pretendard Variable"/>
              </a:rPr>
              <a:t>• 오사카시 독자 조례로 시범 적용. • 그랑프론트오사카(우메키타)에 최초 적용. • 지권자 12명에게 연 2,800만 엔을 징수하여 TMO에 교부하는 최초 시도.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97645" y="2898477"/>
            <a:ext cx="58545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FFFFFF"/>
                </a:solidFill>
                <a:latin typeface="Pretendard Variable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26239" y="3177877"/>
            <a:ext cx="3214289" cy="2533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75">
                <a:latin typeface="Pretendard Variable"/>
              </a:defRPr>
            </a:pPr>
            <a:r>
              <a:rPr sz="1275" b="1">
                <a:solidFill>
                  <a:srgbClr val="1E3A8A"/>
                </a:solidFill>
                <a:latin typeface="Pretendard Variable"/>
              </a:rPr>
              <a:t>⚖️ 지역재생법 개정 (일본판 BID)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26239" y="3390602"/>
            <a:ext cx="684433" cy="2120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750">
                <a:latin typeface="Pretendard Variable"/>
              </a:defRPr>
            </a:pPr>
            <a:r>
              <a:rPr sz="750" b="1">
                <a:solidFill>
                  <a:srgbClr val="1E3A8A"/>
                </a:solidFill>
                <a:latin typeface="Pretendard Variable"/>
              </a:rPr>
              <a:t>2018 ~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26239" y="3587452"/>
            <a:ext cx="3214289" cy="6280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1E3A8A"/>
                </a:solidFill>
                <a:latin typeface="Pretendard Variable"/>
              </a:rPr>
              <a:t>• 전국 단위 부담금제 법제화 완성. • 수익자 2/3 서면 동의 ➔ 시정촌 승인 ➔ 조례 제정 ➔ 부담금 징수 후 100% 교부. • 무임승차(Free-rider) 문제 차단.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0990" y="4466927"/>
            <a:ext cx="11683707" cy="44128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425">
                <a:latin typeface="Pretendard Variable"/>
              </a:defRPr>
            </a:pPr>
            <a:r>
              <a:rPr sz="1425" b="1">
                <a:solidFill>
                  <a:srgbClr val="1E3A8A"/>
                </a:solidFill>
                <a:latin typeface="Pretendard Variable"/>
              </a:rPr>
              <a:t>※ 2018년 개정안은 상업·업무지구 내 테넌트(사업자)를 대상으로 자산세·사업소세에 연계해 부담금을 징수함으로써 무임승차를 원천 봉쇄했습니다.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72955" y="2883495"/>
            <a:ext cx="1699678" cy="339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950">
                <a:latin typeface="Pretendard Variable"/>
              </a:defRPr>
            </a:pPr>
            <a:r>
              <a:rPr sz="1950" b="1">
                <a:solidFill>
                  <a:srgbClr val="0F172A"/>
                </a:solidFill>
                <a:latin typeface="Pretendard Variable"/>
              </a:rPr>
              <a:t>CHAPTER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14893" y="3220045"/>
            <a:ext cx="8615901" cy="63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4950">
                <a:latin typeface="Pretendard Variable"/>
              </a:defRPr>
            </a:pPr>
            <a:r>
              <a:rPr sz="4950" b="1">
                <a:solidFill>
                  <a:srgbClr val="0F172A"/>
                </a:solidFill>
                <a:latin typeface="Pretendard Variable"/>
              </a:rPr>
              <a:t>미·일 비교 및 SBD 전략 적용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6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532036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1E3A8A"/>
                </a:solidFill>
                <a:latin typeface="Pretendard Variable"/>
              </a:rPr>
              <a:t>[거버넌스 대조] 미국의 조세 기반 횡적 바텀업 vs 일본의 자본 기반 종적 탑다운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836836"/>
            <a:ext cx="10159746" cy="9169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750">
                <a:latin typeface="Pretendard Variable"/>
              </a:defRPr>
            </a:pPr>
            <a:r>
              <a:rPr sz="3750" b="1">
                <a:solidFill>
                  <a:srgbClr val="1D1D1F"/>
                </a:solidFill>
                <a:latin typeface="Pretendard Variable"/>
              </a:rPr>
              <a:t>미국의 횡적 바텀업(Bottom-up) 연대 vs 일본의 종적 탑다운(Top-down) 통합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04992" y="3056036"/>
            <a:ext cx="2294554" cy="2565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FFFFFF"/>
                </a:solidFill>
                <a:latin typeface="Pretendard Variable"/>
              </a:rPr>
              <a:t>US: HORIZONTAL ALLIANCE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04992" y="3322736"/>
            <a:ext cx="6574625" cy="3009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650">
                <a:latin typeface="Pretendard Variable"/>
              </a:defRPr>
            </a:pPr>
            <a:r>
              <a:rPr sz="1650" b="1">
                <a:solidFill>
                  <a:srgbClr val="1E3A8A"/>
                </a:solidFill>
                <a:latin typeface="Pretendard Variable"/>
              </a:rPr>
              <a:t>🇺🇸 미국의 조세 중심 바텀업 모델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992" y="3633886"/>
            <a:ext cx="6574625" cy="54030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87">
                <a:latin typeface="Pretendard Variable"/>
              </a:defRPr>
            </a:pPr>
            <a:r>
              <a:rPr sz="1087" b="1">
                <a:solidFill>
                  <a:srgbClr val="1E3A8A"/>
                </a:solidFill>
                <a:latin typeface="Pretendard Variable"/>
              </a:rPr>
              <a:t>• 다수 소유자의 횡적 결집: 소유권이 잘게 쪼개진 상업 지구에서, 무임승차를 해결하기 위해 지권자들이 스스로 법적 추가 세금을 결의하여 기금을 공동 운영합니다.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04992" y="4158952"/>
            <a:ext cx="6574625" cy="54030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87">
                <a:latin typeface="Pretendard Variable"/>
              </a:defRPr>
            </a:pPr>
            <a:r>
              <a:rPr sz="1087" b="1">
                <a:solidFill>
                  <a:srgbClr val="1E3A8A"/>
                </a:solidFill>
                <a:latin typeface="Pretendard Variable"/>
              </a:rPr>
              <a:t>• 강력한 재원 강제성과 기획의 한계: 100% 강제 징수로 예산 안정성은 매우 높으나, 수백 명의 지권자 합의가 필요해 통합 마스터플랜의 빠른 실행과 통제가 어렵습니다.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75240" y="3056036"/>
            <a:ext cx="2738349" cy="2565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FFFFFF"/>
                </a:solidFill>
                <a:latin typeface="Pretendard Variable"/>
              </a:rPr>
              <a:t>JP: VERTICAL INTEGRATION &amp; TOD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5240" y="3322736"/>
            <a:ext cx="6574625" cy="3009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650">
                <a:latin typeface="Pretendard Variable"/>
              </a:defRPr>
            </a:pPr>
            <a:r>
              <a:rPr sz="1650" b="1">
                <a:solidFill>
                  <a:srgbClr val="93C5FD"/>
                </a:solidFill>
                <a:latin typeface="Pretendard Variable"/>
              </a:rPr>
              <a:t>🇯🇵 일본의 자본 중심 탑다운 모델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5240" y="3633886"/>
            <a:ext cx="6574625" cy="54030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87">
                <a:latin typeface="Pretendard Variable"/>
              </a:defRPr>
            </a:pPr>
            <a:r>
              <a:rPr sz="1087" b="1">
                <a:solidFill>
                  <a:srgbClr val="1E3A8A"/>
                </a:solidFill>
                <a:latin typeface="Pretendard Variable"/>
              </a:rPr>
              <a:t>• 대형 디벨로퍼의 수직적 통합: 단일 또는 소수 앵커 디벨로퍼가 부지를 대규모로 확보해 직접 기획, 건설, 운영을 일체화하여 완결성 높은 장기 마스터플랜을 구사합니다.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5240" y="4158952"/>
            <a:ext cx="6574625" cy="54030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87">
                <a:latin typeface="Pretendard Variable"/>
              </a:defRPr>
            </a:pPr>
            <a:r>
              <a:rPr sz="1087" b="1">
                <a:solidFill>
                  <a:srgbClr val="1E3A8A"/>
                </a:solidFill>
                <a:latin typeface="Pretendard Variable"/>
              </a:rPr>
              <a:t>• 철도 역세권(TOD) 및 타운 매니지먼트의 일체화: 시부야, 도쿄역 등 대형 복합 환승역과 주변 상업 개발에 철도사업자가 기획 단계부터 직접 참여하여 대중교통 연계 에리어 매니지먼트를 내재화했습니다.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90" y="4976117"/>
            <a:ext cx="11683707" cy="44128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425">
                <a:latin typeface="Pretendard Variable"/>
              </a:defRPr>
            </a:pPr>
            <a:r>
              <a:rPr sz="1425" b="1">
                <a:solidFill>
                  <a:srgbClr val="1E3A8A"/>
                </a:solidFill>
                <a:latin typeface="Pretendard Variable"/>
              </a:rPr>
              <a:t>※ 미국은 조세라는 ‘제도적 장치’로 흩어진 소유주를 묶었고, 일본은 대기업의 ‘자본과 개발권’을 축으로 공간을 통합해 입체적으로 관리해 왔습니다.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744364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1E3A8A"/>
                </a:solidFill>
                <a:latin typeface="Pretendard Variable"/>
              </a:rPr>
              <a:t>[서울형의 제안] 미국형 BID와 일본형 타운매니지먼트를 융합한 SBD 하이브리드 거버넌스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2049164"/>
            <a:ext cx="10159746" cy="5041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750">
                <a:latin typeface="Pretendard Variable"/>
              </a:defRPr>
            </a:pPr>
            <a:r>
              <a:rPr sz="3750" b="1">
                <a:solidFill>
                  <a:srgbClr val="1D1D1F"/>
                </a:solidFill>
                <a:latin typeface="Pretendard Variable"/>
              </a:rPr>
              <a:t>미국형 BID · 일본형 타운 매니지먼트 · 서울형 SBD 적용 모델 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0990" y="4763789"/>
            <a:ext cx="11683707" cy="44128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425">
                <a:latin typeface="Pretendard Variable"/>
              </a:defRPr>
            </a:pPr>
            <a:r>
              <a:rPr sz="1425" b="1">
                <a:solidFill>
                  <a:srgbClr val="1E3A8A"/>
                </a:solidFill>
                <a:latin typeface="Pretendard Variable"/>
              </a:rPr>
              <a:t>※ 제안하는 서울형 SBD 모델은 미국의 공공 위탁 및 부분 강제 조항과 일본의 앵커 디벨로퍼 주도 기획력을 결합한 하이브리드 거버넌스를 목표로 합니다.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716213" y="2883495"/>
            <a:ext cx="1013161" cy="339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950">
                <a:latin typeface="Pretendard Variable"/>
              </a:defRPr>
            </a:pPr>
            <a:r>
              <a:rPr sz="1950">
                <a:solidFill>
                  <a:srgbClr val="FFFFFF"/>
                </a:solidFill>
                <a:latin typeface="Pretendard Variable"/>
              </a:rPr>
              <a:t>PART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-259926" y="3220045"/>
            <a:ext cx="12965443" cy="63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4950">
                <a:latin typeface="Pretendard Variable"/>
              </a:defRPr>
            </a:pPr>
            <a:r>
              <a:rPr sz="4950" b="1">
                <a:solidFill>
                  <a:srgbClr val="FFFFFF"/>
                </a:solidFill>
                <a:latin typeface="Pretendard Variable"/>
              </a:rPr>
              <a:t>서울의 제4 업무지구 SBD 정립과 미래 비전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93073" y="2883495"/>
            <a:ext cx="1659540" cy="339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950">
                <a:latin typeface="Pretendard Variable"/>
              </a:defRPr>
            </a:pPr>
            <a:r>
              <a:rPr sz="1950" b="1">
                <a:solidFill>
                  <a:srgbClr val="0F172A"/>
                </a:solidFill>
                <a:latin typeface="Pretendard Variable"/>
              </a:rPr>
              <a:t>CHAPTER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06877" y="3220045"/>
            <a:ext cx="8231934" cy="63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4950">
                <a:latin typeface="Pretendard Variable"/>
              </a:defRPr>
            </a:pPr>
            <a:r>
              <a:rPr sz="4950" b="1">
                <a:solidFill>
                  <a:srgbClr val="0F172A"/>
                </a:solidFill>
                <a:latin typeface="Pretendard Variable"/>
              </a:rPr>
              <a:t>SBD 핵심 자산과 공공 기여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6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563489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1E3A8A"/>
                </a:solidFill>
                <a:latin typeface="Pretendard Variable"/>
              </a:rPr>
              <a:t>국내 도시재생 사업의 한계와 조세 저항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868289"/>
            <a:ext cx="10159746" cy="5041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750">
                <a:latin typeface="Pretendard Variable"/>
              </a:defRPr>
            </a:pPr>
            <a:r>
              <a:rPr sz="3750" b="1">
                <a:solidFill>
                  <a:srgbClr val="0F172A"/>
                </a:solidFill>
                <a:latin typeface="Pretendard Variable"/>
              </a:rPr>
              <a:t>서울 도심 BID 도입의 한계와 5대 제도적 암초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5942" y="2655689"/>
            <a:ext cx="1898443" cy="2565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FFFFFF"/>
                </a:solidFill>
                <a:latin typeface="Pretendard Variable"/>
              </a:rPr>
              <a:t>SPACE DISCORDANCE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5942" y="2922389"/>
            <a:ext cx="3747289" cy="2835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650">
                <a:latin typeface="Pretendard Variable"/>
              </a:defRPr>
            </a:pPr>
            <a:r>
              <a:rPr sz="1650" b="1">
                <a:solidFill>
                  <a:srgbClr val="0F172A"/>
                </a:solidFill>
                <a:latin typeface="Pretendard Variable"/>
              </a:rPr>
              <a:t>도심의 물리적 단절 현상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5942" y="3216076"/>
            <a:ext cx="4590498" cy="5248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>
                <a:solidFill>
                  <a:srgbClr val="1E3A8A"/>
                </a:solidFill>
                <a:latin typeface="Pretendard Variable"/>
              </a:rPr>
              <a:t>수천억 원이 투입된 초고급 프라임 오피스(트로피 에셋) 빌딩 내부와 달리, 회전문을 나서는 순간 낙후되고 단절된 보행 가로망이 방치되는 공간적 모순이 발생하고 있습니다.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65000" y="2655689"/>
            <a:ext cx="1727712" cy="2565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FFFFFF"/>
                </a:solidFill>
                <a:latin typeface="Pretendard Variable"/>
              </a:rPr>
              <a:t>THE FIVE BARRIERS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65000" y="2922389"/>
            <a:ext cx="8787346" cy="2835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650">
                <a:latin typeface="Pretendard Variable"/>
              </a:defRPr>
            </a:pPr>
            <a:r>
              <a:rPr sz="1650" b="1">
                <a:solidFill>
                  <a:srgbClr val="0F172A"/>
                </a:solidFill>
                <a:latin typeface="Pretendard Variable"/>
              </a:rPr>
              <a:t>도입 실패의 5대 구조적 근원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60248" y="3362126"/>
            <a:ext cx="1264203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BARRIER 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60248" y="3501826"/>
            <a:ext cx="1264203" cy="21050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0F172A"/>
                </a:solidFill>
                <a:latin typeface="Pretendard Variable"/>
              </a:rPr>
              <a:t>법적 근거 부재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60248" y="3671689"/>
            <a:ext cx="1508047" cy="5867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강제 부담금 징수 법령 부재로 무임승차자가 양산되어 자발적 협의체는 재원 부족으로 소멸.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23638" y="3362126"/>
            <a:ext cx="1264203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BARRIER 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23638" y="3501826"/>
            <a:ext cx="1264203" cy="21050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0F172A"/>
                </a:solidFill>
                <a:latin typeface="Pretendard Variable"/>
              </a:rPr>
              <a:t>소유 분절 구조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23638" y="3671689"/>
            <a:ext cx="1508047" cy="7105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서울 도심은 수백 명의 개별 소유자로 분절되어 복잡한 이해관계 조정 및 협의체 구성이 극히 곤란.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87028" y="3362126"/>
            <a:ext cx="1264203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BARRIER 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87028" y="3501826"/>
            <a:ext cx="1264203" cy="21050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0F172A"/>
                </a:solidFill>
                <a:latin typeface="Pretendard Variable"/>
              </a:rPr>
              <a:t>공공 의존 관성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87028" y="3671689"/>
            <a:ext cx="1508047" cy="7105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"도시 정비와 서비스는 공공이 전담해야 한다"는 관성이 지배하여 민간 주도의 환경 개선 구조에 대한 거부감 존재.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50418" y="3362126"/>
            <a:ext cx="1264203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BARRIER 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50418" y="3501826"/>
            <a:ext cx="1264203" cy="21050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0F172A"/>
                </a:solidFill>
                <a:latin typeface="Pretendard Variable"/>
              </a:rPr>
              <a:t>트리거 자산 부재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50418" y="3671689"/>
            <a:ext cx="1508047" cy="7105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BID의 기폭제 역할을 할 초대형 앵커 개발자 부재. 지금까지 서울역 권역에는 대규모 민간 플레이어가 없었음.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13808" y="3362126"/>
            <a:ext cx="1264203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BARRIER 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13808" y="3501826"/>
            <a:ext cx="1264203" cy="21050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1E3A8A"/>
                </a:solidFill>
                <a:latin typeface="Pretendard Variable"/>
              </a:rPr>
              <a:t>준조세 저항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13808" y="3671689"/>
            <a:ext cx="1508047" cy="7105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조세 법률주의 하에 추가 부담금을 '준조세'로 인식하는 저항 심리와 상권 활성화 매출 직결에 대한 상호 신뢰 부족.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65000" y="4595614"/>
            <a:ext cx="2188472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1E3A8A"/>
                </a:solidFill>
                <a:latin typeface="Pretendard Variable"/>
              </a:rPr>
              <a:t>ROOT SOLUTION NEEDED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77791" y="4621014"/>
            <a:ext cx="5344324" cy="215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1E3A8A"/>
                </a:solidFill>
                <a:latin typeface="Pretendard Variable"/>
              </a:rPr>
              <a:t>* 단순한 재정 지원을 넘어 제도적 암초를 해결하는 새로운 민간 플레이어 주도의 돌파구 필요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90219" y="5119489"/>
            <a:ext cx="9994253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1E3A8A"/>
                </a:solidFill>
                <a:latin typeface="Pretendard Variable"/>
              </a:rPr>
              <a:t>▪ 미국식 법적 징수 권한의 결여와 극도로 분절된 소유주 구조 및 준조세 저항이 한국형 BID 도입을 저지해 온 핵심 암초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6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216521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1E3A8A"/>
                </a:solidFill>
                <a:latin typeface="Pretendard Variable"/>
              </a:rPr>
              <a:t>왜 지금이 타이밍인가?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521321"/>
            <a:ext cx="10159746" cy="5041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750">
                <a:latin typeface="Pretendard Variable"/>
              </a:defRPr>
            </a:pPr>
            <a:r>
              <a:rPr sz="3750" b="1">
                <a:solidFill>
                  <a:srgbClr val="0F172A"/>
                </a:solidFill>
                <a:latin typeface="Pretendard Variable"/>
              </a:rPr>
              <a:t>이오타서울과 서울역 대형 기관 소유주 블록의 형성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5974" y="2308721"/>
            <a:ext cx="10159746" cy="2565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FFFFFF"/>
                </a:solidFill>
                <a:latin typeface="Pretendard Variable"/>
              </a:rPr>
              <a:t>STRATEGIC TRIGGERS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5942" y="2575421"/>
            <a:ext cx="6001200" cy="2835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650">
                <a:latin typeface="Pretendard Variable"/>
              </a:defRPr>
            </a:pPr>
            <a:r>
              <a:rPr sz="1650" b="1">
                <a:solidFill>
                  <a:srgbClr val="0F172A"/>
                </a:solidFill>
                <a:latin typeface="Pretendard Variable"/>
              </a:rPr>
              <a:t>방정식을 바꾸는 4대 기폭제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93890" y="3027858"/>
            <a:ext cx="3341088" cy="2247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 b="1">
                <a:solidFill>
                  <a:srgbClr val="1E3A8A"/>
                </a:solidFill>
                <a:latin typeface="Pretendard Variable"/>
              </a:rPr>
              <a:t>01. 대형 기관 소유주 블록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93890" y="3212008"/>
            <a:ext cx="3341088" cy="4783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37">
                <a:latin typeface="Pretendard Variable"/>
              </a:defRPr>
            </a:pPr>
            <a:r>
              <a:rPr sz="937" b="1">
                <a:solidFill>
                  <a:srgbClr val="1E3A8A"/>
                </a:solidFill>
                <a:latin typeface="Pretendard Variable"/>
              </a:rPr>
              <a:t>이지스(이오타서울, 46만㎡) + 한화(북부역세권, 35만㎡) + 서소문·봉래 복수 사업자로 서울역 권역 최초 대형 기관 소유주 블록 형성.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26434" y="3027858"/>
            <a:ext cx="2740963" cy="2247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 b="1">
                <a:solidFill>
                  <a:srgbClr val="1E3A8A"/>
                </a:solidFill>
                <a:latin typeface="Pretendard Variable"/>
              </a:rPr>
              <a:t>02. 축구장 크기 공개녹지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26434" y="3212008"/>
            <a:ext cx="3341266" cy="4783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37">
                <a:latin typeface="Pretendard Variable"/>
              </a:defRPr>
            </a:pPr>
            <a:r>
              <a:rPr sz="937" b="1">
                <a:solidFill>
                  <a:srgbClr val="1E3A8A"/>
                </a:solidFill>
                <a:latin typeface="Pretendard Variable"/>
              </a:rPr>
              <a:t>이오타서울의 기부채납 입체 공개녹지(7,000㎡)가 단순 오픈스페이스를 넘어 광역 BID 운영의 핵심 물리적 거점으로 최적화.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93890" y="3916461"/>
            <a:ext cx="3341088" cy="2247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 b="1">
                <a:solidFill>
                  <a:srgbClr val="1E3A8A"/>
                </a:solidFill>
                <a:latin typeface="Pretendard Variable"/>
              </a:rPr>
              <a:t>03. 용산 IBD 연계 압력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93890" y="4100611"/>
            <a:ext cx="3341088" cy="3494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37">
                <a:latin typeface="Pretendard Variable"/>
              </a:defRPr>
            </a:pPr>
            <a:r>
              <a:rPr sz="937" b="1">
                <a:solidFill>
                  <a:srgbClr val="1E3A8A"/>
                </a:solidFill>
                <a:latin typeface="Pretendard Variable"/>
              </a:rPr>
              <a:t>용산 IBD 2025년 착공 및 2030년 입주 개시에 따라 SBD-용산 축의 광역 보행 및 업무 연계 압력이 자연 발생.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6434" y="3916461"/>
            <a:ext cx="2740963" cy="2247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 b="1">
                <a:solidFill>
                  <a:srgbClr val="1E3A8A"/>
                </a:solidFill>
                <a:latin typeface="Pretendard Variable"/>
              </a:rPr>
              <a:t>04. 시 예산 매칭 재원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26434" y="4100611"/>
            <a:ext cx="3341266" cy="3494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37">
                <a:latin typeface="Pretendard Variable"/>
              </a:defRPr>
            </a:pPr>
            <a:r>
              <a:rPr sz="937" b="1">
                <a:solidFill>
                  <a:srgbClr val="1E3A8A"/>
                </a:solidFill>
                <a:latin typeface="Pretendard Variable"/>
              </a:rPr>
              <a:t>서울시의 도심 도시재생 예산 2,482억 원 계획을 활용, BID 설립 및 공공 서비스 위탁에 따른 매칭 재원 연결 가능.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5974" y="2308721"/>
            <a:ext cx="10159746" cy="2565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FFFFFF"/>
                </a:solidFill>
                <a:latin typeface="Pretendard Variable"/>
              </a:rPr>
              <a:t>TIMELINE ROADMAP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19421" y="2575421"/>
            <a:ext cx="5989388" cy="2835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650">
                <a:latin typeface="Pretendard Variable"/>
              </a:defRPr>
            </a:pPr>
            <a:r>
              <a:rPr sz="1650" b="1">
                <a:solidFill>
                  <a:srgbClr val="FFFFFF"/>
                </a:solidFill>
                <a:latin typeface="Pretendard Variable"/>
              </a:rPr>
              <a:t>다시 오지 않을 SBD 브랜드 골든타임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27369" y="3080246"/>
            <a:ext cx="990575" cy="2692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2100">
                <a:latin typeface="Pretendard Variable"/>
              </a:defRPr>
            </a:pPr>
            <a:r>
              <a:rPr sz="2100" b="1">
                <a:solidFill>
                  <a:srgbClr val="93C5FD"/>
                </a:solidFill>
                <a:latin typeface="Pretendard Variable"/>
              </a:rPr>
              <a:t>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36953" y="3027858"/>
            <a:ext cx="3343320" cy="2247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 b="1">
                <a:solidFill>
                  <a:srgbClr val="FFFFFF"/>
                </a:solidFill>
                <a:latin typeface="Pretendard Variable"/>
              </a:rPr>
              <a:t>SBD BID 제도 설계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36953" y="3186608"/>
            <a:ext cx="4089019" cy="215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>
                <a:solidFill>
                  <a:srgbClr val="1E3A8A"/>
                </a:solidFill>
                <a:latin typeface="Pretendard Variable"/>
              </a:rPr>
              <a:t>이지스-한화 공동 협의 구성 및 서울시 매칭 조례 연동 BID 법제 가이드 수립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27369" y="3680321"/>
            <a:ext cx="990575" cy="2692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2100">
                <a:latin typeface="Pretendard Variable"/>
              </a:defRPr>
            </a:pPr>
            <a:r>
              <a:rPr sz="2100" b="1">
                <a:solidFill>
                  <a:srgbClr val="93C5FD"/>
                </a:solidFill>
                <a:latin typeface="Pretendard Variable"/>
              </a:rPr>
              <a:t>2028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36953" y="3627933"/>
            <a:ext cx="3504735" cy="2247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 b="1">
                <a:solidFill>
                  <a:srgbClr val="FFFFFF"/>
                </a:solidFill>
                <a:latin typeface="Pretendard Variable"/>
              </a:rPr>
              <a:t>착공 시점 BID 조기 출범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36953" y="3786683"/>
            <a:ext cx="4289397" cy="215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>
                <a:solidFill>
                  <a:srgbClr val="1E3A8A"/>
                </a:solidFill>
                <a:latin typeface="Pretendard Variable"/>
              </a:rPr>
              <a:t>건물이 완공된 후 논의하면 지체됨. 물리적 착공 시점에 조기 운영 거버넌스 출범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27369" y="4280396"/>
            <a:ext cx="990575" cy="2692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2100">
                <a:latin typeface="Pretendard Variable"/>
              </a:defRPr>
            </a:pPr>
            <a:r>
              <a:rPr sz="2100" b="1">
                <a:solidFill>
                  <a:srgbClr val="1E3A8A"/>
                </a:solidFill>
                <a:latin typeface="Pretendard Variable"/>
              </a:rPr>
              <a:t>2030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36953" y="4228008"/>
            <a:ext cx="3479673" cy="2247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 b="1">
                <a:solidFill>
                  <a:srgbClr val="1E3A8A"/>
                </a:solidFill>
                <a:latin typeface="Pretendard Variable"/>
              </a:rPr>
              <a:t>완공 및 SBD 브랜드 시장 론칭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36953" y="4386758"/>
            <a:ext cx="3479673" cy="215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>
                <a:solidFill>
                  <a:srgbClr val="1E3A8A"/>
                </a:solidFill>
                <a:latin typeface="Pretendard Variable"/>
              </a:rPr>
              <a:t>이오타서울 오프닝에 맞춰 물리적 자산과 지구 브랜드 통합 런칭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19421" y="4720133"/>
            <a:ext cx="5989388" cy="3136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* 2030년 완공 시점에 브랜딩을 완료하려면 2028년 착공 시점에 BID를 반드시 정립해야 함.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20926" y="5291633"/>
            <a:ext cx="11683707" cy="44128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1E3A8A"/>
                </a:solidFill>
                <a:latin typeface="Pretendard Variable"/>
              </a:rPr>
              <a:t>▪ 대규모 기관 소유주 블록 형성을 기반으로 2026년 설계, 2028년 착공 시 출범하여 2030년 완공 즉시 SBD 브랜드 가치를 시장에 론칭해야 합니다.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502370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1E3A8A"/>
                </a:solidFill>
                <a:latin typeface="Pretendard Variable"/>
              </a:rPr>
              <a:t>SBD BID 추진의 주체별 핵심 메시지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807170"/>
            <a:ext cx="10159746" cy="5041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750">
                <a:latin typeface="Pretendard Variable"/>
              </a:defRPr>
            </a:pPr>
            <a:r>
              <a:rPr sz="3750" b="1">
                <a:solidFill>
                  <a:srgbClr val="0F172A"/>
                </a:solidFill>
                <a:latin typeface="Pretendard Variable"/>
              </a:rPr>
              <a:t>이해관계자별 가치 정립: SBD BID 추진의 핵심 메시지 매트릭스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39818" y="5180607"/>
            <a:ext cx="10175699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1E3A8A"/>
                </a:solidFill>
                <a:latin typeface="Pretendard Variable"/>
              </a:rPr>
              <a:t>▪ 자산 운용사, 건설 디벨로퍼, 공공 지방정부, 지역 주민과 소상공인까지 개별 가치를 정교하게 연계한 이해관계 매트릭스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76385" y="2883495"/>
            <a:ext cx="1692917" cy="339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950">
                <a:latin typeface="Pretendard Variable"/>
              </a:defRPr>
            </a:pPr>
            <a:r>
              <a:rPr sz="1950" b="1">
                <a:solidFill>
                  <a:srgbClr val="0F172A"/>
                </a:solidFill>
                <a:latin typeface="Pretendard Variable"/>
              </a:rPr>
              <a:t>CHAPTER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76159" y="3220045"/>
            <a:ext cx="9093270" cy="63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4950">
                <a:latin typeface="Pretendard Variable"/>
              </a:defRPr>
            </a:pPr>
            <a:r>
              <a:rPr sz="4950" b="1">
                <a:solidFill>
                  <a:srgbClr val="0F172A"/>
                </a:solidFill>
                <a:latin typeface="Pretendard Variable"/>
              </a:rPr>
              <a:t>서울형 BID 커스터마이징 전략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7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496020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1E3A8A"/>
                </a:solidFill>
                <a:latin typeface="Pretendard Variable"/>
              </a:rPr>
              <a:t>한국의 현황과 제도적 공백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800820"/>
            <a:ext cx="10159746" cy="5041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750">
                <a:latin typeface="Pretendard Variable"/>
              </a:defRPr>
            </a:pPr>
            <a:r>
              <a:rPr sz="3750" b="1">
                <a:solidFill>
                  <a:srgbClr val="0F172A"/>
                </a:solidFill>
                <a:latin typeface="Pretendard Variable"/>
              </a:rPr>
              <a:t>통합 법제 부재와 제도적 한계: 서울 도심 BID의 3대 구조적 난제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5942" y="2588220"/>
            <a:ext cx="2587798" cy="2565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FFFFFF"/>
                </a:solidFill>
                <a:latin typeface="Pretendard Variable"/>
              </a:rPr>
              <a:t>LEGISLATION COVERAGE CHART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5942" y="2854920"/>
            <a:ext cx="6409073" cy="2835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650">
                <a:latin typeface="Pretendard Variable"/>
              </a:defRPr>
            </a:pPr>
            <a:r>
              <a:rPr sz="1650" b="1">
                <a:solidFill>
                  <a:srgbClr val="0F172A"/>
                </a:solidFill>
                <a:latin typeface="Pretendard Variable"/>
              </a:rPr>
              <a:t>현행 유사 법제 커버리지 대조표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75319" y="2588220"/>
            <a:ext cx="2379384" cy="2565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FFFFFF"/>
                </a:solidFill>
                <a:latin typeface="Pretendard Variable"/>
              </a:rPr>
              <a:t>OBSTACLE HURDLE DIAGRAM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5319" y="2854920"/>
            <a:ext cx="6968772" cy="2835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650">
                <a:latin typeface="Pretendard Variable"/>
              </a:defRPr>
            </a:pPr>
            <a:r>
              <a:rPr sz="1650" b="1">
                <a:solidFill>
                  <a:srgbClr val="0F172A"/>
                </a:solidFill>
                <a:latin typeface="Pretendard Variable"/>
              </a:rPr>
              <a:t>제도 안착을 가로막는 3대 허들 구조도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44550" y="5186957"/>
            <a:ext cx="11238484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1E3A8A"/>
                </a:solidFill>
                <a:latin typeface="Pretendard Variable"/>
              </a:rPr>
              <a:t>▪ 통합 법제 부재 상황에서 강제부담금 징수권, 재산세 연동 이중과세, 위헌 시비 방지를 위한 정교한 3대 입법 허들 돌파 전략이 요구됨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7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457126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1E3A8A"/>
                </a:solidFill>
                <a:latin typeface="Pretendard Variable"/>
              </a:rPr>
              <a:t>무교·다동 타운 매니지먼트 실험의 시사점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761926"/>
            <a:ext cx="10159746" cy="5041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750">
                <a:latin typeface="Pretendard Variable"/>
              </a:defRPr>
            </a:pPr>
            <a:r>
              <a:rPr sz="3750" b="1">
                <a:solidFill>
                  <a:srgbClr val="0F172A"/>
                </a:solidFill>
                <a:latin typeface="Pretendard Variable"/>
              </a:rPr>
              <a:t>자발적 연합의 한계: 무교·다동 실험이 남긴 무임승차(Free-rider) 교훈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5942" y="2549326"/>
            <a:ext cx="3349303" cy="2565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FFFFFF"/>
                </a:solidFill>
                <a:latin typeface="Pretendard Variable"/>
              </a:rPr>
              <a:t>DISTRICT STRUCTURE &amp; SOFT GOVERNANCE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5942" y="2816026"/>
            <a:ext cx="6409073" cy="2835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650">
                <a:latin typeface="Pretendard Variable"/>
              </a:defRPr>
            </a:pPr>
            <a:r>
              <a:rPr sz="1650" b="1">
                <a:solidFill>
                  <a:srgbClr val="0F172A"/>
                </a:solidFill>
                <a:latin typeface="Pretendard Variable"/>
              </a:rPr>
              <a:t>무교·다동 구역 소유구조 격자망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5942" y="4608314"/>
            <a:ext cx="6409073" cy="3597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1E3A8A"/>
                </a:solidFill>
                <a:latin typeface="Pretendard Variable"/>
              </a:rPr>
              <a:t>대형 빌딩주들과 골목 영세 업소의 복잡한 분절 구조 속에서, 법적 의무 없는 자발적 기부금 유치 모델은 지속적인 재원 마련에 한계를 드러냈습니다.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5319" y="2549326"/>
            <a:ext cx="3052666" cy="2565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FFFFFF"/>
                </a:solidFill>
                <a:latin typeface="Pretendard Variable"/>
              </a:rPr>
              <a:t>RESOURCE PIPELINE &amp; FREE-RIDER LOOP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5319" y="2816026"/>
            <a:ext cx="6968772" cy="2835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650">
                <a:latin typeface="Pretendard Variable"/>
              </a:defRPr>
            </a:pPr>
            <a:r>
              <a:rPr sz="1650" b="1">
                <a:solidFill>
                  <a:srgbClr val="EF4444"/>
                </a:solidFill>
                <a:latin typeface="Pretendard Variable"/>
              </a:rPr>
              <a:t>자발적 모델의 재원 쇠퇴 루프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51118" y="5225851"/>
            <a:ext cx="10494839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1E3A8A"/>
                </a:solidFill>
                <a:latin typeface="Pretendard Variable"/>
              </a:rPr>
              <a:t>▪ 자발성에만 의존했던 무교·다동 실험은 부담금 강제성 결여로 인해 유동 재원을 마련하지 못하고 만성적 한계를 보였습니다.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7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446807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1E3A8A"/>
                </a:solidFill>
                <a:latin typeface="Pretendard Variable"/>
              </a:rPr>
              <a:t>서울 적용을 위한 제도적 커스터마이징 방향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751607"/>
            <a:ext cx="10159746" cy="5041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750">
                <a:latin typeface="Pretendard Variable"/>
              </a:defRPr>
            </a:pPr>
            <a:r>
              <a:rPr sz="3750" b="1">
                <a:solidFill>
                  <a:srgbClr val="0F172A"/>
                </a:solidFill>
                <a:latin typeface="Pretendard Variable"/>
              </a:rPr>
              <a:t>서울형 BID 안착을 위한 5대 제도적 커스터마이징 전략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5942" y="2539007"/>
            <a:ext cx="2838716" cy="2565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FFFFFF"/>
                </a:solidFill>
                <a:latin typeface="Pretendard Variable"/>
              </a:rPr>
              <a:t>CUSTOMIZATION MECHANISM GEAR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5942" y="2805707"/>
            <a:ext cx="6688922" cy="2835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650">
                <a:latin typeface="Pretendard Variable"/>
              </a:defRPr>
            </a:pPr>
            <a:r>
              <a:rPr sz="1650" b="1">
                <a:solidFill>
                  <a:srgbClr val="0F172A"/>
                </a:solidFill>
                <a:latin typeface="Pretendard Variable"/>
              </a:rPr>
              <a:t>5대 커스터마이징 유기적 연결 구조도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30791" y="2539007"/>
            <a:ext cx="2167220" cy="2565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FFFFFF"/>
                </a:solidFill>
                <a:latin typeface="Pretendard Variable"/>
              </a:rPr>
              <a:t>STRATEGY MATRIX TABLE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30791" y="2805707"/>
            <a:ext cx="6688922" cy="2835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650">
                <a:latin typeface="Pretendard Variable"/>
              </a:defRPr>
            </a:pPr>
            <a:r>
              <a:rPr sz="1650" b="1">
                <a:solidFill>
                  <a:srgbClr val="0F172A"/>
                </a:solidFill>
                <a:latin typeface="Pretendard Variable"/>
              </a:rPr>
              <a:t>5대 맞춤 전략 실행 세부사항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30791" y="3099395"/>
            <a:ext cx="6688922" cy="215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1E3A8A"/>
                </a:solidFill>
                <a:latin typeface="Pretendard Variable"/>
              </a:rPr>
              <a:t>① 법적 근거 신설 (일본 선례 벤치마킹)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30791" y="3235920"/>
            <a:ext cx="6688922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>
                <a:solidFill>
                  <a:srgbClr val="1E3A8A"/>
                </a:solidFill>
                <a:latin typeface="Pretendard Variable"/>
              </a:rPr>
              <a:t>에리어매니지먼트법 제정, 소유주+임차인 이중 구조 및 동의 요건 완화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30791" y="3483570"/>
            <a:ext cx="6688922" cy="215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1E3A8A"/>
                </a:solidFill>
                <a:latin typeface="Pretendard Variable"/>
              </a:rPr>
              <a:t>② 공공기여의 BID 연동 위탁 구조화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30791" y="3620095"/>
            <a:ext cx="6688922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>
                <a:solidFill>
                  <a:srgbClr val="1E3A8A"/>
                </a:solidFill>
                <a:latin typeface="Pretendard Variable"/>
              </a:rPr>
              <a:t>기부채납 공원 관리권을 BID에 위탁, 시 예산 매칭 서비스 계약 모델 도입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30791" y="3867745"/>
            <a:ext cx="6688922" cy="215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1E3A8A"/>
                </a:solidFill>
                <a:latin typeface="Pretendard Variable"/>
              </a:rPr>
              <a:t>③ 소유 분절 해결을 위한 앵커 디벨로퍼 주도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30791" y="4004270"/>
            <a:ext cx="6688922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>
                <a:solidFill>
                  <a:srgbClr val="1E3A8A"/>
                </a:solidFill>
                <a:latin typeface="Pretendard Variable"/>
              </a:rPr>
              <a:t>재개발 조합/정비시행자를 주체로 편입하고 대형 앵커 투자자를 발의 핵심으로 지정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0791" y="4251920"/>
            <a:ext cx="6688922" cy="215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1E3A8A"/>
                </a:solidFill>
                <a:latin typeface="Pretendard Variable"/>
              </a:rPr>
              <a:t>④ 서울시 거버넌스 및 SH 연계 감독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0791" y="4388445"/>
            <a:ext cx="6688922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>
                <a:solidFill>
                  <a:srgbClr val="1E3A8A"/>
                </a:solidFill>
                <a:latin typeface="Pretendard Variable"/>
              </a:rPr>
              <a:t>SH(서울주택도시공사)에 BID 공적 감독 위임 및 활성화 계획 상호 연동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30791" y="4636095"/>
            <a:ext cx="6688922" cy="215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1E3A8A"/>
                </a:solidFill>
                <a:latin typeface="Pretendard Variable"/>
              </a:rPr>
              <a:t>⑤ 다각적 자생 재원 레이어링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30791" y="4772620"/>
            <a:ext cx="6688922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>
                <a:solidFill>
                  <a:srgbClr val="1E3A8A"/>
                </a:solidFill>
                <a:latin typeface="Pretendard Variable"/>
              </a:rPr>
              <a:t>기본 부담금(감정평가 연면적 연계) + 보행로 운영 보조금 + 특화거리 기금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67062" y="5236170"/>
            <a:ext cx="11517441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1E3A8A"/>
                </a:solidFill>
                <a:latin typeface="Pretendard Variable"/>
              </a:rPr>
              <a:t>▪ 조례를 통한 우회 설계부터 국비 매칭, 기부채납 공간 위탁, 분절 소유주 동의 요건 조정 등 서울의 독특한 환경에 최적화된 5대 맞춤 전략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598017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1E3A8A"/>
                </a:solidFill>
                <a:latin typeface="Pretendard Variable"/>
              </a:rPr>
              <a:t>앵커 연합체 기반의 서울형 SBD 운영체제 설계 원칙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902817"/>
            <a:ext cx="10159746" cy="5041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750">
                <a:latin typeface="Pretendard Variable"/>
              </a:defRPr>
            </a:pPr>
            <a:r>
              <a:rPr sz="3750" b="1">
                <a:solidFill>
                  <a:srgbClr val="0F172A"/>
                </a:solidFill>
                <a:latin typeface="Pretendard Variable"/>
              </a:rPr>
              <a:t>앵커 연합체와 공공공간 수익 사업화: 서울형 SBD 2대 성공 원칙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5942" y="2690217"/>
            <a:ext cx="850020" cy="2565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FFFFFF"/>
                </a:solidFill>
                <a:latin typeface="Pretendard Variable"/>
              </a:rPr>
              <a:t>RULE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5942" y="2956917"/>
            <a:ext cx="6688922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650">
                <a:latin typeface="Pretendard Variable"/>
              </a:defRPr>
            </a:pPr>
            <a:r>
              <a:rPr sz="1650" b="1">
                <a:solidFill>
                  <a:srgbClr val="0F172A"/>
                </a:solidFill>
                <a:latin typeface="Pretendard Variable"/>
              </a:rPr>
              <a:t>앵커 연합체 중심의 초기 기금 조성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5942" y="4477742"/>
            <a:ext cx="6688922" cy="3494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37">
                <a:latin typeface="Pretendard Variable"/>
              </a:defRPr>
            </a:pPr>
            <a:r>
              <a:rPr sz="937" b="1">
                <a:solidFill>
                  <a:srgbClr val="1E3A8A"/>
                </a:solidFill>
                <a:latin typeface="Pretendard Variable"/>
              </a:rPr>
              <a:t>소상공인이 밀집한 파편 상권 대신, 이오타서울/북부역세권 등 초대형 프라임 앵커 소유주 연합의 관리비 일부를 정기 수수료화하여 막대한 초기 정기 기금을 선제 조성합니다.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30791" y="2690217"/>
            <a:ext cx="865270" cy="2565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FFFFFF"/>
                </a:solidFill>
                <a:latin typeface="Pretendard Variable"/>
              </a:rPr>
              <a:t>RULE 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30791" y="2956917"/>
            <a:ext cx="6688922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650">
                <a:latin typeface="Pretendard Variable"/>
              </a:defRPr>
            </a:pPr>
            <a:r>
              <a:rPr sz="1650" b="1">
                <a:solidFill>
                  <a:srgbClr val="1E3A8A"/>
                </a:solidFill>
                <a:latin typeface="Pretendard Variable"/>
              </a:rPr>
              <a:t>공공공간 점유를 통한 수익 사업 합법화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30791" y="4477742"/>
            <a:ext cx="6688922" cy="3494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37">
                <a:latin typeface="Pretendard Variable"/>
              </a:defRPr>
            </a:pPr>
            <a:r>
              <a:rPr sz="937" b="1">
                <a:solidFill>
                  <a:srgbClr val="1E3A8A"/>
                </a:solidFill>
                <a:latin typeface="Pretendard Variable"/>
              </a:rPr>
              <a:t>뉴욕 HYHK 모델을 이식하여 단순 공공 유지보수 업무 대행에 그치지 않고, 가로와 공개공지 일대의 일괄 독점 점용권을 부여함으로써 민간이 스스로 인프라 유지 자금을 벌어들이는 자생 구조를 확립합니다.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90497" y="5084960"/>
            <a:ext cx="10713253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1E3A8A"/>
                </a:solidFill>
                <a:latin typeface="Pretendard Variable"/>
              </a:rPr>
              <a:t>▪ 앵커 디벨로퍼의 연합비로 초기 동력을 확보하고, 서울시의 공공 공간 점용권 허가로 자주적 자생 구조를 완성하는 2대 설계 축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72955" y="2883495"/>
            <a:ext cx="1699678" cy="339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950">
                <a:latin typeface="Pretendard Variable"/>
              </a:defRPr>
            </a:pPr>
            <a:r>
              <a:rPr sz="1950" b="1">
                <a:solidFill>
                  <a:srgbClr val="0F172A"/>
                </a:solidFill>
                <a:latin typeface="Pretendard Variable"/>
              </a:rPr>
              <a:t>CHAPTER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34703" y="3220045"/>
            <a:ext cx="6176282" cy="63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4950">
                <a:latin typeface="Pretendard Variable"/>
              </a:defRPr>
            </a:pPr>
            <a:r>
              <a:rPr sz="4950" b="1">
                <a:solidFill>
                  <a:srgbClr val="0F172A"/>
                </a:solidFill>
                <a:latin typeface="Pretendard Variable"/>
              </a:rPr>
              <a:t>서울역-남산 SBD화 명분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660227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2563EB"/>
                </a:solidFill>
                <a:latin typeface="Pretendard Variable"/>
              </a:rPr>
              <a:t>4세대 계획형 업무지구(SBD) 도입의 당위성과 전통 권역 한계 극복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965027"/>
            <a:ext cx="10159746" cy="5041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750">
                <a:latin typeface="Pretendard Variable"/>
              </a:defRPr>
            </a:pPr>
            <a:r>
              <a:rPr sz="3750" b="1">
                <a:solidFill>
                  <a:srgbClr val="0F172A"/>
                </a:solidFill>
                <a:latin typeface="Pretendard Variable"/>
              </a:rPr>
              <a:t>서울의 4세대 계획형 업무구역: 서울역-남산 SBD 도약의 당위성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0926" y="4847927"/>
            <a:ext cx="11683707" cy="44128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1E3A8A"/>
                </a:solidFill>
                <a:latin typeface="Pretendard Variable"/>
              </a:rPr>
              <a:t>▪ 기존 3대 업무구역(CBD·GBD·YBD)의 분절적 개발 한계를 극복하고, 메가스케일 정비와 일괄 BID 운영체제를 융합한 최초의 4세대 업무지구(SBD) 도약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453852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2563EB"/>
                </a:solidFill>
                <a:latin typeface="Pretendard Variable"/>
              </a:rPr>
              <a:t>서울역 교통 거점 기반 메가 정비사업들의 입체적 연계 전략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758652"/>
            <a:ext cx="10159746" cy="9169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750">
                <a:latin typeface="Pretendard Variable"/>
              </a:defRPr>
            </a:pPr>
            <a:r>
              <a:rPr sz="3750" b="1">
                <a:solidFill>
                  <a:srgbClr val="0F172A"/>
                </a:solidFill>
                <a:latin typeface="Pretendard Variable"/>
              </a:rPr>
              <a:t>서울역 권역 메가 개발의 연쇄 폭발: SBD의 화룡점정이자 정중앙 앵커 '이오타서울'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0926" y="5054302"/>
            <a:ext cx="11683707" cy="44128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1E3A8A"/>
                </a:solidFill>
                <a:latin typeface="Pretendard Variable"/>
              </a:rPr>
              <a:t>▪ 북부역세권 MICE, 봉래구역 용적률 1,260% 빌딩, 남대문로 100m 빌딩 등 굵직한 메가 개발 프로젝트들의 정중앙 앵커이자 연결고리가 되는 이오타서울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7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915392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1E3A8A"/>
                </a:solidFill>
                <a:latin typeface="Pretendard Variable"/>
              </a:rPr>
              <a:t>서울 도심의 스카이라인을 재정의하는 이오타 서울의 독보적 스케일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220192"/>
            <a:ext cx="10159746" cy="9169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750">
                <a:latin typeface="Pretendard Variable"/>
              </a:defRPr>
            </a:pPr>
            <a:r>
              <a:rPr sz="3750" b="1">
                <a:solidFill>
                  <a:srgbClr val="0F172A"/>
                </a:solidFill>
                <a:latin typeface="Pretendard Variable"/>
              </a:rPr>
              <a:t>연면적 46만㎡ 복합 개발과 리츠칼튼 호텔 유치: 도심의 심장을 재탄생시키다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5974" y="2369542"/>
            <a:ext cx="10159746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TOTAL INVESTMENT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31552" y="2509242"/>
            <a:ext cx="1423316" cy="3581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100">
                <a:latin typeface="Pretendard Variable"/>
              </a:defRPr>
            </a:pPr>
            <a:r>
              <a:rPr sz="2100" b="1">
                <a:solidFill>
                  <a:srgbClr val="0F172A"/>
                </a:solidFill>
                <a:latin typeface="Pretendard Variable"/>
              </a:rPr>
              <a:t>약 2.0조 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5974" y="2369542"/>
            <a:ext cx="10159746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GROSS FLOOR AREA (GFA)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06914" y="2509242"/>
            <a:ext cx="2031859" cy="3581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100">
                <a:latin typeface="Pretendard Variable"/>
              </a:defRPr>
            </a:pPr>
            <a:r>
              <a:rPr sz="2100" b="1">
                <a:solidFill>
                  <a:srgbClr val="FFFFFF"/>
                </a:solidFill>
                <a:latin typeface="Pretendard Variable"/>
              </a:rPr>
              <a:t>총 460,000 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5974" y="2369542"/>
            <a:ext cx="10159746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BUILDING SCALE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4089" y="2509242"/>
            <a:ext cx="2536677" cy="3581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100">
                <a:latin typeface="Pretendard Variable"/>
              </a:defRPr>
            </a:pPr>
            <a:r>
              <a:rPr sz="2100" b="1">
                <a:solidFill>
                  <a:srgbClr val="0F172A"/>
                </a:solidFill>
                <a:latin typeface="Pretendard Variable"/>
              </a:rPr>
              <a:t>지하 10층 - 지상 39층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5942" y="3220442"/>
            <a:ext cx="1587162" cy="2216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825">
                <a:latin typeface="Pretendard Variable"/>
              </a:defRPr>
            </a:pPr>
            <a:r>
              <a:rPr sz="825" b="1">
                <a:solidFill>
                  <a:srgbClr val="FFFFFF"/>
                </a:solidFill>
                <a:latin typeface="Pretendard Variable"/>
              </a:rPr>
              <a:t>DOUBLE CORE AXIS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5942" y="3426817"/>
            <a:ext cx="6688922" cy="2819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500">
                <a:latin typeface="Pretendard Variable"/>
              </a:defRPr>
            </a:pPr>
            <a:r>
              <a:rPr sz="1500" b="1">
                <a:solidFill>
                  <a:srgbClr val="0F172A"/>
                </a:solidFill>
                <a:latin typeface="Pretendard Variable"/>
              </a:rPr>
              <a:t>남산과 세종대로를 잇는 2대 개발 부지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12939" y="3820517"/>
            <a:ext cx="6277453" cy="2343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0F172A"/>
                </a:solidFill>
                <a:latin typeface="Pretendard Variable"/>
              </a:rPr>
              <a:t>이오타 서울 1 (힐튼 부지)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12939" y="3988792"/>
            <a:ext cx="6277453" cy="215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>
                <a:solidFill>
                  <a:srgbClr val="1E3A8A"/>
                </a:solidFill>
                <a:latin typeface="Pretendard Variable"/>
              </a:rPr>
              <a:t>남산의 상징적 진입로에 위치하며, 하이엔드 복합 문화 공간과 최고급 호텔 및 리테일로 탄생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12939" y="4417417"/>
            <a:ext cx="6277453" cy="2343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0F172A"/>
                </a:solidFill>
                <a:latin typeface="Pretendard Variable"/>
              </a:rPr>
              <a:t>이오타 서울 2 (남대문로5가)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12939" y="4585692"/>
            <a:ext cx="6277453" cy="215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>
                <a:solidFill>
                  <a:srgbClr val="1E3A8A"/>
                </a:solidFill>
                <a:latin typeface="Pretendard Variable"/>
              </a:rPr>
              <a:t>노후화된 메트로타워와 서울타워를 연면적 12만㎡ 규모의 최고급 프라임 오피스 타워로 통합 재개발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30791" y="3220442"/>
            <a:ext cx="1316570" cy="2216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825">
                <a:latin typeface="Pretendard Variable"/>
              </a:defRPr>
            </a:pPr>
            <a:r>
              <a:rPr sz="825" b="1">
                <a:solidFill>
                  <a:srgbClr val="FFFFFF"/>
                </a:solidFill>
                <a:latin typeface="Pretendard Variable"/>
              </a:rPr>
              <a:t>FLAGSHIP ANCHOR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30791" y="3426817"/>
            <a:ext cx="6688922" cy="2819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500">
                <a:latin typeface="Pretendard Variable"/>
              </a:defRPr>
            </a:pPr>
            <a:r>
              <a:rPr sz="1500" b="1">
                <a:solidFill>
                  <a:srgbClr val="0F172A"/>
                </a:solidFill>
                <a:latin typeface="Pretendard Variable"/>
              </a:rPr>
              <a:t>메리어트 최상위 럭셔리 브랜드 유치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38739" y="3826867"/>
            <a:ext cx="3203217" cy="2533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75">
                <a:latin typeface="Pretendard Variable"/>
              </a:defRPr>
            </a:pPr>
            <a:r>
              <a:rPr sz="1275" b="1">
                <a:solidFill>
                  <a:srgbClr val="1E3A8A"/>
                </a:solidFill>
                <a:latin typeface="Pretendard Variable"/>
              </a:rPr>
              <a:t>리츠칼튼(Ritz-Carlton) 서울 복귀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38739" y="4014192"/>
            <a:ext cx="3203217" cy="21050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37">
                <a:latin typeface="Pretendard Variable"/>
              </a:defRPr>
            </a:pPr>
            <a:r>
              <a:rPr sz="937">
                <a:solidFill>
                  <a:srgbClr val="1E3A8A"/>
                </a:solidFill>
                <a:latin typeface="Pretendard Variable"/>
              </a:rPr>
              <a:t>아시아 호스피탈리티 허브로서 서울의 도시적 위상 격상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54764" y="3837185"/>
            <a:ext cx="1097034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할당 면적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54764" y="3951485"/>
            <a:ext cx="1097034" cy="2628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350">
                <a:latin typeface="Pretendard Variable"/>
              </a:defRPr>
            </a:pPr>
            <a:r>
              <a:rPr sz="1350" b="1">
                <a:solidFill>
                  <a:srgbClr val="2563EB"/>
                </a:solidFill>
                <a:latin typeface="Pretendard Variable"/>
              </a:rPr>
              <a:t>58,400 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70296" y="4342804"/>
            <a:ext cx="1932737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>
                <a:latin typeface="Pretendard Variable"/>
              </a:defRPr>
            </a:pPr>
            <a:r>
              <a:rPr sz="900" b="1">
                <a:solidFill>
                  <a:srgbClr val="0F172A"/>
                </a:solidFill>
                <a:latin typeface="Pretendard Variable"/>
              </a:rPr>
              <a:t>🏢 인텔리전트 오피스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78850" y="4342804"/>
            <a:ext cx="1932737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>
                <a:latin typeface="Pretendard Variable"/>
              </a:defRPr>
            </a:pPr>
            <a:r>
              <a:rPr sz="900" b="1">
                <a:solidFill>
                  <a:srgbClr val="0F172A"/>
                </a:solidFill>
                <a:latin typeface="Pretendard Variable"/>
              </a:rPr>
              <a:t>🛍️ 하이엔드 리테일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87403" y="4342804"/>
            <a:ext cx="1932737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>
                <a:latin typeface="Pretendard Variable"/>
              </a:defRPr>
            </a:pPr>
            <a:r>
              <a:rPr sz="900" b="1">
                <a:solidFill>
                  <a:srgbClr val="0F172A"/>
                </a:solidFill>
                <a:latin typeface="Pretendard Variable"/>
              </a:rPr>
              <a:t>🏨 럭셔리 호스피탈리티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20926" y="5192117"/>
            <a:ext cx="11683707" cy="44128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1E3A8A"/>
                </a:solidFill>
                <a:latin typeface="Pretendard Variable"/>
              </a:rPr>
              <a:t>▪ 이지스자산운용과 현대건설이 공동 추진하는 2조 원 규모의 복합 개발로, 힐튼 부지(이오타 1)와 메트로·서울타워(이오타 2)를 아우르는 연면적 46만㎡ 랜드마크 조성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20926" y="5592762"/>
            <a:ext cx="11683707" cy="44128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1E3A8A"/>
                </a:solidFill>
                <a:latin typeface="Pretendard Variable"/>
              </a:rPr>
              <a:t>▪ 메리어트의 최상위 플래그십 호텔 브랜드인 리츠칼튼(5.8만㎡)의 입점을 확정하여 스카이라인의 가치를 높이고 아시아 호스피탈리티 허브 구축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7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114623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1E3A8A"/>
                </a:solidFill>
                <a:latin typeface="Pretendard Variable"/>
              </a:rPr>
              <a:t>위기를 극복한 이오타 서울의 금융 타결과 에어리어 매니지먼트의 실행 동력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419423"/>
            <a:ext cx="10159746" cy="5041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750">
                <a:latin typeface="Pretendard Variable"/>
              </a:defRPr>
            </a:pPr>
            <a:r>
              <a:rPr sz="3750" b="1">
                <a:solidFill>
                  <a:srgbClr val="0F172A"/>
                </a:solidFill>
                <a:latin typeface="Pretendard Variable"/>
              </a:rPr>
              <a:t>7,170억 규모 브릿지론 극적 타결과 이지스 사옥 이전: 책임 경영의 신호탄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5974" y="2232223"/>
            <a:ext cx="10159746" cy="2216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825">
                <a:latin typeface="Pretendard Variable"/>
              </a:defRPr>
            </a:pPr>
            <a:r>
              <a:rPr sz="825" b="1">
                <a:solidFill>
                  <a:srgbClr val="FFFFFF"/>
                </a:solidFill>
                <a:latin typeface="Pretendard Variable"/>
              </a:rPr>
              <a:t>FINANCIAL TURNAROUND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5942" y="2438598"/>
            <a:ext cx="6688922" cy="2819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500">
                <a:latin typeface="Pretendard Variable"/>
              </a:defRPr>
            </a:pPr>
            <a:r>
              <a:rPr sz="1500" b="1">
                <a:solidFill>
                  <a:srgbClr val="0F172A"/>
                </a:solidFill>
                <a:latin typeface="Pretendard Variable"/>
              </a:rPr>
              <a:t>7,170억 원 브릿지론 EOD 위기 극복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87540" y="2806898"/>
            <a:ext cx="5179882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브릿지론 만기 도래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87540" y="2933898"/>
            <a:ext cx="6368890" cy="2247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 b="1">
                <a:solidFill>
                  <a:srgbClr val="0F172A"/>
                </a:solidFill>
                <a:latin typeface="Pretendard Variable"/>
              </a:rPr>
              <a:t>총 7,170억 원 규모 재원 조달 위기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7540" y="3092648"/>
            <a:ext cx="6368890" cy="2009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862">
                <a:latin typeface="Pretendard Variable"/>
              </a:defRPr>
            </a:pPr>
            <a:r>
              <a:rPr sz="862">
                <a:solidFill>
                  <a:srgbClr val="1E3A8A"/>
                </a:solidFill>
                <a:latin typeface="Pretendard Variable"/>
              </a:rPr>
              <a:t>선순위 4,800억 / 중순위 1,400억 / 후순위 970억 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87540" y="3430785"/>
            <a:ext cx="5179882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EOD 사태 및 공매 위기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87540" y="3557785"/>
            <a:ext cx="6368890" cy="2247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 b="1">
                <a:solidFill>
                  <a:srgbClr val="1E3A8A"/>
                </a:solidFill>
                <a:latin typeface="Pretendard Variable"/>
              </a:rPr>
              <a:t>중순위 대주 동의 보류로 인한 담보권 실행 직전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87540" y="3716535"/>
            <a:ext cx="6368890" cy="2009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862">
                <a:latin typeface="Pretendard Variable"/>
              </a:defRPr>
            </a:pPr>
            <a:r>
              <a:rPr sz="862">
                <a:solidFill>
                  <a:srgbClr val="1E3A8A"/>
                </a:solidFill>
                <a:latin typeface="Pretendard Variable"/>
              </a:rPr>
              <a:t>HDC 현대산업개발 등의 저가 인수 시나리오 대두로 불안감 증폭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87540" y="4054673"/>
            <a:ext cx="5179882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리파이낸싱 극적 타결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87540" y="4181673"/>
            <a:ext cx="6368890" cy="2247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 b="1">
                <a:solidFill>
                  <a:srgbClr val="1E3A8A"/>
                </a:solidFill>
                <a:latin typeface="Pretendard Variable"/>
              </a:rPr>
              <a:t>메리츠·NH투자증권 4,900억 원 신규 자금 지원 합의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87540" y="4340423"/>
            <a:ext cx="6368890" cy="2009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862">
                <a:latin typeface="Pretendard Variable"/>
              </a:defRPr>
            </a:pPr>
            <a:r>
              <a:rPr sz="862">
                <a:solidFill>
                  <a:srgbClr val="1E3A8A"/>
                </a:solidFill>
                <a:latin typeface="Pretendard Variable"/>
              </a:rPr>
              <a:t>책임임차 확정 및 본PF 전환 모멘텀 확보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5974" y="2232223"/>
            <a:ext cx="10159746" cy="2216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825">
                <a:latin typeface="Pretendard Variable"/>
              </a:defRPr>
            </a:pPr>
            <a:r>
              <a:rPr sz="825" b="1">
                <a:solidFill>
                  <a:srgbClr val="FFFFFF"/>
                </a:solidFill>
                <a:latin typeface="Pretendard Variable"/>
              </a:rPr>
              <a:t>STRATEGIC IMPLICATIONS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30791" y="2438598"/>
            <a:ext cx="6688922" cy="2819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500">
                <a:latin typeface="Pretendard Variable"/>
              </a:defRPr>
            </a:pPr>
            <a:r>
              <a:rPr sz="1500" b="1">
                <a:solidFill>
                  <a:srgbClr val="0F172A"/>
                </a:solidFill>
                <a:latin typeface="Pretendard Variable"/>
              </a:rPr>
              <a:t>에어리어 매니지먼트와 디벨로퍼 책임 경영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30791" y="2730698"/>
            <a:ext cx="6688922" cy="2343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0F172A"/>
                </a:solidFill>
                <a:latin typeface="Pretendard Variable"/>
              </a:rPr>
              <a:t>서울역-남산 SBD 로드맵 자금줄 정상화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19689" y="2911673"/>
            <a:ext cx="6528906" cy="3597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>
                <a:solidFill>
                  <a:srgbClr val="1E3A8A"/>
                </a:solidFill>
                <a:latin typeface="Pretendard Variable"/>
              </a:rPr>
              <a:t>이오타 서울 2의 극적인 회생은 단일 건물의 위기 극복을 넘어, 서울역 일대 전체를 4세대 업무지구(SBD)로 구축하려는 거대 마스터플랜의 동력을 복원시켰음을 의미합니다.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30791" y="3389510"/>
            <a:ext cx="6688922" cy="2343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0F172A"/>
                </a:solidFill>
                <a:latin typeface="Pretendard Variable"/>
              </a:rPr>
              <a:t>이지스자산운용 본사 사옥 전격 이전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1440" y="3725267"/>
            <a:ext cx="1812899" cy="1962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825">
                <a:latin typeface="Pretendard Variable"/>
              </a:defRPr>
            </a:pPr>
            <a:r>
              <a:rPr sz="825" b="1">
                <a:solidFill>
                  <a:srgbClr val="1E3A8A"/>
                </a:solidFill>
                <a:latin typeface="Pretendard Variable"/>
              </a:rPr>
              <a:t>Past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71440" y="3830042"/>
            <a:ext cx="1812899" cy="21050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37">
                <a:latin typeface="Pretendard Variable"/>
              </a:defRPr>
            </a:pPr>
            <a:r>
              <a:rPr sz="937" b="1">
                <a:solidFill>
                  <a:srgbClr val="1E3A8A"/>
                </a:solidFill>
                <a:latin typeface="Pretendard Variable"/>
              </a:rPr>
              <a:t>강남 GFC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69114" y="3760985"/>
            <a:ext cx="378579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>
                <a:latin typeface="Pretendard Variable"/>
              </a:defRPr>
            </a:pPr>
            <a:r>
              <a:rPr sz="1200">
                <a:solidFill>
                  <a:srgbClr val="1E3A8A"/>
                </a:solidFill>
                <a:latin typeface="Pretendard Variable"/>
              </a:rPr>
              <a:t>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32469" y="3725267"/>
            <a:ext cx="1812899" cy="1962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825">
                <a:latin typeface="Pretendard Variable"/>
              </a:defRPr>
            </a:pPr>
            <a:r>
              <a:rPr sz="825" b="1">
                <a:solidFill>
                  <a:srgbClr val="1E3A8A"/>
                </a:solidFill>
                <a:latin typeface="Pretendard Variable"/>
              </a:rPr>
              <a:t>Present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32469" y="3830042"/>
            <a:ext cx="1812899" cy="21050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37">
                <a:latin typeface="Pretendard Variable"/>
              </a:defRPr>
            </a:pPr>
            <a:r>
              <a:rPr sz="937" b="1">
                <a:solidFill>
                  <a:srgbClr val="1E3A8A"/>
                </a:solidFill>
                <a:latin typeface="Pretendard Variable"/>
              </a:rPr>
              <a:t>여의도 세우빌딩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30143" y="3760985"/>
            <a:ext cx="378579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>
                <a:latin typeface="Pretendard Variable"/>
              </a:defRPr>
            </a:pPr>
            <a:r>
              <a:rPr sz="1200">
                <a:solidFill>
                  <a:srgbClr val="2563EB"/>
                </a:solidFill>
                <a:latin typeface="Pretendard Variable"/>
              </a:rPr>
              <a:t>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99847" y="3722885"/>
            <a:ext cx="1812899" cy="1962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825">
                <a:latin typeface="Pretendard Variable"/>
              </a:defRPr>
            </a:pPr>
            <a:r>
              <a:rPr sz="825" b="1">
                <a:solidFill>
                  <a:srgbClr val="2563EB"/>
                </a:solidFill>
                <a:latin typeface="Pretendard Variable"/>
              </a:rPr>
              <a:t>Future Anchor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99847" y="3827660"/>
            <a:ext cx="1812899" cy="215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75">
                <a:latin typeface="Pretendard Variable"/>
              </a:defRPr>
            </a:pPr>
            <a:r>
              <a:rPr sz="975" b="1">
                <a:solidFill>
                  <a:srgbClr val="1E3A8A"/>
                </a:solidFill>
                <a:latin typeface="Pretendard Variable"/>
              </a:rPr>
              <a:t>이오타 서울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30791" y="4180085"/>
            <a:ext cx="6688922" cy="2295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87">
                <a:latin typeface="Pretendard Variable"/>
              </a:defRPr>
            </a:pPr>
            <a:r>
              <a:rPr sz="1087" b="1">
                <a:solidFill>
                  <a:srgbClr val="10B981"/>
                </a:solidFill>
                <a:latin typeface="Pretendard Variable"/>
              </a:rPr>
              <a:t>개발 후 엑시트에서 평생 동반자로 전환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19689" y="4343598"/>
            <a:ext cx="6528906" cy="3597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>
                <a:solidFill>
                  <a:srgbClr val="1E3A8A"/>
                </a:solidFill>
                <a:latin typeface="Pretendard Variable"/>
              </a:rPr>
              <a:t>자산운용사가 단순 매각 후 떠나는 디벨로퍼 모델에서 탈피, 직접 입주하여 상업 생태계에 뿌리를 내리고 영구적인 에어리어 매니지먼트의 중심축 역할을 수행하겠다는 강력한 책임 의지를 증명합니다.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20926" y="4992885"/>
            <a:ext cx="11683707" cy="44128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1E3A8A"/>
                </a:solidFill>
                <a:latin typeface="Pretendard Variable"/>
              </a:rPr>
              <a:t>▪ 자금 경색 및 중순위 대주 갈등으로 인한 EOD/공매 위기를 메리츠·NH의 4,900억 원 신규 선순위 참여로 타결하고 H1 내 본PF 전환 동력 확보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20926" y="5393531"/>
            <a:ext cx="11683707" cy="44128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1E3A8A"/>
                </a:solidFill>
                <a:latin typeface="Pretendard Variable"/>
              </a:rPr>
              <a:t>▪ 이지스자산운용 본사를 이오타 서울로 이전하기로 확정함으로써 개발 직후 매각하는 단순 디벨로퍼를 넘어, 지역 활성화를 책임지는 에어리어 매니지먼트의 중심축 선언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356717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1E3A8A"/>
                </a:solidFill>
                <a:latin typeface="Pretendard Variable"/>
              </a:rPr>
              <a:t>하드웨어를 넘어 소프트웨어 운영체제로 진화하는 서울형 SBD 거버넌스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661517"/>
            <a:ext cx="10159746" cy="5041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750">
                <a:latin typeface="Pretendard Variable"/>
              </a:defRPr>
            </a:pPr>
            <a:r>
              <a:rPr sz="3750" b="1">
                <a:solidFill>
                  <a:srgbClr val="0F172A"/>
                </a:solidFill>
                <a:latin typeface="Pretendard Variable"/>
              </a:rPr>
              <a:t>민관 협력의 '서울역-남산 매니지먼트 얼라이언스' 구축과 운영체제 가동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5942" y="2474317"/>
            <a:ext cx="2409387" cy="2216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825">
                <a:latin typeface="Pretendard Variable"/>
              </a:defRPr>
            </a:pPr>
            <a:r>
              <a:rPr sz="825" b="1">
                <a:solidFill>
                  <a:srgbClr val="FFFFFF"/>
                </a:solidFill>
                <a:latin typeface="Pretendard Variable"/>
              </a:rPr>
              <a:t>SPACE SOFTWARE BENCHMARKS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5942" y="2680692"/>
            <a:ext cx="6688922" cy="2819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500">
                <a:latin typeface="Pretendard Variable"/>
              </a:defRPr>
            </a:pPr>
            <a:r>
              <a:rPr sz="1500" b="1">
                <a:solidFill>
                  <a:srgbClr val="0F172A"/>
                </a:solidFill>
                <a:latin typeface="Pretendard Variable"/>
              </a:rPr>
              <a:t>물리적 개발을 넘어선 소프트웨어 관리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12939" y="3074392"/>
            <a:ext cx="6277453" cy="2390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62">
                <a:latin typeface="Pretendard Variable"/>
              </a:defRPr>
            </a:pPr>
            <a:r>
              <a:rPr sz="1162" b="1">
                <a:solidFill>
                  <a:srgbClr val="0F172A"/>
                </a:solidFill>
                <a:latin typeface="Pretendard Variable"/>
              </a:rPr>
              <a:t>뉴욕 허드슨야드 ➔ HYHK BID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12939" y="3247429"/>
            <a:ext cx="6277453" cy="3597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>
                <a:solidFill>
                  <a:srgbClr val="1E3A8A"/>
                </a:solidFill>
                <a:latin typeface="Pretendard Variable"/>
              </a:rPr>
              <a:t>세계 최대 복합 개발의 완성이자 성공 비결은 단순히 건물을 올린 기술이 아니라, 준공 후 가로 활성화와 안전·미화를 밀착 전담한 HYHK BID의 정교한 관리 역량이었습니다.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12939" y="3820517"/>
            <a:ext cx="6277453" cy="2390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62">
                <a:latin typeface="Pretendard Variable"/>
              </a:defRPr>
            </a:pPr>
            <a:r>
              <a:rPr sz="1162" b="1">
                <a:solidFill>
                  <a:srgbClr val="0F172A"/>
                </a:solidFill>
                <a:latin typeface="Pretendard Variable"/>
              </a:rPr>
              <a:t>도쿄 롯폰기 힐즈 ➔ 모리 타운 매니지먼트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12939" y="3993554"/>
            <a:ext cx="6277453" cy="3597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>
                <a:solidFill>
                  <a:srgbClr val="1E3A8A"/>
                </a:solidFill>
                <a:latin typeface="Pretendard Variable"/>
              </a:rPr>
              <a:t>롯폰기 힐즈를 단순 빌딩에서 도쿄의 문화적 심장으로 리브랜딩한 것은 Mori의 타운 매니지먼트가 가동한 문화·마케팅 소프트웨어의 힘이었습니다.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30791" y="2474317"/>
            <a:ext cx="2649233" cy="2216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825">
                <a:latin typeface="Pretendard Variable"/>
              </a:defRPr>
            </a:pPr>
            <a:r>
              <a:rPr sz="825" b="1">
                <a:solidFill>
                  <a:srgbClr val="FFFFFF"/>
                </a:solidFill>
                <a:latin typeface="Pretendard Variable"/>
              </a:rPr>
              <a:t>ALLIANCE GOVERNANCE STRUCTURE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30791" y="2680692"/>
            <a:ext cx="6688922" cy="2819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500">
                <a:latin typeface="Pretendard Variable"/>
              </a:defRPr>
            </a:pPr>
            <a:r>
              <a:rPr sz="1500" b="1">
                <a:solidFill>
                  <a:srgbClr val="0F172A"/>
                </a:solidFill>
                <a:latin typeface="Pretendard Variable"/>
              </a:rPr>
              <a:t>민관 협력 통합 거버넌스 체제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0926" y="4750792"/>
            <a:ext cx="11683707" cy="44128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1E3A8A"/>
                </a:solidFill>
                <a:latin typeface="Pretendard Variable"/>
              </a:rPr>
              <a:t>▪ 물리적인 토목 건설을 넘어 가로와 광장의 자생적 운영체제를 확보하기 위해, 민간 대형 소유주 연합과 공공이 협력하는 거버넌스 가칭 '서울역-남산 매니지먼트 얼라이언스' 공식 출범 제안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0926" y="5151437"/>
            <a:ext cx="11683707" cy="44128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1E3A8A"/>
                </a:solidFill>
                <a:latin typeface="Pretendard Variable"/>
              </a:rPr>
              <a:t>▪ 서울역 북부역세권(한화그룹), 서소문·봉래 구역 등 인근의 핵심 오피스 소유주들의 펀드를 하나로 엮는 민관 협동 거버넌스를 통해 체계적인 에어리어 매니지먼트 실행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8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424185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1E3A8A"/>
                </a:solidFill>
                <a:latin typeface="Pretendard Variable"/>
              </a:rPr>
              <a:t>공공 인프라 민간 위탁 관리와 로컬 상권의 상생 플레이스메이킹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728985"/>
            <a:ext cx="10159746" cy="5041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750">
                <a:latin typeface="Pretendard Variable"/>
              </a:defRPr>
            </a:pPr>
            <a:r>
              <a:rPr sz="3750" b="1">
                <a:solidFill>
                  <a:srgbClr val="0F172A"/>
                </a:solidFill>
                <a:latin typeface="Pretendard Variable"/>
              </a:rPr>
              <a:t>서울로 7017 하이엔드 관리 위탁과 지역 상생형 플레이스메이킹 전략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5942" y="2541785"/>
            <a:ext cx="2413138" cy="2216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825">
                <a:latin typeface="Pretendard Variable"/>
              </a:defRPr>
            </a:pPr>
            <a:r>
              <a:rPr sz="825" b="1">
                <a:solidFill>
                  <a:srgbClr val="FFFFFF"/>
                </a:solidFill>
                <a:latin typeface="Pretendard Variable"/>
              </a:rPr>
              <a:t>INFRASTRUCTURE STEWARDSHIP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5942" y="2748160"/>
            <a:ext cx="6688922" cy="2819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500">
                <a:latin typeface="Pretendard Variable"/>
              </a:defRPr>
            </a:pPr>
            <a:r>
              <a:rPr sz="1500" b="1">
                <a:solidFill>
                  <a:srgbClr val="0F172A"/>
                </a:solidFill>
                <a:latin typeface="Pretendard Variable"/>
              </a:rPr>
              <a:t>서울로 7017 공공 기여형 관리 위탁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87540" y="3116460"/>
            <a:ext cx="6368890" cy="2295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87">
                <a:latin typeface="Pretendard Variable"/>
              </a:defRPr>
            </a:pPr>
            <a:r>
              <a:rPr sz="1087" b="1">
                <a:solidFill>
                  <a:srgbClr val="0F172A"/>
                </a:solidFill>
                <a:latin typeface="Pretendard Variable"/>
              </a:rPr>
              <a:t>명동-남산을 잇는 보행축과의 건축적 직결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87540" y="3279973"/>
            <a:ext cx="6368890" cy="3295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37">
                <a:latin typeface="Pretendard Variable"/>
              </a:defRPr>
            </a:pPr>
            <a:r>
              <a:rPr sz="937">
                <a:solidFill>
                  <a:srgbClr val="1E3A8A"/>
                </a:solidFill>
                <a:latin typeface="Pretendard Variable"/>
              </a:rPr>
              <a:t>이오타 서울은 서울역 고가도로를 재생한 보행 공원인 '서울로 7017'과 브릿지로 직접 연결되며, 남산과 도심을 잇는 보행 네트워크 중심에 자리 잡고 있습니다.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68490" y="3778448"/>
            <a:ext cx="6391750" cy="2295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87">
                <a:latin typeface="Pretendard Variable"/>
              </a:defRPr>
            </a:pPr>
            <a:r>
              <a:rPr sz="1087" b="1">
                <a:solidFill>
                  <a:srgbClr val="1E3A8A"/>
                </a:solidFill>
                <a:latin typeface="Pretendard Variable"/>
              </a:rPr>
              <a:t>공공 공간 점용 및 위탁 권한 이전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68490" y="3941960"/>
            <a:ext cx="6391750" cy="3494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37">
                <a:latin typeface="Pretendard Variable"/>
              </a:defRPr>
            </a:pPr>
            <a:r>
              <a:rPr sz="937">
                <a:solidFill>
                  <a:srgbClr val="1E3A8A"/>
                </a:solidFill>
                <a:latin typeface="Pretendard Variable"/>
              </a:rPr>
              <a:t>서울시가 소유한 서울로 7017 일부 구간과 인근 공개공지의 치안, 미화, 조경 및 예술 팝업 운영 권한을 얼라이언스에 양도합니다. (뉴욕 벨라 압죽 공원 모델의 철저한 로컬 벤치마킹)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30791" y="2541785"/>
            <a:ext cx="2131145" cy="2216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825">
                <a:latin typeface="Pretendard Variable"/>
              </a:defRPr>
            </a:pPr>
            <a:r>
              <a:rPr sz="825" b="1">
                <a:solidFill>
                  <a:srgbClr val="FFFFFF"/>
                </a:solidFill>
                <a:latin typeface="Pretendard Variable"/>
              </a:rPr>
              <a:t>REGIONAL VALUE SPILLOVER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30791" y="2748160"/>
            <a:ext cx="6688922" cy="2819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500">
                <a:latin typeface="Pretendard Variable"/>
              </a:defRPr>
            </a:pPr>
            <a:r>
              <a:rPr sz="1500" b="1">
                <a:solidFill>
                  <a:srgbClr val="0F172A"/>
                </a:solidFill>
                <a:latin typeface="Pretendard Variable"/>
              </a:rPr>
              <a:t>럭셔리 콘텐츠 연계형 로컬 상생 전략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32389" y="3116460"/>
            <a:ext cx="6368890" cy="2295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87">
                <a:latin typeface="Pretendard Variable"/>
              </a:defRPr>
            </a:pPr>
            <a:r>
              <a:rPr sz="1087" b="1">
                <a:solidFill>
                  <a:srgbClr val="0F172A"/>
                </a:solidFill>
                <a:latin typeface="Pretendard Variable"/>
              </a:rPr>
              <a:t>호텔·오피스 네트워크와 전통 상권의 연계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32389" y="3279973"/>
            <a:ext cx="6368890" cy="3494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37">
                <a:latin typeface="Pretendard Variable"/>
              </a:defRPr>
            </a:pPr>
            <a:r>
              <a:rPr sz="937">
                <a:solidFill>
                  <a:srgbClr val="1E3A8A"/>
                </a:solidFill>
                <a:latin typeface="Pretendard Variable"/>
              </a:rPr>
              <a:t>리츠칼튼 호텔의 럭셔리 식음료(F&amp;B) 수요와 대기업 입주사의 비즈니스 네트워크를 인근 남대문 시장, 봉래동 먹자골목 등으로 유도하는 마케팅 연계 시스템을 가동합니다.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3339" y="3798292"/>
            <a:ext cx="6391750" cy="2295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87">
                <a:latin typeface="Pretendard Variable"/>
              </a:defRPr>
            </a:pPr>
            <a:r>
              <a:rPr sz="1087" b="1">
                <a:solidFill>
                  <a:srgbClr val="1E3A8A"/>
                </a:solidFill>
                <a:latin typeface="Pretendard Variable"/>
              </a:rPr>
              <a:t>소프트웨어 중심의 가로 활성화 이벤트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3339" y="3961804"/>
            <a:ext cx="6391750" cy="3494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37">
                <a:latin typeface="Pretendard Variable"/>
              </a:defRPr>
            </a:pPr>
            <a:r>
              <a:rPr sz="937">
                <a:solidFill>
                  <a:srgbClr val="1E3A8A"/>
                </a:solidFill>
                <a:latin typeface="Pretendard Variable"/>
              </a:rPr>
              <a:t>뉴욕의 스트리트 댄스 페스티벌이나 보행자 친화 화분 설치 사례와 같이, 얼라이언스 자체 기금으로 가로 예술품 설치, 야외 스트리트 세련 마케팅 등을 상시 기획·실행합니다.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0926" y="4683323"/>
            <a:ext cx="11683707" cy="44128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1E3A8A"/>
                </a:solidFill>
                <a:latin typeface="Pretendard Variable"/>
              </a:rPr>
              <a:t>▪ 뉴욕 벨라 압죽 공원의 민간 위탁 운영 모델을 도입하여 서울로 7017의 일부 구간 조경·치안·이벤트 권리를 민간이 총괄함으로써 시 예산 절감과 하이엔드 아이덴티티 수호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0926" y="5083968"/>
            <a:ext cx="11683707" cy="44128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1E3A8A"/>
                </a:solidFill>
                <a:latin typeface="Pretendard Variable"/>
              </a:rPr>
              <a:t>▪ 이오타 서울의 프리미엄 자산을 주변 남대문 시장 및 봉래동 먹거리 가로와 입체적으로 연계하는 마케팅·예술 기획을 통해 지역 전반에 낙수 효과 창출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70365" y="2883495"/>
            <a:ext cx="1704857" cy="339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950">
                <a:latin typeface="Pretendard Variable"/>
              </a:defRPr>
            </a:pPr>
            <a:r>
              <a:rPr sz="1950" b="1">
                <a:solidFill>
                  <a:srgbClr val="0F172A"/>
                </a:solidFill>
                <a:latin typeface="Pretendard Variable"/>
              </a:rPr>
              <a:t>CHAPTER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6835" y="3220045"/>
            <a:ext cx="9871919" cy="63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4950">
                <a:latin typeface="Pretendard Variable"/>
              </a:defRPr>
            </a:pPr>
            <a:r>
              <a:rPr sz="4950" b="1">
                <a:solidFill>
                  <a:srgbClr val="0F172A"/>
                </a:solidFill>
                <a:latin typeface="Pretendard Variable"/>
              </a:rPr>
              <a:t>서울역-남산 SBD 공간 실행 전략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8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606252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1E3A8A"/>
                </a:solidFill>
                <a:latin typeface="Pretendard Variable"/>
              </a:rPr>
              <a:t>서울 도심 역사상 최대 규모의 정비사업 공급 및 구역 현황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911052"/>
            <a:ext cx="10159746" cy="5041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750">
                <a:latin typeface="Pretendard Variable"/>
              </a:defRPr>
            </a:pPr>
            <a:r>
              <a:rPr sz="3750" b="1">
                <a:solidFill>
                  <a:srgbClr val="0F172A"/>
                </a:solidFill>
                <a:latin typeface="Pretendard Variable"/>
              </a:rPr>
              <a:t>2030년까지 연면적 150만㎡ 정비사업 동시 공급: 도심 개발의 대전환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31039" y="2704802"/>
            <a:ext cx="888863" cy="1993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825">
                <a:latin typeface="Pretendard Variable"/>
              </a:defRPr>
            </a:pPr>
            <a:r>
              <a:rPr sz="825" b="1">
                <a:solidFill>
                  <a:srgbClr val="FFFFFF"/>
                </a:solidFill>
                <a:latin typeface="Pretendard Variable"/>
              </a:rPr>
              <a:t>GFA SUM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05542" y="2901652"/>
            <a:ext cx="2739956" cy="2501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500">
                <a:latin typeface="Pretendard Variable"/>
              </a:defRPr>
            </a:pPr>
            <a:r>
              <a:rPr sz="1500" b="1">
                <a:solidFill>
                  <a:srgbClr val="FFFFFF"/>
                </a:solidFill>
                <a:latin typeface="Pretendard Variable"/>
              </a:rPr>
              <a:t>도심 최대 규모 동시 공급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05542" y="3320752"/>
            <a:ext cx="2739956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>
                <a:latin typeface="Pretendard Variable"/>
              </a:defRPr>
            </a:pPr>
            <a:r>
              <a:rPr sz="900" b="1">
                <a:solidFill>
                  <a:srgbClr val="1E3A8A"/>
                </a:solidFill>
                <a:latin typeface="Pretendard Variable"/>
              </a:rPr>
              <a:t>총 개발 규모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05542" y="3460452"/>
            <a:ext cx="273995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700">
                <a:latin typeface="Pretendard Variable"/>
              </a:defRPr>
            </a:pPr>
            <a:r>
              <a:rPr sz="2700" b="1">
                <a:solidFill>
                  <a:srgbClr val="FFFFFF"/>
                </a:solidFill>
                <a:latin typeface="Pretendard Variable"/>
              </a:rPr>
              <a:t>150만 ㎡+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05512" y="3739852"/>
            <a:ext cx="3340016" cy="215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75">
                <a:latin typeface="Pretendard Variable"/>
              </a:defRPr>
            </a:pPr>
            <a:r>
              <a:rPr sz="975" b="1">
                <a:solidFill>
                  <a:srgbClr val="93C5FD"/>
                </a:solidFill>
                <a:latin typeface="Pretendard Variable"/>
              </a:rPr>
              <a:t>여의도 IFC의 약 3배 규모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05512" y="4016077"/>
            <a:ext cx="3340016" cy="6280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75">
                <a:latin typeface="Pretendard Variable"/>
              </a:defRPr>
            </a:pPr>
            <a:r>
              <a:rPr sz="975" b="1">
                <a:solidFill>
                  <a:srgbClr val="1E3A8A"/>
                </a:solidFill>
                <a:latin typeface="Pretendard Variable"/>
              </a:rPr>
              <a:t>이오타 서울(46만㎡) 단독으로도 여의도 IFC(50만㎡)에 필적하며, 주변 5대 대형 메가 정비사업이 동시 준공됨으로써 서울 중심부에 전무후무한 대규모 프라임 업무 클러스터가 구축됩니다.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0926" y="4901902"/>
            <a:ext cx="11683707" cy="44128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1E3A8A"/>
                </a:solidFill>
                <a:latin typeface="Pretendard Variable"/>
              </a:rPr>
              <a:t>▪ 이오타 서울(46만㎡), 북부역세권(35만㎡), 서소문구역(24.9만㎡) 등 서울역-남산 일대 핵심 정비사업들이 2030년까지 총 연면적 150만㎡ 규모의 프라임 공급 확정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8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2084288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1E3A8A"/>
                </a:solidFill>
                <a:latin typeface="Pretendard Variable"/>
              </a:rPr>
              <a:t>서울 3대 업무구역을 넘어 4대 비즈니스 허브로 도약하는 SBD의 지향점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2389088"/>
            <a:ext cx="10159746" cy="5041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750">
                <a:latin typeface="Pretendard Variable"/>
              </a:defRPr>
            </a:pPr>
            <a:r>
              <a:rPr sz="3750" b="1">
                <a:solidFill>
                  <a:srgbClr val="0F172A"/>
                </a:solidFill>
                <a:latin typeface="Pretendard Variable"/>
              </a:rPr>
              <a:t>4대 업무 권역(SBD)으로 공식 인정받기 위한 5대 필요충분조건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60543" y="3151088"/>
            <a:ext cx="2051137" cy="2247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 b="1">
                <a:solidFill>
                  <a:srgbClr val="2563EB"/>
                </a:solidFill>
                <a:latin typeface="Pretendard Variable"/>
              </a:rPr>
              <a:t>CONDITION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60543" y="3335238"/>
            <a:ext cx="2051137" cy="2263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75">
                <a:latin typeface="Pretendard Variable"/>
              </a:defRPr>
            </a:pPr>
            <a:r>
              <a:rPr sz="1275" b="1">
                <a:solidFill>
                  <a:srgbClr val="0F172A"/>
                </a:solidFill>
                <a:latin typeface="Pretendard Variable"/>
              </a:rPr>
              <a:t>공급 규모 (Scale)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60543" y="3546375"/>
            <a:ext cx="2484931" cy="4783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37">
                <a:latin typeface="Pretendard Variable"/>
              </a:defRPr>
            </a:pPr>
            <a:r>
              <a:rPr sz="937">
                <a:solidFill>
                  <a:srgbClr val="1E3A8A"/>
                </a:solidFill>
                <a:latin typeface="Pretendard Variable"/>
              </a:rPr>
              <a:t>단일 구역 내 오피스 공급 50만㎡ 이상 확보 및 복수의 랜드마크 트로피 에셋 존재 (이오타서울/북부역세권 등으로 충족)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68243" y="3151088"/>
            <a:ext cx="2051281" cy="2247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 b="1">
                <a:solidFill>
                  <a:srgbClr val="2563EB"/>
                </a:solidFill>
                <a:latin typeface="Pretendard Variable"/>
              </a:rPr>
              <a:t>CONDITION 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68243" y="3335238"/>
            <a:ext cx="2485109" cy="3613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75">
                <a:latin typeface="Pretendard Variable"/>
              </a:defRPr>
            </a:pPr>
            <a:r>
              <a:rPr sz="1275" b="1">
                <a:solidFill>
                  <a:srgbClr val="0F172A"/>
                </a:solidFill>
                <a:latin typeface="Pretendard Variable"/>
              </a:rPr>
              <a:t>교통 연결성 (Connectivity)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68243" y="3681313"/>
            <a:ext cx="2485109" cy="4783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37">
                <a:latin typeface="Pretendard Variable"/>
              </a:defRPr>
            </a:pPr>
            <a:r>
              <a:rPr sz="937">
                <a:solidFill>
                  <a:srgbClr val="1E3A8A"/>
                </a:solidFill>
                <a:latin typeface="Pretendard Variable"/>
              </a:rPr>
              <a:t>서울역 KTX·GTX·공항철도·지하철 1·4호선 연계와 남산-서울로 7017 보행길이 융합된 입체 교통 네트워크 구축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76043" y="3151088"/>
            <a:ext cx="2051281" cy="2247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 b="1">
                <a:solidFill>
                  <a:srgbClr val="2563EB"/>
                </a:solidFill>
                <a:latin typeface="Pretendard Variable"/>
              </a:rPr>
              <a:t>CONDITION 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76043" y="3335238"/>
            <a:ext cx="2485109" cy="2263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75">
                <a:latin typeface="Pretendard Variable"/>
              </a:defRPr>
            </a:pPr>
            <a:r>
              <a:rPr sz="1275" b="1">
                <a:solidFill>
                  <a:srgbClr val="0F172A"/>
                </a:solidFill>
                <a:latin typeface="Pretendard Variable"/>
              </a:rPr>
              <a:t>업종 다양성 (Diversity)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76043" y="3546375"/>
            <a:ext cx="2485109" cy="4783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37">
                <a:latin typeface="Pretendard Variable"/>
              </a:defRPr>
            </a:pPr>
            <a:r>
              <a:rPr sz="937">
                <a:solidFill>
                  <a:srgbClr val="1E3A8A"/>
                </a:solidFill>
                <a:latin typeface="Pretendard Variable"/>
              </a:rPr>
              <a:t>프라임 오피스 + 6성급 호텔(리츠칼튼) + 대규모 MICE + 상업 리테일 + 도심 공원의 완벽한 용도 융합 생태계 형성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83843" y="3151088"/>
            <a:ext cx="2051281" cy="2247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 b="1">
                <a:solidFill>
                  <a:srgbClr val="2563EB"/>
                </a:solidFill>
                <a:latin typeface="Pretendard Variable"/>
              </a:rPr>
              <a:t>CONDITION 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83843" y="3335238"/>
            <a:ext cx="2485109" cy="3613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75">
                <a:latin typeface="Pretendard Variable"/>
              </a:defRPr>
            </a:pPr>
            <a:r>
              <a:rPr sz="1275" b="1">
                <a:solidFill>
                  <a:srgbClr val="0F172A"/>
                </a:solidFill>
                <a:latin typeface="Pretendard Variable"/>
              </a:rPr>
              <a:t>국제 및 지역 연계 (Global Link)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83843" y="3681313"/>
            <a:ext cx="2485109" cy="4783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37">
                <a:latin typeface="Pretendard Variable"/>
              </a:defRPr>
            </a:pPr>
            <a:r>
              <a:rPr sz="937">
                <a:solidFill>
                  <a:srgbClr val="1E3A8A"/>
                </a:solidFill>
                <a:latin typeface="Pretendard Variable"/>
              </a:rPr>
              <a:t>공항철도를 통한 국제 직결성과 용산 국제업무지구(IBD)와 3km 거리의 연계를 통한 글로벌 기업 HQ 유치 기반 확보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91642" y="3151088"/>
            <a:ext cx="2051137" cy="2247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 b="1">
                <a:solidFill>
                  <a:srgbClr val="2563EB"/>
                </a:solidFill>
                <a:latin typeface="Pretendard Variable"/>
              </a:rPr>
              <a:t>CONDITION 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91642" y="3335238"/>
            <a:ext cx="2484931" cy="2263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75">
                <a:latin typeface="Pretendard Variable"/>
              </a:defRPr>
            </a:pPr>
            <a:r>
              <a:rPr sz="1275" b="1">
                <a:solidFill>
                  <a:srgbClr val="0F172A"/>
                </a:solidFill>
                <a:latin typeface="Pretendard Variable"/>
              </a:rPr>
              <a:t>지역 아이덴티티 (Identity)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91642" y="3546375"/>
            <a:ext cx="2484931" cy="4783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37">
                <a:latin typeface="Pretendard Variable"/>
              </a:defRPr>
            </a:pPr>
            <a:r>
              <a:rPr sz="937">
                <a:solidFill>
                  <a:srgbClr val="1E3A8A"/>
                </a:solidFill>
                <a:latin typeface="Pretendard Variable"/>
              </a:rPr>
              <a:t>남산 조망권 수호, 서울로 7017의 공공 보행로 활성화, 약현성당 및 손기정 기념관 등 역사문화 자산의 연계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0926" y="4423866"/>
            <a:ext cx="11683707" cy="44128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1E3A8A"/>
                </a:solidFill>
                <a:latin typeface="Pretendard Variable"/>
              </a:rPr>
              <a:t>▪ 기존 CBD·GBD·YBD의 고착화된 3대 권역 체제를 타파하고, 이오타 서울 중심의 대규모 복합 공간을 기반으로 4대 권역인 SBD의 조건 완성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8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519733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1E3A8A"/>
                </a:solidFill>
                <a:latin typeface="Pretendard Variable"/>
              </a:rPr>
              <a:t>글로벌 메가 PPP 성공 모델의 서울형 SBD 맞춤형 이식 방향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824533"/>
            <a:ext cx="10159746" cy="5041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750">
                <a:latin typeface="Pretendard Variable"/>
              </a:defRPr>
            </a:pPr>
            <a:r>
              <a:rPr sz="3750" b="1">
                <a:solidFill>
                  <a:srgbClr val="0F172A"/>
                </a:solidFill>
                <a:latin typeface="Pretendard Variable"/>
              </a:rPr>
              <a:t>뉴욕 허드슨야드 주요 성공 요소와 서울형 SBD 공간 대응 매핑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0926" y="4988421"/>
            <a:ext cx="11683707" cy="44128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1E3A8A"/>
                </a:solidFill>
                <a:latin typeface="Pretendard Variable"/>
              </a:rPr>
              <a:t>▪ 뉴욕 허드슨야드 마스터플랜의 성공적인 핵심 인프라(조형물, 광장, 하이라인 연계)를 서울역 고가(서울로 7017) 및 남산 조망과 1대1 매핑하여 도입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8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757064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1E3A8A"/>
                </a:solidFill>
                <a:latin typeface="Pretendard Variable"/>
              </a:rPr>
              <a:t>서울역-남산 구역이 보유한 독보적인 역사·자연 플레이스메이킹 자산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2061864"/>
            <a:ext cx="10159746" cy="5041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750">
                <a:latin typeface="Pretendard Variable"/>
              </a:defRPr>
            </a:pPr>
            <a:r>
              <a:rPr sz="3750" b="1">
                <a:solidFill>
                  <a:srgbClr val="0F172A"/>
                </a:solidFill>
                <a:latin typeface="Pretendard Variable"/>
              </a:rPr>
              <a:t>SBD 공간 차별화와 브랜드 가치를 이끄는 4대 플레이스메이킹 자산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5942" y="2849264"/>
            <a:ext cx="6688922" cy="2724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 b="1">
                <a:solidFill>
                  <a:srgbClr val="0F172A"/>
                </a:solidFill>
                <a:latin typeface="Pretendard Variable"/>
              </a:rPr>
              <a:t>남산 자연 조망권 (Namsan View Corridor)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5942" y="3106439"/>
            <a:ext cx="6688922" cy="3597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>
                <a:solidFill>
                  <a:srgbClr val="1E3A8A"/>
                </a:solidFill>
                <a:latin typeface="Pretendard Variable"/>
              </a:rPr>
              <a:t>서울 도심 심장부에서 누릴 수 있는 유일무이한 영구적 자연 조망 자산. 이오타 서울 설계 및 가로 구획 시 남산 조망 통경축 확보를 최우선으로 적용.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30791" y="2849264"/>
            <a:ext cx="6688922" cy="2724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 b="1">
                <a:solidFill>
                  <a:srgbClr val="0F172A"/>
                </a:solidFill>
                <a:latin typeface="Pretendard Variable"/>
              </a:rPr>
              <a:t>서울로 7017 보행길 (Seoulo 7017 Path)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30791" y="3106439"/>
            <a:ext cx="6688922" cy="3597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>
                <a:solidFill>
                  <a:srgbClr val="1E3A8A"/>
                </a:solidFill>
                <a:latin typeface="Pretendard Variable"/>
              </a:rPr>
              <a:t>뉴욕 하이라인을 연상시키는 국내 최초의 입체형 고가 보행 공원. 얼라이언스 BID가 직접 프로그래밍 및 야외 스트리트 마케팅, 치안·미화를 전담.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5942" y="3844627"/>
            <a:ext cx="6688922" cy="2724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 b="1">
                <a:solidFill>
                  <a:srgbClr val="0F172A"/>
                </a:solidFill>
                <a:latin typeface="Pretendard Variable"/>
              </a:rPr>
              <a:t>역사문화 레이어 (Historical Layer)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5942" y="4101802"/>
            <a:ext cx="6688922" cy="3597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>
                <a:solidFill>
                  <a:srgbClr val="1E3A8A"/>
                </a:solidFill>
                <a:latin typeface="Pretendard Variable"/>
              </a:rPr>
              <a:t>약현성당, 손기정 기념관, 남대문시장 등 유구한 근현대 유산과 전통 상권 인접. 현대적 비즈니스와 전통 역사문화 관광의 입체적 복합화 가능.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30791" y="3844627"/>
            <a:ext cx="6688922" cy="2724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 b="1">
                <a:solidFill>
                  <a:srgbClr val="0F172A"/>
                </a:solidFill>
                <a:latin typeface="Pretendard Variable"/>
              </a:rPr>
              <a:t>서울역 관문성 (Seoul Station Gateway)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30791" y="4101802"/>
            <a:ext cx="6688922" cy="3597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>
                <a:solidFill>
                  <a:srgbClr val="1E3A8A"/>
                </a:solidFill>
                <a:latin typeface="Pretendard Variable"/>
              </a:rPr>
              <a:t>KTX, GTX(예정), 공항철도 및 지하철 1·4호선을 연계한 국제적 교통 결절점 위상. 글로벌 다국적 기업 HQ 유치 마케팅의 차별화된 핵심 무기로 활용.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0926" y="4751089"/>
            <a:ext cx="11683707" cy="44128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1E3A8A"/>
                </a:solidFill>
                <a:latin typeface="Pretendard Variable"/>
              </a:rPr>
              <a:t>▪ SBD가 강남(GBD)이나 여의도(YBD)와 구별되는 독보적인 강점은 자연(남산)과 보행 인프라, 근현대 역사문화와 글로벌 관문성을 모두 보유하고 있다는 점임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73962" y="2883495"/>
            <a:ext cx="1697664" cy="339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950">
                <a:latin typeface="Pretendard Variable"/>
              </a:defRPr>
            </a:pPr>
            <a:r>
              <a:rPr sz="1950" b="1">
                <a:solidFill>
                  <a:srgbClr val="0F172A"/>
                </a:solidFill>
                <a:latin typeface="Pretendard Variable"/>
              </a:rPr>
              <a:t>CHAPTER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4319" y="3220045"/>
            <a:ext cx="10176950" cy="63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4950">
                <a:latin typeface="Pretendard Variable"/>
              </a:defRPr>
            </a:pPr>
            <a:r>
              <a:rPr sz="4950" b="1">
                <a:solidFill>
                  <a:srgbClr val="0F172A"/>
                </a:solidFill>
                <a:latin typeface="Pretendard Variable"/>
              </a:rPr>
              <a:t>SBD의 구조적 차별성과 진화 모델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8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533227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1E3A8A"/>
                </a:solidFill>
                <a:latin typeface="Pretendard Variable"/>
              </a:rPr>
              <a:t>기존 오피스 지구의 한계와 SBD의 패러다임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838027"/>
            <a:ext cx="10159746" cy="5041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750">
                <a:latin typeface="Pretendard Variable"/>
              </a:defRPr>
            </a:pPr>
            <a:r>
              <a:rPr sz="3750" b="1">
                <a:solidFill>
                  <a:srgbClr val="0F172A"/>
                </a:solidFill>
                <a:latin typeface="Pretendard Variable"/>
              </a:rPr>
              <a:t>단순 빌딩 적치를 넘어 에어리어 기획으로 공간 가치를 극대화함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0926" y="4974927"/>
            <a:ext cx="11683707" cy="44128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1E3A8A"/>
                </a:solidFill>
                <a:latin typeface="Pretendard Variable"/>
              </a:rPr>
              <a:t>▪ 한국의 전통적인 오피스 개발은 운영주체 없이 건물만 빽빽이 채운 단순 ‘적치장’인 반면, 선진 도시의 업무지구는 지구 전체를 하나의 가치 단위로 묶는 ‘면(面)의 개발’을 핵심으로 삼음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8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533227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1E3A8A"/>
                </a:solidFill>
                <a:latin typeface="Pretendard Variable"/>
              </a:rPr>
              <a:t>제4세대 업무지구 SBD의 구조적 정의와 운영 모델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838027"/>
            <a:ext cx="10159746" cy="5041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750">
                <a:latin typeface="Pretendard Variable"/>
              </a:defRPr>
            </a:pPr>
            <a:r>
              <a:rPr sz="3750" b="1">
                <a:solidFill>
                  <a:srgbClr val="0F172A"/>
                </a:solidFill>
                <a:latin typeface="Pretendard Variable"/>
              </a:rPr>
              <a:t>이지스 단일 앵커 자산에 통합 에리어 운영체제(OS)를 선제적으로 결합함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0926" y="4974927"/>
            <a:ext cx="11683707" cy="44128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1E3A8A"/>
                </a:solidFill>
                <a:latin typeface="Pretendard Variable"/>
              </a:rPr>
              <a:t>▪ SBD는 한국 정비사업 사상 최초로 건물(하드웨어)과 BID(소프트웨어 운영체제)를 결합하여 설계함으로써, 파편화 소유로 관리가 불가능했던 CBD를 뛰어넘어 최고 수준의 진화형 업무지구로 도약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72092" y="2611139"/>
            <a:ext cx="1701405" cy="339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950">
                <a:latin typeface="Pretendard Variable"/>
              </a:defRPr>
            </a:pPr>
            <a:r>
              <a:rPr sz="1950" b="1">
                <a:solidFill>
                  <a:srgbClr val="0F172A"/>
                </a:solidFill>
                <a:latin typeface="Pretendard Variable"/>
              </a:rPr>
              <a:t>CHAPTER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-1904952" y="2947689"/>
            <a:ext cx="16255593" cy="11810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4950">
                <a:latin typeface="Pretendard Variable"/>
              </a:defRPr>
            </a:pPr>
            <a:r>
              <a:rPr sz="4950" b="1">
                <a:solidFill>
                  <a:srgbClr val="0F172A"/>
                </a:solidFill>
                <a:latin typeface="Pretendard Variable"/>
              </a:rPr>
              <a:t>증거 1. 디벨로퍼와 자산 소유자를 위한 재무적 실익 입증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126529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1E3A8A"/>
                </a:solidFill>
                <a:latin typeface="Pretendard Variable"/>
              </a:rPr>
              <a:t>에리어 매니지먼트 도입에 따른 자산가치 상승의 재무적 ROI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431329"/>
            <a:ext cx="10159746" cy="9169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750">
                <a:latin typeface="Pretendard Variable"/>
              </a:defRPr>
            </a:pPr>
            <a:r>
              <a:rPr sz="3750" b="1">
                <a:solidFill>
                  <a:srgbClr val="0F172A"/>
                </a:solidFill>
                <a:latin typeface="Pretendard Variable"/>
              </a:rPr>
              <a:t>BID 도입 지구의 상업용 부동산 가치가 주변 대비 평균 15%p 초과 상승함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0926" y="4980979"/>
            <a:ext cx="11683707" cy="44128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1E3A8A"/>
                </a:solidFill>
                <a:latin typeface="Pretendard Variable"/>
              </a:rPr>
              <a:t>▪ 뉴욕대 퍼먼센터의 학술 연구 결과 대형·고밀도 업무지구에 강력한 BID 운영체제를 얹을수록 주변 자산가치 효과(+15%)가 뚜렷하게 입증됨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0926" y="5381624"/>
            <a:ext cx="11683707" cy="44128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1E3A8A"/>
                </a:solidFill>
                <a:latin typeface="Pretendard Variable"/>
              </a:rPr>
              <a:t>▪ 이오타 서울의 임대 면적에 10% 프리미엄 발생 시 연간 약 1,390억 원의 추가 임대 수익 잠재력을 확보하여, 공간 운영 분담금 대비 압도적인 재무적 ROI를 달성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326852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1E3A8A"/>
                </a:solidFill>
                <a:latin typeface="Pretendard Variable"/>
              </a:rPr>
              <a:t>도시 재생과 에어리어 매니지먼트의 글로벌 3대 성공 실증 분석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631652"/>
            <a:ext cx="10159746" cy="9169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750">
                <a:latin typeface="Pretendard Variable"/>
              </a:defRPr>
            </a:pPr>
            <a:r>
              <a:rPr sz="3750" b="1">
                <a:solidFill>
                  <a:srgbClr val="0F172A"/>
                </a:solidFill>
                <a:latin typeface="Pretendard Variable"/>
              </a:rPr>
              <a:t>슬럼가의 가치 회복부터 빌딩 투자가치 60% 상승까지 실질적 상승을 증명함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0926" y="5181302"/>
            <a:ext cx="11683707" cy="44128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1E3A8A"/>
                </a:solidFill>
                <a:latin typeface="Pretendard Variable"/>
              </a:rPr>
              <a:t>▪ 범죄 지대에서 임대 활동 60% 증가를 일군 뉴욕 브라이언트 파크, 투자가치 60%를 증가시킨 롯폰기 힐즈, 공실률 2%를 사수한 마루노우치를 통해 에리어 운영의 재무 실익을 입증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9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533227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1E3A8A"/>
                </a:solidFill>
                <a:latin typeface="Pretendard Variable"/>
              </a:rPr>
              <a:t>SBD 도입에 따른 디벨로퍼의 재무적·전략적 실익 결론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838027"/>
            <a:ext cx="10159746" cy="5041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750">
                <a:latin typeface="Pretendard Variable"/>
              </a:defRPr>
            </a:pPr>
            <a:r>
              <a:rPr sz="3750" b="1">
                <a:solidFill>
                  <a:srgbClr val="0F172A"/>
                </a:solidFill>
                <a:latin typeface="Pretendard Variable"/>
              </a:rPr>
              <a:t>지구 운영 분담금은 지출 비용이 아닌 자산가치를 올리는 영구적 동력임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0926" y="4974927"/>
            <a:ext cx="11683707" cy="44128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1E3A8A"/>
                </a:solidFill>
                <a:latin typeface="Pretendard Variable"/>
              </a:rPr>
              <a:t>▪ 공간 운영체제(OS)는 비용 지출 부서가 아니라 자산 가치를 극대화하는 더블 엔진이며, 임대 프리미엄을 통한 소유자 실익과 운영 수수료 징수를 통한 이지스(운용사)의 수익원 확보를 달성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80436" y="2883495"/>
            <a:ext cx="1684717" cy="339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950">
                <a:latin typeface="Pretendard Variable"/>
              </a:defRPr>
            </a:pPr>
            <a:r>
              <a:rPr sz="1950" b="1">
                <a:solidFill>
                  <a:srgbClr val="0F172A"/>
                </a:solidFill>
                <a:latin typeface="Pretendard Variable"/>
              </a:rPr>
              <a:t>CHAPTER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-489235" y="3220045"/>
            <a:ext cx="13424060" cy="63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4950">
                <a:latin typeface="Pretendard Variable"/>
              </a:defRPr>
            </a:pPr>
            <a:r>
              <a:rPr sz="4950" b="1">
                <a:solidFill>
                  <a:srgbClr val="0F172A"/>
                </a:solidFill>
                <a:latin typeface="Pretendard Variable"/>
              </a:rPr>
              <a:t>증거 2. 도시·정부(서울시)에게 무엇이 좋은가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9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620639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0F172A"/>
                </a:solidFill>
                <a:latin typeface="Pretendard Variable"/>
              </a:rPr>
              <a:t>도시·정부 관점의 민간 협력형 에리어 관리 모델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925439"/>
            <a:ext cx="10159746" cy="5041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750">
                <a:latin typeface="Pretendard Variable"/>
              </a:defRPr>
            </a:pPr>
            <a:r>
              <a:rPr sz="3750" b="1">
                <a:solidFill>
                  <a:srgbClr val="0F172A"/>
                </a:solidFill>
                <a:latin typeface="Pretendard Variable"/>
              </a:rPr>
              <a:t>공공 예산 투입 없이도 도심 청결·안전·세수를 동시에 극대화함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89713" y="5062339"/>
            <a:ext cx="10355896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1E3A8A"/>
                </a:solidFill>
                <a:latin typeface="Pretendard Variable"/>
              </a:rPr>
              <a:t>▪ 민간이 자체 조달한 부과금으로 서비스를 대행하여 시 예산 부담 없이 도심 환경과 치안을 강화하고 행정 효율을 극대화함.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620639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0F172A"/>
                </a:solidFill>
                <a:latin typeface="Pretendard Variable"/>
              </a:rPr>
              <a:t>공공 공간 보행화 및 안전 개선이 도시에 미치는 경제적 파급 효과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925439"/>
            <a:ext cx="10159746" cy="5041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750">
                <a:latin typeface="Pretendard Variable"/>
              </a:defRPr>
            </a:pPr>
            <a:r>
              <a:rPr sz="3750" b="1">
                <a:solidFill>
                  <a:srgbClr val="0F172A"/>
                </a:solidFill>
                <a:latin typeface="Pretendard Variable"/>
              </a:rPr>
              <a:t>보행광장 전환으로 범죄를 줄이고 뉴욕시 전체 세수의 11%를 견인함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0272" y="5062339"/>
            <a:ext cx="10245885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1E3A8A"/>
                </a:solidFill>
                <a:latin typeface="Pretendard Variable"/>
              </a:rPr>
              <a:t>▪ 보행광장 전환 및 BID 협업을 통한 범죄·부상 극적 감소와 시 전체 경제의 11%를 견인하는 세원 레버리지 효과를 입증함.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9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620639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0F172A"/>
                </a:solidFill>
                <a:latin typeface="Pretendard Variable"/>
              </a:rPr>
              <a:t>롯폰기힐즈 녹색 인프라 실증 및 서울시 기후·탄소 목표와 브랜드 경쟁력 융합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925439"/>
            <a:ext cx="10159746" cy="5041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750">
                <a:latin typeface="Pretendard Variable"/>
              </a:defRPr>
            </a:pPr>
            <a:r>
              <a:rPr sz="3750" b="1">
                <a:solidFill>
                  <a:srgbClr val="0F172A"/>
                </a:solidFill>
                <a:latin typeface="Pretendard Variable"/>
              </a:rPr>
              <a:t>환경 인프라의 지속 가능 성과와 서울의 글로벌 도시 브랜드 효과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54065" y="5062339"/>
            <a:ext cx="11564410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1E3A8A"/>
                </a:solidFill>
                <a:latin typeface="Pretendard Variable"/>
              </a:rPr>
              <a:t>▪ 롯폰기힐즈의 환경 성능 실증을 기반으로, 예산 부담 없는 '안전·녹색·세수' 복합 효과를 통한 서울의 글로벌 도시 경쟁력 브랜딩을 구축함.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71926" y="2611139"/>
            <a:ext cx="1701836" cy="339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950">
                <a:latin typeface="Pretendard Variable"/>
              </a:defRPr>
            </a:pPr>
            <a:r>
              <a:rPr sz="1950" b="1">
                <a:solidFill>
                  <a:srgbClr val="0F172A"/>
                </a:solidFill>
                <a:latin typeface="Pretendard Variable"/>
              </a:rPr>
              <a:t>CHAPTER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-1904952" y="2947689"/>
            <a:ext cx="16255593" cy="11810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4950">
                <a:latin typeface="Pretendard Variable"/>
              </a:defRPr>
            </a:pPr>
            <a:r>
              <a:rPr sz="4950" b="1">
                <a:solidFill>
                  <a:srgbClr val="0F172A"/>
                </a:solidFill>
                <a:latin typeface="Pretendard Variable"/>
              </a:rPr>
              <a:t>증거 3. 그 안에서 일하는 사람(직장인)에게 무엇이 좋은가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9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533227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0F172A"/>
                </a:solidFill>
                <a:latin typeface="Pretendard Variable"/>
              </a:rPr>
              <a:t>SBD BID 완성에 따른 서울역 주변 일상 경험의 전후 대조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838027"/>
            <a:ext cx="10159746" cy="5041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750">
                <a:latin typeface="Pretendard Variable"/>
              </a:defRPr>
            </a:pPr>
            <a:r>
              <a:rPr sz="3750" b="1">
                <a:solidFill>
                  <a:srgbClr val="0F172A"/>
                </a:solidFill>
                <a:latin typeface="Pretendard Variable"/>
              </a:rPr>
              <a:t>이오타서울 직장인의 하루: 공간이 명함이 되는 변화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0926" y="4974927"/>
            <a:ext cx="11683707" cy="44128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1E3A8A"/>
                </a:solidFill>
                <a:latin typeface="Pretendard Variable"/>
              </a:rPr>
              <a:t>▪ 단순한 빌딩 출근을 넘어 글로벌 TOP 브랜드(BlackRock 등) 수준의 소속감과 생활 어메니티를 제공해 기업의 인재 유치력을 극적으로 향상시킴.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1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533227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0F172A"/>
                </a:solidFill>
                <a:latin typeface="Pretendard Variable"/>
              </a:rPr>
              <a:t>점심시간 안마의자 카페의 쪽잠 vs 마루노우치·브라이언트파크 잔디밭의 일상 어메니티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838027"/>
            <a:ext cx="10159746" cy="5041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750">
                <a:latin typeface="Pretendard Variable"/>
              </a:defRPr>
            </a:pPr>
            <a:r>
              <a:rPr sz="3750" b="1">
                <a:solidFill>
                  <a:srgbClr val="0F172A"/>
                </a:solidFill>
                <a:latin typeface="Pretendard Variable"/>
              </a:rPr>
              <a:t>한국 업무지구의 결핍과 글로벌 어메니티 격차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0926" y="4974927"/>
            <a:ext cx="11683707" cy="44128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1E3A8A"/>
                </a:solidFill>
                <a:latin typeface="Pretendard Variable"/>
              </a:rPr>
              <a:t>▪ 안마의자 쪽잠에 의존하는 한국 도심과 달리 글로벌 지구는 녹지 어메니티를 복지가 아닌 핵심 인재 유치의 무기이자 기업 경쟁력으로 활용함.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72092" y="2883495"/>
            <a:ext cx="1701405" cy="339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950">
                <a:latin typeface="Pretendard Variable"/>
              </a:defRPr>
            </a:pPr>
            <a:r>
              <a:rPr sz="1950" b="1">
                <a:solidFill>
                  <a:srgbClr val="0F172A"/>
                </a:solidFill>
                <a:latin typeface="Pretendard Variable"/>
              </a:rPr>
              <a:t>CHAPTER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-921639" y="3220045"/>
            <a:ext cx="14288968" cy="63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4950">
                <a:latin typeface="Pretendard Variable"/>
              </a:defRPr>
            </a:pPr>
            <a:r>
              <a:rPr sz="4950" b="1">
                <a:solidFill>
                  <a:srgbClr val="0F172A"/>
                </a:solidFill>
                <a:latin typeface="Pretendard Variable"/>
              </a:rPr>
              <a:t>증거 4. 주변 거주자·지역사회에게 무엇이 좋은가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1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501477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0F172A"/>
                </a:solidFill>
                <a:latin typeface="Pretendard Variable"/>
              </a:rPr>
              <a:t>이오타서울 공개 녹지 관리, 보행 네트워크 연결 및 치안 개선을 통한 주거 환경 혁신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806277"/>
            <a:ext cx="10159746" cy="5041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750">
                <a:latin typeface="Pretendard Variable"/>
              </a:defRPr>
            </a:pPr>
            <a:r>
              <a:rPr sz="3750" b="1">
                <a:solidFill>
                  <a:srgbClr val="0F172A"/>
                </a:solidFill>
                <a:latin typeface="Pretendard Variable"/>
              </a:rPr>
              <a:t>주변 거주자 관점의 실질적 혜택과 부동산 가치 상승 효과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0926" y="5006677"/>
            <a:ext cx="11683707" cy="44128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1E3A8A"/>
                </a:solidFill>
                <a:latin typeface="Pretendard Variable"/>
              </a:rPr>
              <a:t>▪ 축구장 1개 크기의 이오타서울 녹지 관리와 남산 연결 보행로 및 치안 인프라 구축을 통해 인접 주거지의 정주 여건을 개선하고 부동산 가치의 초과 상승을 견인함.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1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501477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0F172A"/>
                </a:solidFill>
                <a:latin typeface="Pretendard Variable"/>
              </a:rPr>
              <a:t>광장 보행화에 따른 유동인구 유입, 지구 단위 마케팅 및 반(反)젠트리피케이션 장치 내장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806277"/>
            <a:ext cx="10159746" cy="5041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750">
                <a:latin typeface="Pretendard Variable"/>
              </a:defRPr>
            </a:pPr>
            <a:r>
              <a:rPr sz="3750" b="1">
                <a:solidFill>
                  <a:srgbClr val="0F172A"/>
                </a:solidFill>
                <a:latin typeface="Pretendard Variable"/>
              </a:rPr>
              <a:t>지역 리테일 활성화와 주말 공동화 방지 및 지속가능성 확보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0926" y="5006677"/>
            <a:ext cx="11683707" cy="44128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1E3A8A"/>
                </a:solidFill>
                <a:latin typeface="Pretendard Variable"/>
              </a:rPr>
              <a:t>▪ 보행자 친화 환경 정비와 지구 단위 마케팅으로 소상공인 매출 증대를 이끌고, 주말 활성화와 함께 반(反)젠트리피케이션 설계를 내장하여 상생 생태계를 구축함.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05483" y="2611139"/>
            <a:ext cx="1834622" cy="339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950">
                <a:latin typeface="Pretendard Variable"/>
              </a:defRPr>
            </a:pPr>
            <a:r>
              <a:rPr sz="1950" b="1">
                <a:solidFill>
                  <a:srgbClr val="0F172A"/>
                </a:solidFill>
                <a:latin typeface="Pretendard Variable"/>
              </a:rPr>
              <a:t>CHAPTER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-1904952" y="2947689"/>
            <a:ext cx="16255593" cy="11810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4950">
                <a:latin typeface="Pretendard Variable"/>
              </a:defRPr>
            </a:pPr>
            <a:r>
              <a:rPr sz="4950" b="1">
                <a:solidFill>
                  <a:srgbClr val="0F172A"/>
                </a:solidFill>
                <a:latin typeface="Pretendard Variable"/>
              </a:rPr>
              <a:t>결정적 비교: 자연발생 CBD vs 오피스집합 GBD·YBD vs 설계·운영형 SBD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1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501477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0F172A"/>
                </a:solidFill>
                <a:latin typeface="Pretendard Variable"/>
              </a:rPr>
              <a:t>운영주체와 어메니티, 정책 지원이 결여된 단순 오피스 집합의 한계 노출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806277"/>
            <a:ext cx="10159746" cy="5041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750">
                <a:latin typeface="Pretendard Variable"/>
              </a:defRPr>
            </a:pPr>
            <a:r>
              <a:rPr sz="3750" b="1">
                <a:solidFill>
                  <a:srgbClr val="0F172A"/>
                </a:solidFill>
                <a:latin typeface="Pretendard Variable"/>
              </a:rPr>
              <a:t>한국 3대 업무지구(CBD·GBD·YBD)의 구조적 한계와 결핍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0926" y="5006677"/>
            <a:ext cx="11683707" cy="44128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1E3A8A"/>
                </a:solidFill>
                <a:latin typeface="Pretendard Variable"/>
              </a:rPr>
              <a:t>▪ 기존 3대 권역은 거대한 종사자 규모에도 불구하고 운영 주체와 어메니티의 결여로 인해 공급 충격, 양극화, 주말 공동화 등의 구조적 한계를 안고 있음.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1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501477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0F172A"/>
                </a:solidFill>
                <a:latin typeface="Pretendard Variable"/>
              </a:rPr>
              <a:t>입지적 집적을 넘어 운영체제(OS)와 기획 효과를 자산가치에 내장하는 비즈니스 혁신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806277"/>
            <a:ext cx="10159746" cy="5041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750">
                <a:latin typeface="Pretendard Variable"/>
              </a:defRPr>
            </a:pPr>
            <a:r>
              <a:rPr sz="3750" b="1">
                <a:solidFill>
                  <a:srgbClr val="0F172A"/>
                </a:solidFill>
                <a:latin typeface="Pretendard Variable"/>
              </a:rPr>
              <a:t>기존 3대 업무지구 vs 설계·운영형 SBD의 결정적 차이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0926" y="5006677"/>
            <a:ext cx="11683707" cy="44128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1E3A8A"/>
                </a:solidFill>
                <a:latin typeface="Pretendard Variable"/>
              </a:rPr>
              <a:t>▪ 기존 3대 업무지구의 가치는 입지(자연발생적 집적)에서만 유도되는 반면, 서울형 SBD는 타운 매니지먼트 운영 효과를 자산 자체에 영구 내재화함.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29796" y="2611139"/>
            <a:ext cx="1785997" cy="339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950">
                <a:latin typeface="Pretendard Variable"/>
              </a:defRPr>
            </a:pPr>
            <a:r>
              <a:rPr sz="1950" b="1">
                <a:solidFill>
                  <a:srgbClr val="0F172A"/>
                </a:solidFill>
                <a:latin typeface="Pretendard Variable"/>
              </a:rPr>
              <a:t>CHAPTER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-1904952" y="2947689"/>
            <a:ext cx="16255593" cy="11810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4950">
                <a:latin typeface="Pretendard Variable"/>
              </a:defRPr>
            </a:pPr>
            <a:r>
              <a:rPr sz="4950" b="1">
                <a:solidFill>
                  <a:srgbClr val="0F172A"/>
                </a:solidFill>
                <a:latin typeface="Pretendard Variable"/>
              </a:rPr>
              <a:t>결론: SBD가 되면 무엇이 좋아지는가 — 이오타서울 + 남산이라는 무기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1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501477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0F172A"/>
                </a:solidFill>
                <a:latin typeface="Pretendard Variable"/>
              </a:rPr>
              <a:t>이지스디벨로퍼, 지자체(서울시·중구·용산구) 및 직장인과 시민이 동시에 누리는 상생 가치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806277"/>
            <a:ext cx="10159746" cy="5041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750">
                <a:latin typeface="Pretendard Variable"/>
              </a:defRPr>
            </a:pPr>
            <a:r>
              <a:rPr sz="3750" b="1">
                <a:solidFill>
                  <a:srgbClr val="0F172A"/>
                </a:solidFill>
                <a:latin typeface="Pretendard Variable"/>
              </a:rPr>
              <a:t>이오타서울 SBD가 가져올 이해관계자별 체감 변화 시나리오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0926" y="5006677"/>
            <a:ext cx="11683707" cy="44128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1E3A8A"/>
                </a:solidFill>
                <a:latin typeface="Pretendard Variable"/>
              </a:rPr>
              <a:t>▪ 디벨로퍼의 운영 수수료 수익 확보부터 서울시의 예산 절감형 복지, 시민의 녹지 향유권까지 모든 이해관계자가 가치를 공유하는 상생 모델을 구축함.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1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501477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0F172A"/>
                </a:solidFill>
                <a:latin typeface="Pretendard Variable"/>
              </a:rPr>
              <a:t>압도적 자연자산과 교통결절의 융합, 그리고 뉴욕·도쿄의 에리어 매니지먼트 입증 효과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806277"/>
            <a:ext cx="10159746" cy="5041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750">
                <a:latin typeface="Pretendard Variable"/>
              </a:defRPr>
            </a:pPr>
            <a:r>
              <a:rPr sz="3750" b="1">
                <a:solidFill>
                  <a:srgbClr val="0F172A"/>
                </a:solidFill>
                <a:latin typeface="Pretendard Variable"/>
              </a:rPr>
              <a:t>SBD의 고유 경쟁력(남산·서울역)과 글로벌 매니지먼트 사례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0926" y="5006677"/>
            <a:ext cx="11683707" cy="44128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1E3A8A"/>
                </a:solidFill>
                <a:latin typeface="Pretendard Variable"/>
              </a:rPr>
              <a:t>▪ 남산과 서울역이라는 독보적 자연·교통 자산에 에리어 매니지먼트 운영체제를 결합하여, 기존의 단순 입지 위주 오피스 집합을 넘어선 국내 최초의 진화형 업무지구를 구축함.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1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501477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0F172A"/>
                </a:solidFill>
                <a:latin typeface="Pretendard Variable"/>
              </a:rPr>
              <a:t>오피스 공실률, 임대료 프리미엄, 치안성능 등 핵심 지표의 극적인 차별화 실증 추정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806277"/>
            <a:ext cx="10159746" cy="5041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750">
                <a:latin typeface="Pretendard Variable"/>
              </a:defRPr>
            </a:pPr>
            <a:r>
              <a:rPr sz="3750" b="1">
                <a:solidFill>
                  <a:srgbClr val="0F172A"/>
                </a:solidFill>
                <a:latin typeface="Pretendard Variable"/>
              </a:rPr>
              <a:t>숫자로 보는 "SBD BID가 있는 서울"과 "없는 서울" 비교 예측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0926" y="5006677"/>
            <a:ext cx="11683707" cy="44128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1E3A8A"/>
                </a:solidFill>
                <a:latin typeface="Pretendard Variable"/>
              </a:rPr>
              <a:t>▪ 현재 서울 CBD는 입지 집적 효과만 보유하여 공급에 취약하나, SBD 완성을 통해 공실률 2~3%대 방어 및 10~20%의 자산가치 프리미엄을 안정적으로 확보하게 됨.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1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714199" y="2883495"/>
            <a:ext cx="1017189" cy="339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950">
                <a:latin typeface="Pretendard Variable"/>
              </a:defRPr>
            </a:pPr>
            <a:r>
              <a:rPr sz="1950">
                <a:solidFill>
                  <a:srgbClr val="FFFFFF"/>
                </a:solidFill>
                <a:latin typeface="Pretendard Variable"/>
              </a:rPr>
              <a:t>PART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8607" y="3220045"/>
            <a:ext cx="10128373" cy="63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4950">
                <a:latin typeface="Pretendard Variable"/>
              </a:defRPr>
            </a:pPr>
            <a:r>
              <a:rPr sz="4950" b="1">
                <a:solidFill>
                  <a:srgbClr val="FFFFFF"/>
                </a:solidFill>
                <a:latin typeface="Pretendard Variable"/>
              </a:rPr>
              <a:t>실행 로드맵과 IGIS 관점의 시사점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13085" y="2883495"/>
            <a:ext cx="1819517" cy="339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950">
                <a:latin typeface="Pretendard Variable"/>
              </a:defRPr>
            </a:pPr>
            <a:r>
              <a:rPr sz="1950" b="1">
                <a:solidFill>
                  <a:srgbClr val="0F172A"/>
                </a:solidFill>
                <a:latin typeface="Pretendard Variable"/>
              </a:rPr>
              <a:t>CHAPTER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-1133982" y="3220045"/>
            <a:ext cx="14713653" cy="63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4950">
                <a:latin typeface="Pretendard Variable"/>
              </a:defRPr>
            </a:pPr>
            <a:r>
              <a:rPr sz="4950" b="1">
                <a:solidFill>
                  <a:srgbClr val="0F172A"/>
                </a:solidFill>
                <a:latin typeface="Pretendard Variable"/>
              </a:rPr>
              <a:t>IGIS 관점의 전략적 의미와 SBD 자산 가치 극대화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1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501477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0F172A"/>
                </a:solidFill>
                <a:latin typeface="Pretendard Variable"/>
              </a:rPr>
              <a:t>단순 사회공헌을 넘어 감정평가액 상승 및 '서울형 플레이스메이커' 브랜드 자산화 전략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806277"/>
            <a:ext cx="10159746" cy="5041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750">
                <a:latin typeface="Pretendard Variable"/>
              </a:defRPr>
            </a:pPr>
            <a:r>
              <a:rPr sz="3750" b="1">
                <a:solidFill>
                  <a:srgbClr val="0F172A"/>
                </a:solidFill>
                <a:latin typeface="Pretendard Variable"/>
              </a:rPr>
              <a:t>SBD 도입을 통한 이오타서울 자산 가치 극대화 메커니즘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0926" y="5006677"/>
            <a:ext cx="11683707" cy="44128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1E3A8A"/>
                </a:solidFill>
                <a:latin typeface="Pretendard Variable"/>
              </a:rPr>
              <a:t>▪ 이오타서울의 BID 설립 주도는 단순한 자산 관리를 넘어 펀드 수익률 개선 및 향후 용산 개발 거버넌스 내 민간 리더십 확보로 직결되는 핵심 가치 극대화 전략임.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09655" y="2611139"/>
            <a:ext cx="1826278" cy="339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950">
                <a:latin typeface="Pretendard Variable"/>
              </a:defRPr>
            </a:pPr>
            <a:r>
              <a:rPr sz="1950" b="1">
                <a:solidFill>
                  <a:srgbClr val="0F172A"/>
                </a:solidFill>
                <a:latin typeface="Pretendard Variable"/>
              </a:rPr>
              <a:t>CHAPTER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-1904952" y="2947689"/>
            <a:ext cx="16255593" cy="11810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4950">
                <a:latin typeface="Pretendard Variable"/>
              </a:defRPr>
            </a:pPr>
            <a:r>
              <a:rPr sz="4950" b="1">
                <a:solidFill>
                  <a:srgbClr val="0F172A"/>
                </a:solidFill>
                <a:latin typeface="Pretendard Variable"/>
              </a:rPr>
              <a:t>SBD 운영 OS의 용산국제업무지구 전이(Transfer) 전략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1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501477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0F172A"/>
                </a:solidFill>
                <a:latin typeface="Pretendard Variable"/>
              </a:rPr>
              <a:t>이오타서울을 테스트베드로 한 에리어 매니지먼트 패키지(거버넌스·분담금·OS)의 이식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806277"/>
            <a:ext cx="10159746" cy="5041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750">
                <a:latin typeface="Pretendard Variable"/>
              </a:defRPr>
            </a:pPr>
            <a:r>
              <a:rPr sz="3750" b="1">
                <a:solidFill>
                  <a:srgbClr val="0F172A"/>
                </a:solidFill>
                <a:latin typeface="Pretendard Variable"/>
              </a:rPr>
              <a:t>서울역-남산 SBD 검증 운영 모델의 용산국제업무지구 전이 전략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0926" y="5006677"/>
            <a:ext cx="11683707" cy="44128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1E3A8A"/>
                </a:solidFill>
                <a:latin typeface="Pretendard Variable"/>
              </a:rPr>
              <a:t>▪ 이오타서울 통합개발을 통해 축적된 에리어 매니지먼트의 조율 및 협약 모델은 향후 용산국제업무지구의 초대형 타운 매니지먼트를 가동하는 핵심 실무 매뉴얼로 이전됨.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1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501477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0F172A"/>
                </a:solidFill>
                <a:latin typeface="Pretendard Variable"/>
              </a:rPr>
              <a:t>콘크리트 하드웨어를 넘어 데이터 기반 타운 매니지먼트와 투명한 디지털 분담금 조율 완성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806277"/>
            <a:ext cx="10159746" cy="5041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750">
                <a:latin typeface="Pretendard Variable"/>
              </a:defRPr>
            </a:pPr>
            <a:r>
              <a:rPr sz="3750" b="1">
                <a:solidFill>
                  <a:srgbClr val="0F172A"/>
                </a:solidFill>
                <a:latin typeface="Pretendard Variable"/>
              </a:rPr>
              <a:t>5세대 디지털 BID: 스마트코어(AI·디지털트윈) 기반 통합 관리체제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0926" y="5006677"/>
            <a:ext cx="11683707" cy="44128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1E3A8A"/>
                </a:solidFill>
                <a:latin typeface="Pretendard Variable"/>
              </a:rPr>
              <a:t>▪ 용산국제업무지구는 단순 물리적 관리를 넘어 AI, 디지털 트윈, 블록체인 분담금 시스템이 통합된 5세대 디지털 BID로 진화하며, 그 시작점이 이오타서울임.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07065" y="2883495"/>
            <a:ext cx="1831457" cy="339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950">
                <a:latin typeface="Pretendard Variable"/>
              </a:defRPr>
            </a:pPr>
            <a:r>
              <a:rPr sz="1950" b="1">
                <a:solidFill>
                  <a:srgbClr val="0F172A"/>
                </a:solidFill>
                <a:latin typeface="Pretendard Variable"/>
              </a:rPr>
              <a:t>CHAPTER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-1375613" y="3220045"/>
            <a:ext cx="15196916" cy="63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4950">
                <a:latin typeface="Pretendard Variable"/>
              </a:defRPr>
            </a:pPr>
            <a:r>
              <a:rPr sz="4950" b="1">
                <a:solidFill>
                  <a:srgbClr val="0F172A"/>
                </a:solidFill>
                <a:latin typeface="Pretendard Variable"/>
              </a:rPr>
              <a:t>서울형 SBD 단계별 실행 로드맵 및 구축 가이드라인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1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501477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0F172A"/>
                </a:solidFill>
                <a:latin typeface="Pretendard Variable"/>
              </a:rPr>
              <a:t>즉시(지권자 NPO)에서 시작해 단기 조례 제정, 중기 통합 구역화, 장기 용산 전이로 이어지는 단계적 실행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806277"/>
            <a:ext cx="10159746" cy="5041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750">
                <a:latin typeface="Pretendard Variable"/>
              </a:defRPr>
            </a:pPr>
            <a:r>
              <a:rPr sz="3750" b="1">
                <a:solidFill>
                  <a:srgbClr val="0F172A"/>
                </a:solidFill>
                <a:latin typeface="Pretendard Variable"/>
              </a:rPr>
              <a:t>서울형 SBD 구축을 위한 단계별 실행 로드맵 및 타임라인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0926" y="5006677"/>
            <a:ext cx="11683707" cy="44128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1E3A8A"/>
                </a:solidFill>
                <a:latin typeface="Pretendard Variable"/>
              </a:rPr>
              <a:t>▪ 2026년 이지스자산운용 주도의 파일럿 NPO 설립을 기점으로 조례 입법과 SBD-IBD 연계를 단계적으로 달성하는 실행 로드맵을 구축함.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1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501477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0F172A"/>
                </a:solidFill>
                <a:latin typeface="Pretendard Variable"/>
              </a:rPr>
              <a:t>양동-봉래 구역의 기부채납 공간 위탁 관리에서 시작해 서울역-남산 통합 SBD와 용산 연계 축 완성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806277"/>
            <a:ext cx="10159746" cy="5041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750">
                <a:latin typeface="Pretendard Variable"/>
              </a:defRPr>
            </a:pPr>
            <a:r>
              <a:rPr sz="3750" b="1">
                <a:solidFill>
                  <a:srgbClr val="0F172A"/>
                </a:solidFill>
                <a:latin typeface="Pretendard Variable"/>
              </a:rPr>
              <a:t>파일럿 BID 설립 및 권역 확장 로드맵 (Phase 1~3)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0926" y="5006677"/>
            <a:ext cx="11683707" cy="44128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1E3A8A"/>
                </a:solidFill>
                <a:latin typeface="Pretendard Variable"/>
              </a:rPr>
              <a:t>▪ 양동 파일럿 BID의 기부공간 위탁 운영 경험을 토대로 서울역-남산 전체를 하나로 묶고, 최종적으로 용산국제업무지구까지 연결해 서울의 중심 업무 축을 재편함.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1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501477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0F172A"/>
                </a:solidFill>
                <a:latin typeface="Pretendard Variable"/>
              </a:rPr>
              <a:t>사전 준비부터 입법, 최종 DMA 설립 및 스타트업까지의 법적·실무적 단계 분석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806277"/>
            <a:ext cx="10159746" cy="5041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750">
                <a:latin typeface="Pretendard Variable"/>
              </a:defRPr>
            </a:pPr>
            <a:r>
              <a:rPr sz="3750" b="1">
                <a:solidFill>
                  <a:srgbClr val="0F172A"/>
                </a:solidFill>
                <a:latin typeface="Pretendard Variable"/>
              </a:rPr>
              <a:t>뉴욕시(NYC) SBS 기준 BID 구축 가이드라인 체크리스트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0926" y="5006677"/>
            <a:ext cx="11683707" cy="44128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1E3A8A"/>
                </a:solidFill>
                <a:latin typeface="Pretendard Variable"/>
              </a:rPr>
              <a:t>▪ 뉴욕시 비즈니스 개선지구(BID) 설립 기준은 사전 동의 확보와 정교한 입법 절차를 거치므로 기획부터 개시까지 최소 3~6년이 소요되며 SBD 계획 시 선제적 대응이 필요함.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