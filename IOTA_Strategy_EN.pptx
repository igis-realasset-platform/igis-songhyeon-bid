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2560320"/>
            <a:ext cx="10362895" cy="1828800"/>
          </a:xfrm>
          <a:prstGeom prst="rect">
            <a:avLst/>
          </a:prstGeom>
          <a:noFill/>
        </p:spPr>
        <p:txBody>
          <a:bodyPr wrap="square" lIns="0" rIns="0" tIns="0" bIns="0">
            <a:spAutoFit/>
          </a:bodyPr>
          <a:lstStyle/>
          <a:p>
            <a:pPr algn="ctr">
              <a:defRPr sz="3200" b="1">
                <a:solidFill>
                  <a:srgbClr val="1D1D1F"/>
                </a:solidFill>
                <a:latin typeface="Arial"/>
              </a:defRPr>
            </a:pPr>
            <a:r>
              <a:t>( The $3 Trillion Era IGIS's Global Leap and IOTA Project Master Plan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Executive Summary</a:t>
            </a:r>
          </a:p>
          <a:p>
            <a:pPr>
              <a:spcBef>
                <a:spcPts val="1200"/>
              </a:spcBef>
              <a:defRPr sz="3200" b="1">
                <a:solidFill>
                  <a:srgbClr val="1D1D1F"/>
                </a:solidFill>
                <a:latin typeface="Arial"/>
              </a:defRPr>
            </a:pPr>
            <a:r>
              <a:t>This presentation proposal is a master plan structuring the roadmap for IGIS Asset Management to surpass 100 trillion KRW in Assets Under Management (AUM) and leap forward as a true global top-tier asset manager. The ultimate goal of this strategy is to successfully execute the 7 trillion KRW IOTA Seoul Project Financing (PF)—the largest in the history of Korean commercial real estate—and leverage it to attract massive global LP capital. To achieve this, this presentation presents the following 4-Part Logical Flow for the CEO and key decision-makers: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Part 1. Historical Analysis</a:t>
            </a:r>
          </a:p>
          <a:p>
            <a:pPr>
              <a:lnSpc>
                <a:spcPct val="130000"/>
              </a:lnSpc>
              <a:spcAft>
                <a:spcPts val="1200"/>
              </a:spcAft>
              <a:defRPr sz="1800">
                <a:solidFill>
                  <a:srgbClr val="1D1D1F"/>
                </a:solidFill>
                <a:latin typeface="Arial"/>
              </a:defRPr>
            </a:pPr>
            <a:r>
              <a:t>•  We prove with data the structural value appreciation of Seoul prime offices and the evolution of the industrial/capital markets over the past 20 years, during which the Korean economy expanded from 1 trillion to 2 trillion dollars.</a:t>
            </a:r>
          </a:p>
          <a:p>
            <a:pPr>
              <a:lnSpc>
                <a:spcPct val="130000"/>
              </a:lnSpc>
              <a:spcAft>
                <a:spcPts val="1200"/>
              </a:spcAft>
              <a:defRPr sz="1800">
                <a:solidFill>
                  <a:srgbClr val="1D1D1F"/>
                </a:solidFill>
                <a:latin typeface="Arial"/>
              </a:defRPr>
            </a:pPr>
            <a:r>
              <a:t>•  Part 2. Future Scenarios</a:t>
            </a:r>
          </a:p>
          <a:p>
            <a:pPr>
              <a:lnSpc>
                <a:spcPct val="130000"/>
              </a:lnSpc>
              <a:spcAft>
                <a:spcPts val="1200"/>
              </a:spcAft>
              <a:defRPr sz="1800">
                <a:solidFill>
                  <a:srgbClr val="1D1D1F"/>
                </a:solidFill>
                <a:latin typeface="Arial"/>
              </a:defRPr>
            </a:pPr>
            <a:r>
              <a:t>•  Predicting the topography of macroeconomics, demographics, and new growth industries over the next 15 years (2027-2040) as we enter the 3 trillion dollar era, we derive the rental convergence logic for prime real estate.</a:t>
            </a:r>
          </a:p>
          <a:p>
            <a:pPr>
              <a:lnSpc>
                <a:spcPct val="130000"/>
              </a:lnSpc>
              <a:spcAft>
                <a:spcPts val="1200"/>
              </a:spcAft>
              <a:defRPr sz="1800">
                <a:solidFill>
                  <a:srgbClr val="1D1D1F"/>
                </a:solidFill>
                <a:latin typeface="Arial"/>
              </a:defRPr>
            </a:pPr>
            <a:r>
              <a:t>•  Part 3. Strategic Positioning</a:t>
            </a:r>
          </a:p>
          <a:p>
            <a:pPr>
              <a:lnSpc>
                <a:spcPct val="130000"/>
              </a:lnSpc>
              <a:spcAft>
                <a:spcPts val="1200"/>
              </a:spcAft>
              <a:defRPr sz="1800">
                <a:solidFill>
                  <a:srgbClr val="1D1D1F"/>
                </a:solidFill>
                <a:latin typeface="Arial"/>
              </a:defRPr>
            </a:pPr>
            <a:r>
              <a:t>•  We design a specific capital and operational framework to achieve 100 trillion AUM by integrating AI workflows into three major platforms: Data Centers, Senior Housing, and Prime Mixed-Use Development.</a:t>
            </a:r>
          </a:p>
          <a:p>
            <a:pPr>
              <a:lnSpc>
                <a:spcPct val="130000"/>
              </a:lnSpc>
              <a:spcAft>
                <a:spcPts val="1200"/>
              </a:spcAft>
              <a:defRPr sz="1800">
                <a:solidFill>
                  <a:srgbClr val="1D1D1F"/>
                </a:solidFill>
                <a:latin typeface="Arial"/>
              </a:defRPr>
            </a:pPr>
            <a:r>
              <a:t>•  Part 4. IOTA Seoul Execution</a:t>
            </a:r>
          </a:p>
          <a:p>
            <a:pPr>
              <a:lnSpc>
                <a:spcPct val="130000"/>
              </a:lnSpc>
              <a:spcAft>
                <a:spcPts val="1200"/>
              </a:spcAft>
              <a:defRPr sz="1800">
                <a:solidFill>
                  <a:srgbClr val="1D1D1F"/>
                </a:solidFill>
                <a:latin typeface="Arial"/>
              </a:defRPr>
            </a:pPr>
            <a:r>
              <a:t>•  Presenting the investment value, governance risks, capital raising, and contingency plans for overcoming crises for IOTA Seoul—the core execution of the strategy—we translate imminent key tasks into a 12-month timeline to urge immediate action.</a:t>
            </a:r>
          </a:p>
          <a:p>
            <a:pPr>
              <a:lnSpc>
                <a:spcPct val="130000"/>
              </a:lnSpc>
              <a:spcAft>
                <a:spcPts val="1200"/>
              </a:spcAft>
              <a:defRPr sz="1800">
                <a:solidFill>
                  <a:srgbClr val="1D1D1F"/>
                </a:solidFill>
                <a:latin typeface="Arial"/>
              </a:defRPr>
            </a:pPr>
            <a:r>
              <a:t>•  Disclaimer</a:t>
            </a:r>
          </a:p>
          <a:p>
            <a:pPr>
              <a:lnSpc>
                <a:spcPct val="130000"/>
              </a:lnSpc>
              <a:spcAft>
                <a:spcPts val="1200"/>
              </a:spcAft>
              <a:defRPr sz="1800">
                <a:solidFill>
                  <a:srgbClr val="1D1D1F"/>
                </a:solidFill>
                <a:latin typeface="Arial"/>
              </a:defRPr>
            </a:pPr>
            <a:r>
              <a:t>•  This document has been prepared for the purpose of providing strategic information and internal planning, and does not constitute financial, legal, or professional investment advice. Forward-looking statements related to market outlooks, yield estimates, funding targets, and specific companies/institutions included in this document are scenarios based on macroeconomic data and analysis at the time of writing, and may vary significantly depending on actual market conditions, interest rate fluctuations, regulatory changes, and unforeseen risks. Decision-making must be preceded by separate legal, accounting, and financial due diligence.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888888"/>
                </a:solidFill>
                <a:latin typeface="Arial"/>
              </a:defRPr>
            </a:pPr>
            <a:r>
              <a:t>Prologue.</a:t>
            </a:r>
          </a:p>
          <a:p>
            <a:pPr algn="ctr">
              <a:spcBef>
                <a:spcPts val="1200"/>
              </a:spcBef>
              <a:defRPr sz="3200" b="1">
                <a:solidFill>
                  <a:srgbClr val="1D1D1F"/>
                </a:solidFill>
                <a:latin typeface="Arial"/>
              </a:defRPr>
            </a:pPr>
            <a:r>
              <a:t>The Strategic Context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The $3 Trillion Era, IGIS Asset Management\'s Strategic Coordinates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 Korea's $1T → $2T → $3T GDP Trajectory, Where Does IGIS Stand?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Inflection Point for Global AM Leap</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 From a Dominant 1st with 73T KRW AUM, to a Global Platform like Blackstone &amp; Brookfield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Civilizational Significance of IOTA Seoul Project</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 A 7T KRW Single PF The Largest Trophy Asset in Korean Commercial Real Estate History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4 Core Pillars of IGIS 2030 Master Plan</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 Macroeconomy, Industrial Momentum, Capital Structure Innovation, and Trophy Asset Fusion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Rhythm of the Era &amp; IGIS\'s Decision</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 At Every Historical Inflection Point, Cities Reinvent Themselves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Part 1.</a:t>
            </a:r>
          </a:p>
          <a:p>
            <a:pPr algn="ctr">
              <a:spcBef>
                <a:spcPts val="1200"/>
              </a:spcBef>
              <a:defRPr sz="3200" b="1">
                <a:solidFill>
                  <a:srgbClr val="FFFFFF"/>
                </a:solidFill>
                <a:latin typeface="Arial"/>
              </a:defRPr>
            </a:pPr>
            <a:r>
              <a:t>( Korea GDP $1T → $2T Era Historical Analysis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1.</a:t>
            </a:r>
          </a:p>
          <a:p>
            <a:pPr algn="ctr">
              <a:spcBef>
                <a:spcPts val="1200"/>
              </a:spcBef>
              <a:defRPr sz="3200" b="1">
                <a:solidFill>
                  <a:srgbClr val="FFFFFF"/>
                </a:solidFill>
                <a:latin typeface="Arial"/>
              </a:defRPr>
            </a:pPr>
            <a:r>
              <a:t>( From $1 Trillion to $2 Trillion A Shift in Macro Coordinates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The Dawn and Forging of the $1 Trillion Era</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 Breaking KOSPI 2000 in 2007 and Settling the $1 Trillion Economy Post-Crisis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Reaching the $2 Trillion GDP Milestone</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 Doubling from $1T to $2T, Korea's 20-Year Leap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Power &amp; Duality of the Dual Engine</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 Combination of Heavy &amp; New Growth Industries, And the Deepened Reliance on a Single Sector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2.</a:t>
            </a:r>
          </a:p>
          <a:p>
            <a:pPr algn="ctr">
              <a:spcBef>
                <a:spcPts val="1200"/>
              </a:spcBef>
              <a:defRPr sz="3200" b="1">
                <a:solidFill>
                  <a:srgbClr val="FFFFFF"/>
                </a:solidFill>
                <a:latin typeface="Arial"/>
              </a:defRPr>
            </a:pPr>
            <a:r>
              <a:t>( Industrial Momentum The 10 Engines that Drove Korea to $2 Trillion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AI Supercycle &amp; Semiconductor Monopoly</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Absolute Pillar of GDP Growth Led by Samsung &amp; SK Hynix</a:t>
            </a:r>
          </a:p>
          <a:p>
            <a:pPr>
              <a:lnSpc>
                <a:spcPct val="130000"/>
              </a:lnSpc>
              <a:spcAft>
                <a:spcPts val="1200"/>
              </a:spcAft>
              <a:defRPr sz="1800">
                <a:solidFill>
                  <a:srgbClr val="1D1D1F"/>
                </a:solidFill>
                <a:latin typeface="Arial"/>
              </a:defRPr>
            </a:pPr>
            <a:r>
              <a:t>•  AI</a:t>
            </a:r>
          </a:p>
          <a:p>
            <a:pPr>
              <a:lnSpc>
                <a:spcPct val="130000"/>
              </a:lnSpc>
              <a:spcAft>
                <a:spcPts val="1200"/>
              </a:spcAft>
              <a:defRPr sz="1800">
                <a:solidFill>
                  <a:srgbClr val="1D1D1F"/>
                </a:solidFill>
                <a:latin typeface="Arial"/>
              </a:defRPr>
            </a:pPr>
            <a:r>
              <a:t>•  Samsung</a:t>
            </a:r>
          </a:p>
          <a:p>
            <a:pPr>
              <a:lnSpc>
                <a:spcPct val="130000"/>
              </a:lnSpc>
              <a:spcAft>
                <a:spcPts val="1200"/>
              </a:spcAft>
              <a:defRPr sz="1800">
                <a:solidFill>
                  <a:srgbClr val="1D1D1F"/>
                </a:solidFill>
                <a:latin typeface="Arial"/>
              </a:defRPr>
            </a:pPr>
            <a:r>
              <a:t>•  Explosive Revenue Growth</a:t>
            </a:r>
          </a:p>
          <a:p>
            <a:pPr>
              <a:lnSpc>
                <a:spcPct val="130000"/>
              </a:lnSpc>
              <a:spcAft>
                <a:spcPts val="1200"/>
              </a:spcAft>
              <a:defRPr sz="1800">
                <a:solidFill>
                  <a:srgbClr val="1D1D1F"/>
                </a:solidFill>
                <a:latin typeface="Arial"/>
              </a:defRPr>
            </a:pPr>
            <a:r>
              <a:t>•  2007</a:t>
            </a:r>
          </a:p>
          <a:p>
            <a:pPr>
              <a:lnSpc>
                <a:spcPct val="130000"/>
              </a:lnSpc>
              <a:spcAft>
                <a:spcPts val="1200"/>
              </a:spcAft>
              <a:defRPr sz="1800">
                <a:solidFill>
                  <a:srgbClr val="1D1D1F"/>
                </a:solidFill>
                <a:latin typeface="Arial"/>
              </a:defRPr>
            </a:pPr>
            <a:r>
              <a:t>•  ~$100T KRW</a:t>
            </a:r>
          </a:p>
          <a:p>
            <a:pPr>
              <a:lnSpc>
                <a:spcPct val="130000"/>
              </a:lnSpc>
              <a:spcAft>
                <a:spcPts val="1200"/>
              </a:spcAft>
              <a:defRPr sz="1800">
                <a:solidFill>
                  <a:srgbClr val="1D1D1F"/>
                </a:solidFill>
                <a:latin typeface="Arial"/>
              </a:defRPr>
            </a:pPr>
            <a:r>
              <a:t>•  2025</a:t>
            </a:r>
          </a:p>
          <a:p>
            <a:pPr>
              <a:lnSpc>
                <a:spcPct val="130000"/>
              </a:lnSpc>
              <a:spcAft>
                <a:spcPts val="1200"/>
              </a:spcAft>
              <a:defRPr sz="1800">
                <a:solidFill>
                  <a:srgbClr val="1D1D1F"/>
                </a:solidFill>
                <a:latin typeface="Arial"/>
              </a:defRPr>
            </a:pPr>
            <a:r>
              <a:t>•  ~$333T KRW</a:t>
            </a:r>
          </a:p>
          <a:p>
            <a:pPr>
              <a:lnSpc>
                <a:spcPct val="130000"/>
              </a:lnSpc>
              <a:spcAft>
                <a:spcPts val="1200"/>
              </a:spcAft>
              <a:defRPr sz="1800">
                <a:solidFill>
                  <a:srgbClr val="1D1D1F"/>
                </a:solidFill>
                <a:latin typeface="Arial"/>
              </a:defRPr>
            </a:pPr>
            <a:r>
              <a:t>•  GDP Share</a:t>
            </a:r>
          </a:p>
          <a:p>
            <a:pPr>
              <a:lnSpc>
                <a:spcPct val="130000"/>
              </a:lnSpc>
              <a:spcAft>
                <a:spcPts val="1200"/>
              </a:spcAft>
              <a:defRPr sz="1800">
                <a:solidFill>
                  <a:srgbClr val="1D1D1F"/>
                </a:solidFill>
                <a:latin typeface="Arial"/>
              </a:defRPr>
            </a:pPr>
            <a:r>
              <a:t>•  22.4%</a:t>
            </a:r>
          </a:p>
          <a:p>
            <a:pPr>
              <a:lnSpc>
                <a:spcPct val="130000"/>
              </a:lnSpc>
              <a:spcAft>
                <a:spcPts val="1200"/>
              </a:spcAft>
              <a:defRPr sz="1800">
                <a:solidFill>
                  <a:srgbClr val="1D1D1F"/>
                </a:solidFill>
                <a:latin typeface="Arial"/>
              </a:defRPr>
            </a:pPr>
            <a:r>
              <a:t>•  Single Group Reliance</a:t>
            </a:r>
          </a:p>
          <a:p>
            <a:pPr>
              <a:lnSpc>
                <a:spcPct val="130000"/>
              </a:lnSpc>
              <a:spcAft>
                <a:spcPts val="1200"/>
              </a:spcAft>
              <a:defRPr sz="1800">
                <a:solidFill>
                  <a:srgbClr val="1D1D1F"/>
                </a:solidFill>
                <a:latin typeface="Arial"/>
              </a:defRPr>
            </a:pPr>
            <a:r>
              <a:t>•  HBM</a:t>
            </a:r>
          </a:p>
          <a:p>
            <a:pPr>
              <a:lnSpc>
                <a:spcPct val="130000"/>
              </a:lnSpc>
              <a:spcAft>
                <a:spcPts val="1200"/>
              </a:spcAft>
              <a:defRPr sz="1800">
                <a:solidFill>
                  <a:srgbClr val="1D1D1F"/>
                </a:solidFill>
                <a:latin typeface="Arial"/>
              </a:defRPr>
            </a:pPr>
            <a:r>
              <a:t>•  SK Hynix</a:t>
            </a:r>
          </a:p>
          <a:p>
            <a:pPr>
              <a:lnSpc>
                <a:spcPct val="130000"/>
              </a:lnSpc>
              <a:spcAft>
                <a:spcPts val="1200"/>
              </a:spcAft>
              <a:defRPr sz="1800">
                <a:solidFill>
                  <a:srgbClr val="1D1D1F"/>
                </a:solidFill>
                <a:latin typeface="Arial"/>
              </a:defRPr>
            </a:pPr>
            <a:r>
              <a:t>•  Record Operating Profit</a:t>
            </a:r>
          </a:p>
          <a:p>
            <a:pPr>
              <a:lnSpc>
                <a:spcPct val="130000"/>
              </a:lnSpc>
              <a:spcAft>
                <a:spcPts val="1200"/>
              </a:spcAft>
              <a:defRPr sz="1800">
                <a:solidFill>
                  <a:srgbClr val="1D1D1F"/>
                </a:solidFill>
                <a:latin typeface="Arial"/>
              </a:defRPr>
            </a:pPr>
            <a:r>
              <a:t>•  2007 Rev.</a:t>
            </a:r>
          </a:p>
          <a:p>
            <a:pPr>
              <a:lnSpc>
                <a:spcPct val="130000"/>
              </a:lnSpc>
              <a:spcAft>
                <a:spcPts val="1200"/>
              </a:spcAft>
              <a:defRPr sz="1800">
                <a:solidFill>
                  <a:srgbClr val="1D1D1F"/>
                </a:solidFill>
                <a:latin typeface="Arial"/>
              </a:defRPr>
            </a:pPr>
            <a:r>
              <a:t>•  8.6T KRW</a:t>
            </a:r>
          </a:p>
          <a:p>
            <a:pPr>
              <a:lnSpc>
                <a:spcPct val="130000"/>
              </a:lnSpc>
              <a:spcAft>
                <a:spcPts val="1200"/>
              </a:spcAft>
              <a:defRPr sz="1800">
                <a:solidFill>
                  <a:srgbClr val="1D1D1F"/>
                </a:solidFill>
                <a:latin typeface="Arial"/>
              </a:defRPr>
            </a:pPr>
            <a:r>
              <a:t>•  2025 Q-Profit</a:t>
            </a:r>
          </a:p>
          <a:p>
            <a:pPr>
              <a:lnSpc>
                <a:spcPct val="130000"/>
              </a:lnSpc>
              <a:spcAft>
                <a:spcPts val="1200"/>
              </a:spcAft>
              <a:defRPr sz="1800">
                <a:solidFill>
                  <a:srgbClr val="1D1D1F"/>
                </a:solidFill>
                <a:latin typeface="Arial"/>
              </a:defRPr>
            </a:pPr>
            <a:r>
              <a:t>•  10T+ KRW</a:t>
            </a:r>
          </a:p>
          <a:p>
            <a:pPr>
              <a:lnSpc>
                <a:spcPct val="130000"/>
              </a:lnSpc>
              <a:spcAft>
                <a:spcPts val="1200"/>
              </a:spcAft>
              <a:defRPr sz="1800">
                <a:solidFill>
                  <a:srgbClr val="1D1D1F"/>
                </a:solidFill>
                <a:latin typeface="Arial"/>
              </a:defRPr>
            </a:pPr>
            <a:r>
              <a:t>•  ( ▪ The most decisive engine. Samsung's revenue expanded over 3x from ~$100T KRW in 2007 to ~$333T KRW in 2025. ▪ SK Hynix surpassed 10T KRW in quarterly operating profit for the first time in 2025, maximizing AI supercycle benefits. ▪ Bloomberg Economics analyzed that Samsung alone accounts for about half of Korea's GDP growth in 2024. ▪ Samsung Group's revenue share of GDP rose from 15% in 2007 to 22.4% in 2022 , deepening macroeconomic dependence.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Evolution of Automobiles Beyond Mobility</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Hyundai Motor Group Radically Expanding Business Territory with Robotics &amp; AI</a:t>
            </a:r>
          </a:p>
          <a:p>
            <a:pPr>
              <a:lnSpc>
                <a:spcPct val="130000"/>
              </a:lnSpc>
              <a:spcAft>
                <a:spcPts val="1200"/>
              </a:spcAft>
              <a:defRPr sz="1800">
                <a:solidFill>
                  <a:srgbClr val="FFFFFF"/>
                </a:solidFill>
                <a:latin typeface="Arial"/>
              </a:defRPr>
            </a:pPr>
            <a:r>
              <a:t>•  Auto</a:t>
            </a:r>
          </a:p>
          <a:p>
            <a:pPr>
              <a:lnSpc>
                <a:spcPct val="130000"/>
              </a:lnSpc>
              <a:spcAft>
                <a:spcPts val="1200"/>
              </a:spcAft>
              <a:defRPr sz="1800">
                <a:solidFill>
                  <a:srgbClr val="FFFFFF"/>
                </a:solidFill>
                <a:latin typeface="Arial"/>
              </a:defRPr>
            </a:pPr>
            <a:r>
              <a:t>•  Global Top 3</a:t>
            </a:r>
          </a:p>
          <a:p>
            <a:pPr>
              <a:lnSpc>
                <a:spcPct val="130000"/>
              </a:lnSpc>
              <a:spcAft>
                <a:spcPts val="1200"/>
              </a:spcAft>
              <a:defRPr sz="1800">
                <a:solidFill>
                  <a:srgbClr val="FFFFFF"/>
                </a:solidFill>
                <a:latin typeface="Arial"/>
              </a:defRPr>
            </a:pPr>
            <a:r>
              <a:t>•  4M ➔</a:t>
            </a:r>
          </a:p>
          <a:p>
            <a:pPr>
              <a:lnSpc>
                <a:spcPct val="130000"/>
              </a:lnSpc>
              <a:spcAft>
                <a:spcPts val="1200"/>
              </a:spcAft>
              <a:defRPr sz="1800">
                <a:solidFill>
                  <a:srgbClr val="FFFFFF"/>
                </a:solidFill>
                <a:latin typeface="Arial"/>
              </a:defRPr>
            </a:pPr>
            <a:r>
              <a:t>•  7.23M</a:t>
            </a:r>
          </a:p>
          <a:p>
            <a:pPr>
              <a:lnSpc>
                <a:spcPct val="130000"/>
              </a:lnSpc>
              <a:spcAft>
                <a:spcPts val="1200"/>
              </a:spcAft>
              <a:defRPr sz="1800">
                <a:solidFill>
                  <a:srgbClr val="FFFFFF"/>
                </a:solidFill>
                <a:latin typeface="Arial"/>
              </a:defRPr>
            </a:pPr>
            <a:r>
              <a:t>•  Global Sales (2007-2024)</a:t>
            </a:r>
          </a:p>
          <a:p>
            <a:pPr>
              <a:lnSpc>
                <a:spcPct val="130000"/>
              </a:lnSpc>
              <a:spcAft>
                <a:spcPts val="1200"/>
              </a:spcAft>
              <a:defRPr sz="1800">
                <a:solidFill>
                  <a:srgbClr val="FFFFFF"/>
                </a:solidFill>
                <a:latin typeface="Arial"/>
              </a:defRPr>
            </a:pPr>
            <a:r>
              <a:t>•  Robotics</a:t>
            </a:r>
          </a:p>
          <a:p>
            <a:pPr>
              <a:lnSpc>
                <a:spcPct val="130000"/>
              </a:lnSpc>
              <a:spcAft>
                <a:spcPts val="1200"/>
              </a:spcAft>
              <a:defRPr sz="1800">
                <a:solidFill>
                  <a:srgbClr val="FFFFFF"/>
                </a:solidFill>
                <a:latin typeface="Arial"/>
              </a:defRPr>
            </a:pPr>
            <a:r>
              <a:t>•  UAM &amp; Droids</a:t>
            </a:r>
          </a:p>
          <a:p>
            <a:pPr>
              <a:lnSpc>
                <a:spcPct val="130000"/>
              </a:lnSpc>
              <a:spcAft>
                <a:spcPts val="1200"/>
              </a:spcAft>
              <a:defRPr sz="1800">
                <a:solidFill>
                  <a:srgbClr val="FFFFFF"/>
                </a:solidFill>
                <a:latin typeface="Arial"/>
              </a:defRPr>
            </a:pPr>
            <a:r>
              <a:t>•  Boston Dynamics</a:t>
            </a:r>
          </a:p>
          <a:p>
            <a:pPr>
              <a:lnSpc>
                <a:spcPct val="130000"/>
              </a:lnSpc>
              <a:spcAft>
                <a:spcPts val="1200"/>
              </a:spcAft>
              <a:defRPr sz="1800">
                <a:solidFill>
                  <a:srgbClr val="FFFFFF"/>
                </a:solidFill>
                <a:latin typeface="Arial"/>
              </a:defRPr>
            </a:pPr>
            <a:r>
              <a:t>•  Acquisition &amp; Supernal</a:t>
            </a:r>
          </a:p>
          <a:p>
            <a:pPr>
              <a:lnSpc>
                <a:spcPct val="130000"/>
              </a:lnSpc>
              <a:spcAft>
                <a:spcPts val="1200"/>
              </a:spcAft>
              <a:defRPr sz="1800">
                <a:solidFill>
                  <a:srgbClr val="FFFFFF"/>
                </a:solidFill>
                <a:latin typeface="Arial"/>
              </a:defRPr>
            </a:pPr>
            <a:r>
              <a:t>•  AI Infra</a:t>
            </a:r>
          </a:p>
          <a:p>
            <a:pPr>
              <a:lnSpc>
                <a:spcPct val="130000"/>
              </a:lnSpc>
              <a:spcAft>
                <a:spcPts val="1200"/>
              </a:spcAft>
              <a:defRPr sz="1800">
                <a:solidFill>
                  <a:srgbClr val="FFFFFF"/>
                </a:solidFill>
                <a:latin typeface="Arial"/>
              </a:defRPr>
            </a:pPr>
            <a:r>
              <a:t>•  Data Center</a:t>
            </a:r>
          </a:p>
          <a:p>
            <a:pPr>
              <a:lnSpc>
                <a:spcPct val="130000"/>
              </a:lnSpc>
              <a:spcAft>
                <a:spcPts val="1200"/>
              </a:spcAft>
              <a:defRPr sz="1800">
                <a:solidFill>
                  <a:srgbClr val="FFFFFF"/>
                </a:solidFill>
                <a:latin typeface="Arial"/>
              </a:defRPr>
            </a:pPr>
            <a:r>
              <a:t>•  NVIDIA Partner</a:t>
            </a:r>
          </a:p>
          <a:p>
            <a:pPr>
              <a:lnSpc>
                <a:spcPct val="130000"/>
              </a:lnSpc>
              <a:spcAft>
                <a:spcPts val="1200"/>
              </a:spcAft>
              <a:defRPr sz="1800">
                <a:solidFill>
                  <a:srgbClr val="FFFFFF"/>
                </a:solidFill>
                <a:latin typeface="Arial"/>
              </a:defRPr>
            </a:pPr>
            <a:r>
              <a:t>•  AI Infra Innovation (2026)</a:t>
            </a:r>
          </a:p>
          <a:p>
            <a:pPr>
              <a:lnSpc>
                <a:spcPct val="130000"/>
              </a:lnSpc>
              <a:spcAft>
                <a:spcPts val="1200"/>
              </a:spcAft>
              <a:defRPr sz="1800">
                <a:solidFill>
                  <a:srgbClr val="FFFFFF"/>
                </a:solidFill>
                <a:latin typeface="Arial"/>
              </a:defRPr>
            </a:pPr>
            <a:r>
              <a:t>•  ( ▪ Established as the world's 3rd largest group , with sales growing from ~4M units in 2007 to ~7.23M in 2024 . ▪ Successfully positioned just behind Tesla and BYD in the EV transition with the Ioniq and EV9 lineups. ▪ Breaking mobility boundaries through the acquisition of Boston Dynamics (2021) and establishment of Supernal. ▪ Radically expanding business scope: Automobiles ➔ Robotics ➔ AI Infrastructure via NVIDIA partnership.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Resurgence of Shipbuilding amid Global Hegemony</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Overwhelming Dominance of K-Shipbuilding Big 3 Riding the MASGA Wave</a:t>
            </a:r>
          </a:p>
          <a:p>
            <a:pPr>
              <a:lnSpc>
                <a:spcPct val="130000"/>
              </a:lnSpc>
              <a:spcAft>
                <a:spcPts val="1200"/>
              </a:spcAft>
              <a:defRPr sz="1800">
                <a:solidFill>
                  <a:srgbClr val="1D1D1F"/>
                </a:solidFill>
                <a:latin typeface="Arial"/>
              </a:defRPr>
            </a:pPr>
            <a:r>
              <a:t>•  K-Shipbuilding</a:t>
            </a:r>
          </a:p>
          <a:p>
            <a:pPr>
              <a:lnSpc>
                <a:spcPct val="130000"/>
              </a:lnSpc>
              <a:spcAft>
                <a:spcPts val="1200"/>
              </a:spcAft>
              <a:defRPr sz="1800">
                <a:solidFill>
                  <a:srgbClr val="1D1D1F"/>
                </a:solidFill>
                <a:latin typeface="Arial"/>
              </a:defRPr>
            </a:pPr>
            <a:r>
              <a:t>•  HD Hyundai</a:t>
            </a:r>
          </a:p>
          <a:p>
            <a:pPr>
              <a:lnSpc>
                <a:spcPct val="130000"/>
              </a:lnSpc>
              <a:spcAft>
                <a:spcPts val="1200"/>
              </a:spcAft>
              <a:defRPr sz="1800">
                <a:solidFill>
                  <a:srgbClr val="1D1D1F"/>
                </a:solidFill>
                <a:latin typeface="Arial"/>
              </a:defRPr>
            </a:pPr>
            <a:r>
              <a:t>•  Samsung Heavy</a:t>
            </a:r>
          </a:p>
          <a:p>
            <a:pPr>
              <a:lnSpc>
                <a:spcPct val="130000"/>
              </a:lnSpc>
              <a:spcAft>
                <a:spcPts val="1200"/>
              </a:spcAft>
              <a:defRPr sz="1800">
                <a:solidFill>
                  <a:srgbClr val="1D1D1F"/>
                </a:solidFill>
                <a:latin typeface="Arial"/>
              </a:defRPr>
            </a:pPr>
            <a:r>
              <a:t>•  Hanwha Ocean</a:t>
            </a:r>
          </a:p>
          <a:p>
            <a:pPr>
              <a:lnSpc>
                <a:spcPct val="130000"/>
              </a:lnSpc>
              <a:spcAft>
                <a:spcPts val="1200"/>
              </a:spcAft>
              <a:defRPr sz="1800">
                <a:solidFill>
                  <a:srgbClr val="1D1D1F"/>
                </a:solidFill>
                <a:latin typeface="Arial"/>
              </a:defRPr>
            </a:pPr>
            <a:r>
              <a:t>•  2025 Export Growth</a:t>
            </a:r>
          </a:p>
          <a:p>
            <a:pPr>
              <a:lnSpc>
                <a:spcPct val="130000"/>
              </a:lnSpc>
              <a:spcAft>
                <a:spcPts val="1200"/>
              </a:spcAft>
              <a:defRPr sz="1800">
                <a:solidFill>
                  <a:srgbClr val="1D1D1F"/>
                </a:solidFill>
                <a:latin typeface="Arial"/>
              </a:defRPr>
            </a:pPr>
            <a:r>
              <a:t>•  +24.9%</a:t>
            </a:r>
          </a:p>
          <a:p>
            <a:pPr>
              <a:lnSpc>
                <a:spcPct val="130000"/>
              </a:lnSpc>
              <a:spcAft>
                <a:spcPts val="1200"/>
              </a:spcAft>
              <a:defRPr sz="1800">
                <a:solidFill>
                  <a:srgbClr val="1D1D1F"/>
                </a:solidFill>
                <a:latin typeface="Arial"/>
              </a:defRPr>
            </a:pPr>
            <a:r>
              <a:t>•  Only Double-Digit Growth with Semi</a:t>
            </a:r>
          </a:p>
          <a:p>
            <a:pPr>
              <a:lnSpc>
                <a:spcPct val="130000"/>
              </a:lnSpc>
              <a:spcAft>
                <a:spcPts val="1200"/>
              </a:spcAft>
              <a:defRPr sz="1800">
                <a:solidFill>
                  <a:srgbClr val="1D1D1F"/>
                </a:solidFill>
                <a:latin typeface="Arial"/>
              </a:defRPr>
            </a:pPr>
            <a:r>
              <a:t>•  DOMINANCE</a:t>
            </a:r>
          </a:p>
          <a:p>
            <a:pPr>
              <a:lnSpc>
                <a:spcPct val="130000"/>
              </a:lnSpc>
              <a:spcAft>
                <a:spcPts val="1200"/>
              </a:spcAft>
              <a:defRPr sz="1800">
                <a:solidFill>
                  <a:srgbClr val="1D1D1F"/>
                </a:solidFill>
                <a:latin typeface="Arial"/>
              </a:defRPr>
            </a:pPr>
            <a:r>
              <a:t>•  High-Value Ship Share</a:t>
            </a:r>
          </a:p>
          <a:p>
            <a:pPr>
              <a:lnSpc>
                <a:spcPct val="130000"/>
              </a:lnSpc>
              <a:spcAft>
                <a:spcPts val="1200"/>
              </a:spcAft>
              <a:defRPr sz="1800">
                <a:solidFill>
                  <a:srgbClr val="1D1D1F"/>
                </a:solidFill>
                <a:latin typeface="Arial"/>
              </a:defRPr>
            </a:pPr>
            <a:r>
              <a:t>•  60%+</a:t>
            </a:r>
          </a:p>
          <a:p>
            <a:pPr>
              <a:lnSpc>
                <a:spcPct val="130000"/>
              </a:lnSpc>
              <a:spcAft>
                <a:spcPts val="1200"/>
              </a:spcAft>
              <a:defRPr sz="1800">
                <a:solidFill>
                  <a:srgbClr val="1D1D1F"/>
                </a:solidFill>
                <a:latin typeface="Arial"/>
              </a:defRPr>
            </a:pPr>
            <a:r>
              <a:t>•  LNG / Ammonia</a:t>
            </a:r>
          </a:p>
          <a:p>
            <a:pPr>
              <a:lnSpc>
                <a:spcPct val="130000"/>
              </a:lnSpc>
              <a:spcAft>
                <a:spcPts val="1200"/>
              </a:spcAft>
              <a:defRPr sz="1800">
                <a:solidFill>
                  <a:srgbClr val="1D1D1F"/>
                </a:solidFill>
                <a:latin typeface="Arial"/>
              </a:defRPr>
            </a:pPr>
            <a:r>
              <a:t>•  Offshore Plants</a:t>
            </a:r>
          </a:p>
          <a:p>
            <a:pPr>
              <a:lnSpc>
                <a:spcPct val="130000"/>
              </a:lnSpc>
              <a:spcAft>
                <a:spcPts val="1200"/>
              </a:spcAft>
              <a:defRPr sz="1800">
                <a:solidFill>
                  <a:srgbClr val="1D1D1F"/>
                </a:solidFill>
                <a:latin typeface="Arial"/>
              </a:defRPr>
            </a:pPr>
            <a:r>
              <a:t>•  US-China Hegemony</a:t>
            </a:r>
          </a:p>
          <a:p>
            <a:pPr>
              <a:lnSpc>
                <a:spcPct val="130000"/>
              </a:lnSpc>
              <a:spcAft>
                <a:spcPts val="1200"/>
              </a:spcAft>
              <a:defRPr sz="1800">
                <a:solidFill>
                  <a:srgbClr val="1D1D1F"/>
                </a:solidFill>
                <a:latin typeface="Arial"/>
              </a:defRPr>
            </a:pPr>
            <a:r>
              <a:t>•  MASGA</a:t>
            </a:r>
          </a:p>
          <a:p>
            <a:pPr>
              <a:lnSpc>
                <a:spcPct val="130000"/>
              </a:lnSpc>
              <a:spcAft>
                <a:spcPts val="1200"/>
              </a:spcAft>
              <a:defRPr sz="1800">
                <a:solidFill>
                  <a:srgbClr val="1D1D1F"/>
                </a:solidFill>
                <a:latin typeface="Arial"/>
              </a:defRPr>
            </a:pPr>
            <a:r>
              <a:t>•  Make American Shipbuilding</a:t>
            </a:r>
          </a:p>
          <a:p>
            <a:pPr>
              <a:lnSpc>
                <a:spcPct val="130000"/>
              </a:lnSpc>
              <a:spcAft>
                <a:spcPts val="1200"/>
              </a:spcAft>
              <a:defRPr sz="1800">
                <a:solidFill>
                  <a:srgbClr val="1D1D1F"/>
                </a:solidFill>
                <a:latin typeface="Arial"/>
              </a:defRPr>
            </a:pPr>
            <a:r>
              <a:t>•  Great Again</a:t>
            </a:r>
          </a:p>
          <a:p>
            <a:pPr>
              <a:lnSpc>
                <a:spcPct val="130000"/>
              </a:lnSpc>
              <a:spcAft>
                <a:spcPts val="1200"/>
              </a:spcAft>
              <a:defRPr sz="1800">
                <a:solidFill>
                  <a:srgbClr val="1D1D1F"/>
                </a:solidFill>
                <a:latin typeface="Arial"/>
              </a:defRPr>
            </a:pPr>
            <a:r>
              <a:t>•  ( ▪ Led by the overwhelming Big 3 system : HD Hyundai Heavy, Samsung Heavy, and Hanwha Ocean. ▪ Korea's shipbuilding exports in 2025 jumped 24.9% YoY , the only sector alongside semi to record double-digit growth. ▪ Holds over 60% global market share in high-value ships like LNG/Ammonia carriers and offshore plants. ▪ Direct beneficiary of the MASGA (Make American Shipbuilding Great Again) trend driven by US-China hegemony.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Petrochemicals Facing Structural Limits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Downcycle of Traditional Energy Sector Triggered by China's Self-Sufficiency</a:t>
            </a:r>
          </a:p>
          <a:p>
            <a:pPr>
              <a:lnSpc>
                <a:spcPct val="130000"/>
              </a:lnSpc>
              <a:spcAft>
                <a:spcPts val="1200"/>
              </a:spcAft>
              <a:defRPr sz="1800">
                <a:solidFill>
                  <a:srgbClr val="1D1D1F"/>
                </a:solidFill>
                <a:latin typeface="Arial"/>
              </a:defRPr>
            </a:pPr>
            <a:r>
              <a:t>•  2007 Era</a:t>
            </a:r>
          </a:p>
          <a:p>
            <a:pPr>
              <a:lnSpc>
                <a:spcPct val="130000"/>
              </a:lnSpc>
              <a:spcAft>
                <a:spcPts val="1200"/>
              </a:spcAft>
              <a:defRPr sz="1800">
                <a:solidFill>
                  <a:srgbClr val="1D1D1F"/>
                </a:solidFill>
                <a:latin typeface="Arial"/>
              </a:defRPr>
            </a:pPr>
            <a:r>
              <a:t>•  Big 4 Era</a:t>
            </a:r>
          </a:p>
          <a:p>
            <a:pPr>
              <a:lnSpc>
                <a:spcPct val="130000"/>
              </a:lnSpc>
              <a:spcAft>
                <a:spcPts val="1200"/>
              </a:spcAft>
              <a:defRPr sz="1800">
                <a:solidFill>
                  <a:srgbClr val="1D1D1F"/>
                </a:solidFill>
                <a:latin typeface="Arial"/>
              </a:defRPr>
            </a:pPr>
            <a:r>
              <a:t>•  SK</a:t>
            </a:r>
          </a:p>
          <a:p>
            <a:pPr>
              <a:lnSpc>
                <a:spcPct val="130000"/>
              </a:lnSpc>
              <a:spcAft>
                <a:spcPts val="1200"/>
              </a:spcAft>
              <a:defRPr sz="1800">
                <a:solidFill>
                  <a:srgbClr val="1D1D1F"/>
                </a:solidFill>
                <a:latin typeface="Arial"/>
              </a:defRPr>
            </a:pPr>
            <a:r>
              <a:t>•  Innovation</a:t>
            </a:r>
          </a:p>
          <a:p>
            <a:pPr>
              <a:lnSpc>
                <a:spcPct val="130000"/>
              </a:lnSpc>
              <a:spcAft>
                <a:spcPts val="1200"/>
              </a:spcAft>
              <a:defRPr sz="1800">
                <a:solidFill>
                  <a:srgbClr val="1D1D1F"/>
                </a:solidFill>
                <a:latin typeface="Arial"/>
              </a:defRPr>
            </a:pPr>
            <a:r>
              <a:t>•  GS</a:t>
            </a:r>
          </a:p>
          <a:p>
            <a:pPr>
              <a:lnSpc>
                <a:spcPct val="130000"/>
              </a:lnSpc>
              <a:spcAft>
                <a:spcPts val="1200"/>
              </a:spcAft>
              <a:defRPr sz="1800">
                <a:solidFill>
                  <a:srgbClr val="1D1D1F"/>
                </a:solidFill>
                <a:latin typeface="Arial"/>
              </a:defRPr>
            </a:pPr>
            <a:r>
              <a:t>•  Caltex</a:t>
            </a:r>
          </a:p>
          <a:p>
            <a:pPr>
              <a:lnSpc>
                <a:spcPct val="130000"/>
              </a:lnSpc>
              <a:spcAft>
                <a:spcPts val="1200"/>
              </a:spcAft>
              <a:defRPr sz="1800">
                <a:solidFill>
                  <a:srgbClr val="1D1D1F"/>
                </a:solidFill>
                <a:latin typeface="Arial"/>
              </a:defRPr>
            </a:pPr>
            <a:r>
              <a:t>•  S-Oil</a:t>
            </a:r>
          </a:p>
          <a:p>
            <a:pPr>
              <a:lnSpc>
                <a:spcPct val="130000"/>
              </a:lnSpc>
              <a:spcAft>
                <a:spcPts val="1200"/>
              </a:spcAft>
              <a:defRPr sz="1800">
                <a:solidFill>
                  <a:srgbClr val="1D1D1F"/>
                </a:solidFill>
                <a:latin typeface="Arial"/>
              </a:defRPr>
            </a:pPr>
            <a:r>
              <a:t>•  Hyundai</a:t>
            </a:r>
          </a:p>
          <a:p>
            <a:pPr>
              <a:lnSpc>
                <a:spcPct val="130000"/>
              </a:lnSpc>
              <a:spcAft>
                <a:spcPts val="1200"/>
              </a:spcAft>
              <a:defRPr sz="1800">
                <a:solidFill>
                  <a:srgbClr val="1D1D1F"/>
                </a:solidFill>
                <a:latin typeface="Arial"/>
              </a:defRPr>
            </a:pPr>
            <a:r>
              <a:t>•  Oilbank</a:t>
            </a:r>
          </a:p>
          <a:p>
            <a:pPr>
              <a:lnSpc>
                <a:spcPct val="130000"/>
              </a:lnSpc>
              <a:spcAft>
                <a:spcPts val="1200"/>
              </a:spcAft>
              <a:defRPr sz="1800">
                <a:solidFill>
                  <a:srgbClr val="1D1D1F"/>
                </a:solidFill>
                <a:latin typeface="Arial"/>
              </a:defRPr>
            </a:pPr>
            <a:r>
              <a:t>•  Structural Downcycle</a:t>
            </a:r>
          </a:p>
          <a:p>
            <a:pPr>
              <a:lnSpc>
                <a:spcPct val="130000"/>
              </a:lnSpc>
              <a:spcAft>
                <a:spcPts val="1200"/>
              </a:spcAft>
              <a:defRPr sz="1800">
                <a:solidFill>
                  <a:srgbClr val="1D1D1F"/>
                </a:solidFill>
                <a:latin typeface="Arial"/>
              </a:defRPr>
            </a:pPr>
            <a:r>
              <a:t>•  China Self-Sufficiency</a:t>
            </a:r>
          </a:p>
          <a:p>
            <a:pPr>
              <a:lnSpc>
                <a:spcPct val="130000"/>
              </a:lnSpc>
              <a:spcAft>
                <a:spcPts val="1200"/>
              </a:spcAft>
              <a:defRPr sz="1800">
                <a:solidFill>
                  <a:srgbClr val="1D1D1F"/>
                </a:solidFill>
                <a:latin typeface="Arial"/>
              </a:defRPr>
            </a:pPr>
            <a:r>
              <a:t>•  Mid 2020s</a:t>
            </a:r>
          </a:p>
          <a:p>
            <a:pPr>
              <a:lnSpc>
                <a:spcPct val="130000"/>
              </a:lnSpc>
              <a:spcAft>
                <a:spcPts val="1200"/>
              </a:spcAft>
              <a:defRPr sz="1800">
                <a:solidFill>
                  <a:srgbClr val="1D1D1F"/>
                </a:solidFill>
                <a:latin typeface="Arial"/>
              </a:defRPr>
            </a:pPr>
            <a:r>
              <a:t>•  Latter Half\nSlowdown</a:t>
            </a:r>
          </a:p>
          <a:p>
            <a:pPr>
              <a:lnSpc>
                <a:spcPct val="130000"/>
              </a:lnSpc>
              <a:spcAft>
                <a:spcPts val="1200"/>
              </a:spcAft>
              <a:defRPr sz="1800">
                <a:solidFill>
                  <a:srgbClr val="1D1D1F"/>
                </a:solidFill>
                <a:latin typeface="Arial"/>
              </a:defRPr>
            </a:pPr>
            <a:r>
              <a:t>•  ( ▪ In 2007, the Big 4 (SK, GS, S-Oil, Hyundai) clearly dominated the market. ▪ However, entered a structural downcycle in the mid-2020s due to China's rising self-sufficiency . ▪ Consequently, it must be classified as a relatively slowing sector in the latter half of the $1T to $2T era.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Great Transition of the Steel Industry</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POSCO Holdings Proving the Pivot to EV Battery Materials</a:t>
            </a:r>
          </a:p>
          <a:p>
            <a:pPr>
              <a:lnSpc>
                <a:spcPct val="130000"/>
              </a:lnSpc>
              <a:spcAft>
                <a:spcPts val="1200"/>
              </a:spcAft>
              <a:defRPr sz="1800">
                <a:solidFill>
                  <a:srgbClr val="FFFFFF"/>
                </a:solidFill>
                <a:latin typeface="Arial"/>
              </a:defRPr>
            </a:pPr>
            <a:r>
              <a:t>•  Traditional</a:t>
            </a:r>
          </a:p>
          <a:p>
            <a:pPr>
              <a:lnSpc>
                <a:spcPct val="130000"/>
              </a:lnSpc>
              <a:spcAft>
                <a:spcPts val="1200"/>
              </a:spcAft>
              <a:defRPr sz="1800">
                <a:solidFill>
                  <a:srgbClr val="FFFFFF"/>
                </a:solidFill>
                <a:latin typeface="Arial"/>
              </a:defRPr>
            </a:pPr>
            <a:r>
              <a:t>•  STEEL</a:t>
            </a:r>
          </a:p>
          <a:p>
            <a:pPr>
              <a:lnSpc>
                <a:spcPct val="130000"/>
              </a:lnSpc>
              <a:spcAft>
                <a:spcPts val="1200"/>
              </a:spcAft>
              <a:defRPr sz="1800">
                <a:solidFill>
                  <a:srgbClr val="FFFFFF"/>
                </a:solidFill>
                <a:latin typeface="Arial"/>
              </a:defRPr>
            </a:pPr>
            <a:r>
              <a:t>•  Margin Pressure from China</a:t>
            </a:r>
          </a:p>
          <a:p>
            <a:pPr>
              <a:lnSpc>
                <a:spcPct val="130000"/>
              </a:lnSpc>
              <a:spcAft>
                <a:spcPts val="1200"/>
              </a:spcAft>
              <a:defRPr sz="1800">
                <a:solidFill>
                  <a:srgbClr val="FFFFFF"/>
                </a:solidFill>
                <a:latin typeface="Arial"/>
              </a:defRPr>
            </a:pPr>
            <a:r>
              <a:t>•  PIVOTING</a:t>
            </a:r>
          </a:p>
          <a:p>
            <a:pPr>
              <a:lnSpc>
                <a:spcPct val="130000"/>
              </a:lnSpc>
              <a:spcAft>
                <a:spcPts val="1200"/>
              </a:spcAft>
              <a:defRPr sz="1800">
                <a:solidFill>
                  <a:srgbClr val="FFFFFF"/>
                </a:solidFill>
                <a:latin typeface="Arial"/>
              </a:defRPr>
            </a:pPr>
            <a:r>
              <a:t>•  POSCO Holdings</a:t>
            </a:r>
          </a:p>
          <a:p>
            <a:pPr>
              <a:lnSpc>
                <a:spcPct val="130000"/>
              </a:lnSpc>
              <a:spcAft>
                <a:spcPts val="1200"/>
              </a:spcAft>
              <a:defRPr sz="1800">
                <a:solidFill>
                  <a:srgbClr val="FFFFFF"/>
                </a:solidFill>
                <a:latin typeface="Arial"/>
              </a:defRPr>
            </a:pPr>
            <a:r>
              <a:t>•  Battery</a:t>
            </a:r>
          </a:p>
          <a:p>
            <a:pPr>
              <a:lnSpc>
                <a:spcPct val="130000"/>
              </a:lnSpc>
              <a:spcAft>
                <a:spcPts val="1200"/>
              </a:spcAft>
              <a:defRPr sz="1800">
                <a:solidFill>
                  <a:srgbClr val="FFFFFF"/>
                </a:solidFill>
                <a:latin typeface="Arial"/>
              </a:defRPr>
            </a:pPr>
            <a:r>
              <a:t>•  Materials</a:t>
            </a:r>
          </a:p>
          <a:p>
            <a:pPr>
              <a:lnSpc>
                <a:spcPct val="130000"/>
              </a:lnSpc>
              <a:spcAft>
                <a:spcPts val="1200"/>
              </a:spcAft>
              <a:defRPr sz="1800">
                <a:solidFill>
                  <a:srgbClr val="FFFFFF"/>
                </a:solidFill>
                <a:latin typeface="Arial"/>
              </a:defRPr>
            </a:pPr>
            <a:r>
              <a:t>•  Cathodes</a:t>
            </a:r>
          </a:p>
          <a:p>
            <a:pPr>
              <a:lnSpc>
                <a:spcPct val="130000"/>
              </a:lnSpc>
              <a:spcAft>
                <a:spcPts val="1200"/>
              </a:spcAft>
              <a:defRPr sz="1800">
                <a:solidFill>
                  <a:srgbClr val="FFFFFF"/>
                </a:solidFill>
                <a:latin typeface="Arial"/>
              </a:defRPr>
            </a:pPr>
            <a:r>
              <a:t>•  Lithium</a:t>
            </a:r>
          </a:p>
          <a:p>
            <a:pPr>
              <a:lnSpc>
                <a:spcPct val="130000"/>
              </a:lnSpc>
              <a:spcAft>
                <a:spcPts val="1200"/>
              </a:spcAft>
              <a:defRPr sz="1800">
                <a:solidFill>
                  <a:srgbClr val="FFFFFF"/>
                </a:solidFill>
                <a:latin typeface="Arial"/>
              </a:defRPr>
            </a:pPr>
            <a:r>
              <a:t>•  ( ▪ Steel (POSCO) was a symbol of the Korean economy in the $1T era, but faced margin pressure from China's oversupply. ▪ Executed a bold pivot to the EV battery materials value chain (cathodes, lithium, etc.) to overcome the crisis. ▪ POSCO Holdings' evolution is a representative case of industrial transition during the $1T ➔ $2T period.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K-Content Creating the Korea Premium</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Intangible Assets for Capital Market Re-rating Built by HYBE, CJ ENM</a:t>
            </a:r>
          </a:p>
          <a:p>
            <a:pPr>
              <a:lnSpc>
                <a:spcPct val="130000"/>
              </a:lnSpc>
              <a:spcAft>
                <a:spcPts val="1200"/>
              </a:spcAft>
              <a:defRPr sz="1800">
                <a:solidFill>
                  <a:srgbClr val="1D1D1F"/>
                </a:solidFill>
                <a:latin typeface="Arial"/>
              </a:defRPr>
            </a:pPr>
            <a:r>
              <a:t>•  Market Re-rating</a:t>
            </a:r>
          </a:p>
          <a:p>
            <a:pPr>
              <a:lnSpc>
                <a:spcPct val="130000"/>
              </a:lnSpc>
              <a:spcAft>
                <a:spcPts val="1200"/>
              </a:spcAft>
              <a:defRPr sz="1800">
                <a:solidFill>
                  <a:srgbClr val="1D1D1F"/>
                </a:solidFill>
                <a:latin typeface="Arial"/>
              </a:defRPr>
            </a:pPr>
            <a:r>
              <a:t>•  Korea</a:t>
            </a:r>
          </a:p>
          <a:p>
            <a:pPr>
              <a:lnSpc>
                <a:spcPct val="130000"/>
              </a:lnSpc>
              <a:spcAft>
                <a:spcPts val="1200"/>
              </a:spcAft>
              <a:defRPr sz="1800">
                <a:solidFill>
                  <a:srgbClr val="1D1D1F"/>
                </a:solidFill>
                <a:latin typeface="Arial"/>
              </a:defRPr>
            </a:pPr>
            <a:r>
              <a:t>•  Premium</a:t>
            </a:r>
          </a:p>
          <a:p>
            <a:pPr>
              <a:lnSpc>
                <a:spcPct val="130000"/>
              </a:lnSpc>
              <a:spcAft>
                <a:spcPts val="1200"/>
              </a:spcAft>
              <a:defRPr sz="1800">
                <a:solidFill>
                  <a:srgbClr val="1D1D1F"/>
                </a:solidFill>
                <a:latin typeface="Arial"/>
              </a:defRPr>
            </a:pPr>
            <a:r>
              <a:t>•  Big 4 Enter</a:t>
            </a:r>
          </a:p>
          <a:p>
            <a:pPr>
              <a:lnSpc>
                <a:spcPct val="130000"/>
              </a:lnSpc>
              <a:spcAft>
                <a:spcPts val="1200"/>
              </a:spcAft>
              <a:defRPr sz="1800">
                <a:solidFill>
                  <a:srgbClr val="1D1D1F"/>
                </a:solidFill>
                <a:latin typeface="Arial"/>
              </a:defRPr>
            </a:pPr>
            <a:r>
              <a:t>•  HYBE(BTS)·SM·JYP·YG</a:t>
            </a:r>
          </a:p>
          <a:p>
            <a:pPr>
              <a:lnSpc>
                <a:spcPct val="130000"/>
              </a:lnSpc>
              <a:spcAft>
                <a:spcPts val="1200"/>
              </a:spcAft>
              <a:defRPr sz="1800">
                <a:solidFill>
                  <a:srgbClr val="1D1D1F"/>
                </a:solidFill>
                <a:latin typeface="Arial"/>
              </a:defRPr>
            </a:pPr>
            <a:r>
              <a:t>•  CJ ENM</a:t>
            </a:r>
          </a:p>
          <a:p>
            <a:pPr>
              <a:lnSpc>
                <a:spcPct val="130000"/>
              </a:lnSpc>
              <a:spcAft>
                <a:spcPts val="1200"/>
              </a:spcAft>
              <a:defRPr sz="1800">
                <a:solidFill>
                  <a:srgbClr val="1D1D1F"/>
                </a:solidFill>
                <a:latin typeface="Arial"/>
              </a:defRPr>
            </a:pPr>
            <a:r>
              <a:t>•  Parasite · Squid Game</a:t>
            </a:r>
          </a:p>
          <a:p>
            <a:pPr>
              <a:lnSpc>
                <a:spcPct val="130000"/>
              </a:lnSpc>
              <a:spcAft>
                <a:spcPts val="1200"/>
              </a:spcAft>
              <a:defRPr sz="1800">
                <a:solidFill>
                  <a:srgbClr val="1D1D1F"/>
                </a:solidFill>
                <a:latin typeface="Arial"/>
              </a:defRPr>
            </a:pPr>
            <a:r>
              <a:t>•  Netflix Investment</a:t>
            </a:r>
          </a:p>
          <a:p>
            <a:pPr>
              <a:lnSpc>
                <a:spcPct val="130000"/>
              </a:lnSpc>
              <a:spcAft>
                <a:spcPts val="1200"/>
              </a:spcAft>
              <a:defRPr sz="1800">
                <a:solidFill>
                  <a:srgbClr val="1D1D1F"/>
                </a:solidFill>
                <a:latin typeface="Arial"/>
              </a:defRPr>
            </a:pPr>
            <a:r>
              <a:t>•  $2.5B+ (2016~2025)</a:t>
            </a:r>
          </a:p>
          <a:p>
            <a:pPr>
              <a:lnSpc>
                <a:spcPct val="130000"/>
              </a:lnSpc>
              <a:spcAft>
                <a:spcPts val="1200"/>
              </a:spcAft>
              <a:defRPr sz="1800">
                <a:solidFill>
                  <a:srgbClr val="1D1D1F"/>
                </a:solidFill>
                <a:latin typeface="Arial"/>
              </a:defRPr>
            </a:pPr>
            <a:r>
              <a:t>•  ( ▪ K-Content is the hidden pearl of the $1T ➔ $2T era, led by the Big 4 agencies and CJ ENM . ▪ Netflix's cumulative investment in Korean content (2016-2025) exceeded $2.5B , expanding the industry pie. ▪ While GDP contribution is ~1-2%, it acts as the core engine for the national brand's Korea Premium . ▪ A massive intangible asset similar to the J-Brand premium built by Sony &amp; Sega in Japan's 1980s bubble era.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Successful Settlement of the K-Bio Cluster</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Birth of Global #1 CDMO, Non-existent at the Dawn of the $1T Era</a:t>
            </a:r>
          </a:p>
          <a:p>
            <a:pPr>
              <a:lnSpc>
                <a:spcPct val="130000"/>
              </a:lnSpc>
              <a:spcAft>
                <a:spcPts val="1200"/>
              </a:spcAft>
              <a:defRPr sz="1800">
                <a:solidFill>
                  <a:srgbClr val="1D1D1F"/>
                </a:solidFill>
                <a:latin typeface="Arial"/>
              </a:defRPr>
            </a:pPr>
            <a:r>
              <a:t>•  2007 Era</a:t>
            </a:r>
          </a:p>
          <a:p>
            <a:pPr>
              <a:lnSpc>
                <a:spcPct val="130000"/>
              </a:lnSpc>
              <a:spcAft>
                <a:spcPts val="1200"/>
              </a:spcAft>
              <a:defRPr sz="1800">
                <a:solidFill>
                  <a:srgbClr val="1D1D1F"/>
                </a:solidFill>
                <a:latin typeface="Arial"/>
              </a:defRPr>
            </a:pPr>
            <a:r>
              <a:t>•  Negligible Presence</a:t>
            </a:r>
          </a:p>
          <a:p>
            <a:pPr>
              <a:lnSpc>
                <a:spcPct val="130000"/>
              </a:lnSpc>
              <a:spcAft>
                <a:spcPts val="1200"/>
              </a:spcAft>
              <a:defRPr sz="1800">
                <a:solidFill>
                  <a:srgbClr val="1D1D1F"/>
                </a:solidFill>
                <a:latin typeface="Arial"/>
              </a:defRPr>
            </a:pPr>
            <a:r>
              <a:t>•  Samsung Biologics</a:t>
            </a:r>
          </a:p>
          <a:p>
            <a:pPr>
              <a:lnSpc>
                <a:spcPct val="130000"/>
              </a:lnSpc>
              <a:spcAft>
                <a:spcPts val="1200"/>
              </a:spcAft>
              <a:defRPr sz="1800">
                <a:solidFill>
                  <a:srgbClr val="1D1D1F"/>
                </a:solidFill>
                <a:latin typeface="Arial"/>
              </a:defRPr>
            </a:pPr>
            <a:r>
              <a:t>•  Global #1</a:t>
            </a:r>
          </a:p>
          <a:p>
            <a:pPr>
              <a:lnSpc>
                <a:spcPct val="130000"/>
              </a:lnSpc>
              <a:spcAft>
                <a:spcPts val="1200"/>
              </a:spcAft>
              <a:defRPr sz="1800">
                <a:solidFill>
                  <a:srgbClr val="1D1D1F"/>
                </a:solidFill>
                <a:latin typeface="Arial"/>
              </a:defRPr>
            </a:pPr>
            <a:r>
              <a:t>•  CDMO</a:t>
            </a:r>
          </a:p>
          <a:p>
            <a:pPr>
              <a:lnSpc>
                <a:spcPct val="130000"/>
              </a:lnSpc>
              <a:spcAft>
                <a:spcPts val="1200"/>
              </a:spcAft>
              <a:defRPr sz="1800">
                <a:solidFill>
                  <a:srgbClr val="1D1D1F"/>
                </a:solidFill>
                <a:latin typeface="Arial"/>
              </a:defRPr>
            </a:pPr>
            <a:r>
              <a:t>•  Rev 4T+ / Cap 50T+</a:t>
            </a:r>
          </a:p>
          <a:p>
            <a:pPr>
              <a:lnSpc>
                <a:spcPct val="130000"/>
              </a:lnSpc>
              <a:spcAft>
                <a:spcPts val="1200"/>
              </a:spcAft>
              <a:defRPr sz="1800">
                <a:solidFill>
                  <a:srgbClr val="1D1D1F"/>
                </a:solidFill>
                <a:latin typeface="Arial"/>
              </a:defRPr>
            </a:pPr>
            <a:r>
              <a:t>•  + Celltrion Biosimilars</a:t>
            </a:r>
          </a:p>
          <a:p>
            <a:pPr>
              <a:lnSpc>
                <a:spcPct val="130000"/>
              </a:lnSpc>
              <a:spcAft>
                <a:spcPts val="1200"/>
              </a:spcAft>
              <a:defRPr sz="1800">
                <a:solidFill>
                  <a:srgbClr val="1D1D1F"/>
                </a:solidFill>
                <a:latin typeface="Arial"/>
              </a:defRPr>
            </a:pPr>
            <a:r>
              <a:t>•  ( ▪ Bio/Pharma is a new industry that had almost no global presence at the dawn of the $1T era. ▪ Samsung Biologics has now risen to Global #1 in CDMO (Revenue 4T+ KRW, Market Cap 50T+ KRW). ▪ Coupled with Celltrion's biosimilar expansion, the K-Bio cluster has successfully settled as a new growth engine.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Expansion &amp; Breathing Spell of EV Batteries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Structural Adjustment of the EV Battery Market that Led the IPO Boom</a:t>
            </a:r>
          </a:p>
          <a:p>
            <a:pPr>
              <a:lnSpc>
                <a:spcPct val="130000"/>
              </a:lnSpc>
              <a:spcAft>
                <a:spcPts val="1200"/>
              </a:spcAft>
              <a:defRPr sz="1800">
                <a:solidFill>
                  <a:srgbClr val="1D1D1F"/>
                </a:solidFill>
                <a:latin typeface="Arial"/>
              </a:defRPr>
            </a:pPr>
            <a:r>
              <a:t>•  20%</a:t>
            </a:r>
          </a:p>
          <a:p>
            <a:pPr>
              <a:lnSpc>
                <a:spcPct val="130000"/>
              </a:lnSpc>
              <a:spcAft>
                <a:spcPts val="1200"/>
              </a:spcAft>
              <a:defRPr sz="1800">
                <a:solidFill>
                  <a:srgbClr val="1D1D1F"/>
                </a:solidFill>
                <a:latin typeface="Arial"/>
              </a:defRPr>
            </a:pPr>
            <a:r>
              <a:t>•  Global Share</a:t>
            </a:r>
          </a:p>
          <a:p>
            <a:pPr>
              <a:lnSpc>
                <a:spcPct val="130000"/>
              </a:lnSpc>
              <a:spcAft>
                <a:spcPts val="1200"/>
              </a:spcAft>
              <a:defRPr sz="1800">
                <a:solidFill>
                  <a:srgbClr val="1D1D1F"/>
                </a:solidFill>
                <a:latin typeface="Arial"/>
              </a:defRPr>
            </a:pPr>
            <a:r>
              <a:t>•  LG Energy Solution</a:t>
            </a:r>
          </a:p>
          <a:p>
            <a:pPr>
              <a:lnSpc>
                <a:spcPct val="130000"/>
              </a:lnSpc>
              <a:spcAft>
                <a:spcPts val="1200"/>
              </a:spcAft>
              <a:defRPr sz="1800">
                <a:solidFill>
                  <a:srgbClr val="1D1D1F"/>
                </a:solidFill>
                <a:latin typeface="Arial"/>
              </a:defRPr>
            </a:pPr>
            <a:r>
              <a:t>•  Samsung SDI</a:t>
            </a:r>
          </a:p>
          <a:p>
            <a:pPr>
              <a:lnSpc>
                <a:spcPct val="130000"/>
              </a:lnSpc>
              <a:spcAft>
                <a:spcPts val="1200"/>
              </a:spcAft>
              <a:defRPr sz="1800">
                <a:solidFill>
                  <a:srgbClr val="1D1D1F"/>
                </a:solidFill>
                <a:latin typeface="Arial"/>
              </a:defRPr>
            </a:pPr>
            <a:r>
              <a:t>•  SK On</a:t>
            </a:r>
          </a:p>
          <a:p>
            <a:pPr>
              <a:lnSpc>
                <a:spcPct val="130000"/>
              </a:lnSpc>
              <a:spcAft>
                <a:spcPts val="1200"/>
              </a:spcAft>
              <a:defRPr sz="1800">
                <a:solidFill>
                  <a:srgbClr val="1D1D1F"/>
                </a:solidFill>
                <a:latin typeface="Arial"/>
              </a:defRPr>
            </a:pPr>
            <a:r>
              <a:t>•  2020 IPO Boom</a:t>
            </a:r>
          </a:p>
          <a:p>
            <a:pPr>
              <a:lnSpc>
                <a:spcPct val="130000"/>
              </a:lnSpc>
              <a:spcAft>
                <a:spcPts val="1200"/>
              </a:spcAft>
              <a:defRPr sz="1800">
                <a:solidFill>
                  <a:srgbClr val="1D1D1F"/>
                </a:solidFill>
                <a:latin typeface="Arial"/>
              </a:defRPr>
            </a:pPr>
            <a:r>
              <a:t>•  2024-2026 Cycle</a:t>
            </a:r>
          </a:p>
          <a:p>
            <a:pPr>
              <a:lnSpc>
                <a:spcPct val="130000"/>
              </a:lnSpc>
              <a:spcAft>
                <a:spcPts val="1200"/>
              </a:spcAft>
              <a:defRPr sz="1800">
                <a:solidFill>
                  <a:srgbClr val="1D1D1F"/>
                </a:solidFill>
                <a:latin typeface="Arial"/>
              </a:defRPr>
            </a:pPr>
            <a:r>
              <a:t>•  US/China Policy Fluctuations</a:t>
            </a:r>
          </a:p>
          <a:p>
            <a:pPr>
              <a:lnSpc>
                <a:spcPct val="130000"/>
              </a:lnSpc>
              <a:spcAft>
                <a:spcPts val="1200"/>
              </a:spcAft>
              <a:defRPr sz="1800">
                <a:solidFill>
                  <a:srgbClr val="1D1D1F"/>
                </a:solidFill>
                <a:latin typeface="Arial"/>
              </a:defRPr>
            </a:pPr>
            <a:r>
              <a:t>•  Structural Adjustment</a:t>
            </a:r>
          </a:p>
          <a:p>
            <a:pPr>
              <a:lnSpc>
                <a:spcPct val="130000"/>
              </a:lnSpc>
              <a:spcAft>
                <a:spcPts val="1200"/>
              </a:spcAft>
              <a:defRPr sz="1800">
                <a:solidFill>
                  <a:srgbClr val="1D1D1F"/>
                </a:solidFill>
                <a:latin typeface="Arial"/>
              </a:defRPr>
            </a:pPr>
            <a:r>
              <a:t>•  ( ▪ EV Batteries (LG, Samsung, SK) were the core engine driving the 2020 domestic IPO boom . ▪ The Korean Big 3 secured a combined global EV battery market share of around 20% . ▪ However, entered a cycle adjustment period (breathing spell) from 2024-2026 due to US/China policy fluctuations.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Logistics Reshaping by Platform Big Tech</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Explosion of National Logistics Demand Triggered by IT Platforms</a:t>
            </a:r>
          </a:p>
          <a:p>
            <a:pPr>
              <a:lnSpc>
                <a:spcPct val="130000"/>
              </a:lnSpc>
              <a:spcAft>
                <a:spcPts val="1200"/>
              </a:spcAft>
              <a:defRPr sz="1800">
                <a:solidFill>
                  <a:srgbClr val="FFFFFF"/>
                </a:solidFill>
                <a:latin typeface="Arial"/>
              </a:defRPr>
            </a:pPr>
            <a:r>
              <a:t>•  Naver</a:t>
            </a:r>
          </a:p>
          <a:p>
            <a:pPr>
              <a:lnSpc>
                <a:spcPct val="130000"/>
              </a:lnSpc>
              <a:spcAft>
                <a:spcPts val="1200"/>
              </a:spcAft>
              <a:defRPr sz="1800">
                <a:solidFill>
                  <a:srgbClr val="FFFFFF"/>
                </a:solidFill>
                <a:latin typeface="Arial"/>
              </a:defRPr>
            </a:pPr>
            <a:r>
              <a:t>•  Cap 30T+</a:t>
            </a:r>
          </a:p>
          <a:p>
            <a:pPr>
              <a:lnSpc>
                <a:spcPct val="130000"/>
              </a:lnSpc>
              <a:spcAft>
                <a:spcPts val="1200"/>
              </a:spcAft>
              <a:defRPr sz="1800">
                <a:solidFill>
                  <a:srgbClr val="FFFFFF"/>
                </a:solidFill>
                <a:latin typeface="Arial"/>
              </a:defRPr>
            </a:pPr>
            <a:r>
              <a:t>•  Kakao</a:t>
            </a:r>
          </a:p>
          <a:p>
            <a:pPr>
              <a:lnSpc>
                <a:spcPct val="130000"/>
              </a:lnSpc>
              <a:spcAft>
                <a:spcPts val="1200"/>
              </a:spcAft>
              <a:defRPr sz="1800">
                <a:solidFill>
                  <a:srgbClr val="FFFFFF"/>
                </a:solidFill>
                <a:latin typeface="Arial"/>
              </a:defRPr>
            </a:pPr>
            <a:r>
              <a:t>•  Cap ~30T</a:t>
            </a:r>
          </a:p>
          <a:p>
            <a:pPr>
              <a:lnSpc>
                <a:spcPct val="130000"/>
              </a:lnSpc>
              <a:spcAft>
                <a:spcPts val="1200"/>
              </a:spcAft>
              <a:defRPr sz="1800">
                <a:solidFill>
                  <a:srgbClr val="FFFFFF"/>
                </a:solidFill>
                <a:latin typeface="Arial"/>
              </a:defRPr>
            </a:pPr>
            <a:r>
              <a:t>•  Coupang</a:t>
            </a:r>
          </a:p>
          <a:p>
            <a:pPr>
              <a:lnSpc>
                <a:spcPct val="130000"/>
              </a:lnSpc>
              <a:spcAft>
                <a:spcPts val="1200"/>
              </a:spcAft>
              <a:defRPr sz="1800">
                <a:solidFill>
                  <a:srgbClr val="FFFFFF"/>
                </a:solidFill>
                <a:latin typeface="Arial"/>
              </a:defRPr>
            </a:pPr>
            <a:r>
              <a:t>•  NYSE Cap 30T+</a:t>
            </a:r>
          </a:p>
          <a:p>
            <a:pPr>
              <a:lnSpc>
                <a:spcPct val="130000"/>
              </a:lnSpc>
              <a:spcAft>
                <a:spcPts val="1200"/>
              </a:spcAft>
              <a:defRPr sz="1800">
                <a:solidFill>
                  <a:srgbClr val="FFFFFF"/>
                </a:solidFill>
                <a:latin typeface="Arial"/>
              </a:defRPr>
            </a:pPr>
            <a:r>
              <a:t>•  Rocket Delivery</a:t>
            </a:r>
          </a:p>
          <a:p>
            <a:pPr>
              <a:lnSpc>
                <a:spcPct val="130000"/>
              </a:lnSpc>
              <a:spcAft>
                <a:spcPts val="1200"/>
              </a:spcAft>
              <a:defRPr sz="1800">
                <a:solidFill>
                  <a:srgbClr val="FFFFFF"/>
                </a:solidFill>
                <a:latin typeface="Arial"/>
              </a:defRPr>
            </a:pPr>
            <a:r>
              <a:t>•  Logistics</a:t>
            </a:r>
          </a:p>
          <a:p>
            <a:pPr>
              <a:lnSpc>
                <a:spcPct val="130000"/>
              </a:lnSpc>
              <a:spcAft>
                <a:spcPts val="1200"/>
              </a:spcAft>
              <a:defRPr sz="1800">
                <a:solidFill>
                  <a:srgbClr val="FFFFFF"/>
                </a:solidFill>
                <a:latin typeface="Arial"/>
              </a:defRPr>
            </a:pPr>
            <a:r>
              <a:t>•  Real Estate</a:t>
            </a:r>
          </a:p>
          <a:p>
            <a:pPr>
              <a:lnSpc>
                <a:spcPct val="130000"/>
              </a:lnSpc>
              <a:spcAft>
                <a:spcPts val="1200"/>
              </a:spcAft>
              <a:defRPr sz="1800">
                <a:solidFill>
                  <a:srgbClr val="FFFFFF"/>
                </a:solidFill>
                <a:latin typeface="Arial"/>
              </a:defRPr>
            </a:pPr>
            <a:r>
              <a:t>•  Largest Single Variable</a:t>
            </a:r>
          </a:p>
          <a:p>
            <a:pPr>
              <a:lnSpc>
                <a:spcPct val="130000"/>
              </a:lnSpc>
              <a:spcAft>
                <a:spcPts val="1200"/>
              </a:spcAft>
              <a:defRPr sz="1800">
                <a:solidFill>
                  <a:srgbClr val="FFFFFF"/>
                </a:solidFill>
                <a:latin typeface="Arial"/>
              </a:defRPr>
            </a:pPr>
            <a:r>
              <a:t>•  ( ▪ IT Platform Big Techs like Naver, Kakao, and Coupang grew into giants, each surpassing 30T KRW in market cap . ▪ Naver's LINE-Yahoo integration in Japan and Coupang's nationwide Rocket Delivery fundamentally reshaped logistics . ▪ The e-commerce revolution triggered by these platforms became the largest single variable for logistics real estate demand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K-Defense Born from Geopolitical Crisis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Cinderella Story of the Defense Industry Surging with Global Exports</a:t>
            </a:r>
          </a:p>
          <a:p>
            <a:pPr>
              <a:lnSpc>
                <a:spcPct val="130000"/>
              </a:lnSpc>
              <a:spcAft>
                <a:spcPts val="1200"/>
              </a:spcAft>
              <a:defRPr sz="1800">
                <a:solidFill>
                  <a:srgbClr val="1D1D1F"/>
                </a:solidFill>
                <a:latin typeface="Arial"/>
              </a:defRPr>
            </a:pPr>
            <a:r>
              <a:t>•  Core Lineup</a:t>
            </a:r>
          </a:p>
          <a:p>
            <a:pPr>
              <a:lnSpc>
                <a:spcPct val="130000"/>
              </a:lnSpc>
              <a:spcAft>
                <a:spcPts val="1200"/>
              </a:spcAft>
              <a:defRPr sz="1800">
                <a:solidFill>
                  <a:srgbClr val="1D1D1F"/>
                </a:solidFill>
                <a:latin typeface="Arial"/>
              </a:defRPr>
            </a:pPr>
            <a:r>
              <a:t>•  Hanwha / Rotem</a:t>
            </a:r>
          </a:p>
          <a:p>
            <a:pPr>
              <a:lnSpc>
                <a:spcPct val="130000"/>
              </a:lnSpc>
              <a:spcAft>
                <a:spcPts val="1200"/>
              </a:spcAft>
              <a:defRPr sz="1800">
                <a:solidFill>
                  <a:srgbClr val="1D1D1F"/>
                </a:solidFill>
                <a:latin typeface="Arial"/>
              </a:defRPr>
            </a:pPr>
            <a:r>
              <a:t>•  K9 / K2 Tanks</a:t>
            </a:r>
          </a:p>
          <a:p>
            <a:pPr>
              <a:lnSpc>
                <a:spcPct val="130000"/>
              </a:lnSpc>
              <a:spcAft>
                <a:spcPts val="1200"/>
              </a:spcAft>
              <a:defRPr sz="1800">
                <a:solidFill>
                  <a:srgbClr val="1D1D1F"/>
                </a:solidFill>
                <a:latin typeface="Arial"/>
              </a:defRPr>
            </a:pPr>
            <a:r>
              <a:t>•  KAI</a:t>
            </a:r>
          </a:p>
          <a:p>
            <a:pPr>
              <a:lnSpc>
                <a:spcPct val="130000"/>
              </a:lnSpc>
              <a:spcAft>
                <a:spcPts val="1200"/>
              </a:spcAft>
              <a:defRPr sz="1800">
                <a:solidFill>
                  <a:srgbClr val="1D1D1F"/>
                </a:solidFill>
                <a:latin typeface="Arial"/>
              </a:defRPr>
            </a:pPr>
            <a:r>
              <a:t>•  FA-50</a:t>
            </a:r>
          </a:p>
          <a:p>
            <a:pPr>
              <a:lnSpc>
                <a:spcPct val="130000"/>
              </a:lnSpc>
              <a:spcAft>
                <a:spcPts val="1200"/>
              </a:spcAft>
              <a:defRPr sz="1800">
                <a:solidFill>
                  <a:srgbClr val="1D1D1F"/>
                </a:solidFill>
                <a:latin typeface="Arial"/>
              </a:defRPr>
            </a:pPr>
            <a:r>
              <a:t>•  LIG Nex1</a:t>
            </a:r>
          </a:p>
          <a:p>
            <a:pPr>
              <a:lnSpc>
                <a:spcPct val="130000"/>
              </a:lnSpc>
              <a:spcAft>
                <a:spcPts val="1200"/>
              </a:spcAft>
              <a:defRPr sz="1800">
                <a:solidFill>
                  <a:srgbClr val="1D1D1F"/>
                </a:solidFill>
                <a:latin typeface="Arial"/>
              </a:defRPr>
            </a:pPr>
            <a:r>
              <a:t>•  Cheongung</a:t>
            </a:r>
          </a:p>
          <a:p>
            <a:pPr>
              <a:lnSpc>
                <a:spcPct val="130000"/>
              </a:lnSpc>
              <a:spcAft>
                <a:spcPts val="1200"/>
              </a:spcAft>
              <a:defRPr sz="1800">
                <a:solidFill>
                  <a:srgbClr val="1D1D1F"/>
                </a:solidFill>
                <a:latin typeface="Arial"/>
              </a:defRPr>
            </a:pPr>
            <a:r>
              <a:t>•  Global Export</a:t>
            </a:r>
          </a:p>
          <a:p>
            <a:pPr>
              <a:lnSpc>
                <a:spcPct val="130000"/>
              </a:lnSpc>
              <a:spcAft>
                <a:spcPts val="1200"/>
              </a:spcAft>
              <a:defRPr sz="1800">
                <a:solidFill>
                  <a:srgbClr val="1D1D1F"/>
                </a:solidFill>
                <a:latin typeface="Arial"/>
              </a:defRPr>
            </a:pPr>
            <a:r>
              <a:t>•  Poland, UAE, MENA</a:t>
            </a:r>
          </a:p>
          <a:p>
            <a:pPr>
              <a:lnSpc>
                <a:spcPct val="130000"/>
              </a:lnSpc>
              <a:spcAft>
                <a:spcPts val="1200"/>
              </a:spcAft>
              <a:defRPr sz="1800">
                <a:solidFill>
                  <a:srgbClr val="1D1D1F"/>
                </a:solidFill>
                <a:latin typeface="Arial"/>
              </a:defRPr>
            </a:pPr>
            <a:r>
              <a:t>•  2022 Record</a:t>
            </a:r>
          </a:p>
          <a:p>
            <a:pPr>
              <a:lnSpc>
                <a:spcPct val="130000"/>
              </a:lnSpc>
              <a:spcAft>
                <a:spcPts val="1200"/>
              </a:spcAft>
              <a:defRPr sz="1800">
                <a:solidFill>
                  <a:srgbClr val="1D1D1F"/>
                </a:solidFill>
                <a:latin typeface="Arial"/>
              </a:defRPr>
            </a:pPr>
            <a:r>
              <a:t>•  $17.3B</a:t>
            </a:r>
          </a:p>
          <a:p>
            <a:pPr>
              <a:lnSpc>
                <a:spcPct val="130000"/>
              </a:lnSpc>
              <a:spcAft>
                <a:spcPts val="1200"/>
              </a:spcAft>
              <a:defRPr sz="1800">
                <a:solidFill>
                  <a:srgbClr val="1D1D1F"/>
                </a:solidFill>
                <a:latin typeface="Arial"/>
              </a:defRPr>
            </a:pPr>
            <a:r>
              <a:t>•  All-time High</a:t>
            </a:r>
          </a:p>
          <a:p>
            <a:pPr>
              <a:lnSpc>
                <a:spcPct val="130000"/>
              </a:lnSpc>
              <a:spcAft>
                <a:spcPts val="1200"/>
              </a:spcAft>
              <a:defRPr sz="1800">
                <a:solidFill>
                  <a:srgbClr val="1D1D1F"/>
                </a:solidFill>
                <a:latin typeface="Arial"/>
              </a:defRPr>
            </a:pPr>
            <a:r>
              <a:t>•  ( ▪ Global defense exports exploded in Poland, UAE, Australia, and MENA due to geopolitical crises. ▪ Korean defense exports hit an all-time high of $17.3 billion in 2022 . ▪ Core lineup driving exports includes K2 tanks, K9 howitzers, FA-50, and Cheongung (Hanwha, LIG, KAI, Rotem). ▪ Undeniably the Cinderella sector of Korean industry that emerged in the latter half of the $1T ➔ $2T transition.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3.</a:t>
            </a:r>
          </a:p>
          <a:p>
            <a:pPr algn="ctr">
              <a:spcBef>
                <a:spcPts val="1200"/>
              </a:spcBef>
              <a:defRPr sz="3200" b="1">
                <a:solidFill>
                  <a:srgbClr val="FFFFFF"/>
                </a:solidFill>
                <a:latin typeface="Arial"/>
              </a:defRPr>
            </a:pPr>
            <a:r>
              <a:t>( Structural Changes in the Capital Market From KOSPI 2,000 to 5,000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Historic Rally Breaking Through Boxpi</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KOSPI 5,000 Era Finally Opens After Breaking 2,000 in 2007</a:t>
            </a:r>
          </a:p>
          <a:p>
            <a:pPr>
              <a:lnSpc>
                <a:spcPct val="130000"/>
              </a:lnSpc>
              <a:spcAft>
                <a:spcPts val="1200"/>
              </a:spcAft>
              <a:defRPr sz="1800">
                <a:solidFill>
                  <a:srgbClr val="1D1D1F"/>
                </a:solidFill>
                <a:latin typeface="Arial"/>
              </a:defRPr>
            </a:pPr>
            <a:r>
              <a:t>•  2017 ~ 2024</a:t>
            </a:r>
          </a:p>
          <a:p>
            <a:pPr>
              <a:lnSpc>
                <a:spcPct val="130000"/>
              </a:lnSpc>
              <a:spcAft>
                <a:spcPts val="1200"/>
              </a:spcAft>
              <a:defRPr sz="1800">
                <a:solidFill>
                  <a:srgbClr val="1D1D1F"/>
                </a:solidFill>
                <a:latin typeface="Arial"/>
              </a:defRPr>
            </a:pPr>
            <a:r>
              <a:t>•  BOXPI</a:t>
            </a:r>
          </a:p>
          <a:p>
            <a:pPr>
              <a:lnSpc>
                <a:spcPct val="130000"/>
              </a:lnSpc>
              <a:spcAft>
                <a:spcPts val="1200"/>
              </a:spcAft>
              <a:defRPr sz="1800">
                <a:solidFill>
                  <a:srgbClr val="1D1D1F"/>
                </a:solidFill>
                <a:latin typeface="Arial"/>
              </a:defRPr>
            </a:pPr>
            <a:r>
              <a:t>•  1,800 - 2,400</a:t>
            </a:r>
          </a:p>
          <a:p>
            <a:pPr>
              <a:lnSpc>
                <a:spcPct val="130000"/>
              </a:lnSpc>
              <a:spcAft>
                <a:spcPts val="1200"/>
              </a:spcAft>
              <a:defRPr sz="1800">
                <a:solidFill>
                  <a:srgbClr val="1D1D1F"/>
                </a:solidFill>
                <a:latin typeface="Arial"/>
              </a:defRPr>
            </a:pPr>
            <a:r>
              <a:t>•  Korea Discount Entrenched</a:t>
            </a:r>
          </a:p>
          <a:p>
            <a:pPr>
              <a:lnSpc>
                <a:spcPct val="130000"/>
              </a:lnSpc>
              <a:spcAft>
                <a:spcPts val="1200"/>
              </a:spcAft>
              <a:defRPr sz="1800">
                <a:solidFill>
                  <a:srgbClr val="1D1D1F"/>
                </a:solidFill>
                <a:latin typeface="Arial"/>
              </a:defRPr>
            </a:pPr>
            <a:r>
              <a:t>•  2025.07 ~ 12</a:t>
            </a:r>
          </a:p>
          <a:p>
            <a:pPr>
              <a:lnSpc>
                <a:spcPct val="130000"/>
              </a:lnSpc>
              <a:spcAft>
                <a:spcPts val="1200"/>
              </a:spcAft>
              <a:defRPr sz="1800">
                <a:solidFill>
                  <a:srgbClr val="1D1D1F"/>
                </a:solidFill>
                <a:latin typeface="Arial"/>
              </a:defRPr>
            </a:pPr>
            <a:r>
              <a:t>•  Surged 75.6%</a:t>
            </a:r>
          </a:p>
          <a:p>
            <a:pPr>
              <a:lnSpc>
                <a:spcPct val="130000"/>
              </a:lnSpc>
              <a:spcAft>
                <a:spcPts val="1200"/>
              </a:spcAft>
              <a:defRPr sz="1800">
                <a:solidFill>
                  <a:srgbClr val="1D1D1F"/>
                </a:solidFill>
                <a:latin typeface="Arial"/>
              </a:defRPr>
            </a:pPr>
            <a:r>
              <a:t>•  2026.01.22</a:t>
            </a:r>
          </a:p>
          <a:p>
            <a:pPr>
              <a:lnSpc>
                <a:spcPct val="130000"/>
              </a:lnSpc>
              <a:spcAft>
                <a:spcPts val="1200"/>
              </a:spcAft>
              <a:defRPr sz="1800">
                <a:solidFill>
                  <a:srgbClr val="1D1D1F"/>
                </a:solidFill>
                <a:latin typeface="Arial"/>
              </a:defRPr>
            </a:pPr>
            <a:r>
              <a:t>•  First Time Ever</a:t>
            </a:r>
          </a:p>
          <a:p>
            <a:pPr>
              <a:lnSpc>
                <a:spcPct val="130000"/>
              </a:lnSpc>
              <a:spcAft>
                <a:spcPts val="1200"/>
              </a:spcAft>
              <a:defRPr sz="1800">
                <a:solidFill>
                  <a:srgbClr val="1D1D1F"/>
                </a:solidFill>
                <a:latin typeface="Arial"/>
              </a:defRPr>
            </a:pPr>
            <a:r>
              <a:t>•  5,000</a:t>
            </a:r>
          </a:p>
          <a:p>
            <a:pPr>
              <a:lnSpc>
                <a:spcPct val="130000"/>
              </a:lnSpc>
              <a:spcAft>
                <a:spcPts val="1200"/>
              </a:spcAft>
              <a:defRPr sz="1800">
                <a:solidFill>
                  <a:srgbClr val="1D1D1F"/>
                </a:solidFill>
                <a:latin typeface="Arial"/>
              </a:defRPr>
            </a:pPr>
            <a:r>
              <a:t>•  KOSPI</a:t>
            </a:r>
          </a:p>
          <a:p>
            <a:pPr>
              <a:lnSpc>
                <a:spcPct val="130000"/>
              </a:lnSpc>
              <a:spcAft>
                <a:spcPts val="1200"/>
              </a:spcAft>
              <a:defRPr sz="1800">
                <a:solidFill>
                  <a:srgbClr val="1D1D1F"/>
                </a:solidFill>
                <a:latin typeface="Arial"/>
              </a:defRPr>
            </a:pPr>
            <a:r>
              <a:t>•  Global #1 Index</a:t>
            </a:r>
          </a:p>
          <a:p>
            <a:pPr>
              <a:lnSpc>
                <a:spcPct val="130000"/>
              </a:lnSpc>
              <a:spcAft>
                <a:spcPts val="1200"/>
              </a:spcAft>
              <a:defRPr sz="1800">
                <a:solidFill>
                  <a:srgbClr val="1D1D1F"/>
                </a:solidFill>
                <a:latin typeface="Arial"/>
              </a:defRPr>
            </a:pPr>
            <a:r>
              <a:t>•  ( ▪ Post-financial crisis, trapped in 2017-2020 Boxpi (1,800-2,400) , entrenching the 'Korea Discount'. ▪ After breaking 3,000 in 2021, it flatlined again until surging 75.6% in H2 2025 , topping global indices. ▪ The historic rally culminated on Jan 22, 2026, breaking KOSPI 5,000 for the first time ever.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Global IBs\' Optimism on KOSPI 6,000</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Memory Supercycle and Early Achievement of 5,000 Era Pledge</a:t>
            </a:r>
          </a:p>
          <a:p>
            <a:pPr>
              <a:lnSpc>
                <a:spcPct val="130000"/>
              </a:lnSpc>
              <a:spcAft>
                <a:spcPts val="1200"/>
              </a:spcAft>
              <a:defRPr sz="1800">
                <a:solidFill>
                  <a:srgbClr val="1D1D1F"/>
                </a:solidFill>
                <a:latin typeface="Arial"/>
              </a:defRPr>
            </a:pPr>
            <a:r>
              <a:t>•  JP Morgan</a:t>
            </a:r>
          </a:p>
          <a:p>
            <a:pPr>
              <a:lnSpc>
                <a:spcPct val="130000"/>
              </a:lnSpc>
              <a:spcAft>
                <a:spcPts val="1200"/>
              </a:spcAft>
              <a:defRPr sz="1800">
                <a:solidFill>
                  <a:srgbClr val="1D1D1F"/>
                </a:solidFill>
                <a:latin typeface="Arial"/>
              </a:defRPr>
            </a:pPr>
            <a:r>
              <a:t>•  Kospi 5000 on the Cards</a:t>
            </a:r>
          </a:p>
          <a:p>
            <a:pPr>
              <a:lnSpc>
                <a:spcPct val="130000"/>
              </a:lnSpc>
              <a:spcAft>
                <a:spcPts val="1200"/>
              </a:spcAft>
              <a:defRPr sz="1800">
                <a:solidFill>
                  <a:srgbClr val="1D1D1F"/>
                </a:solidFill>
                <a:latin typeface="Arial"/>
              </a:defRPr>
            </a:pPr>
            <a:r>
              <a:t>•  6,000</a:t>
            </a:r>
          </a:p>
          <a:p>
            <a:pPr>
              <a:lnSpc>
                <a:spcPct val="130000"/>
              </a:lnSpc>
              <a:spcAft>
                <a:spcPts val="1200"/>
              </a:spcAft>
              <a:defRPr sz="1800">
                <a:solidFill>
                  <a:srgbClr val="1D1D1F"/>
                </a:solidFill>
                <a:latin typeface="Arial"/>
              </a:defRPr>
            </a:pPr>
            <a:r>
              <a:t>•  Full Bull Scenario</a:t>
            </a:r>
          </a:p>
          <a:p>
            <a:pPr>
              <a:lnSpc>
                <a:spcPct val="130000"/>
              </a:lnSpc>
              <a:spcAft>
                <a:spcPts val="1200"/>
              </a:spcAft>
              <a:defRPr sz="1800">
                <a:solidFill>
                  <a:srgbClr val="1D1D1F"/>
                </a:solidFill>
                <a:latin typeface="Arial"/>
              </a:defRPr>
            </a:pPr>
            <a:r>
              <a:t>•  Macquarie</a:t>
            </a:r>
          </a:p>
          <a:p>
            <a:pPr>
              <a:lnSpc>
                <a:spcPct val="130000"/>
              </a:lnSpc>
              <a:spcAft>
                <a:spcPts val="1200"/>
              </a:spcAft>
              <a:defRPr sz="1800">
                <a:solidFill>
                  <a:srgbClr val="1D1D1F"/>
                </a:solidFill>
                <a:latin typeface="Arial"/>
              </a:defRPr>
            </a:pPr>
            <a:r>
              <a:t>•  2026 Target</a:t>
            </a:r>
          </a:p>
          <a:p>
            <a:pPr>
              <a:lnSpc>
                <a:spcPct val="130000"/>
              </a:lnSpc>
              <a:spcAft>
                <a:spcPts val="1200"/>
              </a:spcAft>
              <a:defRPr sz="1800">
                <a:solidFill>
                  <a:srgbClr val="1D1D1F"/>
                </a:solidFill>
                <a:latin typeface="Arial"/>
              </a:defRPr>
            </a:pPr>
            <a:r>
              <a:t>•  6,000</a:t>
            </a:r>
          </a:p>
          <a:p>
            <a:pPr>
              <a:lnSpc>
                <a:spcPct val="130000"/>
              </a:lnSpc>
              <a:spcAft>
                <a:spcPts val="1200"/>
              </a:spcAft>
              <a:defRPr sz="1800">
                <a:solidFill>
                  <a:srgbClr val="1D1D1F"/>
                </a:solidFill>
                <a:latin typeface="Arial"/>
              </a:defRPr>
            </a:pPr>
            <a:r>
              <a:t>•  Based on Memory Supercycle</a:t>
            </a:r>
          </a:p>
          <a:p>
            <a:pPr>
              <a:lnSpc>
                <a:spcPct val="130000"/>
              </a:lnSpc>
              <a:spcAft>
                <a:spcPts val="1200"/>
              </a:spcAft>
              <a:defRPr sz="1800">
                <a:solidFill>
                  <a:srgbClr val="1D1D1F"/>
                </a:solidFill>
                <a:latin typeface="Arial"/>
              </a:defRPr>
            </a:pPr>
            <a:r>
              <a:t>•  NH &amp; HMC</a:t>
            </a:r>
          </a:p>
          <a:p>
            <a:pPr>
              <a:lnSpc>
                <a:spcPct val="130000"/>
              </a:lnSpc>
              <a:spcAft>
                <a:spcPts val="1200"/>
              </a:spcAft>
              <a:defRPr sz="1800">
                <a:solidFill>
                  <a:srgbClr val="1D1D1F"/>
                </a:solidFill>
                <a:latin typeface="Arial"/>
              </a:defRPr>
            </a:pPr>
            <a:r>
              <a:t>•  2026 Domestic Target</a:t>
            </a:r>
          </a:p>
          <a:p>
            <a:pPr>
              <a:lnSpc>
                <a:spcPct val="130000"/>
              </a:lnSpc>
              <a:spcAft>
                <a:spcPts val="1200"/>
              </a:spcAft>
              <a:defRPr sz="1800">
                <a:solidFill>
                  <a:srgbClr val="1D1D1F"/>
                </a:solidFill>
                <a:latin typeface="Arial"/>
              </a:defRPr>
            </a:pPr>
            <a:r>
              <a:t>•  5,500</a:t>
            </a:r>
          </a:p>
          <a:p>
            <a:pPr>
              <a:lnSpc>
                <a:spcPct val="130000"/>
              </a:lnSpc>
              <a:spcAft>
                <a:spcPts val="1200"/>
              </a:spcAft>
              <a:defRPr sz="1800">
                <a:solidFill>
                  <a:srgbClr val="1D1D1F"/>
                </a:solidFill>
                <a:latin typeface="Arial"/>
              </a:defRPr>
            </a:pPr>
            <a:r>
              <a:t>•  Major Domestic Outlook</a:t>
            </a:r>
          </a:p>
          <a:p>
            <a:pPr>
              <a:lnSpc>
                <a:spcPct val="130000"/>
              </a:lnSpc>
              <a:spcAft>
                <a:spcPts val="1200"/>
              </a:spcAft>
              <a:defRPr sz="1800">
                <a:solidFill>
                  <a:srgbClr val="1D1D1F"/>
                </a:solidFill>
                <a:latin typeface="Arial"/>
              </a:defRPr>
            </a:pPr>
            <a:r>
              <a:t>•  ( ▪ Global IBs like JP Morgan &amp; Macquarie upgraded 2026 KOSPI targets up to 6,000 (Full Bull) on memory supercycle. ▪ Major domestic securities firms like NH &amp; HMC also raised targets to 5,500 , fueling the bull market. ▪ The gov't pledge of 'KOSPI 5,000 within term' was achieved early due to the rally, opening a new market phase.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Structural End of Korea Discount</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Convergence to Asian Average Valuation Driven by AI Exposure and Value-up Policy</a:t>
            </a:r>
          </a:p>
          <a:p>
            <a:pPr>
              <a:lnSpc>
                <a:spcPct val="130000"/>
              </a:lnSpc>
              <a:spcAft>
                <a:spcPts val="1200"/>
              </a:spcAft>
              <a:defRPr sz="1800">
                <a:solidFill>
                  <a:srgbClr val="1D1D1F"/>
                </a:solidFill>
                <a:latin typeface="Arial"/>
              </a:defRPr>
            </a:pPr>
            <a:r>
              <a:t>•  5 Core Drivers</a:t>
            </a:r>
          </a:p>
          <a:p>
            <a:pPr>
              <a:lnSpc>
                <a:spcPct val="130000"/>
              </a:lnSpc>
              <a:spcAft>
                <a:spcPts val="1200"/>
              </a:spcAft>
              <a:defRPr sz="1800">
                <a:solidFill>
                  <a:srgbClr val="1D1D1F"/>
                </a:solidFill>
                <a:latin typeface="Arial"/>
              </a:defRPr>
            </a:pPr>
            <a:r>
              <a:t>•  1</a:t>
            </a:r>
          </a:p>
          <a:p>
            <a:pPr>
              <a:lnSpc>
                <a:spcPct val="130000"/>
              </a:lnSpc>
              <a:spcAft>
                <a:spcPts val="1200"/>
              </a:spcAft>
              <a:defRPr sz="1800">
                <a:solidFill>
                  <a:srgbClr val="1D1D1F"/>
                </a:solidFill>
                <a:latin typeface="Arial"/>
              </a:defRPr>
            </a:pPr>
            <a:r>
              <a:t>•  Semi Supercycle</a:t>
            </a:r>
          </a:p>
          <a:p>
            <a:pPr>
              <a:lnSpc>
                <a:spcPct val="130000"/>
              </a:lnSpc>
              <a:spcAft>
                <a:spcPts val="1200"/>
              </a:spcAft>
              <a:defRPr sz="1800">
                <a:solidFill>
                  <a:srgbClr val="1D1D1F"/>
                </a:solidFill>
                <a:latin typeface="Arial"/>
              </a:defRPr>
            </a:pPr>
            <a:r>
              <a:t>•  Prolonged HBM Shortage</a:t>
            </a:r>
          </a:p>
          <a:p>
            <a:pPr>
              <a:lnSpc>
                <a:spcPct val="130000"/>
              </a:lnSpc>
              <a:spcAft>
                <a:spcPts val="1200"/>
              </a:spcAft>
              <a:defRPr sz="1800">
                <a:solidFill>
                  <a:srgbClr val="1D1D1F"/>
                </a:solidFill>
                <a:latin typeface="Arial"/>
              </a:defRPr>
            </a:pPr>
            <a:r>
              <a:t>•  2</a:t>
            </a:r>
          </a:p>
          <a:p>
            <a:pPr>
              <a:lnSpc>
                <a:spcPct val="130000"/>
              </a:lnSpc>
              <a:spcAft>
                <a:spcPts val="1200"/>
              </a:spcAft>
              <a:defRPr sz="1800">
                <a:solidFill>
                  <a:srgbClr val="1D1D1F"/>
                </a:solidFill>
                <a:latin typeface="Arial"/>
              </a:defRPr>
            </a:pPr>
            <a:r>
              <a:t>•  Massive Foreign Inflows</a:t>
            </a:r>
          </a:p>
          <a:p>
            <a:pPr>
              <a:lnSpc>
                <a:spcPct val="130000"/>
              </a:lnSpc>
              <a:spcAft>
                <a:spcPts val="1200"/>
              </a:spcAft>
              <a:defRPr sz="1800">
                <a:solidFill>
                  <a:srgbClr val="1D1D1F"/>
                </a:solidFill>
                <a:latin typeface="Arial"/>
              </a:defRPr>
            </a:pPr>
            <a:r>
              <a:t>•  Return of funds post-short selling resume</a:t>
            </a:r>
          </a:p>
          <a:p>
            <a:pPr>
              <a:lnSpc>
                <a:spcPct val="130000"/>
              </a:lnSpc>
              <a:spcAft>
                <a:spcPts val="1200"/>
              </a:spcAft>
              <a:defRPr sz="1800">
                <a:solidFill>
                  <a:srgbClr val="1D1D1F"/>
                </a:solidFill>
                <a:latin typeface="Arial"/>
              </a:defRPr>
            </a:pPr>
            <a:r>
              <a:t>•  3</a:t>
            </a:r>
          </a:p>
          <a:p>
            <a:pPr>
              <a:lnSpc>
                <a:spcPct val="130000"/>
              </a:lnSpc>
              <a:spcAft>
                <a:spcPts val="1200"/>
              </a:spcAft>
              <a:defRPr sz="1800">
                <a:solidFill>
                  <a:srgbClr val="1D1D1F"/>
                </a:solidFill>
                <a:latin typeface="Arial"/>
              </a:defRPr>
            </a:pPr>
            <a:r>
              <a:t>•  Gov't Pro-shareholder Policy</a:t>
            </a:r>
          </a:p>
          <a:p>
            <a:pPr>
              <a:lnSpc>
                <a:spcPct val="130000"/>
              </a:lnSpc>
              <a:spcAft>
                <a:spcPts val="1200"/>
              </a:spcAft>
              <a:defRPr sz="1800">
                <a:solidFill>
                  <a:srgbClr val="1D1D1F"/>
                </a:solidFill>
                <a:latin typeface="Arial"/>
              </a:defRPr>
            </a:pPr>
            <a:r>
              <a:t>•  Value-up Program &amp; Capital Market Act revision</a:t>
            </a:r>
          </a:p>
          <a:p>
            <a:pPr>
              <a:lnSpc>
                <a:spcPct val="130000"/>
              </a:lnSpc>
              <a:spcAft>
                <a:spcPts val="1200"/>
              </a:spcAft>
              <a:defRPr sz="1800">
                <a:solidFill>
                  <a:srgbClr val="1D1D1F"/>
                </a:solidFill>
                <a:latin typeface="Arial"/>
              </a:defRPr>
            </a:pPr>
            <a:r>
              <a:t>•  4</a:t>
            </a:r>
          </a:p>
          <a:p>
            <a:pPr>
              <a:lnSpc>
                <a:spcPct val="130000"/>
              </a:lnSpc>
              <a:spcAft>
                <a:spcPts val="1200"/>
              </a:spcAft>
              <a:defRPr sz="1800">
                <a:solidFill>
                  <a:srgbClr val="1D1D1F"/>
                </a:solidFill>
                <a:latin typeface="Arial"/>
              </a:defRPr>
            </a:pPr>
            <a:r>
              <a:t>•  #1 Global AI Exposure</a:t>
            </a:r>
          </a:p>
          <a:p>
            <a:pPr>
              <a:lnSpc>
                <a:spcPct val="130000"/>
              </a:lnSpc>
              <a:spcAft>
                <a:spcPts val="1200"/>
              </a:spcAft>
              <a:defRPr sz="1800">
                <a:solidFill>
                  <a:srgbClr val="1D1D1F"/>
                </a:solidFill>
                <a:latin typeface="Arial"/>
              </a:defRPr>
            </a:pPr>
            <a:r>
              <a:t>•  Perceived as the market most directly tied to AI</a:t>
            </a:r>
          </a:p>
          <a:p>
            <a:pPr>
              <a:lnSpc>
                <a:spcPct val="130000"/>
              </a:lnSpc>
              <a:spcAft>
                <a:spcPts val="1200"/>
              </a:spcAft>
              <a:defRPr sz="1800">
                <a:solidFill>
                  <a:srgbClr val="1D1D1F"/>
                </a:solidFill>
                <a:latin typeface="Arial"/>
              </a:defRPr>
            </a:pPr>
            <a:r>
              <a:t>•  May 2026 Valuation Comparison</a:t>
            </a:r>
          </a:p>
          <a:p>
            <a:pPr>
              <a:lnSpc>
                <a:spcPct val="130000"/>
              </a:lnSpc>
              <a:spcAft>
                <a:spcPts val="1200"/>
              </a:spcAft>
              <a:defRPr sz="1800">
                <a:solidFill>
                  <a:srgbClr val="1D1D1F"/>
                </a:solidFill>
                <a:latin typeface="Arial"/>
              </a:defRPr>
            </a:pPr>
            <a:r>
              <a:t>•  KOSPI</a:t>
            </a:r>
          </a:p>
          <a:p>
            <a:pPr>
              <a:lnSpc>
                <a:spcPct val="130000"/>
              </a:lnSpc>
              <a:spcAft>
                <a:spcPts val="1200"/>
              </a:spcAft>
              <a:defRPr sz="1800">
                <a:solidFill>
                  <a:srgbClr val="1D1D1F"/>
                </a:solidFill>
                <a:latin typeface="Arial"/>
              </a:defRPr>
            </a:pPr>
            <a:r>
              <a:t>•  13.2</a:t>
            </a:r>
          </a:p>
          <a:p>
            <a:pPr>
              <a:lnSpc>
                <a:spcPct val="130000"/>
              </a:lnSpc>
              <a:spcAft>
                <a:spcPts val="1200"/>
              </a:spcAft>
              <a:defRPr sz="1800">
                <a:solidFill>
                  <a:srgbClr val="1D1D1F"/>
                </a:solidFill>
                <a:latin typeface="Arial"/>
              </a:defRPr>
            </a:pPr>
            <a:r>
              <a:t>•  x</a:t>
            </a:r>
          </a:p>
          <a:p>
            <a:pPr>
              <a:lnSpc>
                <a:spcPct val="130000"/>
              </a:lnSpc>
              <a:spcAft>
                <a:spcPts val="1200"/>
              </a:spcAft>
              <a:defRPr sz="1800">
                <a:solidFill>
                  <a:srgbClr val="1D1D1F"/>
                </a:solidFill>
                <a:latin typeface="Arial"/>
              </a:defRPr>
            </a:pPr>
            <a:r>
              <a:t>•  PER</a:t>
            </a:r>
          </a:p>
          <a:p>
            <a:pPr>
              <a:lnSpc>
                <a:spcPct val="130000"/>
              </a:lnSpc>
              <a:spcAft>
                <a:spcPts val="1200"/>
              </a:spcAft>
              <a:defRPr sz="1800">
                <a:solidFill>
                  <a:srgbClr val="1D1D1F"/>
                </a:solidFill>
                <a:latin typeface="Arial"/>
              </a:defRPr>
            </a:pPr>
            <a:r>
              <a:t>•  1.34</a:t>
            </a:r>
          </a:p>
          <a:p>
            <a:pPr>
              <a:lnSpc>
                <a:spcPct val="130000"/>
              </a:lnSpc>
              <a:spcAft>
                <a:spcPts val="1200"/>
              </a:spcAft>
              <a:defRPr sz="1800">
                <a:solidFill>
                  <a:srgbClr val="1D1D1F"/>
                </a:solidFill>
                <a:latin typeface="Arial"/>
              </a:defRPr>
            </a:pPr>
            <a:r>
              <a:t>•  x</a:t>
            </a:r>
          </a:p>
          <a:p>
            <a:pPr>
              <a:lnSpc>
                <a:spcPct val="130000"/>
              </a:lnSpc>
              <a:spcAft>
                <a:spcPts val="1200"/>
              </a:spcAft>
              <a:defRPr sz="1800">
                <a:solidFill>
                  <a:srgbClr val="1D1D1F"/>
                </a:solidFill>
                <a:latin typeface="Arial"/>
              </a:defRPr>
            </a:pPr>
            <a:r>
              <a:t>•  PBR</a:t>
            </a:r>
          </a:p>
          <a:p>
            <a:pPr>
              <a:lnSpc>
                <a:spcPct val="130000"/>
              </a:lnSpc>
              <a:spcAft>
                <a:spcPts val="1200"/>
              </a:spcAft>
              <a:defRPr sz="1800">
                <a:solidFill>
                  <a:srgbClr val="1D1D1F"/>
                </a:solidFill>
                <a:latin typeface="Arial"/>
              </a:defRPr>
            </a:pPr>
            <a:r>
              <a:t>•  VS</a:t>
            </a:r>
          </a:p>
          <a:p>
            <a:pPr>
              <a:lnSpc>
                <a:spcPct val="130000"/>
              </a:lnSpc>
              <a:spcAft>
                <a:spcPts val="1200"/>
              </a:spcAft>
              <a:defRPr sz="1800">
                <a:solidFill>
                  <a:srgbClr val="1D1D1F"/>
                </a:solidFill>
                <a:latin typeface="Arial"/>
              </a:defRPr>
            </a:pPr>
            <a:r>
              <a:t>•  Asia Avg.</a:t>
            </a:r>
          </a:p>
          <a:p>
            <a:pPr>
              <a:lnSpc>
                <a:spcPct val="130000"/>
              </a:lnSpc>
              <a:spcAft>
                <a:spcPts val="1200"/>
              </a:spcAft>
              <a:defRPr sz="1800">
                <a:solidFill>
                  <a:srgbClr val="1D1D1F"/>
                </a:solidFill>
                <a:latin typeface="Arial"/>
              </a:defRPr>
            </a:pPr>
            <a:r>
              <a:t>•  16.1</a:t>
            </a:r>
          </a:p>
          <a:p>
            <a:pPr>
              <a:lnSpc>
                <a:spcPct val="130000"/>
              </a:lnSpc>
              <a:spcAft>
                <a:spcPts val="1200"/>
              </a:spcAft>
              <a:defRPr sz="1800">
                <a:solidFill>
                  <a:srgbClr val="1D1D1F"/>
                </a:solidFill>
                <a:latin typeface="Arial"/>
              </a:defRPr>
            </a:pPr>
            <a:r>
              <a:t>•  x</a:t>
            </a:r>
          </a:p>
          <a:p>
            <a:pPr>
              <a:lnSpc>
                <a:spcPct val="130000"/>
              </a:lnSpc>
              <a:spcAft>
                <a:spcPts val="1200"/>
              </a:spcAft>
              <a:defRPr sz="1800">
                <a:solidFill>
                  <a:srgbClr val="1D1D1F"/>
                </a:solidFill>
                <a:latin typeface="Arial"/>
              </a:defRPr>
            </a:pPr>
            <a:r>
              <a:t>•  PER</a:t>
            </a:r>
          </a:p>
          <a:p>
            <a:pPr>
              <a:lnSpc>
                <a:spcPct val="130000"/>
              </a:lnSpc>
              <a:spcAft>
                <a:spcPts val="1200"/>
              </a:spcAft>
              <a:defRPr sz="1800">
                <a:solidFill>
                  <a:srgbClr val="1D1D1F"/>
                </a:solidFill>
                <a:latin typeface="Arial"/>
              </a:defRPr>
            </a:pPr>
            <a:r>
              <a:t>•  2.15</a:t>
            </a:r>
          </a:p>
          <a:p>
            <a:pPr>
              <a:lnSpc>
                <a:spcPct val="130000"/>
              </a:lnSpc>
              <a:spcAft>
                <a:spcPts val="1200"/>
              </a:spcAft>
              <a:defRPr sz="1800">
                <a:solidFill>
                  <a:srgbClr val="1D1D1F"/>
                </a:solidFill>
                <a:latin typeface="Arial"/>
              </a:defRPr>
            </a:pPr>
            <a:r>
              <a:t>•  x</a:t>
            </a:r>
          </a:p>
          <a:p>
            <a:pPr>
              <a:lnSpc>
                <a:spcPct val="130000"/>
              </a:lnSpc>
              <a:spcAft>
                <a:spcPts val="1200"/>
              </a:spcAft>
              <a:defRPr sz="1800">
                <a:solidFill>
                  <a:srgbClr val="1D1D1F"/>
                </a:solidFill>
                <a:latin typeface="Arial"/>
              </a:defRPr>
            </a:pPr>
            <a:r>
              <a:t>•  PBR</a:t>
            </a:r>
          </a:p>
          <a:p>
            <a:pPr>
              <a:lnSpc>
                <a:spcPct val="130000"/>
              </a:lnSpc>
              <a:spcAft>
                <a:spcPts val="1200"/>
              </a:spcAft>
              <a:defRPr sz="1800">
                <a:solidFill>
                  <a:srgbClr val="1D1D1F"/>
                </a:solidFill>
                <a:latin typeface="Arial"/>
              </a:defRPr>
            </a:pPr>
            <a:r>
              <a:t>•  ( ▪ Core drivers: prolonged HBM shortage, foreign inflows, strong Value-up policies, &amp; Capital Market Act revisions . ▪ Above all, foreign investors firmly perceive KOSPI as a core beneficiary market in the global AI value chain . ▪ PER rose to 13.2x but still undervalued vs Asia avg. "Korea Discount" expected to fully dissolve within 5 years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4.</a:t>
            </a:r>
          </a:p>
          <a:p>
            <a:pPr algn="ctr">
              <a:spcBef>
                <a:spcPts val="1200"/>
              </a:spcBef>
              <a:defRPr sz="3200" b="1">
                <a:solidFill>
                  <a:srgbClr val="FFFFFF"/>
                </a:solidFill>
                <a:latin typeface="Arial"/>
              </a:defRPr>
            </a:pPr>
            <a:r>
              <a:t>( Evolution of Seoul Office Market From 3 Axes (CBD/GBD/YBD) to 5 Axes (+MBD/BBD)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Foundation of 3 Core Districts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Trophy Assets like SFC to Parc1 Driving District Evolution</a:t>
            </a:r>
          </a:p>
          <a:p>
            <a:pPr>
              <a:lnSpc>
                <a:spcPct val="130000"/>
              </a:lnSpc>
              <a:spcAft>
                <a:spcPts val="1200"/>
              </a:spcAft>
              <a:defRPr sz="1800">
                <a:solidFill>
                  <a:srgbClr val="1D1D1F"/>
                </a:solidFill>
                <a:latin typeface="Arial"/>
              </a:defRPr>
            </a:pPr>
            <a:r>
              <a:t>•  CBD</a:t>
            </a:r>
          </a:p>
          <a:p>
            <a:pPr>
              <a:lnSpc>
                <a:spcPct val="130000"/>
              </a:lnSpc>
              <a:spcAft>
                <a:spcPts val="1200"/>
              </a:spcAft>
              <a:defRPr sz="1800">
                <a:solidFill>
                  <a:srgbClr val="1D1D1F"/>
                </a:solidFill>
                <a:latin typeface="Arial"/>
              </a:defRPr>
            </a:pPr>
            <a:r>
              <a:t>•  Central</a:t>
            </a:r>
          </a:p>
          <a:p>
            <a:pPr>
              <a:lnSpc>
                <a:spcPct val="130000"/>
              </a:lnSpc>
              <a:spcAft>
                <a:spcPts val="1200"/>
              </a:spcAft>
              <a:defRPr sz="1800">
                <a:solidFill>
                  <a:srgbClr val="1D1D1F"/>
                </a:solidFill>
                <a:latin typeface="Arial"/>
              </a:defRPr>
            </a:pPr>
            <a:r>
              <a:t>•  Gwanghwamun·Jongno</a:t>
            </a:r>
          </a:p>
          <a:p>
            <a:pPr>
              <a:lnSpc>
                <a:spcPct val="130000"/>
              </a:lnSpc>
              <a:spcAft>
                <a:spcPts val="1200"/>
              </a:spcAft>
              <a:defRPr sz="1800">
                <a:solidFill>
                  <a:srgbClr val="1D1D1F"/>
                </a:solidFill>
                <a:latin typeface="Arial"/>
              </a:defRPr>
            </a:pPr>
            <a:r>
              <a:t>•  SFC (2002)</a:t>
            </a:r>
          </a:p>
          <a:p>
            <a:pPr>
              <a:lnSpc>
                <a:spcPct val="130000"/>
              </a:lnSpc>
              <a:spcAft>
                <a:spcPts val="1200"/>
              </a:spcAft>
              <a:defRPr sz="1800">
                <a:solidFill>
                  <a:srgbClr val="1D1D1F"/>
                </a:solidFill>
                <a:latin typeface="Arial"/>
              </a:defRPr>
            </a:pPr>
            <a:r>
              <a:t>•  Jongno Tower / Gran Seoul (2014)</a:t>
            </a:r>
          </a:p>
          <a:p>
            <a:pPr>
              <a:lnSpc>
                <a:spcPct val="130000"/>
              </a:lnSpc>
              <a:spcAft>
                <a:spcPts val="1200"/>
              </a:spcAft>
              <a:defRPr sz="1800">
                <a:solidFill>
                  <a:srgbClr val="1D1D1F"/>
                </a:solidFill>
                <a:latin typeface="Arial"/>
              </a:defRPr>
            </a:pPr>
            <a:r>
              <a:t>•  D Tower (2017) / Centropolis (2018)</a:t>
            </a:r>
          </a:p>
          <a:p>
            <a:pPr>
              <a:lnSpc>
                <a:spcPct val="130000"/>
              </a:lnSpc>
              <a:spcAft>
                <a:spcPts val="1200"/>
              </a:spcAft>
              <a:defRPr sz="1800">
                <a:solidFill>
                  <a:srgbClr val="1D1D1F"/>
                </a:solidFill>
                <a:latin typeface="Arial"/>
              </a:defRPr>
            </a:pPr>
            <a:r>
              <a:t>•  GBD</a:t>
            </a:r>
          </a:p>
          <a:p>
            <a:pPr>
              <a:lnSpc>
                <a:spcPct val="130000"/>
              </a:lnSpc>
              <a:spcAft>
                <a:spcPts val="1200"/>
              </a:spcAft>
              <a:defRPr sz="1800">
                <a:solidFill>
                  <a:srgbClr val="1D1D1F"/>
                </a:solidFill>
                <a:latin typeface="Arial"/>
              </a:defRPr>
            </a:pPr>
            <a:r>
              <a:t>•  Gangnam</a:t>
            </a:r>
          </a:p>
          <a:p>
            <a:pPr>
              <a:lnSpc>
                <a:spcPct val="130000"/>
              </a:lnSpc>
              <a:spcAft>
                <a:spcPts val="1200"/>
              </a:spcAft>
              <a:defRPr sz="1800">
                <a:solidFill>
                  <a:srgbClr val="1D1D1F"/>
                </a:solidFill>
                <a:latin typeface="Arial"/>
              </a:defRPr>
            </a:pPr>
            <a:r>
              <a:t>•  Teheran-ro Core</a:t>
            </a:r>
          </a:p>
          <a:p>
            <a:pPr>
              <a:lnSpc>
                <a:spcPct val="130000"/>
              </a:lnSpc>
              <a:spcAft>
                <a:spcPts val="1200"/>
              </a:spcAft>
              <a:defRPr sz="1800">
                <a:solidFill>
                  <a:srgbClr val="1D1D1F"/>
                </a:solidFill>
                <a:latin typeface="Arial"/>
              </a:defRPr>
            </a:pPr>
            <a:r>
              <a:t>•  GFC (2001)</a:t>
            </a:r>
          </a:p>
          <a:p>
            <a:pPr>
              <a:lnSpc>
                <a:spcPct val="130000"/>
              </a:lnSpc>
              <a:spcAft>
                <a:spcPts val="1200"/>
              </a:spcAft>
              <a:defRPr sz="1800">
                <a:solidFill>
                  <a:srgbClr val="1D1D1F"/>
                </a:solidFill>
                <a:latin typeface="Arial"/>
              </a:defRPr>
            </a:pPr>
            <a:r>
              <a:t>•  Parnas Tower (2016)</a:t>
            </a:r>
          </a:p>
          <a:p>
            <a:pPr>
              <a:lnSpc>
                <a:spcPct val="130000"/>
              </a:lnSpc>
              <a:spcAft>
                <a:spcPts val="1200"/>
              </a:spcAft>
              <a:defRPr sz="1800">
                <a:solidFill>
                  <a:srgbClr val="1D1D1F"/>
                </a:solidFill>
                <a:latin typeface="Arial"/>
              </a:defRPr>
            </a:pPr>
            <a:r>
              <a:t>•  Capital Tower (1998)</a:t>
            </a:r>
          </a:p>
          <a:p>
            <a:pPr>
              <a:lnSpc>
                <a:spcPct val="130000"/>
              </a:lnSpc>
              <a:spcAft>
                <a:spcPts val="1200"/>
              </a:spcAft>
              <a:defRPr sz="1800">
                <a:solidFill>
                  <a:srgbClr val="1D1D1F"/>
                </a:solidFill>
                <a:latin typeface="Arial"/>
              </a:defRPr>
            </a:pPr>
            <a:r>
              <a:t>•  YBD</a:t>
            </a:r>
          </a:p>
          <a:p>
            <a:pPr>
              <a:lnSpc>
                <a:spcPct val="130000"/>
              </a:lnSpc>
              <a:spcAft>
                <a:spcPts val="1200"/>
              </a:spcAft>
              <a:defRPr sz="1800">
                <a:solidFill>
                  <a:srgbClr val="1D1D1F"/>
                </a:solidFill>
                <a:latin typeface="Arial"/>
              </a:defRPr>
            </a:pPr>
            <a:r>
              <a:t>•  Yeouido</a:t>
            </a:r>
          </a:p>
          <a:p>
            <a:pPr>
              <a:lnSpc>
                <a:spcPct val="130000"/>
              </a:lnSpc>
              <a:spcAft>
                <a:spcPts val="1200"/>
              </a:spcAft>
              <a:defRPr sz="1800">
                <a:solidFill>
                  <a:srgbClr val="1D1D1F"/>
                </a:solidFill>
                <a:latin typeface="Arial"/>
              </a:defRPr>
            </a:pPr>
            <a:r>
              <a:t>•  Two Major Turning Points</a:t>
            </a:r>
          </a:p>
          <a:p>
            <a:pPr>
              <a:lnSpc>
                <a:spcPct val="130000"/>
              </a:lnSpc>
              <a:spcAft>
                <a:spcPts val="1200"/>
              </a:spcAft>
              <a:defRPr sz="1800">
                <a:solidFill>
                  <a:srgbClr val="1D1D1F"/>
                </a:solidFill>
                <a:latin typeface="Arial"/>
              </a:defRPr>
            </a:pPr>
            <a:r>
              <a:t>•  IFC Seoul (2012)</a:t>
            </a:r>
          </a:p>
          <a:p>
            <a:pPr>
              <a:lnSpc>
                <a:spcPct val="130000"/>
              </a:lnSpc>
              <a:spcAft>
                <a:spcPts val="1200"/>
              </a:spcAft>
              <a:defRPr sz="1800">
                <a:solidFill>
                  <a:srgbClr val="1D1D1F"/>
                </a:solidFill>
                <a:latin typeface="Arial"/>
              </a:defRPr>
            </a:pPr>
            <a:r>
              <a:t>•  Parc1 (2020)</a:t>
            </a:r>
          </a:p>
          <a:p>
            <a:pPr>
              <a:lnSpc>
                <a:spcPct val="130000"/>
              </a:lnSpc>
              <a:spcAft>
                <a:spcPts val="1200"/>
              </a:spcAft>
              <a:defRPr sz="1800">
                <a:solidFill>
                  <a:srgbClr val="1D1D1F"/>
                </a:solidFill>
                <a:latin typeface="Arial"/>
              </a:defRPr>
            </a:pPr>
            <a:r>
              <a:t>•  ( ▪ In 2007, the market centered on CBD , with landmarks like SFC shaping its foundation. ▪ GBD grew around Teheran-ro (GFC, Parnas Tower), while YBD hit major turning points via IFC and Parc1.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Rapid Rise of MBD and BBD</a:t>
            </a:r>
          </a:p>
          <a:p>
            <a:pPr>
              <a:spcBef>
                <a:spcPts val="1200"/>
              </a:spcBef>
              <a:defRPr sz="3200" b="1">
                <a:solidFill>
                  <a:srgbClr val="1D1D1F"/>
                </a:solidFill>
                <a:latin typeface="Arial"/>
              </a:defRPr>
            </a:pPr>
            <a:r>
              <a:t>Reorganization into 5 Core Districts Driven by R&amp;D and Tech Capital</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MBD</a:t>
            </a:r>
          </a:p>
          <a:p>
            <a:pPr>
              <a:lnSpc>
                <a:spcPct val="130000"/>
              </a:lnSpc>
              <a:spcAft>
                <a:spcPts val="1200"/>
              </a:spcAft>
              <a:defRPr sz="1800">
                <a:solidFill>
                  <a:srgbClr val="1D1D1F"/>
                </a:solidFill>
                <a:latin typeface="Arial"/>
              </a:defRPr>
            </a:pPr>
            <a:r>
              <a:t>•  Magok</a:t>
            </a:r>
          </a:p>
          <a:p>
            <a:pPr>
              <a:lnSpc>
                <a:spcPct val="130000"/>
              </a:lnSpc>
              <a:spcAft>
                <a:spcPts val="1200"/>
              </a:spcAft>
              <a:defRPr sz="1800">
                <a:solidFill>
                  <a:srgbClr val="1D1D1F"/>
                </a:solidFill>
                <a:latin typeface="Arial"/>
              </a:defRPr>
            </a:pPr>
            <a:r>
              <a:t>•  R&amp;D Convergence Cluster</a:t>
            </a:r>
          </a:p>
          <a:p>
            <a:pPr>
              <a:lnSpc>
                <a:spcPct val="130000"/>
              </a:lnSpc>
              <a:spcAft>
                <a:spcPts val="1200"/>
              </a:spcAft>
              <a:defRPr sz="1800">
                <a:solidFill>
                  <a:srgbClr val="1D1D1F"/>
                </a:solidFill>
                <a:latin typeface="Arial"/>
              </a:defRPr>
            </a:pPr>
            <a:r>
              <a:t>•  LG Science Park</a:t>
            </a:r>
          </a:p>
          <a:p>
            <a:pPr>
              <a:lnSpc>
                <a:spcPct val="130000"/>
              </a:lnSpc>
              <a:spcAft>
                <a:spcPts val="1200"/>
              </a:spcAft>
              <a:defRPr sz="1800">
                <a:solidFill>
                  <a:srgbClr val="1D1D1F"/>
                </a:solidFill>
                <a:latin typeface="Arial"/>
              </a:defRPr>
            </a:pPr>
            <a:r>
              <a:t>•  Kolon One&amp;Only Tower</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BBD</a:t>
            </a:r>
          </a:p>
          <a:p>
            <a:pPr>
              <a:lnSpc>
                <a:spcPct val="130000"/>
              </a:lnSpc>
              <a:spcAft>
                <a:spcPts val="1200"/>
              </a:spcAft>
              <a:defRPr sz="1800">
                <a:solidFill>
                  <a:srgbClr val="1D1D1F"/>
                </a:solidFill>
                <a:latin typeface="Arial"/>
              </a:defRPr>
            </a:pPr>
            <a:r>
              <a:t>•  Bundang/Pangyo</a:t>
            </a:r>
          </a:p>
          <a:p>
            <a:pPr>
              <a:lnSpc>
                <a:spcPct val="130000"/>
              </a:lnSpc>
              <a:spcAft>
                <a:spcPts val="1200"/>
              </a:spcAft>
              <a:defRPr sz="1800">
                <a:solidFill>
                  <a:srgbClr val="1D1D1F"/>
                </a:solidFill>
                <a:latin typeface="Arial"/>
              </a:defRPr>
            </a:pPr>
            <a:r>
              <a:t>•  Silicon Valley of Korea</a:t>
            </a:r>
          </a:p>
          <a:p>
            <a:pPr>
              <a:lnSpc>
                <a:spcPct val="130000"/>
              </a:lnSpc>
              <a:spcAft>
                <a:spcPts val="1200"/>
              </a:spcAft>
              <a:defRPr sz="1800">
                <a:solidFill>
                  <a:srgbClr val="1D1D1F"/>
                </a:solidFill>
                <a:latin typeface="Arial"/>
              </a:defRPr>
            </a:pPr>
            <a:r>
              <a:t>•  Pangyo Techno Valley</a:t>
            </a:r>
          </a:p>
          <a:p>
            <a:pPr>
              <a:lnSpc>
                <a:spcPct val="130000"/>
              </a:lnSpc>
              <a:spcAft>
                <a:spcPts val="1200"/>
              </a:spcAft>
              <a:defRPr sz="1800">
                <a:solidFill>
                  <a:srgbClr val="1D1D1F"/>
                </a:solidFill>
                <a:latin typeface="Arial"/>
              </a:defRPr>
            </a:pPr>
            <a:r>
              <a:t>•  Alpha Dome City / K-Square</a:t>
            </a:r>
          </a:p>
          <a:p>
            <a:pPr>
              <a:lnSpc>
                <a:spcPct val="130000"/>
              </a:lnSpc>
              <a:spcAft>
                <a:spcPts val="1200"/>
              </a:spcAft>
              <a:defRPr sz="1800">
                <a:solidFill>
                  <a:srgbClr val="1D1D1F"/>
                </a:solidFill>
                <a:latin typeface="Arial"/>
              </a:defRPr>
            </a:pPr>
            <a:r>
              <a:t>•  ( ▪ Since the mid-2010s, MBD (Magok) formed a convergence cluster backed by R&amp;D giants like LG Science Park. ▪ BBD (Bundang/Pangyo) massively expanded alongside the explosive growth of IT/Tech companies. ▪ Consequently, the Seoul office market diversified from 3 to 5 major districts during the $1T-$2T era.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Breaking Natural Vacancy Floor</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Rapid Rebound Post-COVID, Reaching Full Occupancy</a:t>
            </a:r>
          </a:p>
          <a:p>
            <a:pPr>
              <a:lnSpc>
                <a:spcPct val="130000"/>
              </a:lnSpc>
              <a:spcAft>
                <a:spcPts val="1200"/>
              </a:spcAft>
              <a:defRPr sz="1800">
                <a:solidFill>
                  <a:srgbClr val="1D1D1F"/>
                </a:solidFill>
                <a:latin typeface="Arial"/>
              </a:defRPr>
            </a:pPr>
            <a:r>
              <a:t>•  2007-2010</a:t>
            </a:r>
          </a:p>
          <a:p>
            <a:pPr>
              <a:lnSpc>
                <a:spcPct val="130000"/>
              </a:lnSpc>
              <a:spcAft>
                <a:spcPts val="1200"/>
              </a:spcAft>
              <a:defRPr sz="1800">
                <a:solidFill>
                  <a:srgbClr val="1D1D1F"/>
                </a:solidFill>
                <a:latin typeface="Arial"/>
              </a:defRPr>
            </a:pPr>
            <a:r>
              <a:t>•  Global Fin. Crisis</a:t>
            </a:r>
          </a:p>
          <a:p>
            <a:pPr>
              <a:lnSpc>
                <a:spcPct val="130000"/>
              </a:lnSpc>
              <a:spcAft>
                <a:spcPts val="1200"/>
              </a:spcAft>
              <a:defRPr sz="1800">
                <a:solidFill>
                  <a:srgbClr val="1D1D1F"/>
                </a:solidFill>
                <a:latin typeface="Arial"/>
              </a:defRPr>
            </a:pPr>
            <a:r>
              <a:t>•  8~10%</a:t>
            </a:r>
          </a:p>
          <a:p>
            <a:pPr>
              <a:lnSpc>
                <a:spcPct val="130000"/>
              </a:lnSpc>
              <a:spcAft>
                <a:spcPts val="1200"/>
              </a:spcAft>
              <a:defRPr sz="1800">
                <a:solidFill>
                  <a:srgbClr val="1D1D1F"/>
                </a:solidFill>
                <a:latin typeface="Arial"/>
              </a:defRPr>
            </a:pPr>
            <a:r>
              <a:t>•  2013-2015</a:t>
            </a:r>
          </a:p>
          <a:p>
            <a:pPr>
              <a:lnSpc>
                <a:spcPct val="130000"/>
              </a:lnSpc>
              <a:spcAft>
                <a:spcPts val="1200"/>
              </a:spcAft>
              <a:defRPr sz="1800">
                <a:solidFill>
                  <a:srgbClr val="1D1D1F"/>
                </a:solidFill>
                <a:latin typeface="Arial"/>
              </a:defRPr>
            </a:pPr>
            <a:r>
              <a:t>•  Massive Supply</a:t>
            </a:r>
          </a:p>
          <a:p>
            <a:pPr>
              <a:lnSpc>
                <a:spcPct val="130000"/>
              </a:lnSpc>
              <a:spcAft>
                <a:spcPts val="1200"/>
              </a:spcAft>
              <a:defRPr sz="1800">
                <a:solidFill>
                  <a:srgbClr val="1D1D1F"/>
                </a:solidFill>
                <a:latin typeface="Arial"/>
              </a:defRPr>
            </a:pPr>
            <a:r>
              <a:t>•  Rose to 18%</a:t>
            </a:r>
          </a:p>
          <a:p>
            <a:pPr>
              <a:lnSpc>
                <a:spcPct val="130000"/>
              </a:lnSpc>
              <a:spcAft>
                <a:spcPts val="1200"/>
              </a:spcAft>
              <a:defRPr sz="1800">
                <a:solidFill>
                  <a:srgbClr val="1D1D1F"/>
                </a:solidFill>
                <a:latin typeface="Arial"/>
              </a:defRPr>
            </a:pPr>
            <a:r>
              <a:t>•  2018-2019</a:t>
            </a:r>
          </a:p>
          <a:p>
            <a:pPr>
              <a:lnSpc>
                <a:spcPct val="130000"/>
              </a:lnSpc>
              <a:spcAft>
                <a:spcPts val="1200"/>
              </a:spcAft>
              <a:defRPr sz="1800">
                <a:solidFill>
                  <a:srgbClr val="1D1D1F"/>
                </a:solidFill>
                <a:latin typeface="Arial"/>
              </a:defRPr>
            </a:pPr>
            <a:r>
              <a:t>•  Stabilization</a:t>
            </a:r>
          </a:p>
          <a:p>
            <a:pPr>
              <a:lnSpc>
                <a:spcPct val="130000"/>
              </a:lnSpc>
              <a:spcAft>
                <a:spcPts val="1200"/>
              </a:spcAft>
              <a:defRPr sz="1800">
                <a:solidFill>
                  <a:srgbClr val="1D1D1F"/>
                </a:solidFill>
                <a:latin typeface="Arial"/>
              </a:defRPr>
            </a:pPr>
            <a:r>
              <a:t>•  2020-2021</a:t>
            </a:r>
          </a:p>
          <a:p>
            <a:pPr>
              <a:lnSpc>
                <a:spcPct val="130000"/>
              </a:lnSpc>
              <a:spcAft>
                <a:spcPts val="1200"/>
              </a:spcAft>
              <a:defRPr sz="1800">
                <a:solidFill>
                  <a:srgbClr val="1D1D1F"/>
                </a:solidFill>
                <a:latin typeface="Arial"/>
              </a:defRPr>
            </a:pPr>
            <a:r>
              <a:t>•  COVID Era</a:t>
            </a:r>
          </a:p>
          <a:p>
            <a:pPr>
              <a:lnSpc>
                <a:spcPct val="130000"/>
              </a:lnSpc>
              <a:spcAft>
                <a:spcPts val="1200"/>
              </a:spcAft>
              <a:defRPr sz="1800">
                <a:solidFill>
                  <a:srgbClr val="1D1D1F"/>
                </a:solidFill>
                <a:latin typeface="Arial"/>
              </a:defRPr>
            </a:pPr>
            <a:r>
              <a:t>•  Temp Rise</a:t>
            </a:r>
          </a:p>
          <a:p>
            <a:pPr>
              <a:lnSpc>
                <a:spcPct val="130000"/>
              </a:lnSpc>
              <a:spcAft>
                <a:spcPts val="1200"/>
              </a:spcAft>
              <a:defRPr sz="1800">
                <a:solidFill>
                  <a:srgbClr val="1D1D1F"/>
                </a:solidFill>
                <a:latin typeface="Arial"/>
              </a:defRPr>
            </a:pPr>
            <a:r>
              <a:t>•  2022~</a:t>
            </a:r>
          </a:p>
          <a:p>
            <a:pPr>
              <a:lnSpc>
                <a:spcPct val="130000"/>
              </a:lnSpc>
              <a:spcAft>
                <a:spcPts val="1200"/>
              </a:spcAft>
              <a:defRPr sz="1800">
                <a:solidFill>
                  <a:srgbClr val="1D1D1F"/>
                </a:solidFill>
                <a:latin typeface="Arial"/>
              </a:defRPr>
            </a:pPr>
            <a:r>
              <a:t>•  Sharp Drop</a:t>
            </a:r>
          </a:p>
          <a:p>
            <a:pPr>
              <a:lnSpc>
                <a:spcPct val="130000"/>
              </a:lnSpc>
              <a:spcAft>
                <a:spcPts val="1200"/>
              </a:spcAft>
              <a:defRPr sz="1800">
                <a:solidFill>
                  <a:srgbClr val="1D1D1F"/>
                </a:solidFill>
                <a:latin typeface="Arial"/>
              </a:defRPr>
            </a:pPr>
            <a:r>
              <a:t>•  CBRE Q3 2025</a:t>
            </a:r>
          </a:p>
          <a:p>
            <a:pPr>
              <a:lnSpc>
                <a:spcPct val="130000"/>
              </a:lnSpc>
              <a:spcAft>
                <a:spcPts val="1200"/>
              </a:spcAft>
              <a:defRPr sz="1800">
                <a:solidFill>
                  <a:srgbClr val="1D1D1F"/>
                </a:solidFill>
                <a:latin typeface="Arial"/>
              </a:defRPr>
            </a:pPr>
            <a:r>
              <a:t>•  Seoul Grade-A Office Average Vacancy Rate</a:t>
            </a:r>
          </a:p>
          <a:p>
            <a:pPr>
              <a:lnSpc>
                <a:spcPct val="130000"/>
              </a:lnSpc>
              <a:spcAft>
                <a:spcPts val="1200"/>
              </a:spcAft>
              <a:defRPr sz="1800">
                <a:solidFill>
                  <a:srgbClr val="1D1D1F"/>
                </a:solidFill>
                <a:latin typeface="Arial"/>
              </a:defRPr>
            </a:pPr>
            <a:r>
              <a:t>•  3.1</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Full Occupancy</a:t>
            </a:r>
          </a:p>
          <a:p>
            <a:pPr>
              <a:lnSpc>
                <a:spcPct val="130000"/>
              </a:lnSpc>
              <a:spcAft>
                <a:spcPts val="1200"/>
              </a:spcAft>
              <a:defRPr sz="1800">
                <a:solidFill>
                  <a:srgbClr val="1D1D1F"/>
                </a:solidFill>
                <a:latin typeface="Arial"/>
              </a:defRPr>
            </a:pPr>
            <a:r>
              <a:t>•  GBD</a:t>
            </a:r>
          </a:p>
          <a:p>
            <a:pPr>
              <a:lnSpc>
                <a:spcPct val="130000"/>
              </a:lnSpc>
              <a:spcAft>
                <a:spcPts val="1200"/>
              </a:spcAft>
              <a:defRPr sz="1800">
                <a:solidFill>
                  <a:srgbClr val="1D1D1F"/>
                </a:solidFill>
                <a:latin typeface="Arial"/>
              </a:defRPr>
            </a:pPr>
            <a:r>
              <a:t>•  1.5%</a:t>
            </a:r>
          </a:p>
          <a:p>
            <a:pPr>
              <a:lnSpc>
                <a:spcPct val="130000"/>
              </a:lnSpc>
              <a:spcAft>
                <a:spcPts val="1200"/>
              </a:spcAft>
              <a:defRPr sz="1800">
                <a:solidFill>
                  <a:srgbClr val="1D1D1F"/>
                </a:solidFill>
                <a:latin typeface="Arial"/>
              </a:defRPr>
            </a:pPr>
            <a:r>
              <a:t>•  YBD</a:t>
            </a:r>
          </a:p>
          <a:p>
            <a:pPr>
              <a:lnSpc>
                <a:spcPct val="130000"/>
              </a:lnSpc>
              <a:spcAft>
                <a:spcPts val="1200"/>
              </a:spcAft>
              <a:defRPr sz="1800">
                <a:solidFill>
                  <a:srgbClr val="1D1D1F"/>
                </a:solidFill>
                <a:latin typeface="Arial"/>
              </a:defRPr>
            </a:pPr>
            <a:r>
              <a:t>•  3.6%</a:t>
            </a:r>
          </a:p>
          <a:p>
            <a:pPr>
              <a:lnSpc>
                <a:spcPct val="130000"/>
              </a:lnSpc>
              <a:spcAft>
                <a:spcPts val="1200"/>
              </a:spcAft>
              <a:defRPr sz="1800">
                <a:solidFill>
                  <a:srgbClr val="1D1D1F"/>
                </a:solidFill>
                <a:latin typeface="Arial"/>
              </a:defRPr>
            </a:pPr>
            <a:r>
              <a:t>•  CBD</a:t>
            </a:r>
          </a:p>
          <a:p>
            <a:pPr>
              <a:lnSpc>
                <a:spcPct val="130000"/>
              </a:lnSpc>
              <a:spcAft>
                <a:spcPts val="1200"/>
              </a:spcAft>
              <a:defRPr sz="1800">
                <a:solidFill>
                  <a:srgbClr val="1D1D1F"/>
                </a:solidFill>
                <a:latin typeface="Arial"/>
              </a:defRPr>
            </a:pPr>
            <a:r>
              <a:t>•  4.1%</a:t>
            </a:r>
          </a:p>
          <a:p>
            <a:pPr>
              <a:lnSpc>
                <a:spcPct val="130000"/>
              </a:lnSpc>
              <a:spcAft>
                <a:spcPts val="1200"/>
              </a:spcAft>
              <a:defRPr sz="1800">
                <a:solidFill>
                  <a:srgbClr val="1D1D1F"/>
                </a:solidFill>
                <a:latin typeface="Arial"/>
              </a:defRPr>
            </a:pPr>
            <a:r>
              <a:t>•  ( ▪ Historically rose to 8-10% post-GFC, and YBD hit 18% during massive supply waves (2013-2015). ▪ Dropped sharply since 2022. By 2025, Seoul Grade-A vacancy reached 3.1% . ▪ At the end of the $1T-$2T era, prime offices have effectively reached Full Occupancy below natural vacancy.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The Gap with Tokyo &amp; Law of Convergence</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Upside Potential Suggested by Marunouchi, Still 2x Higher Despite 50% Growth</a:t>
            </a:r>
          </a:p>
          <a:p>
            <a:pPr>
              <a:lnSpc>
                <a:spcPct val="130000"/>
              </a:lnSpc>
              <a:spcAft>
                <a:spcPts val="1200"/>
              </a:spcAft>
              <a:defRPr sz="1800">
                <a:solidFill>
                  <a:srgbClr val="1D1D1F"/>
                </a:solidFill>
                <a:latin typeface="Arial"/>
              </a:defRPr>
            </a:pPr>
            <a:r>
              <a:t>•  Seoul Prime</a:t>
            </a:r>
          </a:p>
          <a:p>
            <a:pPr>
              <a:lnSpc>
                <a:spcPct val="130000"/>
              </a:lnSpc>
              <a:spcAft>
                <a:spcPts val="1200"/>
              </a:spcAft>
              <a:defRPr sz="1800">
                <a:solidFill>
                  <a:srgbClr val="1D1D1F"/>
                </a:solidFill>
                <a:latin typeface="Arial"/>
              </a:defRPr>
            </a:pPr>
            <a:r>
              <a:t>•  Q3 2025 Avg. Face Rent</a:t>
            </a:r>
          </a:p>
          <a:p>
            <a:pPr>
              <a:lnSpc>
                <a:spcPct val="130000"/>
              </a:lnSpc>
              <a:spcAft>
                <a:spcPts val="1200"/>
              </a:spcAft>
              <a:defRPr sz="1800">
                <a:solidFill>
                  <a:srgbClr val="1D1D1F"/>
                </a:solidFill>
                <a:latin typeface="Arial"/>
              </a:defRPr>
            </a:pPr>
            <a:r>
              <a:t>•  13.2</a:t>
            </a:r>
          </a:p>
          <a:p>
            <a:pPr>
              <a:lnSpc>
                <a:spcPct val="130000"/>
              </a:lnSpc>
              <a:spcAft>
                <a:spcPts val="1200"/>
              </a:spcAft>
              <a:defRPr sz="1800">
                <a:solidFill>
                  <a:srgbClr val="1D1D1F"/>
                </a:solidFill>
                <a:latin typeface="Arial"/>
              </a:defRPr>
            </a:pPr>
            <a:r>
              <a:t>•  0K KRW</a:t>
            </a:r>
          </a:p>
          <a:p>
            <a:pPr>
              <a:lnSpc>
                <a:spcPct val="130000"/>
              </a:lnSpc>
              <a:spcAft>
                <a:spcPts val="1200"/>
              </a:spcAft>
              <a:defRPr sz="1800">
                <a:solidFill>
                  <a:srgbClr val="1D1D1F"/>
                </a:solidFill>
                <a:latin typeface="Arial"/>
              </a:defRPr>
            </a:pPr>
            <a:r>
              <a:t>•  /pyeong·month</a:t>
            </a:r>
          </a:p>
          <a:p>
            <a:pPr>
              <a:lnSpc>
                <a:spcPct val="130000"/>
              </a:lnSpc>
              <a:spcAft>
                <a:spcPts val="1200"/>
              </a:spcAft>
              <a:defRPr sz="1800">
                <a:solidFill>
                  <a:srgbClr val="1D1D1F"/>
                </a:solidFill>
                <a:latin typeface="Arial"/>
              </a:defRPr>
            </a:pPr>
            <a:r>
              <a:t>•  9만 원' : '2007: 90K KRW'</a:t>
            </a:r>
          </a:p>
          <a:p>
            <a:pPr>
              <a:lnSpc>
                <a:spcPct val="130000"/>
              </a:lnSpc>
              <a:spcAft>
                <a:spcPts val="1200"/>
              </a:spcAft>
              <a:defRPr sz="1800">
                <a:solidFill>
                  <a:srgbClr val="1D1D1F"/>
                </a:solidFill>
                <a:latin typeface="Arial"/>
              </a:defRPr>
            </a:pPr>
            <a:r>
              <a:t>•  +50%</a:t>
            </a:r>
          </a:p>
          <a:p>
            <a:pPr>
              <a:lnSpc>
                <a:spcPct val="130000"/>
              </a:lnSpc>
              <a:spcAft>
                <a:spcPts val="1200"/>
              </a:spcAft>
              <a:defRPr sz="1800">
                <a:solidFill>
                  <a:srgbClr val="1D1D1F"/>
                </a:solidFill>
                <a:latin typeface="Arial"/>
              </a:defRPr>
            </a:pPr>
            <a:r>
              <a:t>•  Gap-to-Tokyo</a:t>
            </a:r>
          </a:p>
          <a:p>
            <a:pPr>
              <a:lnSpc>
                <a:spcPct val="130000"/>
              </a:lnSpc>
              <a:spcAft>
                <a:spcPts val="1200"/>
              </a:spcAft>
              <a:defRPr sz="1800">
                <a:solidFill>
                  <a:srgbClr val="1D1D1F"/>
                </a:solidFill>
                <a:latin typeface="Arial"/>
              </a:defRPr>
            </a:pPr>
            <a:r>
              <a:t>•  Still &gt;50% gap</a:t>
            </a:r>
          </a:p>
          <a:p>
            <a:pPr>
              <a:lnSpc>
                <a:spcPct val="130000"/>
              </a:lnSpc>
              <a:spcAft>
                <a:spcPts val="1200"/>
              </a:spcAft>
              <a:defRPr sz="1800">
                <a:solidFill>
                  <a:srgbClr val="1D1D1F"/>
                </a:solidFill>
                <a:latin typeface="Arial"/>
              </a:defRPr>
            </a:pPr>
            <a:r>
              <a:t>•  Tokyo Marunouchi</a:t>
            </a:r>
          </a:p>
          <a:p>
            <a:pPr>
              <a:lnSpc>
                <a:spcPct val="130000"/>
              </a:lnSpc>
              <a:spcAft>
                <a:spcPts val="1200"/>
              </a:spcAft>
              <a:defRPr sz="1800">
                <a:solidFill>
                  <a:srgbClr val="1D1D1F"/>
                </a:solidFill>
                <a:latin typeface="Arial"/>
              </a:defRPr>
            </a:pPr>
            <a:r>
              <a:t>•  Prime Rent (Converted)</a:t>
            </a:r>
          </a:p>
          <a:p>
            <a:pPr>
              <a:lnSpc>
                <a:spcPct val="130000"/>
              </a:lnSpc>
              <a:spcAft>
                <a:spcPts val="1200"/>
              </a:spcAft>
              <a:defRPr sz="1800">
                <a:solidFill>
                  <a:srgbClr val="1D1D1F"/>
                </a:solidFill>
                <a:latin typeface="Arial"/>
              </a:defRPr>
            </a:pPr>
            <a:r>
              <a:t>•  200</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/sqft</a:t>
            </a:r>
          </a:p>
          <a:p>
            <a:pPr>
              <a:lnSpc>
                <a:spcPct val="130000"/>
              </a:lnSpc>
              <a:spcAft>
                <a:spcPts val="1200"/>
              </a:spcAft>
              <a:defRPr sz="1800">
                <a:solidFill>
                  <a:srgbClr val="1D1D1F"/>
                </a:solidFill>
                <a:latin typeface="Arial"/>
              </a:defRPr>
            </a:pPr>
            <a:r>
              <a:t>•  Approx 2x of Seoul</a:t>
            </a:r>
          </a:p>
          <a:p>
            <a:pPr>
              <a:lnSpc>
                <a:spcPct val="130000"/>
              </a:lnSpc>
              <a:spcAft>
                <a:spcPts val="1200"/>
              </a:spcAft>
              <a:defRPr sz="1800">
                <a:solidFill>
                  <a:srgbClr val="1D1D1F"/>
                </a:solidFill>
                <a:latin typeface="Arial"/>
              </a:defRPr>
            </a:pPr>
            <a:r>
              <a:t>•  ( ▪ Seoul Prime rent grew by 50% over 18 years, reaching 132,000 KRW/pyeong in Q3 2025 . ▪ However, Tokyo Marunouchi rent rose to $200+, maintaining roughly a 2x multiple over Seoul . ▪ This remaining 50%+ gap-to-Tokyo serves as the quantitative thesis for future rent re-pricing of trophy assets.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30 Trillion Won Era &amp; Return of Capital</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Massive Influx of Foreign Liquidity &amp; Cap Rate Compression</a:t>
            </a:r>
          </a:p>
          <a:p>
            <a:pPr>
              <a:lnSpc>
                <a:spcPct val="130000"/>
              </a:lnSpc>
              <a:spcAft>
                <a:spcPts val="1200"/>
              </a:spcAft>
              <a:defRPr sz="1800">
                <a:solidFill>
                  <a:srgbClr val="FFFFFF"/>
                </a:solidFill>
                <a:latin typeface="Arial"/>
              </a:defRPr>
            </a:pPr>
            <a:r>
              <a:t>•  2025 Seoul CRE Transaction Volume (Est.)</a:t>
            </a:r>
          </a:p>
          <a:p>
            <a:pPr>
              <a:lnSpc>
                <a:spcPct val="130000"/>
              </a:lnSpc>
              <a:spcAft>
                <a:spcPts val="1200"/>
              </a:spcAft>
              <a:defRPr sz="1800">
                <a:solidFill>
                  <a:srgbClr val="FFFFFF"/>
                </a:solidFill>
                <a:latin typeface="Arial"/>
              </a:defRPr>
            </a:pPr>
            <a:r>
              <a:t>•  30</a:t>
            </a:r>
          </a:p>
          <a:p>
            <a:pPr>
              <a:lnSpc>
                <a:spcPct val="130000"/>
              </a:lnSpc>
              <a:spcAft>
                <a:spcPts val="1200"/>
              </a:spcAft>
              <a:defRPr sz="1800">
                <a:solidFill>
                  <a:srgbClr val="FFFFFF"/>
                </a:solidFill>
                <a:latin typeface="Arial"/>
              </a:defRPr>
            </a:pPr>
            <a:r>
              <a:t>•  T KRW</a:t>
            </a:r>
          </a:p>
          <a:p>
            <a:pPr>
              <a:lnSpc>
                <a:spcPct val="130000"/>
              </a:lnSpc>
              <a:spcAft>
                <a:spcPts val="1200"/>
              </a:spcAft>
              <a:defRPr sz="1800">
                <a:solidFill>
                  <a:srgbClr val="FFFFFF"/>
                </a:solidFill>
                <a:latin typeface="Arial"/>
              </a:defRPr>
            </a:pPr>
            <a:r>
              <a:t>•  2021 (Low-rate era)</a:t>
            </a:r>
          </a:p>
          <a:p>
            <a:pPr>
              <a:lnSpc>
                <a:spcPct val="130000"/>
              </a:lnSpc>
              <a:spcAft>
                <a:spcPts val="1200"/>
              </a:spcAft>
              <a:defRPr sz="1800">
                <a:solidFill>
                  <a:srgbClr val="FFFFFF"/>
                </a:solidFill>
                <a:latin typeface="Arial"/>
              </a:defRPr>
            </a:pPr>
            <a:r>
              <a:t>•  21T KRW</a:t>
            </a:r>
          </a:p>
          <a:p>
            <a:pPr>
              <a:lnSpc>
                <a:spcPct val="130000"/>
              </a:lnSpc>
              <a:spcAft>
                <a:spcPts val="1200"/>
              </a:spcAft>
              <a:defRPr sz="1800">
                <a:solidFill>
                  <a:srgbClr val="FFFFFF"/>
                </a:solidFill>
                <a:latin typeface="Arial"/>
              </a:defRPr>
            </a:pPr>
            <a:r>
              <a:t>•  2024</a:t>
            </a:r>
          </a:p>
          <a:p>
            <a:pPr>
              <a:lnSpc>
                <a:spcPct val="130000"/>
              </a:lnSpc>
              <a:spcAft>
                <a:spcPts val="1200"/>
              </a:spcAft>
              <a:defRPr sz="1800">
                <a:solidFill>
                  <a:srgbClr val="FFFFFF"/>
                </a:solidFill>
                <a:latin typeface="Arial"/>
              </a:defRPr>
            </a:pPr>
            <a:r>
              <a:t>•  22T KRW</a:t>
            </a:r>
          </a:p>
          <a:p>
            <a:pPr>
              <a:lnSpc>
                <a:spcPct val="130000"/>
              </a:lnSpc>
              <a:spcAft>
                <a:spcPts val="1200"/>
              </a:spcAft>
              <a:defRPr sz="1800">
                <a:solidFill>
                  <a:srgbClr val="FFFFFF"/>
                </a:solidFill>
                <a:latin typeface="Arial"/>
              </a:defRPr>
            </a:pPr>
            <a:r>
              <a:t>•  2025 Year-end (Est.)</a:t>
            </a:r>
          </a:p>
          <a:p>
            <a:pPr>
              <a:lnSpc>
                <a:spcPct val="130000"/>
              </a:lnSpc>
              <a:spcAft>
                <a:spcPts val="1200"/>
              </a:spcAft>
              <a:defRPr sz="1800">
                <a:solidFill>
                  <a:srgbClr val="FFFFFF"/>
                </a:solidFill>
                <a:latin typeface="Arial"/>
              </a:defRPr>
            </a:pPr>
            <a:r>
              <a:t>•  Surpassing 30T KRW</a:t>
            </a:r>
          </a:p>
          <a:p>
            <a:pPr>
              <a:lnSpc>
                <a:spcPct val="130000"/>
              </a:lnSpc>
              <a:spcAft>
                <a:spcPts val="1200"/>
              </a:spcAft>
              <a:defRPr sz="1800">
                <a:solidFill>
                  <a:srgbClr val="FFFFFF"/>
                </a:solidFill>
                <a:latin typeface="Arial"/>
              </a:defRPr>
            </a:pPr>
            <a:r>
              <a:t>•  H2 2025 Cap Rate Compression</a:t>
            </a:r>
          </a:p>
          <a:p>
            <a:pPr>
              <a:lnSpc>
                <a:spcPct val="130000"/>
              </a:lnSpc>
              <a:spcAft>
                <a:spcPts val="1200"/>
              </a:spcAft>
              <a:defRPr sz="1800">
                <a:solidFill>
                  <a:srgbClr val="FFFFFF"/>
                </a:solidFill>
                <a:latin typeface="Arial"/>
              </a:defRPr>
            </a:pPr>
            <a:r>
              <a:t>•  4.2~4.5</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2021 (Low)</a:t>
            </a:r>
          </a:p>
          <a:p>
            <a:pPr>
              <a:lnSpc>
                <a:spcPct val="130000"/>
              </a:lnSpc>
              <a:spcAft>
                <a:spcPts val="1200"/>
              </a:spcAft>
              <a:defRPr sz="1800">
                <a:solidFill>
                  <a:srgbClr val="FFFFFF"/>
                </a:solidFill>
                <a:latin typeface="Arial"/>
              </a:defRPr>
            </a:pPr>
            <a:r>
              <a:t>•  3.5~4.0%</a:t>
            </a:r>
          </a:p>
          <a:p>
            <a:pPr>
              <a:lnSpc>
                <a:spcPct val="130000"/>
              </a:lnSpc>
              <a:spcAft>
                <a:spcPts val="1200"/>
              </a:spcAft>
              <a:defRPr sz="1800">
                <a:solidFill>
                  <a:srgbClr val="FFFFFF"/>
                </a:solidFill>
                <a:latin typeface="Arial"/>
              </a:defRPr>
            </a:pPr>
            <a:r>
              <a:t>•  2023~2024</a:t>
            </a:r>
          </a:p>
          <a:p>
            <a:pPr>
              <a:lnSpc>
                <a:spcPct val="130000"/>
              </a:lnSpc>
              <a:spcAft>
                <a:spcPts val="1200"/>
              </a:spcAft>
              <a:defRPr sz="1800">
                <a:solidFill>
                  <a:srgbClr val="FFFFFF"/>
                </a:solidFill>
                <a:latin typeface="Arial"/>
              </a:defRPr>
            </a:pPr>
            <a:r>
              <a:t>•  4.5~5.0%</a:t>
            </a:r>
          </a:p>
          <a:p>
            <a:pPr>
              <a:lnSpc>
                <a:spcPct val="130000"/>
              </a:lnSpc>
              <a:spcAft>
                <a:spcPts val="1200"/>
              </a:spcAft>
              <a:defRPr sz="1800">
                <a:solidFill>
                  <a:srgbClr val="FFFFFF"/>
                </a:solidFill>
                <a:latin typeface="Arial"/>
              </a:defRPr>
            </a:pPr>
            <a:r>
              <a:t>•  Return of Foreign Capital</a:t>
            </a:r>
          </a:p>
          <a:p>
            <a:pPr>
              <a:lnSpc>
                <a:spcPct val="130000"/>
              </a:lnSpc>
              <a:spcAft>
                <a:spcPts val="1200"/>
              </a:spcAft>
              <a:defRPr sz="1800">
                <a:solidFill>
                  <a:srgbClr val="FFFFFF"/>
                </a:solidFill>
                <a:latin typeface="Arial"/>
              </a:defRPr>
            </a:pPr>
            <a:r>
              <a:t>•  Q3 2025</a:t>
            </a:r>
          </a:p>
          <a:p>
            <a:pPr>
              <a:lnSpc>
                <a:spcPct val="130000"/>
              </a:lnSpc>
              <a:spcAft>
                <a:spcPts val="1200"/>
              </a:spcAft>
              <a:defRPr sz="1800">
                <a:solidFill>
                  <a:srgbClr val="FFFFFF"/>
                </a:solidFill>
                <a:latin typeface="Arial"/>
              </a:defRPr>
            </a:pPr>
            <a:r>
              <a:t>•  Aberdeen, BentallGreenOak, PAG 등</a:t>
            </a:r>
          </a:p>
          <a:p>
            <a:pPr>
              <a:lnSpc>
                <a:spcPct val="130000"/>
              </a:lnSpc>
              <a:spcAft>
                <a:spcPts val="1200"/>
              </a:spcAft>
              <a:defRPr sz="1800">
                <a:solidFill>
                  <a:srgbClr val="FFFFFF"/>
                </a:solidFill>
                <a:latin typeface="Arial"/>
              </a:defRPr>
            </a:pPr>
            <a:r>
              <a:t>•  ( ▪ 2025 transaction volume hit 25T KRW by Q3, expected to break 30T KRW by year-end , smashing the 2021 record. ▪ Cap rates are compressing back to 4.2-4.5% from the 4.5-5.0% peak of 2023-2024. ▪ The return of foreign capital (Aberdeen, BGO, PAG) materialized in full force in Q3 2025.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5.</a:t>
            </a:r>
          </a:p>
          <a:p>
            <a:pPr algn="ctr">
              <a:spcBef>
                <a:spcPts val="1200"/>
              </a:spcBef>
              <a:defRPr sz="3200" b="1">
                <a:solidFill>
                  <a:srgbClr val="FFFFFF"/>
                </a:solidFill>
                <a:latin typeface="Arial"/>
              </a:defRPr>
            </a:pPr>
            <a:r>
              <a:t>( Industrial &amp; Logistics Real Estate The Coupang Effect and the Rise of Data Centers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The Coupang Effect</a:t>
            </a:r>
          </a:p>
          <a:p>
            <a:pPr>
              <a:spcBef>
                <a:spcPts val="1200"/>
              </a:spcBef>
              <a:defRPr sz="3200" b="1">
                <a:solidFill>
                  <a:srgbClr val="FFFFFF"/>
                </a:solidFill>
                <a:latin typeface="Arial"/>
              </a:defRPr>
            </a:pPr>
            <a:r>
              <a:t>Transforming Outskirts into a National Last-Mile Network</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Coupang Revenue Surge</a:t>
            </a:r>
          </a:p>
          <a:p>
            <a:pPr>
              <a:lnSpc>
                <a:spcPct val="130000"/>
              </a:lnSpc>
              <a:spcAft>
                <a:spcPts val="1200"/>
              </a:spcAft>
              <a:defRPr sz="1800">
                <a:solidFill>
                  <a:srgbClr val="FFFFFF"/>
                </a:solidFill>
                <a:latin typeface="Arial"/>
              </a:defRPr>
            </a:pPr>
            <a:r>
              <a:t>•  2014</a:t>
            </a:r>
          </a:p>
          <a:p>
            <a:pPr>
              <a:lnSpc>
                <a:spcPct val="130000"/>
              </a:lnSpc>
              <a:spcAft>
                <a:spcPts val="1200"/>
              </a:spcAft>
              <a:defRPr sz="1800">
                <a:solidFill>
                  <a:srgbClr val="FFFFFF"/>
                </a:solidFill>
                <a:latin typeface="Arial"/>
              </a:defRPr>
            </a:pPr>
            <a:r>
              <a:t>•  1T</a:t>
            </a:r>
          </a:p>
          <a:p>
            <a:pPr>
              <a:lnSpc>
                <a:spcPct val="130000"/>
              </a:lnSpc>
              <a:spcAft>
                <a:spcPts val="1200"/>
              </a:spcAft>
              <a:defRPr sz="1800">
                <a:solidFill>
                  <a:srgbClr val="FFFFFF"/>
                </a:solidFill>
                <a:latin typeface="Arial"/>
              </a:defRPr>
            </a:pPr>
            <a:r>
              <a:t>•  40X 🚀</a:t>
            </a:r>
          </a:p>
          <a:p>
            <a:pPr>
              <a:lnSpc>
                <a:spcPct val="130000"/>
              </a:lnSpc>
              <a:spcAft>
                <a:spcPts val="1200"/>
              </a:spcAft>
              <a:defRPr sz="1800">
                <a:solidFill>
                  <a:srgbClr val="FFFFFF"/>
                </a:solidFill>
                <a:latin typeface="Arial"/>
              </a:defRPr>
            </a:pPr>
            <a:r>
              <a:t>•  2024</a:t>
            </a:r>
          </a:p>
          <a:p>
            <a:pPr>
              <a:lnSpc>
                <a:spcPct val="130000"/>
              </a:lnSpc>
              <a:spcAft>
                <a:spcPts val="1200"/>
              </a:spcAft>
              <a:defRPr sz="1800">
                <a:solidFill>
                  <a:srgbClr val="FFFFFF"/>
                </a:solidFill>
                <a:latin typeface="Arial"/>
              </a:defRPr>
            </a:pPr>
            <a:r>
              <a:t>•  42T</a:t>
            </a:r>
          </a:p>
          <a:p>
            <a:pPr>
              <a:lnSpc>
                <a:spcPct val="130000"/>
              </a:lnSpc>
              <a:spcAft>
                <a:spcPts val="1200"/>
              </a:spcAft>
              <a:defRPr sz="1800">
                <a:solidFill>
                  <a:srgbClr val="FFFFFF"/>
                </a:solidFill>
                <a:latin typeface="Arial"/>
              </a:defRPr>
            </a:pPr>
            <a:r>
              <a:t>•  Created First National Logistics Demand</a:t>
            </a:r>
          </a:p>
          <a:p>
            <a:pPr>
              <a:lnSpc>
                <a:spcPct val="130000"/>
              </a:lnSpc>
              <a:spcAft>
                <a:spcPts val="1200"/>
              </a:spcAft>
              <a:defRPr sz="1800">
                <a:solidFill>
                  <a:srgbClr val="FFFFFF"/>
                </a:solidFill>
                <a:latin typeface="Arial"/>
              </a:defRPr>
            </a:pPr>
            <a:r>
              <a:t>•  Mega Logistics Hub Belt</a:t>
            </a:r>
          </a:p>
          <a:p>
            <a:pPr>
              <a:lnSpc>
                <a:spcPct val="130000"/>
              </a:lnSpc>
              <a:spcAft>
                <a:spcPts val="1200"/>
              </a:spcAft>
              <a:defRPr sz="1800">
                <a:solidFill>
                  <a:srgbClr val="FFFFFF"/>
                </a:solidFill>
                <a:latin typeface="Arial"/>
              </a:defRPr>
            </a:pPr>
            <a:r>
              <a:t>•  Cold Chain</a:t>
            </a:r>
          </a:p>
          <a:p>
            <a:pPr>
              <a:lnSpc>
                <a:spcPct val="130000"/>
              </a:lnSpc>
              <a:spcAft>
                <a:spcPts val="1200"/>
              </a:spcAft>
              <a:defRPr sz="1800">
                <a:solidFill>
                  <a:srgbClr val="FFFFFF"/>
                </a:solidFill>
                <a:latin typeface="Arial"/>
              </a:defRPr>
            </a:pPr>
            <a:r>
              <a:t>•  Last Mile</a:t>
            </a:r>
          </a:p>
          <a:p>
            <a:pPr>
              <a:lnSpc>
                <a:spcPct val="130000"/>
              </a:lnSpc>
              <a:spcAft>
                <a:spcPts val="1200"/>
              </a:spcAft>
              <a:defRPr sz="1800">
                <a:solidFill>
                  <a:srgbClr val="FFFFFF"/>
                </a:solidFill>
                <a:latin typeface="Arial"/>
              </a:defRPr>
            </a:pPr>
            <a:r>
              <a:t>•  Fulfillment</a:t>
            </a:r>
          </a:p>
          <a:p>
            <a:pPr>
              <a:lnSpc>
                <a:spcPct val="130000"/>
              </a:lnSpc>
              <a:spcAft>
                <a:spcPts val="1200"/>
              </a:spcAft>
              <a:defRPr sz="1800">
                <a:solidFill>
                  <a:srgbClr val="FFFFFF"/>
                </a:solidFill>
                <a:latin typeface="Arial"/>
              </a:defRPr>
            </a:pPr>
            <a:r>
              <a:t>•  cityEn}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Normalization of Logistics Oversupply</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Normalization Amid Supply Drop, Rise of Anseong</a:t>
            </a:r>
          </a:p>
          <a:p>
            <a:pPr>
              <a:lnSpc>
                <a:spcPct val="130000"/>
              </a:lnSpc>
              <a:spcAft>
                <a:spcPts val="1200"/>
              </a:spcAft>
              <a:defRPr sz="1800">
                <a:solidFill>
                  <a:srgbClr val="1D1D1F"/>
                </a:solidFill>
                <a:latin typeface="Arial"/>
              </a:defRPr>
            </a:pPr>
            <a:r>
              <a:t>•  Grade-A Vacancy Rate</a:t>
            </a:r>
          </a:p>
          <a:p>
            <a:pPr>
              <a:lnSpc>
                <a:spcPct val="130000"/>
              </a:lnSpc>
              <a:spcAft>
                <a:spcPts val="1200"/>
              </a:spcAft>
              <a:defRPr sz="1800">
                <a:solidFill>
                  <a:srgbClr val="1D1D1F"/>
                </a:solidFill>
                <a:latin typeface="Arial"/>
              </a:defRPr>
            </a:pPr>
            <a:r>
              <a:t>•  23~24 (Oversupply)</a:t>
            </a:r>
          </a:p>
          <a:p>
            <a:pPr>
              <a:lnSpc>
                <a:spcPct val="130000"/>
              </a:lnSpc>
              <a:spcAft>
                <a:spcPts val="1200"/>
              </a:spcAft>
              <a:defRPr sz="1800">
                <a:solidFill>
                  <a:srgbClr val="1D1D1F"/>
                </a:solidFill>
                <a:latin typeface="Arial"/>
              </a:defRPr>
            </a:pPr>
            <a:r>
              <a:t>•  23%</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2025 (Supply 68%↓)</a:t>
            </a:r>
          </a:p>
          <a:p>
            <a:pPr>
              <a:lnSpc>
                <a:spcPct val="130000"/>
              </a:lnSpc>
              <a:spcAft>
                <a:spcPts val="1200"/>
              </a:spcAft>
              <a:defRPr sz="1800">
                <a:solidFill>
                  <a:srgbClr val="1D1D1F"/>
                </a:solidFill>
                <a:latin typeface="Arial"/>
              </a:defRPr>
            </a:pPr>
            <a:r>
              <a:t>•  19~20%</a:t>
            </a:r>
          </a:p>
          <a:p>
            <a:pPr>
              <a:lnSpc>
                <a:spcPct val="130000"/>
              </a:lnSpc>
              <a:spcAft>
                <a:spcPts val="1200"/>
              </a:spcAft>
              <a:defRPr sz="1800">
                <a:solidFill>
                  <a:srgbClr val="1D1D1F"/>
                </a:solidFill>
                <a:latin typeface="Arial"/>
              </a:defRPr>
            </a:pPr>
            <a:r>
              <a:t>•  Entering Normalization Phase</a:t>
            </a:r>
          </a:p>
          <a:p>
            <a:pPr>
              <a:lnSpc>
                <a:spcPct val="130000"/>
              </a:lnSpc>
              <a:spcAft>
                <a:spcPts val="1200"/>
              </a:spcAft>
              <a:defRPr sz="1800">
                <a:solidFill>
                  <a:srgbClr val="1D1D1F"/>
                </a:solidFill>
                <a:latin typeface="Arial"/>
              </a:defRPr>
            </a:pPr>
            <a:r>
              <a:t>•  &amp;</a:t>
            </a:r>
          </a:p>
          <a:p>
            <a:pPr>
              <a:lnSpc>
                <a:spcPct val="130000"/>
              </a:lnSpc>
              <a:spcAft>
                <a:spcPts val="1200"/>
              </a:spcAft>
              <a:defRPr sz="1800">
                <a:solidFill>
                  <a:srgbClr val="1D1D1F"/>
                </a:solidFill>
                <a:latin typeface="Arial"/>
              </a:defRPr>
            </a:pPr>
            <a:r>
              <a:t>•  Regional Dynamics</a:t>
            </a:r>
          </a:p>
          <a:p>
            <a:pPr>
              <a:lnSpc>
                <a:spcPct val="130000"/>
              </a:lnSpc>
              <a:spcAft>
                <a:spcPts val="1200"/>
              </a:spcAft>
              <a:defRPr sz="1800">
                <a:solidFill>
                  <a:srgbClr val="1D1D1F"/>
                </a:solidFill>
                <a:latin typeface="Arial"/>
              </a:defRPr>
            </a:pPr>
            <a:r>
              <a:t>•  Anseong</a:t>
            </a:r>
          </a:p>
          <a:p>
            <a:pPr>
              <a:lnSpc>
                <a:spcPct val="130000"/>
              </a:lnSpc>
              <a:spcAft>
                <a:spcPts val="1200"/>
              </a:spcAft>
              <a:defRPr sz="1800">
                <a:solidFill>
                  <a:srgbClr val="1D1D1F"/>
                </a:solidFill>
                <a:latin typeface="Arial"/>
              </a:defRPr>
            </a:pPr>
            <a:r>
              <a:t>•  Emerged as Top 3 Hub</a:t>
            </a:r>
          </a:p>
          <a:p>
            <a:pPr>
              <a:lnSpc>
                <a:spcPct val="130000"/>
              </a:lnSpc>
              <a:spcAft>
                <a:spcPts val="1200"/>
              </a:spcAft>
              <a:defRPr sz="1800">
                <a:solidFill>
                  <a:srgbClr val="1D1D1F"/>
                </a:solidFill>
                <a:latin typeface="Arial"/>
              </a:defRPr>
            </a:pPr>
            <a:r>
              <a:t>•  Icheon·Yongin</a:t>
            </a:r>
          </a:p>
          <a:p>
            <a:pPr>
              <a:lnSpc>
                <a:spcPct val="130000"/>
              </a:lnSpc>
              <a:spcAft>
                <a:spcPts val="1200"/>
              </a:spcAft>
              <a:defRPr sz="1800">
                <a:solidFill>
                  <a:srgbClr val="1D1D1F"/>
                </a:solidFill>
                <a:latin typeface="Arial"/>
              </a:defRPr>
            </a:pPr>
            <a:r>
              <a:t>•  Cold Chain Dominance</a:t>
            </a:r>
          </a:p>
          <a:p>
            <a:pPr>
              <a:lnSpc>
                <a:spcPct val="130000"/>
              </a:lnSpc>
              <a:spcAft>
                <a:spcPts val="1200"/>
              </a:spcAft>
              <a:defRPr sz="1800">
                <a:solidFill>
                  <a:srgbClr val="1D1D1F"/>
                </a:solidFill>
                <a:latin typeface="Arial"/>
              </a:defRPr>
            </a:pPr>
            <a:r>
              <a:t>•  ( ▪ Vacancy Peak-out : 23% vacancy rate from oversupply is normalizing down to 19-20%. ▪ Supply Drop : 2025 new supply plummets by 68%, accelerating market normalization. ▪ Regional Shift : Anseong rises as a Top 3 hub, while Icheon/Yongin solidify cold chain dominance.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Data Center Scarcity</a:t>
            </a:r>
          </a:p>
          <a:p>
            <a:pPr>
              <a:spcBef>
                <a:spcPts val="1200"/>
              </a:spcBef>
              <a:defRPr sz="3200" b="1">
                <a:solidFill>
                  <a:srgbClr val="FFFFFF"/>
                </a:solidFill>
                <a:latin typeface="Arial"/>
              </a:defRPr>
            </a:pPr>
            <a:r>
              <a:t>Rapid DC Growth Expected, but Metropolitan Bottlenecks Persist</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Korea DC IT Capacity Forecast</a:t>
            </a:r>
          </a:p>
          <a:p>
            <a:pPr>
              <a:lnSpc>
                <a:spcPct val="130000"/>
              </a:lnSpc>
              <a:spcAft>
                <a:spcPts val="1200"/>
              </a:spcAft>
              <a:defRPr sz="1800">
                <a:solidFill>
                  <a:srgbClr val="FFFFFF"/>
                </a:solidFill>
                <a:latin typeface="Arial"/>
              </a:defRPr>
            </a:pPr>
            <a:r>
              <a:t>•  CAGR 26.3%</a:t>
            </a:r>
          </a:p>
          <a:p>
            <a:pPr>
              <a:lnSpc>
                <a:spcPct val="130000"/>
              </a:lnSpc>
              <a:spcAft>
                <a:spcPts val="1200"/>
              </a:spcAft>
              <a:defRPr sz="1800">
                <a:solidFill>
                  <a:srgbClr val="FFFFFF"/>
                </a:solidFill>
                <a:latin typeface="Arial"/>
              </a:defRPr>
            </a:pPr>
            <a:r>
              <a:t>•  1.96GW</a:t>
            </a:r>
          </a:p>
          <a:p>
            <a:pPr>
              <a:lnSpc>
                <a:spcPct val="130000"/>
              </a:lnSpc>
              <a:spcAft>
                <a:spcPts val="1200"/>
              </a:spcAft>
              <a:defRPr sz="1800">
                <a:solidFill>
                  <a:srgbClr val="FFFFFF"/>
                </a:solidFill>
                <a:latin typeface="Arial"/>
              </a:defRPr>
            </a:pPr>
            <a:r>
              <a:t>•  (2025)</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6.32GW</a:t>
            </a:r>
          </a:p>
          <a:p>
            <a:pPr>
              <a:lnSpc>
                <a:spcPct val="130000"/>
              </a:lnSpc>
              <a:spcAft>
                <a:spcPts val="1200"/>
              </a:spcAft>
              <a:defRPr sz="1800">
                <a:solidFill>
                  <a:srgbClr val="FFFFFF"/>
                </a:solidFill>
                <a:latin typeface="Arial"/>
              </a:defRPr>
            </a:pPr>
            <a:r>
              <a:t>•  (2030)</a:t>
            </a:r>
          </a:p>
          <a:p>
            <a:pPr>
              <a:lnSpc>
                <a:spcPct val="130000"/>
              </a:lnSpc>
              <a:spcAft>
                <a:spcPts val="1200"/>
              </a:spcAft>
              <a:defRPr sz="1800">
                <a:solidFill>
                  <a:srgbClr val="FFFFFF"/>
                </a:solidFill>
                <a:latin typeface="Arial"/>
              </a:defRPr>
            </a:pPr>
            <a:r>
              <a:t>•  * Mordor Intelligence</a:t>
            </a:r>
          </a:p>
          <a:p>
            <a:pPr>
              <a:lnSpc>
                <a:spcPct val="130000"/>
              </a:lnSpc>
              <a:spcAft>
                <a:spcPts val="1200"/>
              </a:spcAft>
              <a:defRPr sz="1800">
                <a:solidFill>
                  <a:srgbClr val="FFFFFF"/>
                </a:solidFill>
                <a:latin typeface="Arial"/>
              </a:defRPr>
            </a:pPr>
            <a:r>
              <a:t>•  Severe Supply Bottleneck</a:t>
            </a:r>
          </a:p>
          <a:p>
            <a:pPr>
              <a:lnSpc>
                <a:spcPct val="130000"/>
              </a:lnSpc>
              <a:spcAft>
                <a:spcPts val="1200"/>
              </a:spcAft>
              <a:defRPr sz="1800">
                <a:solidFill>
                  <a:srgbClr val="FFFFFF"/>
                </a:solidFill>
                <a:latin typeface="Arial"/>
              </a:defRPr>
            </a:pPr>
            <a:r>
              <a:t>•  Seoul/Pangyo Core Vacancy</a:t>
            </a:r>
          </a:p>
          <a:p>
            <a:pPr>
              <a:lnSpc>
                <a:spcPct val="130000"/>
              </a:lnSpc>
              <a:spcAft>
                <a:spcPts val="1200"/>
              </a:spcAft>
              <a:defRPr sz="1800">
                <a:solidFill>
                  <a:srgbClr val="FFFFFF"/>
                </a:solidFill>
                <a:latin typeface="Arial"/>
              </a:defRPr>
            </a:pPr>
            <a:r>
              <a:t>•  6%</a:t>
            </a:r>
          </a:p>
          <a:p>
            <a:pPr>
              <a:lnSpc>
                <a:spcPct val="130000"/>
              </a:lnSpc>
              <a:spcAft>
                <a:spcPts val="1200"/>
              </a:spcAft>
              <a:defRPr sz="1800">
                <a:solidFill>
                  <a:srgbClr val="FFFFFF"/>
                </a:solidFill>
                <a:latin typeface="Arial"/>
              </a:defRPr>
            </a:pPr>
            <a:r>
              <a:t>•  &lt;</a:t>
            </a:r>
          </a:p>
          <a:p>
            <a:pPr>
              <a:lnSpc>
                <a:spcPct val="130000"/>
              </a:lnSpc>
              <a:spcAft>
                <a:spcPts val="1200"/>
              </a:spcAft>
              <a:defRPr sz="1800">
                <a:solidFill>
                  <a:srgbClr val="FFFFFF"/>
                </a:solidFill>
                <a:latin typeface="Arial"/>
              </a:defRPr>
            </a:pPr>
            <a:r>
              <a:t>•  Power Connection Wait Time</a:t>
            </a:r>
          </a:p>
          <a:p>
            <a:pPr>
              <a:lnSpc>
                <a:spcPct val="130000"/>
              </a:lnSpc>
              <a:spcAft>
                <a:spcPts val="1200"/>
              </a:spcAft>
              <a:defRPr sz="1800">
                <a:solidFill>
                  <a:srgbClr val="FFFFFF"/>
                </a:solidFill>
                <a:latin typeface="Arial"/>
              </a:defRPr>
            </a:pPr>
            <a:r>
              <a:t>•  Min 5 Years</a:t>
            </a:r>
          </a:p>
          <a:p>
            <a:pPr>
              <a:lnSpc>
                <a:spcPct val="130000"/>
              </a:lnSpc>
              <a:spcAft>
                <a:spcPts val="1200"/>
              </a:spcAft>
              <a:defRPr sz="1800">
                <a:solidFill>
                  <a:srgbClr val="FFFFFF"/>
                </a:solidFill>
                <a:latin typeface="Arial"/>
              </a:defRPr>
            </a:pPr>
            <a:r>
              <a:t>•  IGIS Preemptive Positioning</a:t>
            </a:r>
          </a:p>
          <a:p>
            <a:pPr>
              <a:lnSpc>
                <a:spcPct val="130000"/>
              </a:lnSpc>
              <a:spcAft>
                <a:spcPts val="1200"/>
              </a:spcAft>
              <a:defRPr sz="1800">
                <a:solidFill>
                  <a:srgbClr val="FFFFFF"/>
                </a:solidFill>
                <a:latin typeface="Arial"/>
              </a:defRPr>
            </a:pPr>
            <a:r>
              <a:t>•  Secured Assets Ahead of Bottleneck</a:t>
            </a:r>
          </a:p>
          <a:p>
            <a:pPr>
              <a:lnSpc>
                <a:spcPct val="130000"/>
              </a:lnSpc>
              <a:spcAft>
                <a:spcPts val="1200"/>
              </a:spcAft>
              <a:defRPr sz="1800">
                <a:solidFill>
                  <a:srgbClr val="FFFFFF"/>
                </a:solidFill>
                <a:latin typeface="Arial"/>
              </a:defRPr>
            </a:pPr>
            <a:r>
              <a:t>•  Bundang Hostway IDC</a:t>
            </a:r>
          </a:p>
          <a:p>
            <a:pPr>
              <a:lnSpc>
                <a:spcPct val="130000"/>
              </a:lnSpc>
              <a:spcAft>
                <a:spcPts val="1200"/>
              </a:spcAft>
              <a:defRPr sz="1800">
                <a:solidFill>
                  <a:srgbClr val="FFFFFF"/>
                </a:solidFill>
                <a:latin typeface="Arial"/>
              </a:defRPr>
            </a:pPr>
            <a:r>
              <a:t>•  13 North American IDC Portfolio</a:t>
            </a:r>
          </a:p>
          <a:p>
            <a:pPr>
              <a:lnSpc>
                <a:spcPct val="130000"/>
              </a:lnSpc>
              <a:spcAft>
                <a:spcPts val="1200"/>
              </a:spcAft>
              <a:defRPr sz="1800">
                <a:solidFill>
                  <a:srgbClr val="FFFFFF"/>
                </a:solidFill>
                <a:latin typeface="Arial"/>
              </a:defRPr>
            </a:pPr>
            <a:r>
              <a:t>•  Total 187MW Secured</a:t>
            </a:r>
          </a:p>
          <a:p>
            <a:pPr>
              <a:lnSpc>
                <a:spcPct val="130000"/>
              </a:lnSpc>
              <a:spcAft>
                <a:spcPts val="1200"/>
              </a:spcAft>
              <a:defRPr sz="1800">
                <a:solidFill>
                  <a:srgbClr val="FFFFFF"/>
                </a:solidFill>
                <a:latin typeface="Arial"/>
              </a:defRPr>
            </a:pPr>
            <a:r>
              <a:t>•  ( ▪ Explosive Demand : Korea's IT capacity projected to grow at 26.3% CAGR until 2030. ▪ Structural Bottleneck : Sub-6% vacancy and 5-year power wait times severely restrict new supply. ▪ Preemptive Advantage : Securing 187MW of prime DC assets positioned IGIS to maximize returns.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6.</a:t>
            </a:r>
          </a:p>
          <a:p>
            <a:pPr algn="ctr">
              <a:spcBef>
                <a:spcPts val="1200"/>
              </a:spcBef>
              <a:defRPr sz="3200" b="1">
                <a:solidFill>
                  <a:srgbClr val="FFFFFF"/>
                </a:solidFill>
                <a:latin typeface="Arial"/>
              </a:defRPr>
            </a:pPr>
            <a:r>
              <a:t>( Lineage of Trophy Assets 2007~2026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Trophy Asset Lineage</a:t>
            </a:r>
          </a:p>
          <a:p>
            <a:pPr>
              <a:spcBef>
                <a:spcPts val="1200"/>
              </a:spcBef>
              <a:defRPr sz="3200" b="1">
                <a:solidFill>
                  <a:srgbClr val="1D1D1F"/>
                </a:solidFill>
                <a:latin typeface="Arial"/>
              </a:defRPr>
            </a:pPr>
            <a:r>
              <a:t>Trophy Time Series from SFC (2002) to IOTA Seoul (2032)</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 ▪ $1T to $2T Era : Trophy landmarks attracting global capital emerged sequentially across Seoul's major hubs. ▪ Evolution of Core Landmarks : Starting from original trophies (SFC/GFC) in the 2000s, evolving into mega complexes like IFC and Parc.1. ▪ Next-Gen Trophies : Introduction of new landmarks including ONE CENTINEL (2025) and IOTA Seoul (2032).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Legacy of Global Capital Inflow by IFC</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Inheriting the Model that Quantum-Jumped to 4.1T via Foreign Capital</a:t>
            </a:r>
          </a:p>
          <a:p>
            <a:pPr>
              <a:lnSpc>
                <a:spcPct val="130000"/>
              </a:lnSpc>
              <a:spcAft>
                <a:spcPts val="1200"/>
              </a:spcAft>
              <a:defRPr sz="1800">
                <a:solidFill>
                  <a:srgbClr val="1D1D1F"/>
                </a:solidFill>
                <a:latin typeface="Arial"/>
              </a:defRPr>
            </a:pPr>
            <a:r>
              <a:t>•  IFC Seoul Asset Value</a:t>
            </a:r>
          </a:p>
          <a:p>
            <a:pPr>
              <a:lnSpc>
                <a:spcPct val="130000"/>
              </a:lnSpc>
              <a:spcAft>
                <a:spcPts val="1200"/>
              </a:spcAft>
              <a:defRPr sz="1800">
                <a:solidFill>
                  <a:srgbClr val="1D1D1F"/>
                </a:solidFill>
                <a:latin typeface="Arial"/>
              </a:defRPr>
            </a:pPr>
            <a:r>
              <a:t>•  At Completion (2012)</a:t>
            </a:r>
          </a:p>
          <a:p>
            <a:pPr>
              <a:lnSpc>
                <a:spcPct val="130000"/>
              </a:lnSpc>
              <a:spcAft>
                <a:spcPts val="1200"/>
              </a:spcAft>
              <a:defRPr sz="1800">
                <a:solidFill>
                  <a:srgbClr val="1D1D1F"/>
                </a:solidFill>
                <a:latin typeface="Arial"/>
              </a:defRPr>
            </a:pPr>
            <a:r>
              <a:t>•  ~950B KRW</a:t>
            </a:r>
          </a:p>
          <a:p>
            <a:pPr>
              <a:lnSpc>
                <a:spcPct val="130000"/>
              </a:lnSpc>
              <a:spcAft>
                <a:spcPts val="1200"/>
              </a:spcAft>
              <a:defRPr sz="1800">
                <a:solidFill>
                  <a:srgbClr val="1D1D1F"/>
                </a:solidFill>
                <a:latin typeface="Arial"/>
              </a:defRPr>
            </a:pPr>
            <a:r>
              <a:t>•  Up over 4x (Global LP Inflow)</a:t>
            </a:r>
          </a:p>
          <a:p>
            <a:pPr>
              <a:lnSpc>
                <a:spcPct val="130000"/>
              </a:lnSpc>
              <a:spcAft>
                <a:spcPts val="1200"/>
              </a:spcAft>
              <a:defRPr sz="1800">
                <a:solidFill>
                  <a:srgbClr val="1D1D1F"/>
                </a:solidFill>
                <a:latin typeface="Arial"/>
              </a:defRPr>
            </a:pPr>
            <a:r>
              <a:t>•  At Sale (2022)</a:t>
            </a:r>
          </a:p>
          <a:p>
            <a:pPr>
              <a:lnSpc>
                <a:spcPct val="130000"/>
              </a:lnSpc>
              <a:spcAft>
                <a:spcPts val="1200"/>
              </a:spcAft>
              <a:defRPr sz="1800">
                <a:solidFill>
                  <a:srgbClr val="1D1D1F"/>
                </a:solidFill>
                <a:latin typeface="Arial"/>
              </a:defRPr>
            </a:pPr>
            <a:r>
              <a:t>•  ~4.1T KRW</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Explicit Positioning of IOTA Seoul</a:t>
            </a:r>
          </a:p>
          <a:p>
            <a:pPr>
              <a:lnSpc>
                <a:spcPct val="130000"/>
              </a:lnSpc>
              <a:spcAft>
                <a:spcPts val="1200"/>
              </a:spcAft>
              <a:defRPr sz="1800">
                <a:solidFill>
                  <a:srgbClr val="1D1D1F"/>
                </a:solidFill>
                <a:latin typeface="Arial"/>
              </a:defRPr>
            </a:pPr>
            <a:r>
              <a:t>•  "The new trophy asset representing Korea\'s CRE market, succeeding the IFC."</a:t>
            </a:r>
          </a:p>
          <a:p>
            <a:pPr>
              <a:lnSpc>
                <a:spcPct val="130000"/>
              </a:lnSpc>
              <a:spcAft>
                <a:spcPts val="1200"/>
              </a:spcAft>
              <a:defRPr sz="1800">
                <a:solidFill>
                  <a:srgbClr val="1D1D1F"/>
                </a:solidFill>
                <a:latin typeface="Arial"/>
              </a:defRPr>
            </a:pPr>
            <a:r>
              <a:t>•  ( ▪ Iconic Value Jump : IFC Seoul represents a major success, quadrupling in value by attracting global LP capital to Korea. ▪ Inheriting the Trophy : IGIS aims to recreate and scale this immense IFC model for a second time through IOTA Seoul.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Part 2.</a:t>
            </a:r>
          </a:p>
          <a:p>
            <a:pPr>
              <a:spcBef>
                <a:spcPts val="1200"/>
              </a:spcBef>
              <a:defRPr sz="3200" b="1">
                <a:solidFill>
                  <a:srgbClr val="FFFFFF"/>
                </a:solidFill>
                <a:latin typeface="Arial"/>
              </a:defRPr>
            </a:pPr>
            <a:r>
              <a:t>Korea GDP $2T</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$3T</a:t>
            </a:r>
          </a:p>
          <a:p>
            <a:pPr>
              <a:lnSpc>
                <a:spcPct val="130000"/>
              </a:lnSpc>
              <a:spcAft>
                <a:spcPts val="1200"/>
              </a:spcAft>
              <a:defRPr sz="1800">
                <a:solidFill>
                  <a:srgbClr val="FFFFFF"/>
                </a:solidFill>
                <a:latin typeface="Arial"/>
              </a:defRPr>
            </a:pPr>
            <a:r>
              <a:t>•  2027</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2040 Scenario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1.</a:t>
            </a:r>
          </a:p>
          <a:p>
            <a:pPr algn="ctr">
              <a:spcBef>
                <a:spcPts val="1200"/>
              </a:spcBef>
              <a:defRPr sz="3200" b="1">
                <a:solidFill>
                  <a:srgbClr val="FFFFFF"/>
                </a:solidFill>
                <a:latin typeface="Arial"/>
              </a:defRPr>
            </a:pPr>
            <a:r>
              <a:t>Base · Bull · Bear 3 Scenario Frameworks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Core Scenario Variables</a:t>
            </a:r>
          </a:p>
          <a:p>
            <a:pPr algn="ctr">
              <a:spcBef>
                <a:spcPts val="1200"/>
              </a:spcBef>
              <a:defRPr sz="3200" b="1">
                <a:solidFill>
                  <a:srgbClr val="FFFFFF"/>
                </a:solidFill>
                <a:latin typeface="Arial"/>
              </a:defRPr>
            </a:pPr>
            <a:r>
              <a:t>4 Core Frameworks determining Korea\'s $3T GDP</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Base Scenario (50% Prob)</a:t>
            </a:r>
          </a:p>
          <a:p>
            <a:pPr>
              <a:spcBef>
                <a:spcPts val="1200"/>
              </a:spcBef>
              <a:defRPr sz="3200" b="1">
                <a:solidFill>
                  <a:srgbClr val="1D1D1F"/>
                </a:solidFill>
                <a:latin typeface="Arial"/>
              </a:defRPr>
            </a:pPr>
            <a:r>
              <a:t>Standard Growth Trajectory based on IMF/OECD/KDI Consensus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2030 Expected GDP</a:t>
            </a:r>
          </a:p>
          <a:p>
            <a:pPr>
              <a:lnSpc>
                <a:spcPct val="130000"/>
              </a:lnSpc>
              <a:spcAft>
                <a:spcPts val="1200"/>
              </a:spcAft>
              <a:defRPr sz="1800">
                <a:solidFill>
                  <a:srgbClr val="1D1D1F"/>
                </a:solidFill>
                <a:latin typeface="Arial"/>
              </a:defRPr>
            </a:pPr>
            <a:r>
              <a:t>•  $2.2 ~ 2.4T</a:t>
            </a:r>
          </a:p>
          <a:p>
            <a:pPr>
              <a:lnSpc>
                <a:spcPct val="130000"/>
              </a:lnSpc>
              <a:spcAft>
                <a:spcPts val="1200"/>
              </a:spcAft>
              <a:defRPr sz="1800">
                <a:solidFill>
                  <a:srgbClr val="1D1D1F"/>
                </a:solidFill>
                <a:latin typeface="Arial"/>
              </a:defRPr>
            </a:pPr>
            <a:r>
              <a:t>•  Time to $3T</a:t>
            </a:r>
          </a:p>
          <a:p>
            <a:pPr>
              <a:lnSpc>
                <a:spcPct val="130000"/>
              </a:lnSpc>
              <a:spcAft>
                <a:spcPts val="1200"/>
              </a:spcAft>
              <a:defRPr sz="1800">
                <a:solidFill>
                  <a:srgbClr val="1D1D1F"/>
                </a:solidFill>
                <a:latin typeface="Arial"/>
              </a:defRPr>
            </a:pPr>
            <a:r>
              <a:t>•  2037 ~ 2038</a:t>
            </a:r>
          </a:p>
          <a:p>
            <a:pPr>
              <a:lnSpc>
                <a:spcPct val="130000"/>
              </a:lnSpc>
              <a:spcAft>
                <a:spcPts val="1200"/>
              </a:spcAft>
              <a:defRPr sz="1800">
                <a:solidFill>
                  <a:srgbClr val="1D1D1F"/>
                </a:solidFill>
                <a:latin typeface="Arial"/>
              </a:defRPr>
            </a:pPr>
            <a:r>
              <a:t>•  Core Premises</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Real Growth 1.5~2.0%, Inflation 2~3%</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FX KRW/USD 1,200~1,300 Range</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AI Productivity Gain (+0.3~0.5%p) Offsets Pop Decline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Bull Scenario (30% Prob)</a:t>
            </a:r>
          </a:p>
          <a:p>
            <a:pPr>
              <a:spcBef>
                <a:spcPts val="1200"/>
              </a:spcBef>
              <a:defRPr sz="3200" b="1">
                <a:solidFill>
                  <a:srgbClr val="1D1D1F"/>
                </a:solidFill>
                <a:latin typeface="Arial"/>
              </a:defRPr>
            </a:pPr>
            <a:r>
              <a:t>High-end Mfg + Content + Finance Repositioning to "East Asian Swiss" Model</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2030 Expected GDP</a:t>
            </a:r>
          </a:p>
          <a:p>
            <a:pPr>
              <a:lnSpc>
                <a:spcPct val="130000"/>
              </a:lnSpc>
              <a:spcAft>
                <a:spcPts val="1200"/>
              </a:spcAft>
              <a:defRPr sz="1800">
                <a:solidFill>
                  <a:srgbClr val="1D1D1F"/>
                </a:solidFill>
                <a:latin typeface="Arial"/>
              </a:defRPr>
            </a:pPr>
            <a:r>
              <a:t>•  $2.5 ~ 2.7T</a:t>
            </a:r>
          </a:p>
          <a:p>
            <a:pPr>
              <a:lnSpc>
                <a:spcPct val="130000"/>
              </a:lnSpc>
              <a:spcAft>
                <a:spcPts val="1200"/>
              </a:spcAft>
              <a:defRPr sz="1800">
                <a:solidFill>
                  <a:srgbClr val="1D1D1F"/>
                </a:solidFill>
                <a:latin typeface="Arial"/>
              </a:defRPr>
            </a:pPr>
            <a:r>
              <a:t>•  Time to $3T</a:t>
            </a:r>
          </a:p>
          <a:p>
            <a:pPr>
              <a:lnSpc>
                <a:spcPct val="130000"/>
              </a:lnSpc>
              <a:spcAft>
                <a:spcPts val="1200"/>
              </a:spcAft>
              <a:defRPr sz="1800">
                <a:solidFill>
                  <a:srgbClr val="1D1D1F"/>
                </a:solidFill>
                <a:latin typeface="Arial"/>
              </a:defRPr>
            </a:pPr>
            <a:r>
              <a:t>•  2034 ~ 2035</a:t>
            </a:r>
          </a:p>
          <a:p>
            <a:pPr>
              <a:lnSpc>
                <a:spcPct val="130000"/>
              </a:lnSpc>
              <a:spcAft>
                <a:spcPts val="1200"/>
              </a:spcAft>
              <a:defRPr sz="1800">
                <a:solidFill>
                  <a:srgbClr val="1D1D1F"/>
                </a:solidFill>
                <a:latin typeface="Arial"/>
              </a:defRPr>
            </a:pPr>
            <a:r>
              <a:t>•  Core Premises</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HBM/AI Hegemony &amp; Massive Foreign Capital Inflow</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FX KRW/USD 1,000~1,150 (Strong KRW)</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K-Content, Defense, Nuclear, Ship Supercycle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Bear Scenario (20% Prob)</a:t>
            </a:r>
          </a:p>
          <a:p>
            <a:pPr>
              <a:spcBef>
                <a:spcPts val="1200"/>
              </a:spcBef>
              <a:defRPr sz="3200" b="1">
                <a:solidFill>
                  <a:srgbClr val="1D1D1F"/>
                </a:solidFill>
                <a:latin typeface="Arial"/>
              </a:defRPr>
            </a:pPr>
            <a:r>
              <a:t>Japan-style "Lost Decade" due to geopolitical &amp; structural conflicts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2030 Expected GDP</a:t>
            </a:r>
          </a:p>
          <a:p>
            <a:pPr>
              <a:lnSpc>
                <a:spcPct val="130000"/>
              </a:lnSpc>
              <a:spcAft>
                <a:spcPts val="1200"/>
              </a:spcAft>
              <a:defRPr sz="1800">
                <a:solidFill>
                  <a:srgbClr val="1D1D1F"/>
                </a:solidFill>
                <a:latin typeface="Arial"/>
              </a:defRPr>
            </a:pPr>
            <a:r>
              <a:t>•  $2.0 ~ 2.1T</a:t>
            </a:r>
          </a:p>
          <a:p>
            <a:pPr>
              <a:lnSpc>
                <a:spcPct val="130000"/>
              </a:lnSpc>
              <a:spcAft>
                <a:spcPts val="1200"/>
              </a:spcAft>
              <a:defRPr sz="1800">
                <a:solidFill>
                  <a:srgbClr val="1D1D1F"/>
                </a:solidFill>
                <a:latin typeface="Arial"/>
              </a:defRPr>
            </a:pPr>
            <a:r>
              <a:t>•  Time to $3T</a:t>
            </a:r>
          </a:p>
          <a:p>
            <a:pPr>
              <a:lnSpc>
                <a:spcPct val="130000"/>
              </a:lnSpc>
              <a:spcAft>
                <a:spcPts val="1200"/>
              </a:spcAft>
              <a:defRPr sz="1800">
                <a:solidFill>
                  <a:srgbClr val="1D1D1F"/>
                </a:solidFill>
                <a:latin typeface="Arial"/>
              </a:defRPr>
            </a:pPr>
            <a:r>
              <a:t>•  Post-2042 (Or Never)</a:t>
            </a:r>
          </a:p>
          <a:p>
            <a:pPr>
              <a:lnSpc>
                <a:spcPct val="130000"/>
              </a:lnSpc>
              <a:spcAft>
                <a:spcPts val="1200"/>
              </a:spcAft>
              <a:defRPr sz="1800">
                <a:solidFill>
                  <a:srgbClr val="1D1D1F"/>
                </a:solidFill>
                <a:latin typeface="Arial"/>
              </a:defRPr>
            </a:pPr>
            <a:r>
              <a:t>•  Core Premises</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Steep Population Decline post-2024 Peak</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US-China Decoupling &amp; China Semi Self-sufficiency</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Household Debt &amp; Real Estate PF Distress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Future Scenario Summary</a:t>
            </a:r>
          </a:p>
          <a:p>
            <a:pPr>
              <a:spcBef>
                <a:spcPts val="1200"/>
              </a:spcBef>
              <a:defRPr sz="3200" b="1">
                <a:solidFill>
                  <a:srgbClr val="1D1D1F"/>
                </a:solidFill>
                <a:latin typeface="Arial"/>
              </a:defRPr>
            </a:pPr>
            <a:r>
              <a:t>Core Indicators by Scenario for Korea reaching $3T GDP</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Base Scenario</a:t>
            </a:r>
          </a:p>
          <a:p>
            <a:pPr>
              <a:lnSpc>
                <a:spcPct val="130000"/>
              </a:lnSpc>
              <a:spcAft>
                <a:spcPts val="1200"/>
              </a:spcAft>
              <a:defRPr sz="1800">
                <a:solidFill>
                  <a:srgbClr val="1D1D1F"/>
                </a:solidFill>
                <a:latin typeface="Arial"/>
              </a:defRPr>
            </a:pPr>
            <a:r>
              <a:t>•  50% Prob</a:t>
            </a:r>
          </a:p>
          <a:p>
            <a:pPr>
              <a:lnSpc>
                <a:spcPct val="130000"/>
              </a:lnSpc>
              <a:spcAft>
                <a:spcPts val="1200"/>
              </a:spcAft>
              <a:defRPr sz="1800">
                <a:solidFill>
                  <a:srgbClr val="1D1D1F"/>
                </a:solidFill>
                <a:latin typeface="Arial"/>
              </a:defRPr>
            </a:pPr>
            <a:r>
              <a:t>•  2030 Expected GDP</a:t>
            </a:r>
          </a:p>
          <a:p>
            <a:pPr>
              <a:lnSpc>
                <a:spcPct val="130000"/>
              </a:lnSpc>
              <a:spcAft>
                <a:spcPts val="1200"/>
              </a:spcAft>
              <a:defRPr sz="1800">
                <a:solidFill>
                  <a:srgbClr val="1D1D1F"/>
                </a:solidFill>
                <a:latin typeface="Arial"/>
              </a:defRPr>
            </a:pPr>
            <a:r>
              <a:t>•  $2.2 ~ 2.4T</a:t>
            </a:r>
          </a:p>
          <a:p>
            <a:pPr>
              <a:lnSpc>
                <a:spcPct val="130000"/>
              </a:lnSpc>
              <a:spcAft>
                <a:spcPts val="1200"/>
              </a:spcAft>
              <a:defRPr sz="1800">
                <a:solidFill>
                  <a:srgbClr val="1D1D1F"/>
                </a:solidFill>
                <a:latin typeface="Arial"/>
              </a:defRPr>
            </a:pPr>
            <a:r>
              <a:t>•  Reach $3T</a:t>
            </a:r>
          </a:p>
          <a:p>
            <a:pPr>
              <a:lnSpc>
                <a:spcPct val="130000"/>
              </a:lnSpc>
              <a:spcAft>
                <a:spcPts val="1200"/>
              </a:spcAft>
              <a:defRPr sz="1800">
                <a:solidFill>
                  <a:srgbClr val="1D1D1F"/>
                </a:solidFill>
                <a:latin typeface="Arial"/>
              </a:defRPr>
            </a:pPr>
            <a:r>
              <a:t>•  2037 ~ 2038</a:t>
            </a:r>
          </a:p>
          <a:p>
            <a:pPr>
              <a:lnSpc>
                <a:spcPct val="130000"/>
              </a:lnSpc>
              <a:spcAft>
                <a:spcPts val="1200"/>
              </a:spcAft>
              <a:defRPr sz="1800">
                <a:solidFill>
                  <a:srgbClr val="1D1D1F"/>
                </a:solidFill>
                <a:latin typeface="Arial"/>
              </a:defRPr>
            </a:pPr>
            <a:r>
              <a:t>•  Core Premises</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Aligns with IMF Consensus</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Real Growth 1.5~2.0%</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AI offsets Pop Decline</a:t>
            </a:r>
          </a:p>
          <a:p>
            <a:pPr>
              <a:lnSpc>
                <a:spcPct val="130000"/>
              </a:lnSpc>
              <a:spcAft>
                <a:spcPts val="1200"/>
              </a:spcAft>
              <a:defRPr sz="1800">
                <a:solidFill>
                  <a:srgbClr val="1D1D1F"/>
                </a:solidFill>
                <a:latin typeface="Arial"/>
              </a:defRPr>
            </a:pPr>
            <a:r>
              <a:t>•  Bull Scenario</a:t>
            </a:r>
          </a:p>
          <a:p>
            <a:pPr>
              <a:lnSpc>
                <a:spcPct val="130000"/>
              </a:lnSpc>
              <a:spcAft>
                <a:spcPts val="1200"/>
              </a:spcAft>
              <a:defRPr sz="1800">
                <a:solidFill>
                  <a:srgbClr val="1D1D1F"/>
                </a:solidFill>
                <a:latin typeface="Arial"/>
              </a:defRPr>
            </a:pPr>
            <a:r>
              <a:t>•  30% Prob</a:t>
            </a:r>
          </a:p>
          <a:p>
            <a:pPr>
              <a:lnSpc>
                <a:spcPct val="130000"/>
              </a:lnSpc>
              <a:spcAft>
                <a:spcPts val="1200"/>
              </a:spcAft>
              <a:defRPr sz="1800">
                <a:solidFill>
                  <a:srgbClr val="1D1D1F"/>
                </a:solidFill>
                <a:latin typeface="Arial"/>
              </a:defRPr>
            </a:pPr>
            <a:r>
              <a:t>•  2030 Expected GDP</a:t>
            </a:r>
          </a:p>
          <a:p>
            <a:pPr>
              <a:lnSpc>
                <a:spcPct val="130000"/>
              </a:lnSpc>
              <a:spcAft>
                <a:spcPts val="1200"/>
              </a:spcAft>
              <a:defRPr sz="1800">
                <a:solidFill>
                  <a:srgbClr val="1D1D1F"/>
                </a:solidFill>
                <a:latin typeface="Arial"/>
              </a:defRPr>
            </a:pPr>
            <a:r>
              <a:t>•  $2.5 ~ 2.7T</a:t>
            </a:r>
          </a:p>
          <a:p>
            <a:pPr>
              <a:lnSpc>
                <a:spcPct val="130000"/>
              </a:lnSpc>
              <a:spcAft>
                <a:spcPts val="1200"/>
              </a:spcAft>
              <a:defRPr sz="1800">
                <a:solidFill>
                  <a:srgbClr val="1D1D1F"/>
                </a:solidFill>
                <a:latin typeface="Arial"/>
              </a:defRPr>
            </a:pPr>
            <a:r>
              <a:t>•  Reach $3T</a:t>
            </a:r>
          </a:p>
          <a:p>
            <a:pPr>
              <a:lnSpc>
                <a:spcPct val="130000"/>
              </a:lnSpc>
              <a:spcAft>
                <a:spcPts val="1200"/>
              </a:spcAft>
              <a:defRPr sz="1800">
                <a:solidFill>
                  <a:srgbClr val="1D1D1F"/>
                </a:solidFill>
                <a:latin typeface="Arial"/>
              </a:defRPr>
            </a:pPr>
            <a:r>
              <a:t>•  2034 ~ 2035</a:t>
            </a:r>
          </a:p>
          <a:p>
            <a:pPr>
              <a:lnSpc>
                <a:spcPct val="130000"/>
              </a:lnSpc>
              <a:spcAft>
                <a:spcPts val="1200"/>
              </a:spcAft>
              <a:defRPr sz="1800">
                <a:solidFill>
                  <a:srgbClr val="1D1D1F"/>
                </a:solidFill>
                <a:latin typeface="Arial"/>
              </a:defRPr>
            </a:pPr>
            <a:r>
              <a:t>•  Core Premises</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"East Asian Swiss" Model</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Core Industry Supercycle</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Massive Foreign Capital</a:t>
            </a:r>
          </a:p>
          <a:p>
            <a:pPr>
              <a:lnSpc>
                <a:spcPct val="130000"/>
              </a:lnSpc>
              <a:spcAft>
                <a:spcPts val="1200"/>
              </a:spcAft>
              <a:defRPr sz="1800">
                <a:solidFill>
                  <a:srgbClr val="1D1D1F"/>
                </a:solidFill>
                <a:latin typeface="Arial"/>
              </a:defRPr>
            </a:pPr>
            <a:r>
              <a:t>•  Bear Scenario</a:t>
            </a:r>
          </a:p>
          <a:p>
            <a:pPr>
              <a:lnSpc>
                <a:spcPct val="130000"/>
              </a:lnSpc>
              <a:spcAft>
                <a:spcPts val="1200"/>
              </a:spcAft>
              <a:defRPr sz="1800">
                <a:solidFill>
                  <a:srgbClr val="1D1D1F"/>
                </a:solidFill>
                <a:latin typeface="Arial"/>
              </a:defRPr>
            </a:pPr>
            <a:r>
              <a:t>•  20% Prob</a:t>
            </a:r>
          </a:p>
          <a:p>
            <a:pPr>
              <a:lnSpc>
                <a:spcPct val="130000"/>
              </a:lnSpc>
              <a:spcAft>
                <a:spcPts val="1200"/>
              </a:spcAft>
              <a:defRPr sz="1800">
                <a:solidFill>
                  <a:srgbClr val="1D1D1F"/>
                </a:solidFill>
                <a:latin typeface="Arial"/>
              </a:defRPr>
            </a:pPr>
            <a:r>
              <a:t>•  2030 Expected GDP</a:t>
            </a:r>
          </a:p>
          <a:p>
            <a:pPr>
              <a:lnSpc>
                <a:spcPct val="130000"/>
              </a:lnSpc>
              <a:spcAft>
                <a:spcPts val="1200"/>
              </a:spcAft>
              <a:defRPr sz="1800">
                <a:solidFill>
                  <a:srgbClr val="1D1D1F"/>
                </a:solidFill>
                <a:latin typeface="Arial"/>
              </a:defRPr>
            </a:pPr>
            <a:r>
              <a:t>•  $2.0 ~ 2.1T</a:t>
            </a:r>
          </a:p>
          <a:p>
            <a:pPr>
              <a:lnSpc>
                <a:spcPct val="130000"/>
              </a:lnSpc>
              <a:spcAft>
                <a:spcPts val="1200"/>
              </a:spcAft>
              <a:defRPr sz="1800">
                <a:solidFill>
                  <a:srgbClr val="1D1D1F"/>
                </a:solidFill>
                <a:latin typeface="Arial"/>
              </a:defRPr>
            </a:pPr>
            <a:r>
              <a:t>•  Reach $3T</a:t>
            </a:r>
          </a:p>
          <a:p>
            <a:pPr>
              <a:lnSpc>
                <a:spcPct val="130000"/>
              </a:lnSpc>
              <a:spcAft>
                <a:spcPts val="1200"/>
              </a:spcAft>
              <a:defRPr sz="1800">
                <a:solidFill>
                  <a:srgbClr val="1D1D1F"/>
                </a:solidFill>
                <a:latin typeface="Arial"/>
              </a:defRPr>
            </a:pPr>
            <a:r>
              <a:t>•  Post-2042</a:t>
            </a:r>
          </a:p>
          <a:p>
            <a:pPr>
              <a:lnSpc>
                <a:spcPct val="130000"/>
              </a:lnSpc>
              <a:spcAft>
                <a:spcPts val="1200"/>
              </a:spcAft>
              <a:defRPr sz="1800">
                <a:solidFill>
                  <a:srgbClr val="1D1D1F"/>
                </a:solidFill>
                <a:latin typeface="Arial"/>
              </a:defRPr>
            </a:pPr>
            <a:r>
              <a:t>•  Core Premises</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Japan-style "Lost Decade"</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Steep Demographic Cliff</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US-China Decoupling &amp; PF Default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2.</a:t>
            </a:r>
          </a:p>
          <a:p>
            <a:pPr algn="ctr">
              <a:spcBef>
                <a:spcPts val="1200"/>
              </a:spcBef>
              <a:defRPr sz="3200" b="1">
                <a:solidFill>
                  <a:srgbClr val="FFFFFF"/>
                </a:solidFill>
                <a:latin typeface="Arial"/>
              </a:defRPr>
            </a:pPr>
            <a:r>
              <a:t>Core Industry Momentum by Scenario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2.1 AI Semiconductors / HBM</a:t>
            </a:r>
          </a:p>
          <a:p>
            <a:pPr>
              <a:spcBef>
                <a:spcPts val="1200"/>
              </a:spcBef>
              <a:defRPr sz="3200" b="1">
                <a:solidFill>
                  <a:srgbClr val="1D1D1F"/>
                </a:solidFill>
                <a:latin typeface="Arial"/>
              </a:defRPr>
            </a:pPr>
            <a:r>
              <a:t>Base Scenario</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Bull Scenario</a:t>
            </a:r>
          </a:p>
          <a:p>
            <a:pPr>
              <a:lnSpc>
                <a:spcPct val="130000"/>
              </a:lnSpc>
              <a:spcAft>
                <a:spcPts val="1200"/>
              </a:spcAft>
              <a:defRPr sz="1800">
                <a:solidFill>
                  <a:srgbClr val="1D1D1F"/>
                </a:solidFill>
                <a:latin typeface="Arial"/>
              </a:defRPr>
            </a:pPr>
            <a:r>
              <a:t>•  Bear Scenario</a:t>
            </a:r>
          </a:p>
          <a:p>
            <a:pPr>
              <a:lnSpc>
                <a:spcPct val="130000"/>
              </a:lnSpc>
              <a:spcAft>
                <a:spcPts val="1200"/>
              </a:spcAft>
              <a:defRPr sz="1800">
                <a:solidFill>
                  <a:srgbClr val="1D1D1F"/>
                </a:solidFill>
                <a:latin typeface="Arial"/>
              </a:defRPr>
            </a:pPr>
            <a:r>
              <a:t>•  Korea retains 70%+ global HBM share even in Base Case</a:t>
            </a:r>
          </a:p>
          <a:p>
            <a:pPr>
              <a:lnSpc>
                <a:spcPct val="130000"/>
              </a:lnSpc>
              <a:spcAft>
                <a:spcPts val="1200"/>
              </a:spcAft>
              <a:defRPr sz="1800">
                <a:solidFill>
                  <a:srgbClr val="1D1D1F"/>
                </a:solidFill>
                <a:latin typeface="Arial"/>
              </a:defRPr>
            </a:pPr>
            <a:r>
              <a:t>•  Bull: Combined OP reaches 200T KRW in 2026 → 300~350T KRW in 2030</a:t>
            </a:r>
          </a:p>
          <a:p>
            <a:pPr>
              <a:lnSpc>
                <a:spcPct val="130000"/>
              </a:lnSpc>
              <a:spcAft>
                <a:spcPts val="1200"/>
              </a:spcAft>
              <a:defRPr sz="1800">
                <a:solidFill>
                  <a:srgbClr val="1D1D1F"/>
                </a:solidFill>
                <a:latin typeface="Arial"/>
              </a:defRPr>
            </a:pPr>
            <a:r>
              <a:t>•  Bear: Share drops to 50% range due to Micron &amp; CXMT chase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AI Data Centers</a:t>
            </a:r>
          </a:p>
          <a:p>
            <a:pPr>
              <a:spcBef>
                <a:spcPts val="1200"/>
              </a:spcBef>
              <a:defRPr sz="3200" b="1">
                <a:solidFill>
                  <a:srgbClr val="1D1D1F"/>
                </a:solidFill>
                <a:latin typeface="Arial"/>
              </a:defRPr>
            </a:pPr>
            <a:r>
              <a:t>Base Scenario</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Bull Scenario</a:t>
            </a:r>
          </a:p>
          <a:p>
            <a:pPr>
              <a:lnSpc>
                <a:spcPct val="130000"/>
              </a:lnSpc>
              <a:spcAft>
                <a:spcPts val="1200"/>
              </a:spcAft>
              <a:defRPr sz="1800">
                <a:solidFill>
                  <a:srgbClr val="1D1D1F"/>
                </a:solidFill>
                <a:latin typeface="Arial"/>
              </a:defRPr>
            </a:pPr>
            <a:r>
              <a:t>•  Bear Scenario</a:t>
            </a:r>
          </a:p>
          <a:p>
            <a:pPr>
              <a:lnSpc>
                <a:spcPct val="130000"/>
              </a:lnSpc>
              <a:spcAft>
                <a:spcPts val="1200"/>
              </a:spcAft>
              <a:defRPr sz="1800">
                <a:solidFill>
                  <a:srgbClr val="1D1D1F"/>
                </a:solidFill>
                <a:latin typeface="Arial"/>
              </a:defRPr>
            </a:pPr>
            <a:r>
              <a:t>•  Massive pipelines like Stock Farm Road (3GW), SK-AWS, Samsung $230B</a:t>
            </a:r>
          </a:p>
          <a:p>
            <a:pPr>
              <a:lnSpc>
                <a:spcPct val="130000"/>
              </a:lnSpc>
              <a:spcAft>
                <a:spcPts val="1200"/>
              </a:spcAft>
              <a:defRPr sz="1800">
                <a:solidFill>
                  <a:srgbClr val="1D1D1F"/>
                </a:solidFill>
                <a:latin typeface="Arial"/>
              </a:defRPr>
            </a:pPr>
            <a:r>
              <a:t>•  Reflects explicit gov intent for 10% GDP contribution as a single industry</a:t>
            </a:r>
          </a:p>
          <a:p>
            <a:pPr>
              <a:lnSpc>
                <a:spcPct val="130000"/>
              </a:lnSpc>
              <a:spcAft>
                <a:spcPts val="1200"/>
              </a:spcAft>
              <a:defRPr sz="1800">
                <a:solidFill>
                  <a:srgbClr val="1D1D1F"/>
                </a:solidFill>
                <a:latin typeface="Arial"/>
              </a:defRPr>
            </a:pPr>
            <a:r>
              <a:t>•  Overcoming power constraints is the key trigger for the Bull scenario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Robotics / Humanoids</a:t>
            </a:r>
          </a:p>
          <a:p>
            <a:pPr>
              <a:spcBef>
                <a:spcPts val="1200"/>
              </a:spcBef>
              <a:defRPr sz="3200" b="1">
                <a:solidFill>
                  <a:srgbClr val="1D1D1F"/>
                </a:solidFill>
                <a:latin typeface="Arial"/>
              </a:defRPr>
            </a:pPr>
            <a:r>
              <a:t>Base Scenario</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Bull Scenario</a:t>
            </a:r>
          </a:p>
          <a:p>
            <a:pPr>
              <a:lnSpc>
                <a:spcPct val="130000"/>
              </a:lnSpc>
              <a:spcAft>
                <a:spcPts val="1200"/>
              </a:spcAft>
              <a:defRPr sz="1800">
                <a:solidFill>
                  <a:srgbClr val="1D1D1F"/>
                </a:solidFill>
                <a:latin typeface="Arial"/>
              </a:defRPr>
            </a:pPr>
            <a:r>
              <a:t>•  Bear Scenario</a:t>
            </a:r>
          </a:p>
          <a:p>
            <a:pPr>
              <a:lnSpc>
                <a:spcPct val="130000"/>
              </a:lnSpc>
              <a:spcAft>
                <a:spcPts val="1200"/>
              </a:spcAft>
              <a:defRPr sz="1800">
                <a:solidFill>
                  <a:srgbClr val="1D1D1F"/>
                </a:solidFill>
                <a:latin typeface="Arial"/>
              </a:defRPr>
            </a:pPr>
            <a:r>
              <a:t>•  Next-gen form factor competition led by Hyundai, Samsung, Doosan Robotics</a:t>
            </a:r>
          </a:p>
          <a:p>
            <a:pPr>
              <a:lnSpc>
                <a:spcPct val="130000"/>
              </a:lnSpc>
              <a:spcAft>
                <a:spcPts val="1200"/>
              </a:spcAft>
              <a:defRPr sz="1800">
                <a:solidFill>
                  <a:srgbClr val="1D1D1F"/>
                </a:solidFill>
                <a:latin typeface="Arial"/>
              </a:defRPr>
            </a:pPr>
            <a:r>
              <a:t>•  A massive industry replacing human labor and redefining physical spatial standards</a:t>
            </a:r>
          </a:p>
          <a:p>
            <a:pPr>
              <a:lnSpc>
                <a:spcPct val="130000"/>
              </a:lnSpc>
              <a:spcAft>
                <a:spcPts val="1200"/>
              </a:spcAft>
              <a:defRPr sz="1800">
                <a:solidFill>
                  <a:srgbClr val="1D1D1F"/>
                </a:solidFill>
                <a:latin typeface="Arial"/>
              </a:defRPr>
            </a:pPr>
            <a:r>
              <a:t>•  2030~2035 acts as the true Commercial Inflection Point for commercialization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Bio Convergence / Longevity / Cell &amp; Gene Therapy</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Base Scenario</a:t>
            </a:r>
          </a:p>
          <a:p>
            <a:pPr>
              <a:lnSpc>
                <a:spcPct val="130000"/>
              </a:lnSpc>
              <a:spcAft>
                <a:spcPts val="1200"/>
              </a:spcAft>
              <a:defRPr sz="1800">
                <a:solidFill>
                  <a:srgbClr val="1D1D1F"/>
                </a:solidFill>
                <a:latin typeface="Arial"/>
              </a:defRPr>
            </a:pPr>
            <a:r>
              <a:t>•  Bull Scenario</a:t>
            </a:r>
          </a:p>
          <a:p>
            <a:pPr>
              <a:lnSpc>
                <a:spcPct val="130000"/>
              </a:lnSpc>
              <a:spcAft>
                <a:spcPts val="1200"/>
              </a:spcAft>
              <a:defRPr sz="1800">
                <a:solidFill>
                  <a:srgbClr val="1D1D1F"/>
                </a:solidFill>
                <a:latin typeface="Arial"/>
              </a:defRPr>
            </a:pPr>
            <a:r>
              <a:t>•  Bear Scenario</a:t>
            </a:r>
          </a:p>
          <a:p>
            <a:pPr>
              <a:lnSpc>
                <a:spcPct val="130000"/>
              </a:lnSpc>
              <a:spcAft>
                <a:spcPts val="1200"/>
              </a:spcAft>
              <a:defRPr sz="1800">
                <a:solidFill>
                  <a:srgbClr val="1D1D1F"/>
                </a:solidFill>
                <a:latin typeface="Arial"/>
              </a:defRPr>
            </a:pPr>
            <a:r>
              <a:t>•  Revenue consensus upgrades for key players like Samsung Bio and K-Bio global expansion</a:t>
            </a:r>
          </a:p>
          <a:p>
            <a:pPr>
              <a:lnSpc>
                <a:spcPct val="130000"/>
              </a:lnSpc>
              <a:spcAft>
                <a:spcPts val="1200"/>
              </a:spcAft>
              <a:defRPr sz="1800">
                <a:solidFill>
                  <a:srgbClr val="1D1D1F"/>
                </a:solidFill>
                <a:latin typeface="Arial"/>
              </a:defRPr>
            </a:pPr>
            <a:r>
              <a:t>•  Potential to capture double-digit global market share in Cell &amp; Gene Therapy CDMO</a:t>
            </a:r>
          </a:p>
          <a:p>
            <a:pPr>
              <a:lnSpc>
                <a:spcPct val="130000"/>
              </a:lnSpc>
              <a:spcAft>
                <a:spcPts val="1200"/>
              </a:spcAft>
              <a:defRPr sz="1800">
                <a:solidFill>
                  <a:srgbClr val="1D1D1F"/>
                </a:solidFill>
                <a:latin typeface="Arial"/>
              </a:defRPr>
            </a:pPr>
            <a:r>
              <a:t>•  Massive real estate demand for R&amp;D and factories created by 10T revenue capacity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Defense &amp; Space</a:t>
            </a:r>
          </a:p>
          <a:p>
            <a:pPr>
              <a:spcBef>
                <a:spcPts val="1200"/>
              </a:spcBef>
              <a:defRPr sz="3200" b="1">
                <a:solidFill>
                  <a:srgbClr val="1D1D1F"/>
                </a:solidFill>
                <a:latin typeface="Arial"/>
              </a:defRPr>
            </a:pPr>
            <a:r>
              <a:t>Base Scenario</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Bull Scenario</a:t>
            </a:r>
          </a:p>
          <a:p>
            <a:pPr>
              <a:lnSpc>
                <a:spcPct val="130000"/>
              </a:lnSpc>
              <a:spcAft>
                <a:spcPts val="1200"/>
              </a:spcAft>
              <a:defRPr sz="1800">
                <a:solidFill>
                  <a:srgbClr val="1D1D1F"/>
                </a:solidFill>
                <a:latin typeface="Arial"/>
              </a:defRPr>
            </a:pPr>
            <a:r>
              <a:t>•  Bear Scenario</a:t>
            </a:r>
          </a:p>
          <a:p>
            <a:pPr>
              <a:lnSpc>
                <a:spcPct val="130000"/>
              </a:lnSpc>
              <a:spcAft>
                <a:spcPts val="1200"/>
              </a:spcAft>
              <a:defRPr sz="1800">
                <a:solidFill>
                  <a:srgbClr val="1D1D1F"/>
                </a:solidFill>
                <a:latin typeface="Arial"/>
              </a:defRPr>
            </a:pPr>
            <a:r>
              <a:t>•  Structural quantum jump expected in K-Defense and Space led by KAI, Hanwha, KARI</a:t>
            </a:r>
          </a:p>
          <a:p>
            <a:pPr>
              <a:lnSpc>
                <a:spcPct val="130000"/>
              </a:lnSpc>
              <a:spcAft>
                <a:spcPts val="1200"/>
              </a:spcAft>
              <a:defRPr sz="1800">
                <a:solidFill>
                  <a:srgbClr val="1D1D1F"/>
                </a:solidFill>
                <a:latin typeface="Arial"/>
              </a:defRPr>
            </a:pPr>
            <a:r>
              <a:t>•  A new Cinderella industry leveraging geopolitical conflicts in a $1T global market</a:t>
            </a:r>
          </a:p>
          <a:p>
            <a:pPr>
              <a:lnSpc>
                <a:spcPct val="130000"/>
              </a:lnSpc>
              <a:spcAft>
                <a:spcPts val="1200"/>
              </a:spcAft>
              <a:defRPr sz="1800">
                <a:solidFill>
                  <a:srgbClr val="1D1D1F"/>
                </a:solidFill>
                <a:latin typeface="Arial"/>
              </a:defRPr>
            </a:pPr>
            <a:r>
              <a:t>•  US-China rivalry and Eurasian tensions support a long-term export supercycle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K-Content</a:t>
            </a:r>
          </a:p>
          <a:p>
            <a:pPr>
              <a:spcBef>
                <a:spcPts val="1200"/>
              </a:spcBef>
              <a:defRPr sz="3200" b="1">
                <a:solidFill>
                  <a:srgbClr val="1D1D1F"/>
                </a:solidFill>
                <a:latin typeface="Arial"/>
              </a:defRPr>
            </a:pPr>
            <a:r>
              <a:t>Base Scenario</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Bull Scenario</a:t>
            </a:r>
          </a:p>
          <a:p>
            <a:pPr>
              <a:lnSpc>
                <a:spcPct val="130000"/>
              </a:lnSpc>
              <a:spcAft>
                <a:spcPts val="1200"/>
              </a:spcAft>
              <a:defRPr sz="1800">
                <a:solidFill>
                  <a:srgbClr val="1D1D1F"/>
                </a:solidFill>
                <a:latin typeface="Arial"/>
              </a:defRPr>
            </a:pPr>
            <a:r>
              <a:t>•  Bear Scenario</a:t>
            </a:r>
          </a:p>
          <a:p>
            <a:pPr>
              <a:lnSpc>
                <a:spcPct val="130000"/>
              </a:lnSpc>
              <a:spcAft>
                <a:spcPts val="1200"/>
              </a:spcAft>
              <a:defRPr sz="1800">
                <a:solidFill>
                  <a:srgbClr val="1D1D1F"/>
                </a:solidFill>
                <a:latin typeface="Arial"/>
              </a:defRPr>
            </a:pPr>
            <a:r>
              <a:t>•  Co-expansion of live visual, IP business, and games led by HYBE, SM, CJ ENM</a:t>
            </a:r>
          </a:p>
          <a:p>
            <a:pPr>
              <a:lnSpc>
                <a:spcPct val="130000"/>
              </a:lnSpc>
              <a:spcAft>
                <a:spcPts val="1200"/>
              </a:spcAft>
              <a:defRPr sz="1800">
                <a:solidFill>
                  <a:srgbClr val="1D1D1F"/>
                </a:solidFill>
                <a:latin typeface="Arial"/>
              </a:defRPr>
            </a:pPr>
            <a:r>
              <a:t>•  Diversifying cultural territory beyond K-pop into Game, Film, Animation, Fashion</a:t>
            </a:r>
          </a:p>
          <a:p>
            <a:pPr>
              <a:lnSpc>
                <a:spcPct val="130000"/>
              </a:lnSpc>
              <a:spcAft>
                <a:spcPts val="1200"/>
              </a:spcAft>
              <a:defRPr sz="1800">
                <a:solidFill>
                  <a:srgbClr val="1D1D1F"/>
                </a:solidFill>
                <a:latin typeface="Arial"/>
              </a:defRPr>
            </a:pPr>
            <a:r>
              <a:t>•  Inflection point: $1T K-pop market evolving into a $3T intangible asset empire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Quantum / Hydrogen / Space</a:t>
            </a:r>
          </a:p>
          <a:p>
            <a:pPr>
              <a:spcBef>
                <a:spcPts val="1200"/>
              </a:spcBef>
              <a:defRPr sz="3200" b="1">
                <a:solidFill>
                  <a:srgbClr val="1D1D1F"/>
                </a:solidFill>
                <a:latin typeface="Arial"/>
              </a:defRPr>
            </a:pPr>
            <a:r>
              <a:t>Base Scenario</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Bull Scenario</a:t>
            </a:r>
          </a:p>
          <a:p>
            <a:pPr>
              <a:lnSpc>
                <a:spcPct val="130000"/>
              </a:lnSpc>
              <a:spcAft>
                <a:spcPts val="1200"/>
              </a:spcAft>
              <a:defRPr sz="1800">
                <a:solidFill>
                  <a:srgbClr val="1D1D1F"/>
                </a:solidFill>
                <a:latin typeface="Arial"/>
              </a:defRPr>
            </a:pPr>
            <a:r>
              <a:t>•  Bear Scenario</a:t>
            </a:r>
          </a:p>
          <a:p>
            <a:pPr>
              <a:lnSpc>
                <a:spcPct val="130000"/>
              </a:lnSpc>
              <a:spcAft>
                <a:spcPts val="1200"/>
              </a:spcAft>
              <a:defRPr sz="1800">
                <a:solidFill>
                  <a:srgbClr val="1D1D1F"/>
                </a:solidFill>
                <a:latin typeface="Arial"/>
              </a:defRPr>
            </a:pPr>
            <a:r>
              <a:t>•  Preemptive preparation for the disruptive future potential of Deep Tech infrastructure</a:t>
            </a:r>
          </a:p>
          <a:p>
            <a:pPr>
              <a:lnSpc>
                <a:spcPct val="130000"/>
              </a:lnSpc>
              <a:spcAft>
                <a:spcPts val="1200"/>
              </a:spcAft>
              <a:defRPr sz="1800">
                <a:solidFill>
                  <a:srgbClr val="1D1D1F"/>
                </a:solidFill>
                <a:latin typeface="Arial"/>
              </a:defRPr>
            </a:pPr>
            <a:r>
              <a:t>•  Low short-term macro contribution, but unpredictable long-term impact</a:t>
            </a:r>
          </a:p>
          <a:p>
            <a:pPr>
              <a:lnSpc>
                <a:spcPct val="130000"/>
              </a:lnSpc>
              <a:spcAft>
                <a:spcPts val="1200"/>
              </a:spcAft>
              <a:defRPr sz="1800">
                <a:solidFill>
                  <a:srgbClr val="1D1D1F"/>
                </a:solidFill>
                <a:latin typeface="Arial"/>
              </a:defRPr>
            </a:pPr>
            <a:r>
              <a:t>•  Essential national \'Option Value\' to hedge against geopolitical and tech uncertainty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Senior Care Economy</a:t>
            </a:r>
          </a:p>
          <a:p>
            <a:pPr>
              <a:spcBef>
                <a:spcPts val="1200"/>
              </a:spcBef>
              <a:defRPr sz="3200" b="1">
                <a:solidFill>
                  <a:srgbClr val="1D1D1F"/>
                </a:solidFill>
                <a:latin typeface="Arial"/>
              </a:defRPr>
            </a:pPr>
            <a:r>
              <a:t>Base Scenario</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Bull Scenario</a:t>
            </a:r>
          </a:p>
          <a:p>
            <a:pPr>
              <a:lnSpc>
                <a:spcPct val="130000"/>
              </a:lnSpc>
              <a:spcAft>
                <a:spcPts val="1200"/>
              </a:spcAft>
              <a:defRPr sz="1800">
                <a:solidFill>
                  <a:srgbClr val="1D1D1F"/>
                </a:solidFill>
                <a:latin typeface="Arial"/>
              </a:defRPr>
            </a:pPr>
            <a:r>
              <a:t>•  Bear Scenario</a:t>
            </a:r>
          </a:p>
          <a:p>
            <a:pPr>
              <a:lnSpc>
                <a:spcPct val="130000"/>
              </a:lnSpc>
              <a:spcAft>
                <a:spcPts val="1200"/>
              </a:spcAft>
              <a:defRPr sz="1800">
                <a:solidFill>
                  <a:srgbClr val="1D1D1F"/>
                </a:solidFill>
                <a:latin typeface="Arial"/>
              </a:defRPr>
            </a:pPr>
            <a:r>
              <a:t>•  Korea Senior Housing penetration is 0.6%, an extreme blue ocean compared to US(11%), AUS(6%)</a:t>
            </a:r>
          </a:p>
          <a:p>
            <a:pPr>
              <a:lnSpc>
                <a:spcPct val="130000"/>
              </a:lnSpc>
              <a:spcAft>
                <a:spcPts val="1200"/>
              </a:spcAft>
              <a:defRPr sz="1800">
                <a:solidFill>
                  <a:srgbClr val="1D1D1F"/>
                </a:solidFill>
                <a:latin typeface="Arial"/>
              </a:defRPr>
            </a:pPr>
            <a:r>
              <a:t>•  Total Senior Housing market expected to explode from 72T in 2020 to 168T in 2030</a:t>
            </a:r>
          </a:p>
          <a:p>
            <a:pPr>
              <a:lnSpc>
                <a:spcPct val="130000"/>
              </a:lnSpc>
              <a:spcAft>
                <a:spcPts val="1200"/>
              </a:spcAft>
              <a:defRPr sz="1800">
                <a:solidFill>
                  <a:srgbClr val="1D1D1F"/>
                </a:solidFill>
                <a:latin typeface="Arial"/>
              </a:defRPr>
            </a:pPr>
            <a:r>
              <a:t>•  IGIS-KB Golden Life Care Silver Town launch (first fund-based supply by a domestic AMC)</a:t>
            </a:r>
          </a:p>
          <a:p>
            <a:pPr>
              <a:lnSpc>
                <a:spcPct val="130000"/>
              </a:lnSpc>
              <a:spcAft>
                <a:spcPts val="1200"/>
              </a:spcAft>
              <a:defRPr sz="1800">
                <a:solidFill>
                  <a:srgbClr val="1D1D1F"/>
                </a:solidFill>
                <a:latin typeface="Arial"/>
              </a:defRPr>
            </a:pPr>
            <a:r>
              <a:t>•  Warburg Pincus &amp; Invesco entry into Korea Senior Market (2026 expected) is the starting point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3.</a:t>
            </a:r>
          </a:p>
          <a:p>
            <a:pPr algn="ctr">
              <a:spcBef>
                <a:spcPts val="1200"/>
              </a:spcBef>
              <a:defRPr sz="3200" b="1">
                <a:solidFill>
                  <a:srgbClr val="FFFFFF"/>
                </a:solidFill>
                <a:latin typeface="Arial"/>
              </a:defRPr>
            </a:pPr>
            <a:r>
              <a:t>Demographic &amp; Structural Variables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Beginning of a Harsh Demographic Diet</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Steep shrinkage of national scale facing after 2024 peak of 51.75M</a:t>
            </a:r>
          </a:p>
          <a:p>
            <a:pPr>
              <a:lnSpc>
                <a:spcPct val="130000"/>
              </a:lnSpc>
              <a:spcAft>
                <a:spcPts val="1200"/>
              </a:spcAft>
              <a:defRPr sz="1800">
                <a:solidFill>
                  <a:srgbClr val="FFFFFF"/>
                </a:solidFill>
                <a:latin typeface="Arial"/>
              </a:defRPr>
            </a:pPr>
            <a:r>
              <a:t>•  60M</a:t>
            </a:r>
          </a:p>
          <a:p>
            <a:pPr>
              <a:lnSpc>
                <a:spcPct val="130000"/>
              </a:lnSpc>
              <a:spcAft>
                <a:spcPts val="1200"/>
              </a:spcAft>
              <a:defRPr sz="1800">
                <a:solidFill>
                  <a:srgbClr val="FFFFFF"/>
                </a:solidFill>
                <a:latin typeface="Arial"/>
              </a:defRPr>
            </a:pPr>
            <a:r>
              <a:t>•  40M</a:t>
            </a:r>
          </a:p>
          <a:p>
            <a:pPr>
              <a:lnSpc>
                <a:spcPct val="130000"/>
              </a:lnSpc>
              <a:spcAft>
                <a:spcPts val="1200"/>
              </a:spcAft>
              <a:defRPr sz="1800">
                <a:solidFill>
                  <a:srgbClr val="FFFFFF"/>
                </a:solidFill>
                <a:latin typeface="Arial"/>
              </a:defRPr>
            </a:pPr>
            <a:r>
              <a:t>•  20M</a:t>
            </a:r>
          </a:p>
          <a:p>
            <a:pPr>
              <a:lnSpc>
                <a:spcPct val="130000"/>
              </a:lnSpc>
              <a:spcAft>
                <a:spcPts val="1200"/>
              </a:spcAft>
              <a:defRPr sz="1800">
                <a:solidFill>
                  <a:srgbClr val="FFFFFF"/>
                </a:solidFill>
                <a:latin typeface="Arial"/>
              </a:defRPr>
            </a:pPr>
            <a:r>
              <a:t>•  0</a:t>
            </a:r>
          </a:p>
          <a:p>
            <a:pPr>
              <a:lnSpc>
                <a:spcPct val="130000"/>
              </a:lnSpc>
              <a:spcAft>
                <a:spcPts val="1200"/>
              </a:spcAft>
              <a:defRPr sz="1800">
                <a:solidFill>
                  <a:srgbClr val="FFFFFF"/>
                </a:solidFill>
                <a:latin typeface="Arial"/>
              </a:defRPr>
            </a:pPr>
            <a:r>
              <a:t>•  51.75M</a:t>
            </a:r>
          </a:p>
          <a:p>
            <a:pPr>
              <a:lnSpc>
                <a:spcPct val="130000"/>
              </a:lnSpc>
              <a:spcAft>
                <a:spcPts val="1200"/>
              </a:spcAft>
              <a:defRPr sz="1800">
                <a:solidFill>
                  <a:srgbClr val="FFFFFF"/>
                </a:solidFill>
                <a:latin typeface="Arial"/>
              </a:defRPr>
            </a:pPr>
            <a:r>
              <a:t>•  2024 (Peak)</a:t>
            </a:r>
          </a:p>
          <a:p>
            <a:pPr>
              <a:lnSpc>
                <a:spcPct val="130000"/>
              </a:lnSpc>
              <a:spcAft>
                <a:spcPts val="1200"/>
              </a:spcAft>
              <a:defRPr sz="1800">
                <a:solidFill>
                  <a:srgbClr val="FFFFFF"/>
                </a:solidFill>
                <a:latin typeface="Arial"/>
              </a:defRPr>
            </a:pPr>
            <a:r>
              <a:t>•  47.34M</a:t>
            </a:r>
          </a:p>
          <a:p>
            <a:pPr>
              <a:lnSpc>
                <a:spcPct val="130000"/>
              </a:lnSpc>
              <a:spcAft>
                <a:spcPts val="1200"/>
              </a:spcAft>
              <a:defRPr sz="1800">
                <a:solidFill>
                  <a:srgbClr val="FFFFFF"/>
                </a:solidFill>
                <a:latin typeface="Arial"/>
              </a:defRPr>
            </a:pPr>
            <a:r>
              <a:t>•  2040</a:t>
            </a:r>
          </a:p>
          <a:p>
            <a:pPr>
              <a:lnSpc>
                <a:spcPct val="130000"/>
              </a:lnSpc>
              <a:spcAft>
                <a:spcPts val="1200"/>
              </a:spcAft>
              <a:defRPr sz="1800">
                <a:solidFill>
                  <a:srgbClr val="FFFFFF"/>
                </a:solidFill>
                <a:latin typeface="Arial"/>
              </a:defRPr>
            </a:pPr>
            <a:r>
              <a:t>•  43M</a:t>
            </a:r>
          </a:p>
          <a:p>
            <a:pPr>
              <a:lnSpc>
                <a:spcPct val="130000"/>
              </a:lnSpc>
              <a:spcAft>
                <a:spcPts val="1200"/>
              </a:spcAft>
              <a:defRPr sz="1800">
                <a:solidFill>
                  <a:srgbClr val="FFFFFF"/>
                </a:solidFill>
                <a:latin typeface="Arial"/>
              </a:defRPr>
            </a:pPr>
            <a:r>
              <a:t>•  2050</a:t>
            </a:r>
          </a:p>
          <a:p>
            <a:pPr>
              <a:lnSpc>
                <a:spcPct val="130000"/>
              </a:lnSpc>
              <a:spcAft>
                <a:spcPts val="1200"/>
              </a:spcAft>
              <a:defRPr sz="1800">
                <a:solidFill>
                  <a:srgbClr val="FFFFFF"/>
                </a:solidFill>
                <a:latin typeface="Arial"/>
              </a:defRPr>
            </a:pPr>
            <a:r>
              <a:t>•  36.64M</a:t>
            </a:r>
          </a:p>
          <a:p>
            <a:pPr>
              <a:lnSpc>
                <a:spcPct val="130000"/>
              </a:lnSpc>
              <a:spcAft>
                <a:spcPts val="1200"/>
              </a:spcAft>
              <a:defRPr sz="1800">
                <a:solidFill>
                  <a:srgbClr val="FFFFFF"/>
                </a:solidFill>
                <a:latin typeface="Arial"/>
              </a:defRPr>
            </a:pPr>
            <a:r>
              <a:t>•  2060</a:t>
            </a:r>
          </a:p>
          <a:p>
            <a:pPr>
              <a:lnSpc>
                <a:spcPct val="130000"/>
              </a:lnSpc>
              <a:spcAft>
                <a:spcPts val="1200"/>
              </a:spcAft>
              <a:defRPr sz="1800">
                <a:solidFill>
                  <a:srgbClr val="FFFFFF"/>
                </a:solidFill>
                <a:latin typeface="Arial"/>
              </a:defRPr>
            </a:pPr>
            <a:r>
              <a:t>•  11M~30M</a:t>
            </a:r>
          </a:p>
          <a:p>
            <a:pPr>
              <a:lnSpc>
                <a:spcPct val="130000"/>
              </a:lnSpc>
              <a:spcAft>
                <a:spcPts val="1200"/>
              </a:spcAft>
              <a:defRPr sz="1800">
                <a:solidFill>
                  <a:srgbClr val="FFFFFF"/>
                </a:solidFill>
                <a:latin typeface="Arial"/>
              </a:defRPr>
            </a:pPr>
            <a:r>
              <a:t>•  2100 (Est.)</a:t>
            </a:r>
          </a:p>
          <a:p>
            <a:pPr>
              <a:lnSpc>
                <a:spcPct val="130000"/>
              </a:lnSpc>
              <a:spcAft>
                <a:spcPts val="1200"/>
              </a:spcAft>
              <a:defRPr sz="1800">
                <a:solidFill>
                  <a:srgbClr val="FFFFFF"/>
                </a:solidFill>
                <a:latin typeface="Arial"/>
              </a:defRPr>
            </a:pPr>
            <a:r>
              <a:t>•  Entering full decline after 2024 peak of 51.75M (Statistics Korea/UN Med. Var.)</a:t>
            </a:r>
          </a:p>
          <a:p>
            <a:pPr>
              <a:lnSpc>
                <a:spcPct val="130000"/>
              </a:lnSpc>
              <a:spcAft>
                <a:spcPts val="1200"/>
              </a:spcAft>
              <a:defRPr sz="1800">
                <a:solidFill>
                  <a:srgbClr val="FFFFFF"/>
                </a:solidFill>
                <a:latin typeface="Arial"/>
              </a:defRPr>
            </a:pPr>
            <a:r>
              <a:t>•  Steep shrinkage: 47.34M by 2040, 43M by 2050, 36.64M by 2060</a:t>
            </a:r>
          </a:p>
          <a:p>
            <a:pPr>
              <a:lnSpc>
                <a:spcPct val="130000"/>
              </a:lnSpc>
              <a:spcAft>
                <a:spcPts val="1200"/>
              </a:spcAft>
              <a:defRPr sz="1800">
                <a:solidFill>
                  <a:srgbClr val="FFFFFF"/>
                </a:solidFill>
                <a:latin typeface="Arial"/>
              </a:defRPr>
            </a:pPr>
            <a:r>
              <a:t>•  Inevitable scale down to 11M-30M by 2100 (Bayesian Prob. Est.)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Shockwave of 35% Working-Age Pop Evaporation</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Downward pressure on potential growth driven by elderly pop exceeding 30% in 2035</a:t>
            </a:r>
          </a:p>
          <a:p>
            <a:pPr>
              <a:lnSpc>
                <a:spcPct val="130000"/>
              </a:lnSpc>
              <a:spcAft>
                <a:spcPts val="1200"/>
              </a:spcAft>
              <a:defRPr sz="1800">
                <a:solidFill>
                  <a:srgbClr val="FFFFFF"/>
                </a:solidFill>
                <a:latin typeface="Arial"/>
              </a:defRPr>
            </a:pPr>
            <a:r>
              <a:t>•  Senior Pop (65+) Surge</a:t>
            </a:r>
          </a:p>
          <a:p>
            <a:pPr>
              <a:lnSpc>
                <a:spcPct val="130000"/>
              </a:lnSpc>
              <a:spcAft>
                <a:spcPts val="1200"/>
              </a:spcAft>
              <a:defRPr sz="1800">
                <a:solidFill>
                  <a:srgbClr val="FFFFFF"/>
                </a:solidFill>
                <a:latin typeface="Arial"/>
              </a:defRPr>
            </a:pPr>
            <a:r>
              <a:t>•  20%</a:t>
            </a:r>
          </a:p>
          <a:p>
            <a:pPr>
              <a:lnSpc>
                <a:spcPct val="130000"/>
              </a:lnSpc>
              <a:spcAft>
                <a:spcPts val="1200"/>
              </a:spcAft>
              <a:defRPr sz="1800">
                <a:solidFill>
                  <a:srgbClr val="FFFFFF"/>
                </a:solidFill>
                <a:latin typeface="Arial"/>
              </a:defRPr>
            </a:pPr>
            <a:r>
              <a:t>•  2025</a:t>
            </a:r>
          </a:p>
          <a:p>
            <a:pPr>
              <a:lnSpc>
                <a:spcPct val="130000"/>
              </a:lnSpc>
              <a:spcAft>
                <a:spcPts val="1200"/>
              </a:spcAft>
              <a:defRPr sz="1800">
                <a:solidFill>
                  <a:srgbClr val="FFFFFF"/>
                </a:solidFill>
                <a:latin typeface="Arial"/>
              </a:defRPr>
            </a:pPr>
            <a:r>
              <a:t>•  30%</a:t>
            </a:r>
          </a:p>
          <a:p>
            <a:pPr>
              <a:lnSpc>
                <a:spcPct val="130000"/>
              </a:lnSpc>
              <a:spcAft>
                <a:spcPts val="1200"/>
              </a:spcAft>
              <a:defRPr sz="1800">
                <a:solidFill>
                  <a:srgbClr val="FFFFFF"/>
                </a:solidFill>
                <a:latin typeface="Arial"/>
              </a:defRPr>
            </a:pPr>
            <a:r>
              <a:t>•  2035</a:t>
            </a:r>
          </a:p>
          <a:p>
            <a:pPr>
              <a:lnSpc>
                <a:spcPct val="130000"/>
              </a:lnSpc>
              <a:spcAft>
                <a:spcPts val="1200"/>
              </a:spcAft>
              <a:defRPr sz="1800">
                <a:solidFill>
                  <a:srgbClr val="FFFFFF"/>
                </a:solidFill>
                <a:latin typeface="Arial"/>
              </a:defRPr>
            </a:pPr>
            <a:r>
              <a:t>•  33%</a:t>
            </a:r>
          </a:p>
          <a:p>
            <a:pPr>
              <a:lnSpc>
                <a:spcPct val="130000"/>
              </a:lnSpc>
              <a:spcAft>
                <a:spcPts val="1200"/>
              </a:spcAft>
              <a:defRPr sz="1800">
                <a:solidFill>
                  <a:srgbClr val="FFFFFF"/>
                </a:solidFill>
                <a:latin typeface="Arial"/>
              </a:defRPr>
            </a:pPr>
            <a:r>
              <a:t>•  2040</a:t>
            </a:r>
          </a:p>
          <a:p>
            <a:pPr>
              <a:lnSpc>
                <a:spcPct val="130000"/>
              </a:lnSpc>
              <a:spcAft>
                <a:spcPts val="1200"/>
              </a:spcAft>
              <a:defRPr sz="1800">
                <a:solidFill>
                  <a:srgbClr val="FFFFFF"/>
                </a:solidFill>
                <a:latin typeface="Arial"/>
              </a:defRPr>
            </a:pPr>
            <a:r>
              <a:t>•  Working-age Pop (15-64) Evaporation</a:t>
            </a:r>
          </a:p>
          <a:p>
            <a:pPr>
              <a:lnSpc>
                <a:spcPct val="130000"/>
              </a:lnSpc>
              <a:spcAft>
                <a:spcPts val="1200"/>
              </a:spcAft>
              <a:defRPr sz="1800">
                <a:solidFill>
                  <a:srgbClr val="FFFFFF"/>
                </a:solidFill>
                <a:latin typeface="Arial"/>
              </a:defRPr>
            </a:pPr>
            <a:r>
              <a:t>•  37.38M</a:t>
            </a:r>
          </a:p>
          <a:p>
            <a:pPr>
              <a:lnSpc>
                <a:spcPct val="130000"/>
              </a:lnSpc>
              <a:spcAft>
                <a:spcPts val="1200"/>
              </a:spcAft>
              <a:defRPr sz="1800">
                <a:solidFill>
                  <a:srgbClr val="FFFFFF"/>
                </a:solidFill>
                <a:latin typeface="Arial"/>
              </a:defRPr>
            </a:pPr>
            <a:r>
              <a:t>•  2020</a:t>
            </a:r>
          </a:p>
          <a:p>
            <a:pPr>
              <a:lnSpc>
                <a:spcPct val="130000"/>
              </a:lnSpc>
              <a:spcAft>
                <a:spcPts val="1200"/>
              </a:spcAft>
              <a:defRPr sz="1800">
                <a:solidFill>
                  <a:srgbClr val="FFFFFF"/>
                </a:solidFill>
                <a:latin typeface="Arial"/>
              </a:defRPr>
            </a:pPr>
            <a:r>
              <a:t>•  📉 -35%</a:t>
            </a:r>
          </a:p>
          <a:p>
            <a:pPr>
              <a:lnSpc>
                <a:spcPct val="130000"/>
              </a:lnSpc>
              <a:spcAft>
                <a:spcPts val="1200"/>
              </a:spcAft>
              <a:defRPr sz="1800">
                <a:solidFill>
                  <a:srgbClr val="FFFFFF"/>
                </a:solidFill>
                <a:latin typeface="Arial"/>
              </a:defRPr>
            </a:pPr>
            <a:r>
              <a:t>•  24.19M</a:t>
            </a:r>
          </a:p>
          <a:p>
            <a:pPr>
              <a:lnSpc>
                <a:spcPct val="130000"/>
              </a:lnSpc>
              <a:spcAft>
                <a:spcPts val="1200"/>
              </a:spcAft>
              <a:defRPr sz="1800">
                <a:solidFill>
                  <a:srgbClr val="FFFFFF"/>
                </a:solidFill>
                <a:latin typeface="Arial"/>
              </a:defRPr>
            </a:pPr>
            <a:r>
              <a:t>•  2050</a:t>
            </a:r>
          </a:p>
          <a:p>
            <a:pPr>
              <a:lnSpc>
                <a:spcPct val="130000"/>
              </a:lnSpc>
              <a:spcAft>
                <a:spcPts val="1200"/>
              </a:spcAft>
              <a:defRPr sz="1800">
                <a:solidFill>
                  <a:srgbClr val="FFFFFF"/>
                </a:solidFill>
                <a:latin typeface="Arial"/>
              </a:defRPr>
            </a:pPr>
            <a:r>
              <a:t>•  Seniors (65+) to hit 20% by 2025, topping 30% by 2035</a:t>
            </a:r>
          </a:p>
          <a:p>
            <a:pPr>
              <a:lnSpc>
                <a:spcPct val="130000"/>
              </a:lnSpc>
              <a:spcAft>
                <a:spcPts val="1200"/>
              </a:spcAft>
              <a:defRPr sz="1800">
                <a:solidFill>
                  <a:srgbClr val="FFFFFF"/>
                </a:solidFill>
                <a:latin typeface="Arial"/>
              </a:defRPr>
            </a:pPr>
            <a:r>
              <a:t>•  Working-age pop drops from 37.38M in 2020 to 24.19M in 2050 (~35% drop)</a:t>
            </a:r>
          </a:p>
          <a:p>
            <a:pPr>
              <a:lnSpc>
                <a:spcPct val="130000"/>
              </a:lnSpc>
              <a:spcAft>
                <a:spcPts val="1200"/>
              </a:spcAft>
              <a:defRPr sz="1800">
                <a:solidFill>
                  <a:srgbClr val="FFFFFF"/>
                </a:solidFill>
                <a:latin typeface="Arial"/>
              </a:defRPr>
            </a:pPr>
            <a:r>
              <a:t>•  Extreme dependency ratio &amp; labor shortage adds downward macro pressure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Great Capital Shift via Demographic Paradox</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Big bang in AM &amp; Senior Housing demand unlocked by household asset securitization</a:t>
            </a:r>
          </a:p>
          <a:p>
            <a:pPr>
              <a:lnSpc>
                <a:spcPct val="130000"/>
              </a:lnSpc>
              <a:spcAft>
                <a:spcPts val="1200"/>
              </a:spcAft>
              <a:defRPr sz="1800">
                <a:solidFill>
                  <a:srgbClr val="FFFFFF"/>
                </a:solidFill>
                <a:latin typeface="Arial"/>
              </a:defRPr>
            </a:pPr>
            <a:r>
              <a:t>•  Demographic Paradox</a:t>
            </a:r>
          </a:p>
          <a:p>
            <a:pPr>
              <a:lnSpc>
                <a:spcPct val="130000"/>
              </a:lnSpc>
              <a:spcAft>
                <a:spcPts val="1200"/>
              </a:spcAft>
              <a:defRPr sz="1800">
                <a:solidFill>
                  <a:srgbClr val="FFFFFF"/>
                </a:solidFill>
                <a:latin typeface="Arial"/>
              </a:defRPr>
            </a:pPr>
            <a:r>
              <a:t>•  Massive Household Asset Liquidity</a:t>
            </a:r>
          </a:p>
          <a:p>
            <a:pPr>
              <a:lnSpc>
                <a:spcPct val="130000"/>
              </a:lnSpc>
              <a:spcAft>
                <a:spcPts val="1200"/>
              </a:spcAft>
              <a:defRPr sz="1800">
                <a:solidFill>
                  <a:srgbClr val="FFFFFF"/>
                </a:solidFill>
                <a:latin typeface="Arial"/>
              </a:defRPr>
            </a:pPr>
            <a:r>
              <a:t>•  Accelerated RE &amp; Financial Asset Disposal</a:t>
            </a:r>
          </a:p>
          <a:p>
            <a:pPr>
              <a:lnSpc>
                <a:spcPct val="130000"/>
              </a:lnSpc>
              <a:spcAft>
                <a:spcPts val="1200"/>
              </a:spcAft>
              <a:defRPr sz="1800">
                <a:solidFill>
                  <a:srgbClr val="FFFFFF"/>
                </a:solidFill>
                <a:latin typeface="Arial"/>
              </a:defRPr>
            </a:pPr>
            <a:r>
              <a:t>•  Explosive Capital Transfer to Asset Mgt</a:t>
            </a:r>
          </a:p>
          <a:p>
            <a:pPr>
              <a:lnSpc>
                <a:spcPct val="130000"/>
              </a:lnSpc>
              <a:spcAft>
                <a:spcPts val="1200"/>
              </a:spcAft>
              <a:defRPr sz="1800">
                <a:solidFill>
                  <a:srgbClr val="FFFFFF"/>
                </a:solidFill>
                <a:latin typeface="Arial"/>
              </a:defRPr>
            </a:pPr>
            <a:r>
              <a:t>•  Big Bang in Senior Housing &amp; Healthcare</a:t>
            </a:r>
          </a:p>
          <a:p>
            <a:pPr>
              <a:lnSpc>
                <a:spcPct val="130000"/>
              </a:lnSpc>
              <a:spcAft>
                <a:spcPts val="1200"/>
              </a:spcAft>
              <a:defRPr sz="1800">
                <a:solidFill>
                  <a:srgbClr val="FFFFFF"/>
                </a:solidFill>
                <a:latin typeface="Arial"/>
              </a:defRPr>
            </a:pPr>
            <a:r>
              <a:t>•  일본 \'잃어버린 30년\'의 신규 시장 패턴과 유사' : '💡 Global Benchmark: Similar to Japan\'s New Market Patterns in Lost 30 Yrs'</a:t>
            </a:r>
          </a:p>
          <a:p>
            <a:pPr>
              <a:lnSpc>
                <a:spcPct val="130000"/>
              </a:lnSpc>
              <a:spcAft>
                <a:spcPts val="1200"/>
              </a:spcAft>
              <a:defRPr sz="1800">
                <a:solidFill>
                  <a:srgbClr val="FFFFFF"/>
                </a:solidFill>
                <a:latin typeface="Arial"/>
              </a:defRPr>
            </a:pPr>
            <a:r>
              <a:t>•  노동력 부족이라는 부정 효과와 시니어 하우징 등 신규 시장 창출 효과 병존' : 'Macro Duality: Negative labor shortage co-exists with new market creation'</a:t>
            </a:r>
          </a:p>
          <a:p>
            <a:pPr>
              <a:lnSpc>
                <a:spcPct val="130000"/>
              </a:lnSpc>
              <a:spcAft>
                <a:spcPts val="1200"/>
              </a:spcAft>
              <a:defRPr sz="1800">
                <a:solidFill>
                  <a:srgbClr val="FFFFFF"/>
                </a:solidFill>
                <a:latin typeface="Arial"/>
              </a:defRPr>
            </a:pPr>
            <a:r>
              <a:t>•  Disposal of household assets shifts to AMC, causing massive capital movement</a:t>
            </a:r>
          </a:p>
          <a:p>
            <a:pPr>
              <a:lnSpc>
                <a:spcPct val="130000"/>
              </a:lnSpc>
              <a:spcAft>
                <a:spcPts val="1200"/>
              </a:spcAft>
              <a:defRPr sz="1800">
                <a:solidFill>
                  <a:srgbClr val="FFFFFF"/>
                </a:solidFill>
                <a:latin typeface="Arial"/>
              </a:defRPr>
            </a:pPr>
            <a:r>
              <a:t>•  Similar to Japan creating new markets in AMC, Senior Care, and Inbound Tourism</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Fundamentals Defended by Immigration &amp; AI</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Macro soft-landing strategy via 10% foreign pop and tech productivity offsets</a:t>
            </a:r>
          </a:p>
          <a:p>
            <a:pPr>
              <a:lnSpc>
                <a:spcPct val="130000"/>
              </a:lnSpc>
              <a:spcAft>
                <a:spcPts val="1200"/>
              </a:spcAft>
              <a:defRPr sz="1800">
                <a:solidFill>
                  <a:srgbClr val="1D1D1F"/>
                </a:solidFill>
                <a:latin typeface="Arial"/>
              </a:defRPr>
            </a:pPr>
            <a:r>
              <a:t>•  2 Core Strategies to Defend Downward Pressure on Potential Growth</a:t>
            </a:r>
          </a:p>
          <a:p>
            <a:pPr>
              <a:lnSpc>
                <a:spcPct val="130000"/>
              </a:lnSpc>
              <a:spcAft>
                <a:spcPts val="1200"/>
              </a:spcAft>
              <a:defRPr sz="1800">
                <a:solidFill>
                  <a:srgbClr val="1D1D1F"/>
                </a:solidFill>
                <a:latin typeface="Arial"/>
              </a:defRPr>
            </a:pPr>
            <a:r>
              <a:t>•  Strategy 01. Expand Immigration</a:t>
            </a:r>
          </a:p>
          <a:p>
            <a:pPr>
              <a:lnSpc>
                <a:spcPct val="130000"/>
              </a:lnSpc>
              <a:spcAft>
                <a:spcPts val="1200"/>
              </a:spcAft>
              <a:defRPr sz="1800">
                <a:solidFill>
                  <a:srgbClr val="1D1D1F"/>
                </a:solidFill>
                <a:latin typeface="Arial"/>
              </a:defRPr>
            </a:pPr>
            <a:r>
              <a:t>•  4.5%</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10%</a:t>
            </a:r>
          </a:p>
          <a:p>
            <a:pPr>
              <a:lnSpc>
                <a:spcPct val="130000"/>
              </a:lnSpc>
              <a:spcAft>
                <a:spcPts val="1200"/>
              </a:spcAft>
              <a:defRPr sz="1800">
                <a:solidFill>
                  <a:srgbClr val="1D1D1F"/>
                </a:solidFill>
                <a:latin typeface="Arial"/>
              </a:defRPr>
            </a:pPr>
            <a:r>
              <a:t>•  2040 Target (Singapore Model)</a:t>
            </a:r>
          </a:p>
          <a:p>
            <a:pPr>
              <a:lnSpc>
                <a:spcPct val="130000"/>
              </a:lnSpc>
              <a:spcAft>
                <a:spcPts val="1200"/>
              </a:spcAft>
              <a:defRPr sz="1800">
                <a:solidFill>
                  <a:srgbClr val="1D1D1F"/>
                </a:solidFill>
                <a:latin typeface="Arial"/>
              </a:defRPr>
            </a:pPr>
            <a:r>
              <a:t>•  Strategy 02. AI Tech Offsets</a:t>
            </a:r>
          </a:p>
          <a:p>
            <a:pPr>
              <a:lnSpc>
                <a:spcPct val="130000"/>
              </a:lnSpc>
              <a:spcAft>
                <a:spcPts val="1200"/>
              </a:spcAft>
              <a:defRPr sz="1800">
                <a:solidFill>
                  <a:srgbClr val="1D1D1F"/>
                </a:solidFill>
                <a:latin typeface="Arial"/>
              </a:defRPr>
            </a:pPr>
            <a:r>
              <a:t>•  0.5~1.0</a:t>
            </a:r>
          </a:p>
          <a:p>
            <a:pPr>
              <a:lnSpc>
                <a:spcPct val="130000"/>
              </a:lnSpc>
              <a:spcAft>
                <a:spcPts val="1200"/>
              </a:spcAft>
              <a:defRPr sz="1800">
                <a:solidFill>
                  <a:srgbClr val="1D1D1F"/>
                </a:solidFill>
                <a:latin typeface="Arial"/>
              </a:defRPr>
            </a:pPr>
            <a:r>
              <a:t>•  %p</a:t>
            </a:r>
          </a:p>
          <a:p>
            <a:pPr>
              <a:lnSpc>
                <a:spcPct val="130000"/>
              </a:lnSpc>
              <a:spcAft>
                <a:spcPts val="1200"/>
              </a:spcAft>
              <a:defRPr sz="1800">
                <a:solidFill>
                  <a:srgbClr val="1D1D1F"/>
                </a:solidFill>
                <a:latin typeface="Arial"/>
              </a:defRPr>
            </a:pPr>
            <a:r>
              <a:t>•  Economic Defense via Productivity</a:t>
            </a:r>
          </a:p>
          <a:p>
            <a:pPr>
              <a:lnSpc>
                <a:spcPct val="130000"/>
              </a:lnSpc>
              <a:spcAft>
                <a:spcPts val="1200"/>
              </a:spcAft>
              <a:defRPr sz="1800">
                <a:solidFill>
                  <a:srgbClr val="1D1D1F"/>
                </a:solidFill>
                <a:latin typeface="Arial"/>
              </a:defRPr>
            </a:pPr>
            <a:r>
              <a:t>•  Foreigner share at 4.5%, but Bull scenario targets 10% by 2040</a:t>
            </a:r>
          </a:p>
          <a:p>
            <a:pPr>
              <a:lnSpc>
                <a:spcPct val="130000"/>
              </a:lnSpc>
              <a:spcAft>
                <a:spcPts val="1200"/>
              </a:spcAft>
              <a:defRPr sz="1800">
                <a:solidFill>
                  <a:srgbClr val="1D1D1F"/>
                </a:solidFill>
                <a:latin typeface="Arial"/>
              </a:defRPr>
            </a:pPr>
            <a:r>
              <a:t>•  Adopts Singapore model (30%+) to actively defend labor shortage</a:t>
            </a:r>
          </a:p>
          <a:p>
            <a:pPr>
              <a:lnSpc>
                <a:spcPct val="130000"/>
              </a:lnSpc>
              <a:spcAft>
                <a:spcPts val="1200"/>
              </a:spcAft>
              <a:defRPr sz="1800">
                <a:solidFill>
                  <a:srgbClr val="1D1D1F"/>
                </a:solidFill>
                <a:latin typeface="Arial"/>
              </a:defRPr>
            </a:pPr>
            <a:r>
              <a:t>•  AI adoption (BCG/McKinsey) can offset pop decline impact by up to 1.0%p</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4.</a:t>
            </a:r>
          </a:p>
          <a:p>
            <a:pPr algn="ctr">
              <a:spcBef>
                <a:spcPts val="1200"/>
              </a:spcBef>
              <a:defRPr sz="3200" b="1">
                <a:solidFill>
                  <a:srgbClr val="FFFFFF"/>
                </a:solidFill>
                <a:latin typeface="Arial"/>
              </a:defRPr>
            </a:pPr>
            <a:r>
              <a:t>Seoul Office Market 2030~2040 Outlook</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Expansion to a 7-Axis Mega District</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Reorganization of District Map led by YSBD (Yongsan/Seoul Station) &amp; KBD (Samsung/Jamsil)</a:t>
            </a:r>
          </a:p>
          <a:p>
            <a:pPr>
              <a:lnSpc>
                <a:spcPct val="130000"/>
              </a:lnSpc>
              <a:spcAft>
                <a:spcPts val="1200"/>
              </a:spcAft>
              <a:defRPr sz="1800">
                <a:solidFill>
                  <a:srgbClr val="1D1D1F"/>
                </a:solidFill>
                <a:latin typeface="Arial"/>
              </a:defRPr>
            </a:pPr>
            <a:r>
              <a:t>•  Existing 5-Axis Structure</a:t>
            </a:r>
          </a:p>
          <a:p>
            <a:pPr>
              <a:lnSpc>
                <a:spcPct val="130000"/>
              </a:lnSpc>
              <a:spcAft>
                <a:spcPts val="1200"/>
              </a:spcAft>
              <a:defRPr sz="1800">
                <a:solidFill>
                  <a:srgbClr val="1D1D1F"/>
                </a:solidFill>
                <a:latin typeface="Arial"/>
              </a:defRPr>
            </a:pPr>
            <a:r>
              <a:t>•  CBD</a:t>
            </a:r>
          </a:p>
          <a:p>
            <a:pPr>
              <a:lnSpc>
                <a:spcPct val="130000"/>
              </a:lnSpc>
              <a:spcAft>
                <a:spcPts val="1200"/>
              </a:spcAft>
              <a:defRPr sz="1800">
                <a:solidFill>
                  <a:srgbClr val="1D1D1F"/>
                </a:solidFill>
                <a:latin typeface="Arial"/>
              </a:defRPr>
            </a:pPr>
            <a:r>
              <a:t>•  GBD</a:t>
            </a:r>
          </a:p>
          <a:p>
            <a:pPr>
              <a:lnSpc>
                <a:spcPct val="130000"/>
              </a:lnSpc>
              <a:spcAft>
                <a:spcPts val="1200"/>
              </a:spcAft>
              <a:defRPr sz="1800">
                <a:solidFill>
                  <a:srgbClr val="1D1D1F"/>
                </a:solidFill>
                <a:latin typeface="Arial"/>
              </a:defRPr>
            </a:pPr>
            <a:r>
              <a:t>•  YBD</a:t>
            </a:r>
          </a:p>
          <a:p>
            <a:pPr>
              <a:lnSpc>
                <a:spcPct val="130000"/>
              </a:lnSpc>
              <a:spcAft>
                <a:spcPts val="1200"/>
              </a:spcAft>
              <a:defRPr sz="1800">
                <a:solidFill>
                  <a:srgbClr val="1D1D1F"/>
                </a:solidFill>
                <a:latin typeface="Arial"/>
              </a:defRPr>
            </a:pPr>
            <a:r>
              <a:t>•  MBD (Magok)</a:t>
            </a:r>
          </a:p>
          <a:p>
            <a:pPr>
              <a:lnSpc>
                <a:spcPct val="130000"/>
              </a:lnSpc>
              <a:spcAft>
                <a:spcPts val="1200"/>
              </a:spcAft>
              <a:defRPr sz="1800">
                <a:solidFill>
                  <a:srgbClr val="1D1D1F"/>
                </a:solidFill>
                <a:latin typeface="Arial"/>
              </a:defRPr>
            </a:pPr>
            <a:r>
              <a:t>•  BBD (Bundang/Pangyo)</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Evolved 7-Axis Mega District</a:t>
            </a:r>
          </a:p>
          <a:p>
            <a:pPr>
              <a:lnSpc>
                <a:spcPct val="130000"/>
              </a:lnSpc>
              <a:spcAft>
                <a:spcPts val="1200"/>
              </a:spcAft>
              <a:defRPr sz="1800">
                <a:solidFill>
                  <a:srgbClr val="1D1D1F"/>
                </a:solidFill>
                <a:latin typeface="Arial"/>
              </a:defRPr>
            </a:pPr>
            <a:r>
              <a:t>•  New Mega Nodes Included</a:t>
            </a:r>
          </a:p>
          <a:p>
            <a:pPr>
              <a:lnSpc>
                <a:spcPct val="130000"/>
              </a:lnSpc>
              <a:spcAft>
                <a:spcPts val="1200"/>
              </a:spcAft>
              <a:defRPr sz="1800">
                <a:solidFill>
                  <a:srgbClr val="1D1D1F"/>
                </a:solidFill>
                <a:latin typeface="Arial"/>
              </a:defRPr>
            </a:pPr>
            <a:r>
              <a:t>•  YSBD</a:t>
            </a:r>
          </a:p>
          <a:p>
            <a:pPr>
              <a:lnSpc>
                <a:spcPct val="130000"/>
              </a:lnSpc>
              <a:spcAft>
                <a:spcPts val="1200"/>
              </a:spcAft>
              <a:defRPr sz="1800">
                <a:solidFill>
                  <a:srgbClr val="1D1D1F"/>
                </a:solidFill>
                <a:latin typeface="Arial"/>
              </a:defRPr>
            </a:pPr>
            <a:r>
              <a:t>•  (Yongsan/Seoul Stn)</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KBD</a:t>
            </a:r>
          </a:p>
          <a:p>
            <a:pPr>
              <a:lnSpc>
                <a:spcPct val="130000"/>
              </a:lnSpc>
              <a:spcAft>
                <a:spcPts val="1200"/>
              </a:spcAft>
              <a:defRPr sz="1800">
                <a:solidFill>
                  <a:srgbClr val="1D1D1F"/>
                </a:solidFill>
                <a:latin typeface="Arial"/>
              </a:defRPr>
            </a:pPr>
            <a:r>
              <a:t>•  (Samsung/Jamsil)</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Coexistence of Existing 5-Axis</a:t>
            </a:r>
          </a:p>
          <a:p>
            <a:pPr>
              <a:lnSpc>
                <a:spcPct val="130000"/>
              </a:lnSpc>
              <a:spcAft>
                <a:spcPts val="1200"/>
              </a:spcAft>
              <a:defRPr sz="1800">
                <a:solidFill>
                  <a:srgbClr val="1D1D1F"/>
                </a:solidFill>
                <a:latin typeface="Arial"/>
              </a:defRPr>
            </a:pPr>
            <a:r>
              <a:t>•  Biggest shift over 15 yrs is emergence of YSBD and GBD eastbound expansion (GBC, Jamsil MICE)</a:t>
            </a:r>
          </a:p>
          <a:p>
            <a:pPr>
              <a:lnSpc>
                <a:spcPct val="130000"/>
              </a:lnSpc>
              <a:spcAft>
                <a:spcPts val="1200"/>
              </a:spcAft>
              <a:defRPr sz="1800">
                <a:solidFill>
                  <a:srgbClr val="1D1D1F"/>
                </a:solidFill>
                <a:latin typeface="Arial"/>
              </a:defRPr>
            </a:pPr>
            <a:r>
              <a:t>•  2 new mega-nodes added to existing 3 cores and 2 extended axes, evolving into 7-axis structure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Base Scenario Rent Outlook</a:t>
            </a:r>
          </a:p>
          <a:p>
            <a:pPr>
              <a:spcBef>
                <a:spcPts val="1200"/>
              </a:spcBef>
              <a:defRPr sz="3200" b="1">
                <a:solidFill>
                  <a:srgbClr val="FFFFFF"/>
                </a:solidFill>
                <a:latin typeface="Arial"/>
              </a:defRPr>
            </a:pPr>
            <a:r>
              <a:t>Pricing of New Trophy Assets (IOTA·GBC) Surpassing 340K KRW/py in 2040</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2030</a:t>
            </a:r>
          </a:p>
          <a:p>
            <a:pPr>
              <a:lnSpc>
                <a:spcPct val="130000"/>
              </a:lnSpc>
              <a:spcAft>
                <a:spcPts val="1200"/>
              </a:spcAft>
              <a:defRPr sz="1800">
                <a:solidFill>
                  <a:srgbClr val="FFFFFF"/>
                </a:solidFill>
                <a:latin typeface="Arial"/>
              </a:defRPr>
            </a:pPr>
            <a:r>
              <a:t>•  2035</a:t>
            </a:r>
          </a:p>
          <a:p>
            <a:pPr>
              <a:lnSpc>
                <a:spcPct val="130000"/>
              </a:lnSpc>
              <a:spcAft>
                <a:spcPts val="1200"/>
              </a:spcAft>
              <a:defRPr sz="1800">
                <a:solidFill>
                  <a:srgbClr val="FFFFFF"/>
                </a:solidFill>
                <a:latin typeface="Arial"/>
              </a:defRPr>
            </a:pPr>
            <a:r>
              <a:t>•  2040</a:t>
            </a:r>
          </a:p>
          <a:p>
            <a:pPr>
              <a:lnSpc>
                <a:spcPct val="130000"/>
              </a:lnSpc>
              <a:spcAft>
                <a:spcPts val="1200"/>
              </a:spcAft>
              <a:defRPr sz="1800">
                <a:solidFill>
                  <a:srgbClr val="FFFFFF"/>
                </a:solidFill>
                <a:latin typeface="Arial"/>
              </a:defRPr>
            </a:pPr>
            <a:r>
              <a:t>•  CBD Prime Avg</a:t>
            </a:r>
          </a:p>
          <a:p>
            <a:pPr>
              <a:lnSpc>
                <a:spcPct val="130000"/>
              </a:lnSpc>
              <a:spcAft>
                <a:spcPts val="1200"/>
              </a:spcAft>
              <a:defRPr sz="1800">
                <a:solidFill>
                  <a:srgbClr val="FFFFFF"/>
                </a:solidFill>
                <a:latin typeface="Arial"/>
              </a:defRPr>
            </a:pPr>
            <a:r>
              <a:t>•  17~18</a:t>
            </a:r>
          </a:p>
          <a:p>
            <a:pPr>
              <a:lnSpc>
                <a:spcPct val="130000"/>
              </a:lnSpc>
              <a:spcAft>
                <a:spcPts val="1200"/>
              </a:spcAft>
              <a:defRPr sz="1800">
                <a:solidFill>
                  <a:srgbClr val="FFFFFF"/>
                </a:solidFill>
                <a:latin typeface="Arial"/>
              </a:defRPr>
            </a:pPr>
            <a:r>
              <a:t>•  0k KRW</a:t>
            </a:r>
          </a:p>
          <a:p>
            <a:pPr>
              <a:lnSpc>
                <a:spcPct val="130000"/>
              </a:lnSpc>
              <a:spcAft>
                <a:spcPts val="1200"/>
              </a:spcAft>
              <a:defRPr sz="1800">
                <a:solidFill>
                  <a:srgbClr val="FFFFFF"/>
                </a:solidFill>
                <a:latin typeface="Arial"/>
              </a:defRPr>
            </a:pPr>
            <a:r>
              <a:t>•  21~23</a:t>
            </a:r>
          </a:p>
          <a:p>
            <a:pPr>
              <a:lnSpc>
                <a:spcPct val="130000"/>
              </a:lnSpc>
              <a:spcAft>
                <a:spcPts val="1200"/>
              </a:spcAft>
              <a:defRPr sz="1800">
                <a:solidFill>
                  <a:srgbClr val="FFFFFF"/>
                </a:solidFill>
                <a:latin typeface="Arial"/>
              </a:defRPr>
            </a:pPr>
            <a:r>
              <a:t>•  0k KRW</a:t>
            </a:r>
          </a:p>
          <a:p>
            <a:pPr>
              <a:lnSpc>
                <a:spcPct val="130000"/>
              </a:lnSpc>
              <a:spcAft>
                <a:spcPts val="1200"/>
              </a:spcAft>
              <a:defRPr sz="1800">
                <a:solidFill>
                  <a:srgbClr val="FFFFFF"/>
                </a:solidFill>
                <a:latin typeface="Arial"/>
              </a:defRPr>
            </a:pPr>
            <a:r>
              <a:t>•  25~28</a:t>
            </a:r>
          </a:p>
          <a:p>
            <a:pPr>
              <a:lnSpc>
                <a:spcPct val="130000"/>
              </a:lnSpc>
              <a:spcAft>
                <a:spcPts val="1200"/>
              </a:spcAft>
              <a:defRPr sz="1800">
                <a:solidFill>
                  <a:srgbClr val="FFFFFF"/>
                </a:solidFill>
                <a:latin typeface="Arial"/>
              </a:defRPr>
            </a:pPr>
            <a:r>
              <a:t>•  0k KRW</a:t>
            </a:r>
          </a:p>
          <a:p>
            <a:pPr>
              <a:lnSpc>
                <a:spcPct val="130000"/>
              </a:lnSpc>
              <a:spcAft>
                <a:spcPts val="1200"/>
              </a:spcAft>
              <a:defRPr sz="1800">
                <a:solidFill>
                  <a:srgbClr val="FFFFFF"/>
                </a:solidFill>
                <a:latin typeface="Arial"/>
              </a:defRPr>
            </a:pPr>
            <a:r>
              <a:t>•  GBD Prime Avg</a:t>
            </a:r>
          </a:p>
          <a:p>
            <a:pPr>
              <a:lnSpc>
                <a:spcPct val="130000"/>
              </a:lnSpc>
              <a:spcAft>
                <a:spcPts val="1200"/>
              </a:spcAft>
              <a:defRPr sz="1800">
                <a:solidFill>
                  <a:srgbClr val="FFFFFF"/>
                </a:solidFill>
                <a:latin typeface="Arial"/>
              </a:defRPr>
            </a:pPr>
            <a:r>
              <a:t>•  18~20</a:t>
            </a:r>
          </a:p>
          <a:p>
            <a:pPr>
              <a:lnSpc>
                <a:spcPct val="130000"/>
              </a:lnSpc>
              <a:spcAft>
                <a:spcPts val="1200"/>
              </a:spcAft>
              <a:defRPr sz="1800">
                <a:solidFill>
                  <a:srgbClr val="FFFFFF"/>
                </a:solidFill>
                <a:latin typeface="Arial"/>
              </a:defRPr>
            </a:pPr>
            <a:r>
              <a:t>•  0k KRW</a:t>
            </a:r>
          </a:p>
          <a:p>
            <a:pPr>
              <a:lnSpc>
                <a:spcPct val="130000"/>
              </a:lnSpc>
              <a:spcAft>
                <a:spcPts val="1200"/>
              </a:spcAft>
              <a:defRPr sz="1800">
                <a:solidFill>
                  <a:srgbClr val="FFFFFF"/>
                </a:solidFill>
                <a:latin typeface="Arial"/>
              </a:defRPr>
            </a:pPr>
            <a:r>
              <a:t>•  24~27</a:t>
            </a:r>
          </a:p>
          <a:p>
            <a:pPr>
              <a:lnSpc>
                <a:spcPct val="130000"/>
              </a:lnSpc>
              <a:spcAft>
                <a:spcPts val="1200"/>
              </a:spcAft>
              <a:defRPr sz="1800">
                <a:solidFill>
                  <a:srgbClr val="FFFFFF"/>
                </a:solidFill>
                <a:latin typeface="Arial"/>
              </a:defRPr>
            </a:pPr>
            <a:r>
              <a:t>•  0k KRW</a:t>
            </a:r>
          </a:p>
          <a:p>
            <a:pPr>
              <a:lnSpc>
                <a:spcPct val="130000"/>
              </a:lnSpc>
              <a:spcAft>
                <a:spcPts val="1200"/>
              </a:spcAft>
              <a:defRPr sz="1800">
                <a:solidFill>
                  <a:srgbClr val="FFFFFF"/>
                </a:solidFill>
                <a:latin typeface="Arial"/>
              </a:defRPr>
            </a:pPr>
            <a:r>
              <a:t>•  30~34</a:t>
            </a:r>
          </a:p>
          <a:p>
            <a:pPr>
              <a:lnSpc>
                <a:spcPct val="130000"/>
              </a:lnSpc>
              <a:spcAft>
                <a:spcPts val="1200"/>
              </a:spcAft>
              <a:defRPr sz="1800">
                <a:solidFill>
                  <a:srgbClr val="FFFFFF"/>
                </a:solidFill>
                <a:latin typeface="Arial"/>
              </a:defRPr>
            </a:pPr>
            <a:r>
              <a:t>•  0k KRW</a:t>
            </a:r>
          </a:p>
          <a:p>
            <a:pPr>
              <a:lnSpc>
                <a:spcPct val="130000"/>
              </a:lnSpc>
              <a:spcAft>
                <a:spcPts val="1200"/>
              </a:spcAft>
              <a:defRPr sz="1800">
                <a:solidFill>
                  <a:srgbClr val="FFFFFF"/>
                </a:solidFill>
                <a:latin typeface="Arial"/>
              </a:defRPr>
            </a:pPr>
            <a:r>
              <a:t>•  IOTA Seoul Trophy Office</a:t>
            </a:r>
          </a:p>
          <a:p>
            <a:pPr>
              <a:lnSpc>
                <a:spcPct val="130000"/>
              </a:lnSpc>
              <a:spcAft>
                <a:spcPts val="1200"/>
              </a:spcAft>
              <a:defRPr sz="1800">
                <a:solidFill>
                  <a:srgbClr val="FFFFFF"/>
                </a:solidFill>
                <a:latin typeface="Arial"/>
              </a:defRPr>
            </a:pPr>
            <a:r>
              <a:t>•  23~26</a:t>
            </a:r>
          </a:p>
          <a:p>
            <a:pPr>
              <a:lnSpc>
                <a:spcPct val="130000"/>
              </a:lnSpc>
              <a:spcAft>
                <a:spcPts val="1200"/>
              </a:spcAft>
              <a:defRPr sz="1800">
                <a:solidFill>
                  <a:srgbClr val="FFFFFF"/>
                </a:solidFill>
                <a:latin typeface="Arial"/>
              </a:defRPr>
            </a:pPr>
            <a:r>
              <a:t>•  0k KRW</a:t>
            </a:r>
          </a:p>
          <a:p>
            <a:pPr>
              <a:lnSpc>
                <a:spcPct val="130000"/>
              </a:lnSpc>
              <a:spcAft>
                <a:spcPts val="1200"/>
              </a:spcAft>
              <a:defRPr sz="1800">
                <a:solidFill>
                  <a:srgbClr val="FFFFFF"/>
                </a:solidFill>
                <a:latin typeface="Arial"/>
              </a:defRPr>
            </a:pPr>
            <a:r>
              <a:t>•  USD 130~160</a:t>
            </a:r>
          </a:p>
          <a:p>
            <a:pPr>
              <a:lnSpc>
                <a:spcPct val="130000"/>
              </a:lnSpc>
              <a:spcAft>
                <a:spcPts val="1200"/>
              </a:spcAft>
              <a:defRPr sz="1800">
                <a:solidFill>
                  <a:srgbClr val="FFFFFF"/>
                </a:solidFill>
                <a:latin typeface="Arial"/>
              </a:defRPr>
            </a:pPr>
            <a:r>
              <a:t>•  /sqft/yr</a:t>
            </a:r>
          </a:p>
          <a:p>
            <a:pPr>
              <a:lnSpc>
                <a:spcPct val="130000"/>
              </a:lnSpc>
              <a:spcAft>
                <a:spcPts val="1200"/>
              </a:spcAft>
              <a:defRPr sz="1800">
                <a:solidFill>
                  <a:srgbClr val="FFFFFF"/>
                </a:solidFill>
                <a:latin typeface="Arial"/>
              </a:defRPr>
            </a:pPr>
            <a:r>
              <a:t>•  Tokyo Level</a:t>
            </a:r>
          </a:p>
          <a:p>
            <a:pPr>
              <a:lnSpc>
                <a:spcPct val="130000"/>
              </a:lnSpc>
              <a:spcAft>
                <a:spcPts val="1200"/>
              </a:spcAft>
              <a:defRPr sz="1800">
                <a:solidFill>
                  <a:srgbClr val="FFFFFF"/>
                </a:solidFill>
                <a:latin typeface="Arial"/>
              </a:defRPr>
            </a:pPr>
            <a:r>
              <a:t>•  65~80%</a:t>
            </a:r>
          </a:p>
          <a:p>
            <a:pPr>
              <a:lnSpc>
                <a:spcPct val="130000"/>
              </a:lnSpc>
              <a:spcAft>
                <a:spcPts val="1200"/>
              </a:spcAft>
              <a:defRPr sz="1800">
                <a:solidFill>
                  <a:srgbClr val="FFFFFF"/>
                </a:solidFill>
                <a:latin typeface="Arial"/>
              </a:defRPr>
            </a:pPr>
            <a:r>
              <a:t>•  CBD Prime to rise from 170k-180k (2030) to 250k-280k KRW/py (2040)</a:t>
            </a:r>
          </a:p>
          <a:p>
            <a:pPr>
              <a:lnSpc>
                <a:spcPct val="130000"/>
              </a:lnSpc>
              <a:spcAft>
                <a:spcPts val="1200"/>
              </a:spcAft>
              <a:defRPr sz="1800">
                <a:solidFill>
                  <a:srgbClr val="FFFFFF"/>
                </a:solidFill>
                <a:latin typeface="Arial"/>
              </a:defRPr>
            </a:pPr>
            <a:r>
              <a:t>•  GBD Prime to surge vertically from 180k-200k (2030) to 300k-340k KRW/py (2040)</a:t>
            </a:r>
          </a:p>
          <a:p>
            <a:pPr>
              <a:lnSpc>
                <a:spcPct val="130000"/>
              </a:lnSpc>
              <a:spcAft>
                <a:spcPts val="1200"/>
              </a:spcAft>
              <a:defRPr sz="1800">
                <a:solidFill>
                  <a:srgbClr val="FFFFFF"/>
                </a:solidFill>
                <a:latin typeface="Arial"/>
              </a:defRPr>
            </a:pPr>
            <a:r>
              <a:t>•  New Trophies (IOTA/GBC) to converge at 65-80% of Tokyo Marunouchi, setting dominant pricing</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Convergence with Tokyo Marunouchi in Bull Scenario</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Era of 500K KRW/py, Standing shoulder to shoulder with Global Tier 1 Core</a:t>
            </a:r>
          </a:p>
          <a:p>
            <a:pPr>
              <a:lnSpc>
                <a:spcPct val="130000"/>
              </a:lnSpc>
              <a:spcAft>
                <a:spcPts val="1200"/>
              </a:spcAft>
              <a:defRPr sz="1800">
                <a:solidFill>
                  <a:srgbClr val="FFFFFF"/>
                </a:solidFill>
                <a:latin typeface="Arial"/>
              </a:defRPr>
            </a:pPr>
            <a:r>
              <a:t>•  2040 Bull Scenario</a:t>
            </a:r>
          </a:p>
          <a:p>
            <a:pPr>
              <a:lnSpc>
                <a:spcPct val="130000"/>
              </a:lnSpc>
              <a:spcAft>
                <a:spcPts val="1200"/>
              </a:spcAft>
              <a:defRPr sz="1800">
                <a:solidFill>
                  <a:srgbClr val="FFFFFF"/>
                </a:solidFill>
                <a:latin typeface="Arial"/>
              </a:defRPr>
            </a:pPr>
            <a:r>
              <a:t>•  IOTA/GBC New Trophy Assets</a:t>
            </a:r>
          </a:p>
          <a:p>
            <a:pPr>
              <a:lnSpc>
                <a:spcPct val="130000"/>
              </a:lnSpc>
              <a:spcAft>
                <a:spcPts val="1200"/>
              </a:spcAft>
              <a:defRPr sz="1800">
                <a:solidFill>
                  <a:srgbClr val="FFFFFF"/>
                </a:solidFill>
                <a:latin typeface="Arial"/>
              </a:defRPr>
            </a:pPr>
            <a:r>
              <a:t>•  50</a:t>
            </a:r>
          </a:p>
          <a:p>
            <a:pPr>
              <a:lnSpc>
                <a:spcPct val="130000"/>
              </a:lnSpc>
              <a:spcAft>
                <a:spcPts val="1200"/>
              </a:spcAft>
              <a:defRPr sz="1800">
                <a:solidFill>
                  <a:srgbClr val="FFFFFF"/>
                </a:solidFill>
                <a:latin typeface="Arial"/>
              </a:defRPr>
            </a:pPr>
            <a:r>
              <a:t>•  0k KRW</a:t>
            </a:r>
          </a:p>
          <a:p>
            <a:pPr>
              <a:lnSpc>
                <a:spcPct val="130000"/>
              </a:lnSpc>
              <a:spcAft>
                <a:spcPts val="1200"/>
              </a:spcAft>
              <a:defRPr sz="1800">
                <a:solidFill>
                  <a:srgbClr val="FFFFFF"/>
                </a:solidFill>
                <a:latin typeface="Arial"/>
              </a:defRPr>
            </a:pPr>
            <a:r>
              <a:t>•  / py·mo</a:t>
            </a:r>
          </a:p>
          <a:p>
            <a:pPr>
              <a:lnSpc>
                <a:spcPct val="130000"/>
              </a:lnSpc>
              <a:spcAft>
                <a:spcPts val="1200"/>
              </a:spcAft>
              <a:defRPr sz="1800">
                <a:solidFill>
                  <a:srgbClr val="FFFFFF"/>
                </a:solidFill>
                <a:latin typeface="Arial"/>
              </a:defRPr>
            </a:pPr>
            <a:r>
              <a:t>•  Exceeding USD 200/sqft upon conversion</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Global Benchmark</a:t>
            </a:r>
          </a:p>
          <a:p>
            <a:pPr>
              <a:lnSpc>
                <a:spcPct val="130000"/>
              </a:lnSpc>
              <a:spcAft>
                <a:spcPts val="1200"/>
              </a:spcAft>
              <a:defRPr sz="1800">
                <a:solidFill>
                  <a:srgbClr val="FFFFFF"/>
                </a:solidFill>
                <a:latin typeface="Arial"/>
              </a:defRPr>
            </a:pPr>
            <a:r>
              <a:t>•  Global Top-Tier Core</a:t>
            </a:r>
          </a:p>
          <a:p>
            <a:pPr>
              <a:lnSpc>
                <a:spcPct val="130000"/>
              </a:lnSpc>
              <a:spcAft>
                <a:spcPts val="1200"/>
              </a:spcAft>
              <a:defRPr sz="1800">
                <a:solidFill>
                  <a:srgbClr val="FFFFFF"/>
                </a:solidFill>
                <a:latin typeface="Arial"/>
              </a:defRPr>
            </a:pPr>
            <a:r>
              <a:t>•  Tokyo Marunouchi</a:t>
            </a:r>
          </a:p>
          <a:p>
            <a:pPr>
              <a:lnSpc>
                <a:spcPct val="130000"/>
              </a:lnSpc>
              <a:spcAft>
                <a:spcPts val="1200"/>
              </a:spcAft>
              <a:defRPr sz="1800">
                <a:solidFill>
                  <a:srgbClr val="FFFFFF"/>
                </a:solidFill>
                <a:latin typeface="Arial"/>
              </a:defRPr>
            </a:pPr>
            <a:r>
              <a:t>•  Complete Resolution of Rent Decoupling with Global Tier 1 Core Offices</a:t>
            </a:r>
          </a:p>
          <a:p>
            <a:pPr>
              <a:lnSpc>
                <a:spcPct val="130000"/>
              </a:lnSpc>
              <a:spcAft>
                <a:spcPts val="1200"/>
              </a:spcAft>
              <a:defRPr sz="1800">
                <a:solidFill>
                  <a:srgbClr val="FFFFFF"/>
                </a:solidFill>
                <a:latin typeface="Arial"/>
              </a:defRPr>
            </a:pPr>
            <a:r>
              <a:t>•  In most optimistic Bull Scenario, GBD Prime to reach 380k-420k KRW by 2040</a:t>
            </a:r>
          </a:p>
          <a:p>
            <a:pPr>
              <a:lnSpc>
                <a:spcPct val="130000"/>
              </a:lnSpc>
              <a:spcAft>
                <a:spcPts val="1200"/>
              </a:spcAft>
              <a:defRPr sz="1800">
                <a:solidFill>
                  <a:srgbClr val="FFFFFF"/>
                </a:solidFill>
                <a:latin typeface="Arial"/>
              </a:defRPr>
            </a:pPr>
            <a:r>
              <a:t>•  IOTA/GBC Trophies passing 350k in 2035 to open 450k-500k KRW/py era by 2040</a:t>
            </a:r>
          </a:p>
          <a:p>
            <a:pPr>
              <a:lnSpc>
                <a:spcPct val="130000"/>
              </a:lnSpc>
              <a:spcAft>
                <a:spcPts val="1200"/>
              </a:spcAft>
              <a:defRPr sz="1800">
                <a:solidFill>
                  <a:srgbClr val="FFFFFF"/>
                </a:solidFill>
                <a:latin typeface="Arial"/>
              </a:defRPr>
            </a:pPr>
            <a:r>
              <a:t>•  A historic inflection point fully converging with Tokyo Marunouchi\'s USD 200/sqft resistance line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Trophy Assets Defending Extreme Polarization</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Excellent Asset Defense of New Landmarks Safeguarding Premium even in Bear Phase</a:t>
            </a:r>
          </a:p>
          <a:p>
            <a:pPr>
              <a:lnSpc>
                <a:spcPct val="130000"/>
              </a:lnSpc>
              <a:spcAft>
                <a:spcPts val="1200"/>
              </a:spcAft>
              <a:defRPr sz="1800">
                <a:solidFill>
                  <a:srgbClr val="FFFFFF"/>
                </a:solidFill>
                <a:latin typeface="Arial"/>
              </a:defRPr>
            </a:pPr>
            <a:r>
              <a:t>•  Pop/Corporate Consolidation Shock Post-2030 Peak (Bear Scenario)</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Value Weakness &amp; Stagnation</a:t>
            </a:r>
          </a:p>
          <a:p>
            <a:pPr>
              <a:lnSpc>
                <a:spcPct val="130000"/>
              </a:lnSpc>
              <a:spcAft>
                <a:spcPts val="1200"/>
              </a:spcAft>
              <a:defRPr sz="1800">
                <a:solidFill>
                  <a:srgbClr val="FFFFFF"/>
                </a:solidFill>
                <a:latin typeface="Arial"/>
              </a:defRPr>
            </a:pPr>
            <a:r>
              <a:t>•  General Grade (Class B) Vacancy Accumulation</a:t>
            </a:r>
          </a:p>
          <a:p>
            <a:pPr>
              <a:lnSpc>
                <a:spcPct val="130000"/>
              </a:lnSpc>
              <a:spcAft>
                <a:spcPts val="1200"/>
              </a:spcAft>
              <a:defRPr sz="1800">
                <a:solidFill>
                  <a:srgbClr val="FFFFFF"/>
                </a:solidFill>
                <a:latin typeface="Arial"/>
              </a:defRPr>
            </a:pPr>
            <a:r>
              <a:t>•  CBD Aging Asset Rent Weakness</a:t>
            </a:r>
          </a:p>
          <a:p>
            <a:pPr>
              <a:lnSpc>
                <a:spcPct val="130000"/>
              </a:lnSpc>
              <a:spcAft>
                <a:spcPts val="1200"/>
              </a:spcAft>
              <a:defRPr sz="1800">
                <a:solidFill>
                  <a:srgbClr val="FFFFFF"/>
                </a:solidFill>
                <a:latin typeface="Arial"/>
              </a:defRPr>
            </a:pPr>
            <a:r>
              <a:t>•  Safe Haven</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Absolute Defense (Premium Retained)</a:t>
            </a:r>
          </a:p>
          <a:p>
            <a:pPr>
              <a:lnSpc>
                <a:spcPct val="130000"/>
              </a:lnSpc>
              <a:spcAft>
                <a:spcPts val="1200"/>
              </a:spcAft>
              <a:defRPr sz="1800">
                <a:solidFill>
                  <a:srgbClr val="FFFFFF"/>
                </a:solidFill>
                <a:latin typeface="Arial"/>
              </a:defRPr>
            </a:pPr>
            <a:r>
              <a:t>•  IOTA/GBC New Trophy Assets</a:t>
            </a:r>
          </a:p>
          <a:p>
            <a:pPr>
              <a:lnSpc>
                <a:spcPct val="130000"/>
              </a:lnSpc>
              <a:spcAft>
                <a:spcPts val="1200"/>
              </a:spcAft>
              <a:defRPr sz="1800">
                <a:solidFill>
                  <a:srgbClr val="FFFFFF"/>
                </a:solidFill>
                <a:latin typeface="Arial"/>
              </a:defRPr>
            </a:pPr>
            <a:r>
              <a:t>•  Solid Pricing Maintained via Core Demand in GBD/Samsung-dong despite Macro Shock</a:t>
            </a:r>
          </a:p>
          <a:p>
            <a:pPr>
              <a:lnSpc>
                <a:spcPct val="130000"/>
              </a:lnSpc>
              <a:spcAft>
                <a:spcPts val="1200"/>
              </a:spcAft>
              <a:defRPr sz="1800">
                <a:solidFill>
                  <a:srgbClr val="FFFFFF"/>
                </a:solidFill>
                <a:latin typeface="Arial"/>
              </a:defRPr>
            </a:pPr>
            <a:r>
              <a:t>•  Under Bear scenario, market rents stagnate due to demographic/corp consolidation post-2030</a:t>
            </a:r>
          </a:p>
          <a:p>
            <a:pPr>
              <a:lnSpc>
                <a:spcPct val="130000"/>
              </a:lnSpc>
              <a:spcAft>
                <a:spcPts val="1200"/>
              </a:spcAft>
              <a:defRPr sz="1800">
                <a:solidFill>
                  <a:srgbClr val="FFFFFF"/>
                </a:solidFill>
                <a:latin typeface="Arial"/>
              </a:defRPr>
            </a:pPr>
            <a:r>
              <a:t>•  Some CBD assets weaken from aging/demand flight, worsening extreme polarization</a:t>
            </a:r>
          </a:p>
          <a:p>
            <a:pPr>
              <a:lnSpc>
                <a:spcPct val="130000"/>
              </a:lnSpc>
              <a:spcAft>
                <a:spcPts val="1200"/>
              </a:spcAft>
              <a:defRPr sz="1800">
                <a:solidFill>
                  <a:srgbClr val="FFFFFF"/>
                </a:solidFill>
                <a:latin typeface="Arial"/>
              </a:defRPr>
            </a:pPr>
            <a:r>
              <a:t>•  Conversely, new landmarks like IOTA act as a Safe Haven for capital as core assets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Vacancy Outlook</a:t>
            </a:r>
          </a:p>
          <a:p>
            <a:pPr>
              <a:spcBef>
                <a:spcPts val="1200"/>
              </a:spcBef>
              <a:defRPr sz="3200" b="1">
                <a:solidFill>
                  <a:srgbClr val="FFFFFF"/>
                </a:solidFill>
                <a:latin typeface="Arial"/>
              </a:defRPr>
            </a:pPr>
            <a:r>
              <a:t>Only Prime Grades Enjoying Sub-4% Full Tenancy Amid Phasing Out of Aging Assets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Top Prime Grade (Trophy)</a:t>
            </a:r>
          </a:p>
          <a:p>
            <a:pPr>
              <a:lnSpc>
                <a:spcPct val="130000"/>
              </a:lnSpc>
              <a:spcAft>
                <a:spcPts val="1200"/>
              </a:spcAft>
              <a:defRPr sz="1800">
                <a:solidFill>
                  <a:srgbClr val="FFFFFF"/>
                </a:solidFill>
                <a:latin typeface="Arial"/>
              </a:defRPr>
            </a:pPr>
            <a:r>
              <a:t>•  Sub-4% Vacancy Maintained</a:t>
            </a:r>
          </a:p>
          <a:p>
            <a:pPr>
              <a:lnSpc>
                <a:spcPct val="130000"/>
              </a:lnSpc>
              <a:spcAft>
                <a:spcPts val="1200"/>
              </a:spcAft>
              <a:defRPr sz="1800">
                <a:solidFill>
                  <a:srgbClr val="FFFFFF"/>
                </a:solidFill>
                <a:latin typeface="Arial"/>
              </a:defRPr>
            </a:pPr>
            <a:r>
              <a:t>•  ▶ Full Occupancy Achieved</a:t>
            </a:r>
          </a:p>
          <a:p>
            <a:pPr>
              <a:lnSpc>
                <a:spcPct val="130000"/>
              </a:lnSpc>
              <a:spcAft>
                <a:spcPts val="1200"/>
              </a:spcAft>
              <a:defRPr sz="1800">
                <a:solidFill>
                  <a:srgbClr val="FFFFFF"/>
                </a:solidFill>
                <a:latin typeface="Arial"/>
              </a:defRPr>
            </a:pPr>
            <a:r>
              <a:t>•  Seoul Avg (Base Scenario)</a:t>
            </a:r>
          </a:p>
          <a:p>
            <a:pPr>
              <a:lnSpc>
                <a:spcPct val="130000"/>
              </a:lnSpc>
              <a:spcAft>
                <a:spcPts val="1200"/>
              </a:spcAft>
              <a:defRPr sz="1800">
                <a:solidFill>
                  <a:srgbClr val="FFFFFF"/>
                </a:solidFill>
                <a:latin typeface="Arial"/>
              </a:defRPr>
            </a:pPr>
            <a:r>
              <a:t>•  6~8% Reached Post-2035</a:t>
            </a:r>
          </a:p>
          <a:p>
            <a:pPr>
              <a:lnSpc>
                <a:spcPct val="130000"/>
              </a:lnSpc>
              <a:spcAft>
                <a:spcPts val="1200"/>
              </a:spcAft>
              <a:defRPr sz="1800">
                <a:solidFill>
                  <a:srgbClr val="FFFFFF"/>
                </a:solidFill>
                <a:latin typeface="Arial"/>
              </a:defRPr>
            </a:pPr>
            <a:r>
              <a:t>•  ▶ Reflects Demo Shock (Buffer Zone)</a:t>
            </a:r>
          </a:p>
          <a:p>
            <a:pPr>
              <a:lnSpc>
                <a:spcPct val="130000"/>
              </a:lnSpc>
              <a:spcAft>
                <a:spcPts val="1200"/>
              </a:spcAft>
              <a:defRPr sz="1800">
                <a:solidFill>
                  <a:srgbClr val="FFFFFF"/>
                </a:solidFill>
                <a:latin typeface="Arial"/>
              </a:defRPr>
            </a:pPr>
            <a:r>
              <a:t>•  General/Aging (Class B &amp; Below)</a:t>
            </a:r>
          </a:p>
          <a:p>
            <a:pPr>
              <a:lnSpc>
                <a:spcPct val="130000"/>
              </a:lnSpc>
              <a:spcAft>
                <a:spcPts val="1200"/>
              </a:spcAft>
              <a:defRPr sz="1800">
                <a:solidFill>
                  <a:srgbClr val="FFFFFF"/>
                </a:solidFill>
                <a:latin typeface="Arial"/>
              </a:defRPr>
            </a:pPr>
            <a:r>
              <a:t>•  10%+ Meaningful Severe Vacancy</a:t>
            </a:r>
          </a:p>
          <a:p>
            <a:pPr>
              <a:lnSpc>
                <a:spcPct val="130000"/>
              </a:lnSpc>
              <a:spcAft>
                <a:spcPts val="1200"/>
              </a:spcAft>
              <a:defRPr sz="1800">
                <a:solidFill>
                  <a:srgbClr val="FFFFFF"/>
                </a:solidFill>
                <a:latin typeface="Arial"/>
              </a:defRPr>
            </a:pPr>
            <a:r>
              <a:t>•  ▶ Accelerated Culling (Flight-to-Quality)</a:t>
            </a:r>
          </a:p>
          <a:p>
            <a:pPr>
              <a:lnSpc>
                <a:spcPct val="130000"/>
              </a:lnSpc>
              <a:spcAft>
                <a:spcPts val="1200"/>
              </a:spcAft>
              <a:defRPr sz="1800">
                <a:solidFill>
                  <a:srgbClr val="FFFFFF"/>
                </a:solidFill>
                <a:latin typeface="Arial"/>
              </a:defRPr>
            </a:pPr>
            <a:r>
              <a:t>•  Avg vacancy to rise from 5-7% in 2030 to 6-8% post-2035 reflecting demo decline (Base)</a:t>
            </a:r>
          </a:p>
          <a:p>
            <a:pPr>
              <a:lnSpc>
                <a:spcPct val="130000"/>
              </a:lnSpc>
              <a:spcAft>
                <a:spcPts val="1200"/>
              </a:spcAft>
              <a:defRPr sz="1800">
                <a:solidFill>
                  <a:srgbClr val="FFFFFF"/>
                </a:solidFill>
                <a:latin typeface="Arial"/>
              </a:defRPr>
            </a:pPr>
            <a:r>
              <a:t>•  Under Bear, avg vacancy tops 10% triggering rapid culling of Class B and below</a:t>
            </a:r>
          </a:p>
          <a:p>
            <a:pPr>
              <a:lnSpc>
                <a:spcPct val="130000"/>
              </a:lnSpc>
              <a:spcAft>
                <a:spcPts val="1200"/>
              </a:spcAft>
              <a:defRPr sz="1800">
                <a:solidFill>
                  <a:srgbClr val="FFFFFF"/>
                </a:solidFill>
                <a:latin typeface="Arial"/>
              </a:defRPr>
            </a:pPr>
            <a:r>
              <a:t>•  However, Prime grades structurally enjoy sub-4% full occupancy due to Flight-to-Quality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5.</a:t>
            </a:r>
          </a:p>
          <a:p>
            <a:pPr algn="ctr">
              <a:spcBef>
                <a:spcPts val="1200"/>
              </a:spcBef>
              <a:defRPr sz="3200" b="1">
                <a:solidFill>
                  <a:srgbClr val="FFFFFF"/>
                </a:solidFill>
                <a:latin typeface="Arial"/>
              </a:defRPr>
            </a:pPr>
            <a:r>
              <a:t>Industrial / Logistics Real Estate 2030~2040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Data Center Demand Explosion &amp; Decentralization</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Acceleration of Provincial Dispersal due to Power Constraints, Expected to Absorb Most Capital over Next 15 Years as a Single Asset Class</a:t>
            </a:r>
          </a:p>
          <a:p>
            <a:pPr>
              <a:lnSpc>
                <a:spcPct val="130000"/>
              </a:lnSpc>
              <a:spcAft>
                <a:spcPts val="1200"/>
              </a:spcAft>
              <a:defRPr sz="1800">
                <a:solidFill>
                  <a:srgbClr val="FFFFFF"/>
                </a:solidFill>
                <a:latin typeface="Arial"/>
              </a:defRPr>
            </a:pPr>
            <a:r>
              <a:t>•  Korea Data Center Power Demand Outlook</a:t>
            </a:r>
          </a:p>
          <a:p>
            <a:pPr>
              <a:lnSpc>
                <a:spcPct val="130000"/>
              </a:lnSpc>
              <a:spcAft>
                <a:spcPts val="1200"/>
              </a:spcAft>
              <a:defRPr sz="1800">
                <a:solidFill>
                  <a:srgbClr val="FFFFFF"/>
                </a:solidFill>
                <a:latin typeface="Arial"/>
              </a:defRPr>
            </a:pPr>
            <a:r>
              <a:t>•  6.3</a:t>
            </a:r>
          </a:p>
          <a:p>
            <a:pPr>
              <a:lnSpc>
                <a:spcPct val="130000"/>
              </a:lnSpc>
              <a:spcAft>
                <a:spcPts val="1200"/>
              </a:spcAft>
              <a:defRPr sz="1800">
                <a:solidFill>
                  <a:srgbClr val="FFFFFF"/>
                </a:solidFill>
                <a:latin typeface="Arial"/>
              </a:defRPr>
            </a:pPr>
            <a:r>
              <a:t>•  GW</a:t>
            </a:r>
          </a:p>
          <a:p>
            <a:pPr>
              <a:lnSpc>
                <a:spcPct val="130000"/>
              </a:lnSpc>
              <a:spcAft>
                <a:spcPts val="1200"/>
              </a:spcAft>
              <a:defRPr sz="1800">
                <a:solidFill>
                  <a:srgbClr val="FFFFFF"/>
                </a:solidFill>
                <a:latin typeface="Arial"/>
              </a:defRPr>
            </a:pPr>
            <a:r>
              <a:t>•  2030 (Base)</a:t>
            </a:r>
          </a:p>
          <a:p>
            <a:pPr>
              <a:lnSpc>
                <a:spcPct val="130000"/>
              </a:lnSpc>
              <a:spcAft>
                <a:spcPts val="1200"/>
              </a:spcAft>
              <a:defRPr sz="1800">
                <a:solidFill>
                  <a:srgbClr val="FFFFFF"/>
                </a:solidFill>
                <a:latin typeface="Arial"/>
              </a:defRPr>
            </a:pPr>
            <a:r>
              <a:t>•  12</a:t>
            </a:r>
          </a:p>
          <a:p>
            <a:pPr>
              <a:lnSpc>
                <a:spcPct val="130000"/>
              </a:lnSpc>
              <a:spcAft>
                <a:spcPts val="1200"/>
              </a:spcAft>
              <a:defRPr sz="1800">
                <a:solidFill>
                  <a:srgbClr val="FFFFFF"/>
                </a:solidFill>
                <a:latin typeface="Arial"/>
              </a:defRPr>
            </a:pPr>
            <a:r>
              <a:t>•  GW</a:t>
            </a:r>
          </a:p>
          <a:p>
            <a:pPr>
              <a:lnSpc>
                <a:spcPct val="130000"/>
              </a:lnSpc>
              <a:spcAft>
                <a:spcPts val="1200"/>
              </a:spcAft>
              <a:defRPr sz="1800">
                <a:solidFill>
                  <a:srgbClr val="FFFFFF"/>
                </a:solidFill>
                <a:latin typeface="Arial"/>
              </a:defRPr>
            </a:pPr>
            <a:r>
              <a:t>•  2035</a:t>
            </a:r>
          </a:p>
          <a:p>
            <a:pPr>
              <a:lnSpc>
                <a:spcPct val="130000"/>
              </a:lnSpc>
              <a:spcAft>
                <a:spcPts val="1200"/>
              </a:spcAft>
              <a:defRPr sz="1800">
                <a:solidFill>
                  <a:srgbClr val="FFFFFF"/>
                </a:solidFill>
                <a:latin typeface="Arial"/>
              </a:defRPr>
            </a:pPr>
            <a:r>
              <a:t>•  18~22</a:t>
            </a:r>
          </a:p>
          <a:p>
            <a:pPr>
              <a:lnSpc>
                <a:spcPct val="130000"/>
              </a:lnSpc>
              <a:spcAft>
                <a:spcPts val="1200"/>
              </a:spcAft>
              <a:defRPr sz="1800">
                <a:solidFill>
                  <a:srgbClr val="FFFFFF"/>
                </a:solidFill>
                <a:latin typeface="Arial"/>
              </a:defRPr>
            </a:pPr>
            <a:r>
              <a:t>•  GW</a:t>
            </a:r>
          </a:p>
          <a:p>
            <a:pPr>
              <a:lnSpc>
                <a:spcPct val="130000"/>
              </a:lnSpc>
              <a:spcAft>
                <a:spcPts val="1200"/>
              </a:spcAft>
              <a:defRPr sz="1800">
                <a:solidFill>
                  <a:srgbClr val="FFFFFF"/>
                </a:solidFill>
                <a:latin typeface="Arial"/>
              </a:defRPr>
            </a:pPr>
            <a:r>
              <a:t>•  2040</a:t>
            </a:r>
          </a:p>
          <a:p>
            <a:pPr>
              <a:lnSpc>
                <a:spcPct val="130000"/>
              </a:lnSpc>
              <a:spcAft>
                <a:spcPts val="1200"/>
              </a:spcAft>
              <a:defRPr sz="1800">
                <a:solidFill>
                  <a:srgbClr val="FFFFFF"/>
                </a:solidFill>
                <a:latin typeface="Arial"/>
              </a:defRPr>
            </a:pPr>
            <a:r>
              <a:t>•  Greater Seoul Power Constraints</a:t>
            </a:r>
          </a:p>
          <a:p>
            <a:pPr>
              <a:lnSpc>
                <a:spcPct val="130000"/>
              </a:lnSpc>
              <a:spcAft>
                <a:spcPts val="1200"/>
              </a:spcAft>
              <a:defRPr sz="1800">
                <a:solidFill>
                  <a:srgbClr val="FFFFFF"/>
                </a:solidFill>
                <a:latin typeface="Arial"/>
              </a:defRPr>
            </a:pPr>
            <a:r>
              <a:t>•  Structural Growth Bottleneck</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Accelerated Regional Decentralization</a:t>
            </a:r>
          </a:p>
          <a:p>
            <a:pPr>
              <a:lnSpc>
                <a:spcPct val="130000"/>
              </a:lnSpc>
              <a:spcAft>
                <a:spcPts val="1200"/>
              </a:spcAft>
              <a:defRPr sz="1800">
                <a:solidFill>
                  <a:srgbClr val="FFFFFF"/>
                </a:solidFill>
                <a:latin typeface="Arial"/>
              </a:defRPr>
            </a:pPr>
            <a:r>
              <a:t>•  New Clusters in Jeonnam, Gyeongbuk, Gangwon</a:t>
            </a:r>
          </a:p>
          <a:p>
            <a:pPr>
              <a:lnSpc>
                <a:spcPct val="130000"/>
              </a:lnSpc>
              <a:spcAft>
                <a:spcPts val="1200"/>
              </a:spcAft>
              <a:defRPr sz="1800">
                <a:solidFill>
                  <a:srgbClr val="FFFFFF"/>
                </a:solidFill>
                <a:latin typeface="Arial"/>
              </a:defRPr>
            </a:pPr>
            <a:r>
              <a:t>•  Korea Data Center demand to grow 3.5x from 6.3GW in 2030 to max 22GW in 2040</a:t>
            </a:r>
          </a:p>
          <a:p>
            <a:pPr>
              <a:lnSpc>
                <a:spcPct val="130000"/>
              </a:lnSpc>
              <a:spcAft>
                <a:spcPts val="1200"/>
              </a:spcAft>
              <a:defRPr sz="1800">
                <a:solidFill>
                  <a:srgbClr val="FFFFFF"/>
                </a:solidFill>
                <a:latin typeface="Arial"/>
              </a:defRPr>
            </a:pPr>
            <a:r>
              <a:t>•  Greater Seoul power grid limits necessitate dispersion to power-rich regional locations</a:t>
            </a:r>
          </a:p>
          <a:p>
            <a:pPr>
              <a:lnSpc>
                <a:spcPct val="130000"/>
              </a:lnSpc>
              <a:spcAft>
                <a:spcPts val="1200"/>
              </a:spcAft>
              <a:defRPr sz="1800">
                <a:solidFill>
                  <a:srgbClr val="FFFFFF"/>
                </a:solidFill>
                <a:latin typeface="Arial"/>
              </a:defRPr>
            </a:pPr>
            <a:r>
              <a:t>•  Consequently, Data Centers emerge as the single sector absorbing the largest capital over 15 yrs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Senior Housing Mega Trend</a:t>
            </a:r>
          </a:p>
          <a:p>
            <a:pPr>
              <a:spcBef>
                <a:spcPts val="1200"/>
              </a:spcBef>
              <a:defRPr sz="3200" b="1">
                <a:solidFill>
                  <a:srgbClr val="FFFFFF"/>
                </a:solidFill>
                <a:latin typeface="Arial"/>
              </a:defRPr>
            </a:pPr>
            <a:r>
              <a:t>Birth of Korean-style Senior REIT Model to Dominate the 300 Trillion KRW Market</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Market Cap</a:t>
            </a:r>
          </a:p>
          <a:p>
            <a:pPr>
              <a:lnSpc>
                <a:spcPct val="130000"/>
              </a:lnSpc>
              <a:spcAft>
                <a:spcPts val="1200"/>
              </a:spcAft>
              <a:defRPr sz="1800">
                <a:solidFill>
                  <a:srgbClr val="FFFFFF"/>
                </a:solidFill>
                <a:latin typeface="Arial"/>
              </a:defRPr>
            </a:pPr>
            <a:r>
              <a:t>•  2030: 168T Won</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2040 Market Size</a:t>
            </a:r>
          </a:p>
          <a:p>
            <a:pPr>
              <a:lnSpc>
                <a:spcPct val="130000"/>
              </a:lnSpc>
              <a:spcAft>
                <a:spcPts val="1200"/>
              </a:spcAft>
              <a:defRPr sz="1800">
                <a:solidFill>
                  <a:srgbClr val="FFFFFF"/>
                </a:solidFill>
                <a:latin typeface="Arial"/>
              </a:defRPr>
            </a:pPr>
            <a:r>
              <a:t>•  300</a:t>
            </a:r>
          </a:p>
          <a:p>
            <a:pPr>
              <a:lnSpc>
                <a:spcPct val="130000"/>
              </a:lnSpc>
              <a:spcAft>
                <a:spcPts val="1200"/>
              </a:spcAft>
              <a:defRPr sz="1800">
                <a:solidFill>
                  <a:srgbClr val="FFFFFF"/>
                </a:solidFill>
                <a:latin typeface="Arial"/>
              </a:defRPr>
            </a:pPr>
            <a:r>
              <a:t>•  T+</a:t>
            </a:r>
          </a:p>
          <a:p>
            <a:pPr>
              <a:lnSpc>
                <a:spcPct val="130000"/>
              </a:lnSpc>
              <a:spcAft>
                <a:spcPts val="1200"/>
              </a:spcAft>
              <a:defRPr sz="1800">
                <a:solidFill>
                  <a:srgbClr val="FFFFFF"/>
                </a:solidFill>
                <a:latin typeface="Arial"/>
              </a:defRPr>
            </a:pPr>
            <a:r>
              <a:t>•  Penetration 0.6% ➔ 3-5% implies 500k+ new units needed</a:t>
            </a:r>
          </a:p>
          <a:p>
            <a:pPr>
              <a:lnSpc>
                <a:spcPct val="130000"/>
              </a:lnSpc>
              <a:spcAft>
                <a:spcPts val="1200"/>
              </a:spcAft>
              <a:defRPr sz="1800">
                <a:solidFill>
                  <a:srgbClr val="FFFFFF"/>
                </a:solidFill>
                <a:latin typeface="Arial"/>
              </a:defRPr>
            </a:pPr>
            <a:r>
              <a:t>•  IGIS Senior Platform Vision</a:t>
            </a:r>
          </a:p>
          <a:p>
            <a:pPr>
              <a:lnSpc>
                <a:spcPct val="130000"/>
              </a:lnSpc>
              <a:spcAft>
                <a:spcPts val="1200"/>
              </a:spcAft>
              <a:defRPr sz="1800">
                <a:solidFill>
                  <a:srgbClr val="FFFFFF"/>
                </a:solidFill>
                <a:latin typeface="Arial"/>
              </a:defRPr>
            </a:pPr>
            <a:r>
              <a:t>•  Blackstone BREIT</a:t>
            </a:r>
          </a:p>
          <a:p>
            <a:pPr>
              <a:lnSpc>
                <a:spcPct val="130000"/>
              </a:lnSpc>
              <a:spcAft>
                <a:spcPts val="1200"/>
              </a:spcAft>
              <a:defRPr sz="1800">
                <a:solidFill>
                  <a:srgbClr val="FFFFFF"/>
                </a:solidFill>
                <a:latin typeface="Arial"/>
              </a:defRPr>
            </a:pPr>
            <a:r>
              <a:t>•  Dominant Funding &amp; Scale-up</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US Welltower Model</a:t>
            </a:r>
          </a:p>
          <a:p>
            <a:pPr>
              <a:lnSpc>
                <a:spcPct val="130000"/>
              </a:lnSpc>
              <a:spcAft>
                <a:spcPts val="1200"/>
              </a:spcAft>
              <a:defRPr sz="1800">
                <a:solidFill>
                  <a:srgbClr val="FFFFFF"/>
                </a:solidFill>
                <a:latin typeface="Arial"/>
              </a:defRPr>
            </a:pPr>
            <a:r>
              <a:t>•  Healthcare &amp; Ops Expertise</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Evolution of Dominant Korean Senior REIT</a:t>
            </a:r>
          </a:p>
          <a:p>
            <a:pPr>
              <a:lnSpc>
                <a:spcPct val="130000"/>
              </a:lnSpc>
              <a:spcAft>
                <a:spcPts val="1200"/>
              </a:spcAft>
              <a:defRPr sz="1800">
                <a:solidFill>
                  <a:srgbClr val="FFFFFF"/>
                </a:solidFill>
                <a:latin typeface="Arial"/>
              </a:defRPr>
            </a:pPr>
            <a:r>
              <a:t>•  Korea Senior Housing to explode from 168T (2030) to 300T+ (2040), a guaranteed mega sector</a:t>
            </a:r>
          </a:p>
          <a:p>
            <a:pPr>
              <a:lnSpc>
                <a:spcPct val="130000"/>
              </a:lnSpc>
              <a:spcAft>
                <a:spcPts val="1200"/>
              </a:spcAft>
              <a:defRPr sz="1800">
                <a:solidFill>
                  <a:srgbClr val="FFFFFF"/>
                </a:solidFill>
                <a:latin typeface="Arial"/>
              </a:defRPr>
            </a:pPr>
            <a:r>
              <a:t>•  Rising from 0.6% to 3-5% global average requires at least 500,000 new units</a:t>
            </a:r>
          </a:p>
          <a:p>
            <a:pPr>
              <a:lnSpc>
                <a:spcPct val="130000"/>
              </a:lnSpc>
              <a:spcAft>
                <a:spcPts val="1200"/>
              </a:spcAft>
              <a:defRPr sz="1800">
                <a:solidFill>
                  <a:srgbClr val="FFFFFF"/>
                </a:solidFill>
                <a:latin typeface="Arial"/>
              </a:defRPr>
            </a:pPr>
            <a:r>
              <a:t>•  IGIS dominates with a mega Senior REIT merging BREIT\'s capital and Welltower\'s ops expertise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Life Sciences &amp; Cold-chain Pharma Ecosystem</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Establishment of New Hubs Combining Life Science Clusters &amp; Cold-chain Pharma Logistics</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Life Science Cluster</a:t>
            </a:r>
          </a:p>
          <a:p>
            <a:pPr>
              <a:lnSpc>
                <a:spcPct val="130000"/>
              </a:lnSpc>
              <a:spcAft>
                <a:spcPts val="1200"/>
              </a:spcAft>
              <a:defRPr sz="1800">
                <a:solidFill>
                  <a:srgbClr val="1D1D1F"/>
                </a:solidFill>
                <a:latin typeface="Arial"/>
              </a:defRPr>
            </a:pPr>
            <a:r>
              <a:t>•  Songdo</a:t>
            </a:r>
          </a:p>
          <a:p>
            <a:pPr>
              <a:lnSpc>
                <a:spcPct val="130000"/>
              </a:lnSpc>
              <a:spcAft>
                <a:spcPts val="1200"/>
              </a:spcAft>
              <a:defRPr sz="1800">
                <a:solidFill>
                  <a:srgbClr val="1D1D1F"/>
                </a:solidFill>
                <a:latin typeface="Arial"/>
              </a:defRPr>
            </a:pPr>
            <a:r>
              <a:t>•  Pangyo</a:t>
            </a:r>
          </a:p>
          <a:p>
            <a:pPr>
              <a:lnSpc>
                <a:spcPct val="130000"/>
              </a:lnSpc>
              <a:spcAft>
                <a:spcPts val="1200"/>
              </a:spcAft>
              <a:defRPr sz="1800">
                <a:solidFill>
                  <a:srgbClr val="1D1D1F"/>
                </a:solidFill>
                <a:latin typeface="Arial"/>
              </a:defRPr>
            </a:pPr>
            <a:r>
              <a:t>•  Magok</a:t>
            </a:r>
          </a:p>
          <a:p>
            <a:pPr>
              <a:lnSpc>
                <a:spcPct val="130000"/>
              </a:lnSpc>
              <a:spcAft>
                <a:spcPts val="1200"/>
              </a:spcAft>
              <a:defRPr sz="1800">
                <a:solidFill>
                  <a:srgbClr val="1D1D1F"/>
                </a:solidFill>
                <a:latin typeface="Arial"/>
              </a:defRPr>
            </a:pPr>
            <a:r>
              <a:t>•  K-Bio Cluster Specialized Real Estate Established as an Independent Blue-chip Category</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Cold Chain &amp; Pharma Logistics</a:t>
            </a:r>
          </a:p>
          <a:p>
            <a:pPr>
              <a:lnSpc>
                <a:spcPct val="130000"/>
              </a:lnSpc>
              <a:spcAft>
                <a:spcPts val="1200"/>
              </a:spcAft>
              <a:defRPr sz="1800">
                <a:solidFill>
                  <a:srgbClr val="1D1D1F"/>
                </a:solidFill>
                <a:latin typeface="Arial"/>
              </a:defRPr>
            </a:pPr>
            <a:r>
              <a:t>•  Aging Pop</a:t>
            </a:r>
          </a:p>
          <a:p>
            <a:pPr>
              <a:lnSpc>
                <a:spcPct val="130000"/>
              </a:lnSpc>
              <a:spcAft>
                <a:spcPts val="1200"/>
              </a:spcAft>
              <a:defRPr sz="1800">
                <a:solidFill>
                  <a:srgbClr val="1D1D1F"/>
                </a:solidFill>
                <a:latin typeface="Arial"/>
              </a:defRPr>
            </a:pPr>
            <a:r>
              <a:t>•  Bio Direct Delivery</a:t>
            </a:r>
          </a:p>
          <a:p>
            <a:pPr>
              <a:lnSpc>
                <a:spcPct val="130000"/>
              </a:lnSpc>
              <a:spcAft>
                <a:spcPts val="1200"/>
              </a:spcAft>
              <a:defRPr sz="1800">
                <a:solidFill>
                  <a:srgbClr val="1D1D1F"/>
                </a:solidFill>
                <a:latin typeface="Arial"/>
              </a:defRPr>
            </a:pPr>
            <a:r>
              <a:t>•  Continuous Growth of Temp-controlled Logistics Coupled with Increasing Pharma Demand</a:t>
            </a:r>
          </a:p>
          <a:p>
            <a:pPr>
              <a:lnSpc>
                <a:spcPct val="130000"/>
              </a:lnSpc>
              <a:spcAft>
                <a:spcPts val="1200"/>
              </a:spcAft>
              <a:defRPr sz="1800">
                <a:solidFill>
                  <a:srgbClr val="1D1D1F"/>
                </a:solidFill>
                <a:latin typeface="Arial"/>
              </a:defRPr>
            </a:pPr>
            <a:r>
              <a:t>•  Life Science Clusters around Songdo, Pangyo, Magok emerge as a new core category</a:t>
            </a:r>
          </a:p>
          <a:p>
            <a:pPr>
              <a:lnSpc>
                <a:spcPct val="130000"/>
              </a:lnSpc>
              <a:spcAft>
                <a:spcPts val="1200"/>
              </a:spcAft>
              <a:defRPr sz="1800">
                <a:solidFill>
                  <a:srgbClr val="1D1D1F"/>
                </a:solidFill>
                <a:latin typeface="Arial"/>
              </a:defRPr>
            </a:pPr>
            <a:r>
              <a:t>•  Cold chain infra demand surges with aging pop and bio direct delivery trends</a:t>
            </a:r>
          </a:p>
          <a:p>
            <a:pPr>
              <a:lnSpc>
                <a:spcPct val="130000"/>
              </a:lnSpc>
              <a:spcAft>
                <a:spcPts val="1200"/>
              </a:spcAft>
              <a:defRPr sz="1800">
                <a:solidFill>
                  <a:srgbClr val="1D1D1F"/>
                </a:solidFill>
                <a:latin typeface="Arial"/>
              </a:defRPr>
            </a:pPr>
            <a:r>
              <a:t>•  R&amp;D nodes and specialized infra synergize to complete the K-Bio RE value chain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Paradigm Shift in Grade-A Logistics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Absolute Design Standard for All New Mega Logistics Centers: Robot/AMR Friendly</a:t>
            </a:r>
          </a:p>
          <a:p>
            <a:pPr>
              <a:lnSpc>
                <a:spcPct val="130000"/>
              </a:lnSpc>
              <a:spcAft>
                <a:spcPts val="1200"/>
              </a:spcAft>
              <a:defRPr sz="1800">
                <a:solidFill>
                  <a:srgbClr val="FFFFFF"/>
                </a:solidFill>
                <a:latin typeface="Arial"/>
              </a:defRPr>
            </a:pPr>
            <a:r>
              <a:t>•  Led by Industry Leaders</a:t>
            </a:r>
          </a:p>
          <a:p>
            <a:pPr>
              <a:lnSpc>
                <a:spcPct val="130000"/>
              </a:lnSpc>
              <a:spcAft>
                <a:spcPts val="1200"/>
              </a:spcAft>
              <a:defRPr sz="1800">
                <a:solidFill>
                  <a:srgbClr val="FFFFFF"/>
                </a:solidFill>
                <a:latin typeface="Arial"/>
              </a:defRPr>
            </a:pPr>
            <a:r>
              <a:t>•  Coupang</a:t>
            </a:r>
          </a:p>
          <a:p>
            <a:pPr>
              <a:lnSpc>
                <a:spcPct val="130000"/>
              </a:lnSpc>
              <a:spcAft>
                <a:spcPts val="1200"/>
              </a:spcAft>
              <a:defRPr sz="1800">
                <a:solidFill>
                  <a:srgbClr val="FFFFFF"/>
                </a:solidFill>
                <a:latin typeface="Arial"/>
              </a:defRPr>
            </a:pPr>
            <a:r>
              <a:t>•  CJ Logistics</a:t>
            </a:r>
          </a:p>
          <a:p>
            <a:pPr>
              <a:lnSpc>
                <a:spcPct val="130000"/>
              </a:lnSpc>
              <a:spcAft>
                <a:spcPts val="1200"/>
              </a:spcAft>
              <a:defRPr sz="1800">
                <a:solidFill>
                  <a:srgbClr val="FFFFFF"/>
                </a:solidFill>
                <a:latin typeface="Arial"/>
              </a:defRPr>
            </a:pPr>
            <a:r>
              <a:t>•  Naver</a:t>
            </a:r>
          </a:p>
          <a:p>
            <a:pPr>
              <a:lnSpc>
                <a:spcPct val="130000"/>
              </a:lnSpc>
              <a:spcAft>
                <a:spcPts val="1200"/>
              </a:spcAft>
              <a:defRPr sz="1800">
                <a:solidFill>
                  <a:srgbClr val="FFFFFF"/>
                </a:solidFill>
                <a:latin typeface="Arial"/>
              </a:defRPr>
            </a:pPr>
            <a:r>
              <a:t>•  LG CNS</a:t>
            </a:r>
          </a:p>
          <a:p>
            <a:pPr>
              <a:lnSpc>
                <a:spcPct val="130000"/>
              </a:lnSpc>
              <a:spcAft>
                <a:spcPts val="1200"/>
              </a:spcAft>
              <a:defRPr sz="1800">
                <a:solidFill>
                  <a:srgbClr val="FFFFFF"/>
                </a:solidFill>
                <a:latin typeface="Arial"/>
              </a:defRPr>
            </a:pPr>
            <a:r>
              <a:t>•  Robot &amp; AMR Friendly Design</a:t>
            </a:r>
          </a:p>
          <a:p>
            <a:pPr>
              <a:lnSpc>
                <a:spcPct val="130000"/>
              </a:lnSpc>
              <a:spcAft>
                <a:spcPts val="1200"/>
              </a:spcAft>
              <a:defRPr sz="1800">
                <a:solidFill>
                  <a:srgbClr val="FFFFFF"/>
                </a:solidFill>
                <a:latin typeface="Arial"/>
              </a:defRPr>
            </a:pPr>
            <a:r>
              <a:t>•  Super Flat Floor &amp; Load Bearing</a:t>
            </a:r>
          </a:p>
          <a:p>
            <a:pPr>
              <a:lnSpc>
                <a:spcPct val="130000"/>
              </a:lnSpc>
              <a:spcAft>
                <a:spcPts val="1200"/>
              </a:spcAft>
              <a:defRPr sz="1800">
                <a:solidFill>
                  <a:srgbClr val="FFFFFF"/>
                </a:solidFill>
                <a:latin typeface="Arial"/>
              </a:defRPr>
            </a:pPr>
            <a:r>
              <a:t>•  Optimized Robot Routing</a:t>
            </a:r>
          </a:p>
          <a:p>
            <a:pPr>
              <a:lnSpc>
                <a:spcPct val="130000"/>
              </a:lnSpc>
              <a:spcAft>
                <a:spcPts val="1200"/>
              </a:spcAft>
              <a:defRPr sz="1800">
                <a:solidFill>
                  <a:srgbClr val="FFFFFF"/>
                </a:solidFill>
                <a:latin typeface="Arial"/>
              </a:defRPr>
            </a:pPr>
            <a:r>
              <a:t>•  High Power &amp; 5G Network Ready</a:t>
            </a:r>
          </a:p>
          <a:p>
            <a:pPr>
              <a:lnSpc>
                <a:spcPct val="130000"/>
              </a:lnSpc>
              <a:spcAft>
                <a:spcPts val="1200"/>
              </a:spcAft>
              <a:defRPr sz="1800">
                <a:solidFill>
                  <a:srgbClr val="FFFFFF"/>
                </a:solidFill>
                <a:latin typeface="Arial"/>
              </a:defRPr>
            </a:pPr>
            <a:r>
              <a:t>•  Absolute Standard for all Future Grade-A Logistics</a:t>
            </a:r>
          </a:p>
          <a:p>
            <a:pPr>
              <a:lnSpc>
                <a:spcPct val="130000"/>
              </a:lnSpc>
              <a:spcAft>
                <a:spcPts val="1200"/>
              </a:spcAft>
              <a:defRPr sz="1800">
                <a:solidFill>
                  <a:srgbClr val="FFFFFF"/>
                </a:solidFill>
                <a:latin typeface="Arial"/>
              </a:defRPr>
            </a:pPr>
            <a:r>
              <a:t>•  Logistics/IT giants like Coupang, CJ, Naver lead full automation as the market benchmark</a:t>
            </a:r>
          </a:p>
          <a:p>
            <a:pPr>
              <a:lnSpc>
                <a:spcPct val="130000"/>
              </a:lnSpc>
              <a:spcAft>
                <a:spcPts val="1200"/>
              </a:spcAft>
              <a:defRPr sz="1800">
                <a:solidFill>
                  <a:srgbClr val="FFFFFF"/>
                </a:solidFill>
                <a:latin typeface="Arial"/>
              </a:defRPr>
            </a:pPr>
            <a:r>
              <a:t>•  Requires HW specs optimized for AMR/AGV operations: flat floors, dedicated networks, loads</a:t>
            </a:r>
          </a:p>
          <a:p>
            <a:pPr>
              <a:lnSpc>
                <a:spcPct val="130000"/>
              </a:lnSpc>
              <a:spcAft>
                <a:spcPts val="1200"/>
              </a:spcAft>
              <a:defRPr sz="1800">
                <a:solidFill>
                  <a:srgbClr val="FFFFFF"/>
                </a:solidFill>
                <a:latin typeface="Arial"/>
              </a:defRPr>
            </a:pPr>
            <a:r>
              <a:t>•  Beyond mere warehousing, robot-friendly design becomes a survival condition as an \'automation platform\'</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6.</a:t>
            </a:r>
          </a:p>
          <a:p>
            <a:pPr algn="ctr">
              <a:spcBef>
                <a:spcPts val="1200"/>
              </a:spcBef>
              <a:defRPr sz="3200" b="1">
                <a:solidFill>
                  <a:srgbClr val="FFFFFF"/>
                </a:solidFill>
                <a:latin typeface="Arial"/>
              </a:defRPr>
            </a:pPr>
            <a:r>
              <a:t>Trophy Asset Pipeline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New Absolute Coordinates of GBD</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IOTA Seoul &amp; Hyundai GBC Pipeline</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IOTA Seoul</a:t>
            </a:r>
          </a:p>
          <a:p>
            <a:pPr>
              <a:lnSpc>
                <a:spcPct val="130000"/>
              </a:lnSpc>
              <a:spcAft>
                <a:spcPts val="1200"/>
              </a:spcAft>
              <a:defRPr sz="1800">
                <a:solidFill>
                  <a:srgbClr val="1D1D1F"/>
                </a:solidFill>
                <a:latin typeface="Arial"/>
              </a:defRPr>
            </a:pPr>
            <a:r>
              <a:t>•  (Est. Completion: 2032)</a:t>
            </a:r>
          </a:p>
          <a:p>
            <a:pPr>
              <a:lnSpc>
                <a:spcPct val="130000"/>
              </a:lnSpc>
              <a:spcAft>
                <a:spcPts val="1200"/>
              </a:spcAft>
              <a:defRPr sz="1800">
                <a:solidFill>
                  <a:srgbClr val="1D1D1F"/>
                </a:solidFill>
                <a:latin typeface="Arial"/>
              </a:defRPr>
            </a:pPr>
            <a:r>
              <a:t>•  The core subject of this report, establishing a new benchmark for Trophy Assets</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Hyundai GBC</a:t>
            </a:r>
          </a:p>
          <a:p>
            <a:pPr>
              <a:lnSpc>
                <a:spcPct val="130000"/>
              </a:lnSpc>
              <a:spcAft>
                <a:spcPts val="1200"/>
              </a:spcAft>
              <a:defRPr sz="1800">
                <a:solidFill>
                  <a:srgbClr val="1D1D1F"/>
                </a:solidFill>
                <a:latin typeface="Arial"/>
              </a:defRPr>
            </a:pPr>
            <a:r>
              <a:t>•  (Samsung-dong, Est. Completion: 2029~2030)</a:t>
            </a:r>
          </a:p>
          <a:p>
            <a:pPr>
              <a:lnSpc>
                <a:spcPct val="130000"/>
              </a:lnSpc>
              <a:spcAft>
                <a:spcPts val="1200"/>
              </a:spcAft>
              <a:defRPr sz="1800">
                <a:solidFill>
                  <a:srgbClr val="1D1D1F"/>
                </a:solidFill>
                <a:latin typeface="Arial"/>
              </a:defRPr>
            </a:pPr>
            <a:r>
              <a:t>•  Redesigned as three 54-story towers</a:t>
            </a:r>
          </a:p>
          <a:p>
            <a:pPr>
              <a:lnSpc>
                <a:spcPct val="130000"/>
              </a:lnSpc>
              <a:spcAft>
                <a:spcPts val="1200"/>
              </a:spcAft>
              <a:defRPr sz="1800">
                <a:solidFill>
                  <a:srgbClr val="1D1D1F"/>
                </a:solidFill>
                <a:latin typeface="Arial"/>
              </a:defRPr>
            </a:pPr>
            <a:r>
              <a:t>•  Mega project with approx. 4T KRW total cost</a:t>
            </a:r>
          </a:p>
          <a:p>
            <a:pPr>
              <a:lnSpc>
                <a:spcPct val="130000"/>
              </a:lnSpc>
              <a:spcAft>
                <a:spcPts val="1200"/>
              </a:spcAft>
              <a:defRPr sz="1800">
                <a:solidFill>
                  <a:srgbClr val="1D1D1F"/>
                </a:solidFill>
                <a:latin typeface="Arial"/>
              </a:defRPr>
            </a:pPr>
            <a:r>
              <a:t>•  Hyundai internal use + partial prime office lease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Seoul Mega Project Pipeline</a:t>
            </a:r>
          </a:p>
          <a:p>
            <a:pPr>
              <a:spcBef>
                <a:spcPts val="1200"/>
              </a:spcBef>
              <a:defRPr sz="3200" b="1">
                <a:solidFill>
                  <a:srgbClr val="FFFFFF"/>
                </a:solidFill>
                <a:latin typeface="Arial"/>
              </a:defRPr>
            </a:pPr>
            <a:r>
              <a:t>Next-gen Trophy Supply Chain unfolding across major urban cores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Yongsan Int\'l Business Dist. (YIBD)</a:t>
            </a:r>
          </a:p>
          <a:p>
            <a:pPr>
              <a:lnSpc>
                <a:spcPct val="130000"/>
              </a:lnSpc>
              <a:spcAft>
                <a:spcPts val="1200"/>
              </a:spcAft>
              <a:defRPr sz="1800">
                <a:solidFill>
                  <a:srgbClr val="FFFFFF"/>
                </a:solidFill>
                <a:latin typeface="Arial"/>
              </a:defRPr>
            </a:pPr>
            <a:r>
              <a:t>•  KORAIL/Seoul Master Plan Reactivated</a:t>
            </a:r>
          </a:p>
          <a:p>
            <a:pPr>
              <a:lnSpc>
                <a:spcPct val="130000"/>
              </a:lnSpc>
              <a:spcAft>
                <a:spcPts val="1200"/>
              </a:spcAft>
              <a:defRPr sz="1800">
                <a:solidFill>
                  <a:srgbClr val="FFFFFF"/>
                </a:solidFill>
                <a:latin typeface="Arial"/>
              </a:defRPr>
            </a:pPr>
            <a:r>
              <a:t>•  Phased development scaling 2027~2035</a:t>
            </a:r>
          </a:p>
          <a:p>
            <a:pPr>
              <a:lnSpc>
                <a:spcPct val="130000"/>
              </a:lnSpc>
              <a:spcAft>
                <a:spcPts val="1200"/>
              </a:spcAft>
              <a:defRPr sz="1800">
                <a:solidFill>
                  <a:srgbClr val="FFFFFF"/>
                </a:solidFill>
                <a:latin typeface="Arial"/>
              </a:defRPr>
            </a:pPr>
            <a:r>
              <a:t>•  Core stage for new global mega-capital entry</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Yeouido Redevelopment</a:t>
            </a:r>
          </a:p>
          <a:p>
            <a:pPr>
              <a:lnSpc>
                <a:spcPct val="130000"/>
              </a:lnSpc>
              <a:spcAft>
                <a:spcPts val="1200"/>
              </a:spcAft>
              <a:defRPr sz="1800">
                <a:solidFill>
                  <a:srgbClr val="FFFFFF"/>
                </a:solidFill>
                <a:latin typeface="Arial"/>
              </a:defRPr>
            </a:pPr>
            <a:r>
              <a:t>•  Trophy cycle reshaping the financial hub skyline</a:t>
            </a:r>
          </a:p>
          <a:p>
            <a:pPr>
              <a:lnSpc>
                <a:spcPct val="130000"/>
              </a:lnSpc>
              <a:spcAft>
                <a:spcPts val="1200"/>
              </a:spcAft>
              <a:defRPr sz="1800">
                <a:solidFill>
                  <a:srgbClr val="FFFFFF"/>
                </a:solidFill>
                <a:latin typeface="Arial"/>
              </a:defRPr>
            </a:pPr>
            <a:r>
              <a:t>•  Large-scale rebuild around KRX site</a:t>
            </a:r>
          </a:p>
          <a:p>
            <a:pPr>
              <a:lnSpc>
                <a:spcPct val="130000"/>
              </a:lnSpc>
              <a:spcAft>
                <a:spcPts val="1200"/>
              </a:spcAft>
              <a:defRPr sz="1800">
                <a:solidFill>
                  <a:srgbClr val="FFFFFF"/>
                </a:solidFill>
                <a:latin typeface="Arial"/>
              </a:defRPr>
            </a:pPr>
            <a:r>
              <a:t>•  Core asset dev. (former MBC, Teachers Pension)</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Jamsil MICE</a:t>
            </a:r>
          </a:p>
          <a:p>
            <a:pPr>
              <a:lnSpc>
                <a:spcPct val="130000"/>
              </a:lnSpc>
              <a:spcAft>
                <a:spcPts val="1200"/>
              </a:spcAft>
              <a:defRPr sz="1800">
                <a:solidFill>
                  <a:srgbClr val="FFFFFF"/>
                </a:solidFill>
                <a:latin typeface="Arial"/>
              </a:defRPr>
            </a:pPr>
            <a:r>
              <a:t>•  Sports/MICE complex development</a:t>
            </a:r>
          </a:p>
          <a:p>
            <a:pPr>
              <a:lnSpc>
                <a:spcPct val="130000"/>
              </a:lnSpc>
              <a:spcAft>
                <a:spcPts val="1200"/>
              </a:spcAft>
              <a:defRPr sz="1800">
                <a:solidFill>
                  <a:srgbClr val="FFFFFF"/>
                </a:solidFill>
                <a:latin typeface="Arial"/>
              </a:defRPr>
            </a:pPr>
            <a:r>
              <a:t>•  Hanwha Consortium led, ~6T KRW mega private biz</a:t>
            </a:r>
          </a:p>
          <a:p>
            <a:pPr>
              <a:lnSpc>
                <a:spcPct val="130000"/>
              </a:lnSpc>
              <a:spcAft>
                <a:spcPts val="1200"/>
              </a:spcAft>
              <a:defRPr sz="1800">
                <a:solidFill>
                  <a:srgbClr val="FFFFFF"/>
                </a:solidFill>
                <a:latin typeface="Arial"/>
              </a:defRPr>
            </a:pPr>
            <a:r>
              <a:t>•  Accelerating the Eastward trend of GBD</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Entry into Foreign Capital Trophy Acquisition Cycle</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헐값 매각에서 프리미엄 매입 시대로 : Korean Reversal: From Fire Sale to Premium Acquisition Era</a:t>
            </a:r>
          </a:p>
          <a:p>
            <a:pPr>
              <a:lnSpc>
                <a:spcPct val="130000"/>
              </a:lnSpc>
              <a:spcAft>
                <a:spcPts val="1200"/>
              </a:spcAft>
              <a:defRPr sz="1800">
                <a:solidFill>
                  <a:srgbClr val="FFFFFF"/>
                </a:solidFill>
                <a:latin typeface="Arial"/>
              </a:defRPr>
            </a:pPr>
            <a:r>
              <a:t>•  1996~2000</a:t>
            </a:r>
          </a:p>
          <a:p>
            <a:pPr>
              <a:lnSpc>
                <a:spcPct val="130000"/>
              </a:lnSpc>
              <a:spcAft>
                <a:spcPts val="1200"/>
              </a:spcAft>
              <a:defRPr sz="1800">
                <a:solidFill>
                  <a:srgbClr val="FFFFFF"/>
                </a:solidFill>
                <a:latin typeface="Arial"/>
              </a:defRPr>
            </a:pPr>
            <a:r>
              <a:t>•  IMF Crisis Era</a:t>
            </a:r>
          </a:p>
          <a:p>
            <a:pPr>
              <a:lnSpc>
                <a:spcPct val="130000"/>
              </a:lnSpc>
              <a:spcAft>
                <a:spcPts val="1200"/>
              </a:spcAft>
              <a:defRPr sz="1800">
                <a:solidFill>
                  <a:srgbClr val="FFFFFF"/>
                </a:solidFill>
                <a:latin typeface="Arial"/>
              </a:defRPr>
            </a:pPr>
            <a:r>
              <a:t>•  Fire Sale of Assets</a:t>
            </a:r>
          </a:p>
          <a:p>
            <a:pPr>
              <a:lnSpc>
                <a:spcPct val="130000"/>
              </a:lnSpc>
              <a:spcAft>
                <a:spcPts val="1200"/>
              </a:spcAft>
              <a:defRPr sz="1800">
                <a:solidFill>
                  <a:srgbClr val="FFFFFF"/>
                </a:solidFill>
                <a:latin typeface="Arial"/>
              </a:defRPr>
            </a:pPr>
            <a:r>
              <a:t>•  A period of handing over prime assets to foreign capital at rock-bottom prices for survival due to macro collapse</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Reversal</a:t>
            </a:r>
          </a:p>
          <a:p>
            <a:pPr>
              <a:lnSpc>
                <a:spcPct val="130000"/>
              </a:lnSpc>
              <a:spcAft>
                <a:spcPts val="1200"/>
              </a:spcAft>
              <a:defRPr sz="1800">
                <a:solidFill>
                  <a:srgbClr val="FFFFFF"/>
                </a:solidFill>
                <a:latin typeface="Arial"/>
              </a:defRPr>
            </a:pPr>
            <a:r>
              <a:t>•  2025~2030 (Now)</a:t>
            </a:r>
          </a:p>
          <a:p>
            <a:pPr>
              <a:lnSpc>
                <a:spcPct val="130000"/>
              </a:lnSpc>
              <a:spcAft>
                <a:spcPts val="1200"/>
              </a:spcAft>
              <a:defRPr sz="1800">
                <a:solidFill>
                  <a:srgbClr val="FFFFFF"/>
                </a:solidFill>
                <a:latin typeface="Arial"/>
              </a:defRPr>
            </a:pPr>
            <a:r>
              <a:t>•  First Premium Acquisition Cycle</a:t>
            </a:r>
          </a:p>
          <a:p>
            <a:pPr>
              <a:lnSpc>
                <a:spcPct val="130000"/>
              </a:lnSpc>
              <a:spcAft>
                <a:spcPts val="1200"/>
              </a:spcAft>
              <a:defRPr sz="1800">
                <a:solidFill>
                  <a:srgbClr val="FFFFFF"/>
                </a:solidFill>
                <a:latin typeface="Arial"/>
              </a:defRPr>
            </a:pPr>
            <a:r>
              <a:t>•  Core Trend of Global Capital</a:t>
            </a:r>
          </a:p>
          <a:p>
            <a:pPr>
              <a:lnSpc>
                <a:spcPct val="130000"/>
              </a:lnSpc>
              <a:spcAft>
                <a:spcPts val="1200"/>
              </a:spcAft>
              <a:defRPr sz="1800">
                <a:solidFill>
                  <a:srgbClr val="FFFFFF"/>
                </a:solidFill>
                <a:latin typeface="Arial"/>
              </a:defRPr>
            </a:pPr>
            <a:r>
              <a:t>•  Conversely, global funds are now fully entering to acquire Korea\'s trophy assets even if paying a premium price</a:t>
            </a:r>
          </a:p>
          <a:p>
            <a:pPr>
              <a:lnSpc>
                <a:spcPct val="130000"/>
              </a:lnSpc>
              <a:spcAft>
                <a:spcPts val="1200"/>
              </a:spcAft>
              <a:defRPr sz="1800">
                <a:solidFill>
                  <a:srgbClr val="FFFFFF"/>
                </a:solidFill>
                <a:latin typeface="Arial"/>
              </a:defRPr>
            </a:pPr>
            <a:r>
              <a:t>•  Multiple live cases in 2025: Aberdeen (Pacific Tower), BGO (Tower 730), PAG (Digital Dream Tower)</a:t>
            </a:r>
          </a:p>
          <a:p>
            <a:pPr>
              <a:lnSpc>
                <a:spcPct val="130000"/>
              </a:lnSpc>
              <a:spcAft>
                <a:spcPts val="1200"/>
              </a:spcAft>
              <a:defRPr sz="1800">
                <a:solidFill>
                  <a:srgbClr val="FFFFFF"/>
                </a:solidFill>
                <a:latin typeface="Arial"/>
              </a:defRPr>
            </a:pPr>
            <a:r>
              <a:t>•  A Korean Reversal similar to 1980s Japanese capital buying Rockefeller Center/Pebble Beach with massive cash flow</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7.</a:t>
            </a:r>
          </a:p>
          <a:p>
            <a:pPr algn="ctr">
              <a:spcBef>
                <a:spcPts val="1200"/>
              </a:spcBef>
              <a:defRPr sz="3200" b="1">
                <a:solidFill>
                  <a:srgbClr val="FFFFFF"/>
                </a:solidFill>
                <a:latin typeface="Arial"/>
              </a:defRPr>
            </a:pPr>
            <a:r>
              <a:t>KOSPI Scenario Forecasts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Base Upward Trend Towards KOSPI 10,000</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Massive Structural Strengthening via Profit Growth &amp; Value-up</a:t>
            </a:r>
          </a:p>
          <a:p>
            <a:pPr>
              <a:lnSpc>
                <a:spcPct val="130000"/>
              </a:lnSpc>
              <a:spcAft>
                <a:spcPts val="1200"/>
              </a:spcAft>
              <a:defRPr sz="1800">
                <a:solidFill>
                  <a:srgbClr val="1D1D1F"/>
                </a:solidFill>
                <a:latin typeface="Arial"/>
              </a:defRPr>
            </a:pPr>
            <a:r>
              <a:t>•  2030</a:t>
            </a:r>
          </a:p>
          <a:p>
            <a:pPr>
              <a:lnSpc>
                <a:spcPct val="130000"/>
              </a:lnSpc>
              <a:spcAft>
                <a:spcPts val="1200"/>
              </a:spcAft>
              <a:defRPr sz="1800">
                <a:solidFill>
                  <a:srgbClr val="1D1D1F"/>
                </a:solidFill>
                <a:latin typeface="Arial"/>
              </a:defRPr>
            </a:pPr>
            <a:r>
              <a:t>•  5,500</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6,500</a:t>
            </a:r>
          </a:p>
          <a:p>
            <a:pPr>
              <a:lnSpc>
                <a:spcPct val="130000"/>
              </a:lnSpc>
              <a:spcAft>
                <a:spcPts val="1200"/>
              </a:spcAft>
              <a:defRPr sz="1800">
                <a:solidFill>
                  <a:srgbClr val="1D1D1F"/>
                </a:solidFill>
                <a:latin typeface="Arial"/>
              </a:defRPr>
            </a:pPr>
            <a:r>
              <a:t>•  2035</a:t>
            </a:r>
          </a:p>
          <a:p>
            <a:pPr>
              <a:lnSpc>
                <a:spcPct val="130000"/>
              </a:lnSpc>
              <a:spcAft>
                <a:spcPts val="1200"/>
              </a:spcAft>
              <a:defRPr sz="1800">
                <a:solidFill>
                  <a:srgbClr val="1D1D1F"/>
                </a:solidFill>
                <a:latin typeface="Arial"/>
              </a:defRPr>
            </a:pPr>
            <a:r>
              <a:t>•  7,500</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9,000</a:t>
            </a:r>
          </a:p>
          <a:p>
            <a:pPr>
              <a:lnSpc>
                <a:spcPct val="130000"/>
              </a:lnSpc>
              <a:spcAft>
                <a:spcPts val="1200"/>
              </a:spcAft>
              <a:defRPr sz="1800">
                <a:solidFill>
                  <a:srgbClr val="1D1D1F"/>
                </a:solidFill>
                <a:latin typeface="Arial"/>
              </a:defRPr>
            </a:pPr>
            <a:r>
              <a:t>•  2040</a:t>
            </a:r>
          </a:p>
          <a:p>
            <a:pPr>
              <a:lnSpc>
                <a:spcPct val="130000"/>
              </a:lnSpc>
              <a:spcAft>
                <a:spcPts val="1200"/>
              </a:spcAft>
              <a:defRPr sz="1800">
                <a:solidFill>
                  <a:srgbClr val="1D1D1F"/>
                </a:solidFill>
                <a:latin typeface="Arial"/>
              </a:defRPr>
            </a:pPr>
            <a:r>
              <a:t>•  9,000</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11,000</a:t>
            </a:r>
          </a:p>
          <a:p>
            <a:pPr>
              <a:lnSpc>
                <a:spcPct val="130000"/>
              </a:lnSpc>
              <a:spcAft>
                <a:spcPts val="1200"/>
              </a:spcAft>
              <a:defRPr sz="1800">
                <a:solidFill>
                  <a:srgbClr val="1D1D1F"/>
                </a:solidFill>
                <a:latin typeface="Arial"/>
              </a:defRPr>
            </a:pPr>
            <a:r>
              <a:t>•  Entry into Korea Premium</a:t>
            </a:r>
          </a:p>
          <a:p>
            <a:pPr>
              <a:lnSpc>
                <a:spcPct val="130000"/>
              </a:lnSpc>
              <a:spcAft>
                <a:spcPts val="1200"/>
              </a:spcAft>
              <a:defRPr sz="1800">
                <a:solidFill>
                  <a:srgbClr val="1D1D1F"/>
                </a:solidFill>
                <a:latin typeface="Arial"/>
              </a:defRPr>
            </a:pPr>
            <a:r>
              <a:t>•  Stable Base growth model for Korea Premium entry, resolving PER 13x discount to reach KOSPI 9,000~11,000 by 2040.</a:t>
            </a:r>
          </a:p>
          <a:p>
            <a:pPr>
              <a:lnSpc>
                <a:spcPct val="130000"/>
              </a:lnSpc>
              <a:spcAft>
                <a:spcPts val="1200"/>
              </a:spcAft>
              <a:defRPr sz="1800">
                <a:solidFill>
                  <a:srgbClr val="1D1D1F"/>
                </a:solidFill>
                <a:latin typeface="Arial"/>
              </a:defRPr>
            </a:pPr>
            <a:r>
              <a:t>•  PER 13~15배' : 'Premise 1: PER 13~15x'</a:t>
            </a:r>
          </a:p>
          <a:p>
            <a:pPr>
              <a:lnSpc>
                <a:spcPct val="130000"/>
              </a:lnSpc>
              <a:spcAft>
                <a:spcPts val="1200"/>
              </a:spcAft>
              <a:defRPr sz="1800">
                <a:solidFill>
                  <a:srgbClr val="1D1D1F"/>
                </a:solidFill>
                <a:latin typeface="Arial"/>
              </a:defRPr>
            </a:pPr>
            <a:r>
              <a:t>•  기업이익 연 7~9% 성장' : 'Premise 2: Corp Profit 7~9% CAGR'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시총 GDP 200% 달성과 퀀텀 점프' : 'Bull Scenario: GDP 200% Market Cap &amp; Quantum Jump'</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Overwhelming Scale-up to a Singapore/Hong Kong-level Financial Hub</a:t>
            </a:r>
          </a:p>
          <a:p>
            <a:pPr>
              <a:lnSpc>
                <a:spcPct val="130000"/>
              </a:lnSpc>
              <a:spcAft>
                <a:spcPts val="1200"/>
              </a:spcAft>
              <a:defRPr sz="1800">
                <a:solidFill>
                  <a:srgbClr val="1D1D1F"/>
                </a:solidFill>
                <a:latin typeface="Arial"/>
              </a:defRPr>
            </a:pPr>
            <a:r>
              <a:t>•  2030</a:t>
            </a:r>
          </a:p>
          <a:p>
            <a:pPr>
              <a:lnSpc>
                <a:spcPct val="130000"/>
              </a:lnSpc>
              <a:spcAft>
                <a:spcPts val="1200"/>
              </a:spcAft>
              <a:defRPr sz="1800">
                <a:solidFill>
                  <a:srgbClr val="1D1D1F"/>
                </a:solidFill>
                <a:latin typeface="Arial"/>
              </a:defRPr>
            </a:pPr>
            <a:r>
              <a:t>•  7,000</a:t>
            </a:r>
          </a:p>
          <a:p>
            <a:pPr>
              <a:lnSpc>
                <a:spcPct val="130000"/>
              </a:lnSpc>
              <a:spcAft>
                <a:spcPts val="1200"/>
              </a:spcAft>
              <a:defRPr sz="1800">
                <a:solidFill>
                  <a:srgbClr val="1D1D1F"/>
                </a:solidFill>
                <a:latin typeface="Arial"/>
              </a:defRPr>
            </a:pPr>
            <a:r>
              <a:t>•  ~8,500</a:t>
            </a:r>
          </a:p>
          <a:p>
            <a:pPr>
              <a:lnSpc>
                <a:spcPct val="130000"/>
              </a:lnSpc>
              <a:spcAft>
                <a:spcPts val="1200"/>
              </a:spcAft>
              <a:defRPr sz="1800">
                <a:solidFill>
                  <a:srgbClr val="1D1D1F"/>
                </a:solidFill>
                <a:latin typeface="Arial"/>
              </a:defRPr>
            </a:pPr>
            <a:r>
              <a:t>•  2035</a:t>
            </a:r>
          </a:p>
          <a:p>
            <a:pPr>
              <a:lnSpc>
                <a:spcPct val="130000"/>
              </a:lnSpc>
              <a:spcAft>
                <a:spcPts val="1200"/>
              </a:spcAft>
              <a:defRPr sz="1800">
                <a:solidFill>
                  <a:srgbClr val="1D1D1F"/>
                </a:solidFill>
                <a:latin typeface="Arial"/>
              </a:defRPr>
            </a:pPr>
            <a:r>
              <a:t>•  11,000</a:t>
            </a:r>
          </a:p>
          <a:p>
            <a:pPr>
              <a:lnSpc>
                <a:spcPct val="130000"/>
              </a:lnSpc>
              <a:spcAft>
                <a:spcPts val="1200"/>
              </a:spcAft>
              <a:defRPr sz="1800">
                <a:solidFill>
                  <a:srgbClr val="1D1D1F"/>
                </a:solidFill>
                <a:latin typeface="Arial"/>
              </a:defRPr>
            </a:pPr>
            <a:r>
              <a:t>•  ~13,000</a:t>
            </a:r>
          </a:p>
          <a:p>
            <a:pPr>
              <a:lnSpc>
                <a:spcPct val="130000"/>
              </a:lnSpc>
              <a:spcAft>
                <a:spcPts val="1200"/>
              </a:spcAft>
              <a:defRPr sz="1800">
                <a:solidFill>
                  <a:srgbClr val="1D1D1F"/>
                </a:solidFill>
                <a:latin typeface="Arial"/>
              </a:defRPr>
            </a:pPr>
            <a:r>
              <a:t>•  Quantum Jump 🚀</a:t>
            </a:r>
          </a:p>
          <a:p>
            <a:pPr>
              <a:lnSpc>
                <a:spcPct val="130000"/>
              </a:lnSpc>
              <a:spcAft>
                <a:spcPts val="1200"/>
              </a:spcAft>
              <a:defRPr sz="1800">
                <a:solidFill>
                  <a:srgbClr val="1D1D1F"/>
                </a:solidFill>
                <a:latin typeface="Arial"/>
              </a:defRPr>
            </a:pPr>
            <a:r>
              <a:t>•  2040</a:t>
            </a:r>
          </a:p>
          <a:p>
            <a:pPr>
              <a:lnSpc>
                <a:spcPct val="130000"/>
              </a:lnSpc>
              <a:spcAft>
                <a:spcPts val="1200"/>
              </a:spcAft>
              <a:defRPr sz="1800">
                <a:solidFill>
                  <a:srgbClr val="1D1D1F"/>
                </a:solidFill>
                <a:latin typeface="Arial"/>
              </a:defRPr>
            </a:pPr>
            <a:r>
              <a:t>•  15,000</a:t>
            </a:r>
          </a:p>
          <a:p>
            <a:pPr>
              <a:lnSpc>
                <a:spcPct val="130000"/>
              </a:lnSpc>
              <a:spcAft>
                <a:spcPts val="1200"/>
              </a:spcAft>
              <a:defRPr sz="1800">
                <a:solidFill>
                  <a:srgbClr val="1D1D1F"/>
                </a:solidFill>
                <a:latin typeface="Arial"/>
              </a:defRPr>
            </a:pPr>
            <a:r>
              <a:t>•  ~18,000</a:t>
            </a:r>
          </a:p>
          <a:p>
            <a:pPr>
              <a:lnSpc>
                <a:spcPct val="130000"/>
              </a:lnSpc>
              <a:spcAft>
                <a:spcPts val="1200"/>
              </a:spcAft>
              <a:defRPr sz="1800">
                <a:solidFill>
                  <a:srgbClr val="1D1D1F"/>
                </a:solidFill>
                <a:latin typeface="Arial"/>
              </a:defRPr>
            </a:pPr>
            <a:r>
              <a:t>•  Market Deepening</a:t>
            </a:r>
          </a:p>
          <a:p>
            <a:pPr>
              <a:lnSpc>
                <a:spcPct val="130000"/>
              </a:lnSpc>
              <a:spcAft>
                <a:spcPts val="1200"/>
              </a:spcAft>
              <a:defRPr sz="1800">
                <a:solidFill>
                  <a:srgbClr val="1D1D1F"/>
                </a:solidFill>
                <a:latin typeface="Arial"/>
              </a:defRPr>
            </a:pPr>
            <a:r>
              <a:t>•  Market Cap 200% of GDP</a:t>
            </a:r>
          </a:p>
          <a:p>
            <a:pPr>
              <a:lnSpc>
                <a:spcPct val="130000"/>
              </a:lnSpc>
              <a:spcAft>
                <a:spcPts val="1200"/>
              </a:spcAft>
              <a:defRPr sz="1800">
                <a:solidFill>
                  <a:srgbClr val="1D1D1F"/>
                </a:solidFill>
                <a:latin typeface="Arial"/>
              </a:defRPr>
            </a:pPr>
            <a:r>
              <a:t>•  Samsung Elec. Cap 2,000T+</a:t>
            </a:r>
          </a:p>
          <a:p>
            <a:pPr>
              <a:lnSpc>
                <a:spcPct val="130000"/>
              </a:lnSpc>
              <a:spcAft>
                <a:spcPts val="1200"/>
              </a:spcAft>
              <a:defRPr sz="1800">
                <a:solidFill>
                  <a:srgbClr val="1D1D1F"/>
                </a:solidFill>
                <a:latin typeface="Arial"/>
              </a:defRPr>
            </a:pPr>
            <a:r>
              <a:t>•  SK Hynix Cap 1,000T+</a:t>
            </a:r>
          </a:p>
          <a:p>
            <a:pPr>
              <a:lnSpc>
                <a:spcPct val="130000"/>
              </a:lnSpc>
              <a:spcAft>
                <a:spcPts val="1200"/>
              </a:spcAft>
              <a:defRPr sz="1800">
                <a:solidFill>
                  <a:srgbClr val="1D1D1F"/>
                </a:solidFill>
                <a:latin typeface="Arial"/>
              </a:defRPr>
            </a:pPr>
            <a:r>
              <a:t>•  Explosive expansion from current 110%</a:t>
            </a:r>
          </a:p>
          <a:p>
            <a:pPr>
              <a:lnSpc>
                <a:spcPct val="130000"/>
              </a:lnSpc>
              <a:spcAft>
                <a:spcPts val="1200"/>
              </a:spcAft>
              <a:defRPr sz="1800">
                <a:solidFill>
                  <a:srgbClr val="1D1D1F"/>
                </a:solidFill>
                <a:latin typeface="Arial"/>
              </a:defRPr>
            </a:pPr>
            <a:r>
              <a:t>•  Forecasting a surge to 15,000~18,000 alongside the 2,000T KRW Samsung Electronics era, building an explosive Deep Market where total market cap reaches 200% of GDP.</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짙은 디플레이션 그림자와 박스피' : 'Bear Scenario: Shadow of Deflation &amp; Box-PI'</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Capital Flight Risk in Demographic Cliff suppressed by Japan-style Box-PI</a:t>
            </a:r>
          </a:p>
          <a:p>
            <a:pPr>
              <a:lnSpc>
                <a:spcPct val="130000"/>
              </a:lnSpc>
              <a:spcAft>
                <a:spcPts val="1200"/>
              </a:spcAft>
              <a:defRPr sz="1800">
                <a:solidFill>
                  <a:srgbClr val="FFFFFF"/>
                </a:solidFill>
                <a:latin typeface="Arial"/>
              </a:defRPr>
            </a:pPr>
            <a:r>
              <a:t>•  Long-term Box Range</a:t>
            </a:r>
          </a:p>
          <a:p>
            <a:pPr>
              <a:lnSpc>
                <a:spcPct val="130000"/>
              </a:lnSpc>
              <a:spcAft>
                <a:spcPts val="1200"/>
              </a:spcAft>
              <a:defRPr sz="1800">
                <a:solidFill>
                  <a:srgbClr val="FFFFFF"/>
                </a:solidFill>
                <a:latin typeface="Arial"/>
              </a:defRPr>
            </a:pPr>
            <a:r>
              <a:t>•  2030</a:t>
            </a:r>
          </a:p>
          <a:p>
            <a:pPr>
              <a:lnSpc>
                <a:spcPct val="130000"/>
              </a:lnSpc>
              <a:spcAft>
                <a:spcPts val="1200"/>
              </a:spcAft>
              <a:defRPr sz="1800">
                <a:solidFill>
                  <a:srgbClr val="FFFFFF"/>
                </a:solidFill>
                <a:latin typeface="Arial"/>
              </a:defRPr>
            </a:pPr>
            <a:r>
              <a:t>•  4,500</a:t>
            </a:r>
          </a:p>
          <a:p>
            <a:pPr>
              <a:lnSpc>
                <a:spcPct val="130000"/>
              </a:lnSpc>
              <a:spcAft>
                <a:spcPts val="1200"/>
              </a:spcAft>
              <a:defRPr sz="1800">
                <a:solidFill>
                  <a:srgbClr val="FFFFFF"/>
                </a:solidFill>
                <a:latin typeface="Arial"/>
              </a:defRPr>
            </a:pPr>
            <a:r>
              <a:t>•  ~5,200</a:t>
            </a:r>
          </a:p>
          <a:p>
            <a:pPr>
              <a:lnSpc>
                <a:spcPct val="130000"/>
              </a:lnSpc>
              <a:spcAft>
                <a:spcPts val="1200"/>
              </a:spcAft>
              <a:defRPr sz="1800">
                <a:solidFill>
                  <a:srgbClr val="FFFFFF"/>
                </a:solidFill>
                <a:latin typeface="Arial"/>
              </a:defRPr>
            </a:pPr>
            <a:r>
              <a:t>•  2035</a:t>
            </a:r>
          </a:p>
          <a:p>
            <a:pPr>
              <a:lnSpc>
                <a:spcPct val="130000"/>
              </a:lnSpc>
              <a:spcAft>
                <a:spcPts val="1200"/>
              </a:spcAft>
              <a:defRPr sz="1800">
                <a:solidFill>
                  <a:srgbClr val="FFFFFF"/>
                </a:solidFill>
                <a:latin typeface="Arial"/>
              </a:defRPr>
            </a:pPr>
            <a:r>
              <a:t>•  Trap</a:t>
            </a:r>
          </a:p>
          <a:p>
            <a:pPr>
              <a:lnSpc>
                <a:spcPct val="130000"/>
              </a:lnSpc>
              <a:spcAft>
                <a:spcPts val="1200"/>
              </a:spcAft>
              <a:defRPr sz="1800">
                <a:solidFill>
                  <a:srgbClr val="FFFFFF"/>
                </a:solidFill>
                <a:latin typeface="Arial"/>
              </a:defRPr>
            </a:pPr>
            <a:r>
              <a:t>•  4,500</a:t>
            </a:r>
          </a:p>
          <a:p>
            <a:pPr>
              <a:lnSpc>
                <a:spcPct val="130000"/>
              </a:lnSpc>
              <a:spcAft>
                <a:spcPts val="1200"/>
              </a:spcAft>
              <a:defRPr sz="1800">
                <a:solidFill>
                  <a:srgbClr val="FFFFFF"/>
                </a:solidFill>
                <a:latin typeface="Arial"/>
              </a:defRPr>
            </a:pPr>
            <a:r>
              <a:t>•  ~6,000</a:t>
            </a:r>
          </a:p>
          <a:p>
            <a:pPr>
              <a:lnSpc>
                <a:spcPct val="130000"/>
              </a:lnSpc>
              <a:spcAft>
                <a:spcPts val="1200"/>
              </a:spcAft>
              <a:defRPr sz="1800">
                <a:solidFill>
                  <a:srgbClr val="FFFFFF"/>
                </a:solidFill>
                <a:latin typeface="Arial"/>
              </a:defRPr>
            </a:pPr>
            <a:r>
              <a:t>•  2040</a:t>
            </a:r>
          </a:p>
          <a:p>
            <a:pPr>
              <a:lnSpc>
                <a:spcPct val="130000"/>
              </a:lnSpc>
              <a:spcAft>
                <a:spcPts val="1200"/>
              </a:spcAft>
              <a:defRPr sz="1800">
                <a:solidFill>
                  <a:srgbClr val="FFFFFF"/>
                </a:solidFill>
                <a:latin typeface="Arial"/>
              </a:defRPr>
            </a:pPr>
            <a:r>
              <a:t>•  5,500</a:t>
            </a:r>
          </a:p>
          <a:p>
            <a:pPr>
              <a:lnSpc>
                <a:spcPct val="130000"/>
              </a:lnSpc>
              <a:spcAft>
                <a:spcPts val="1200"/>
              </a:spcAft>
              <a:defRPr sz="1800">
                <a:solidFill>
                  <a:srgbClr val="FFFFFF"/>
                </a:solidFill>
                <a:latin typeface="Arial"/>
              </a:defRPr>
            </a:pPr>
            <a:r>
              <a:t>•  ~7,000</a:t>
            </a:r>
          </a:p>
          <a:p>
            <a:pPr>
              <a:lnSpc>
                <a:spcPct val="130000"/>
              </a:lnSpc>
              <a:spcAft>
                <a:spcPts val="1200"/>
              </a:spcAft>
              <a:defRPr sz="1800">
                <a:solidFill>
                  <a:srgbClr val="FFFFFF"/>
                </a:solidFill>
                <a:latin typeface="Arial"/>
              </a:defRPr>
            </a:pPr>
            <a:r>
              <a:t>•  Risk Warning</a:t>
            </a:r>
          </a:p>
          <a:p>
            <a:pPr>
              <a:lnSpc>
                <a:spcPct val="130000"/>
              </a:lnSpc>
              <a:spcAft>
                <a:spcPts val="1200"/>
              </a:spcAft>
              <a:defRPr sz="1800">
                <a:solidFill>
                  <a:srgbClr val="FFFFFF"/>
                </a:solidFill>
                <a:latin typeface="Arial"/>
              </a:defRPr>
            </a:pPr>
            <a:r>
              <a:t>•  Warns of the risk where KOSPI stagnates in a long 4,000~6,000 box range, suffering valuation collapse and severe deflationary pressure if trapped by demographic shock and geopolitics.</a:t>
            </a:r>
          </a:p>
          <a:p>
            <a:pPr>
              <a:lnSpc>
                <a:spcPct val="130000"/>
              </a:lnSpc>
              <a:spcAft>
                <a:spcPts val="1200"/>
              </a:spcAft>
              <a:defRPr sz="1800">
                <a:solidFill>
                  <a:srgbClr val="FFFFFF"/>
                </a:solidFill>
                <a:latin typeface="Arial"/>
              </a:defRPr>
            </a:pPr>
            <a:r>
              <a:t>•  Japan-style Deflation Pressure</a:t>
            </a:r>
          </a:p>
          <a:p>
            <a:pPr>
              <a:lnSpc>
                <a:spcPct val="130000"/>
              </a:lnSpc>
              <a:spcAft>
                <a:spcPts val="1200"/>
              </a:spcAft>
              <a:defRPr sz="1800">
                <a:solidFill>
                  <a:srgbClr val="FFFFFF"/>
                </a:solidFill>
                <a:latin typeface="Arial"/>
              </a:defRPr>
            </a:pPr>
            <a:r>
              <a:t>•  Accompanied by Demographic Shock</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Real Estate Rerating Triggered by KOSPI Surge</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Chain Effect: Stock PER Expansion Forcing Trophy Asset Cap Rate Compression &amp; Value Surge</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Stock PER Expansion</a:t>
            </a:r>
          </a:p>
          <a:p>
            <a:pPr>
              <a:lnSpc>
                <a:spcPct val="130000"/>
              </a:lnSpc>
              <a:spcAft>
                <a:spcPts val="1200"/>
              </a:spcAft>
              <a:defRPr sz="1800">
                <a:solidFill>
                  <a:srgbClr val="FFFFFF"/>
                </a:solidFill>
                <a:latin typeface="Arial"/>
              </a:defRPr>
            </a:pPr>
            <a:r>
              <a:t>•  KOSPI 5,000 achieved, Korea Premium begins (Consensus shift)</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Real Estate Cap Rate Compression</a:t>
            </a:r>
          </a:p>
          <a:p>
            <a:pPr>
              <a:lnSpc>
                <a:spcPct val="130000"/>
              </a:lnSpc>
              <a:spcAft>
                <a:spcPts val="1200"/>
              </a:spcAft>
              <a:defRPr sz="1800">
                <a:solidFill>
                  <a:srgbClr val="FFFFFF"/>
                </a:solidFill>
                <a:latin typeface="Arial"/>
              </a:defRPr>
            </a:pPr>
            <a:r>
              <a:t>•  Capital market expansion forcefully drags down required returns (Cap Rate) of real assets</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Trophy Asset Value Surge</a:t>
            </a:r>
          </a:p>
          <a:p>
            <a:pPr>
              <a:lnSpc>
                <a:spcPct val="130000"/>
              </a:lnSpc>
              <a:spcAft>
                <a:spcPts val="1200"/>
              </a:spcAft>
              <a:defRPr sz="1800">
                <a:solidFill>
                  <a:srgbClr val="FFFFFF"/>
                </a:solidFill>
                <a:latin typeface="Arial"/>
              </a:defRPr>
            </a:pPr>
            <a:r>
              <a:t>•  Massive Valuation Lift occurs. Re-rating of single largest trophy assets in full swing</a:t>
            </a:r>
          </a:p>
          <a:p>
            <a:pPr>
              <a:lnSpc>
                <a:spcPct val="130000"/>
              </a:lnSpc>
              <a:spcAft>
                <a:spcPts val="1200"/>
              </a:spcAft>
              <a:defRPr sz="1800">
                <a:solidFill>
                  <a:srgbClr val="FFFFFF"/>
                </a:solidFill>
                <a:latin typeface="Arial"/>
              </a:defRPr>
            </a:pPr>
            <a:r>
              <a:t>•  ( Stock Surge = Korea Premium = Cap Rate Drop</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8.</a:t>
            </a:r>
          </a:p>
          <a:p>
            <a:pPr algn="ctr">
              <a:spcBef>
                <a:spcPts val="1200"/>
              </a:spcBef>
              <a:defRPr sz="3200" b="1">
                <a:solidFill>
                  <a:srgbClr val="FFFFFF"/>
                </a:solidFill>
                <a:latin typeface="Arial"/>
              </a:defRPr>
            </a:pPr>
            <a:r>
              <a:t>Prime Office Rent Global Comparison &amp; Convergence Thesis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Seoul Prime Office Still Cheap</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Seoul Maintains Lowest Prime Rent Among Tier 1 Global Cities</a:t>
            </a:r>
          </a:p>
          <a:p>
            <a:pPr>
              <a:lnSpc>
                <a:spcPct val="130000"/>
              </a:lnSpc>
              <a:spcAft>
                <a:spcPts val="1200"/>
              </a:spcAft>
              <a:defRPr sz="1800">
                <a:solidFill>
                  <a:srgbClr val="1D1D1F"/>
                </a:solidFill>
                <a:latin typeface="Arial"/>
              </a:defRPr>
            </a:pPr>
            <a:r>
              <a:t>•  Prime Office Rent as of May 2026 (USD/sqft/yr, Occupancy Cost Basis)</a:t>
            </a:r>
          </a:p>
          <a:p>
            <a:pPr>
              <a:lnSpc>
                <a:spcPct val="130000"/>
              </a:lnSpc>
              <a:spcAft>
                <a:spcPts val="1200"/>
              </a:spcAft>
              <a:defRPr sz="1800">
                <a:solidFill>
                  <a:srgbClr val="1D1D1F"/>
                </a:solidFill>
                <a:latin typeface="Arial"/>
              </a:defRPr>
            </a:pPr>
            <a:r>
              <a:t>•  Hong Kong Central</a:t>
            </a:r>
          </a:p>
          <a:p>
            <a:pPr>
              <a:lnSpc>
                <a:spcPct val="130000"/>
              </a:lnSpc>
              <a:spcAft>
                <a:spcPts val="1200"/>
              </a:spcAft>
              <a:defRPr sz="1800">
                <a:solidFill>
                  <a:srgbClr val="1D1D1F"/>
                </a:solidFill>
                <a:latin typeface="Arial"/>
              </a:defRPr>
            </a:pPr>
            <a:r>
              <a:t>•  250~280</a:t>
            </a:r>
          </a:p>
          <a:p>
            <a:pPr>
              <a:lnSpc>
                <a:spcPct val="130000"/>
              </a:lnSpc>
              <a:spcAft>
                <a:spcPts val="1200"/>
              </a:spcAft>
              <a:defRPr sz="1800">
                <a:solidFill>
                  <a:srgbClr val="1D1D1F"/>
                </a:solidFill>
                <a:latin typeface="Arial"/>
              </a:defRPr>
            </a:pPr>
            <a:r>
              <a:t>•  London West End</a:t>
            </a:r>
          </a:p>
          <a:p>
            <a:pPr>
              <a:lnSpc>
                <a:spcPct val="130000"/>
              </a:lnSpc>
              <a:spcAft>
                <a:spcPts val="1200"/>
              </a:spcAft>
              <a:defRPr sz="1800">
                <a:solidFill>
                  <a:srgbClr val="1D1D1F"/>
                </a:solidFill>
                <a:latin typeface="Arial"/>
              </a:defRPr>
            </a:pPr>
            <a:r>
              <a:t>•  200~220</a:t>
            </a:r>
          </a:p>
          <a:p>
            <a:pPr>
              <a:lnSpc>
                <a:spcPct val="130000"/>
              </a:lnSpc>
              <a:spcAft>
                <a:spcPts val="1200"/>
              </a:spcAft>
              <a:defRPr sz="1800">
                <a:solidFill>
                  <a:srgbClr val="1D1D1F"/>
                </a:solidFill>
                <a:latin typeface="Arial"/>
              </a:defRPr>
            </a:pPr>
            <a:r>
              <a:t>•  Tokyo Marunouchi</a:t>
            </a:r>
          </a:p>
          <a:p>
            <a:pPr>
              <a:lnSpc>
                <a:spcPct val="130000"/>
              </a:lnSpc>
              <a:spcAft>
                <a:spcPts val="1200"/>
              </a:spcAft>
              <a:defRPr sz="1800">
                <a:solidFill>
                  <a:srgbClr val="1D1D1F"/>
                </a:solidFill>
                <a:latin typeface="Arial"/>
              </a:defRPr>
            </a:pPr>
            <a:r>
              <a:t>•  190~210</a:t>
            </a:r>
          </a:p>
          <a:p>
            <a:pPr>
              <a:lnSpc>
                <a:spcPct val="130000"/>
              </a:lnSpc>
              <a:spcAft>
                <a:spcPts val="1200"/>
              </a:spcAft>
              <a:defRPr sz="1800">
                <a:solidFill>
                  <a:srgbClr val="1D1D1F"/>
                </a:solidFill>
                <a:latin typeface="Arial"/>
              </a:defRPr>
            </a:pPr>
            <a:r>
              <a:t>•  NY Midtown</a:t>
            </a:r>
          </a:p>
          <a:p>
            <a:pPr>
              <a:lnSpc>
                <a:spcPct val="130000"/>
              </a:lnSpc>
              <a:spcAft>
                <a:spcPts val="1200"/>
              </a:spcAft>
              <a:defRPr sz="1800">
                <a:solidFill>
                  <a:srgbClr val="1D1D1F"/>
                </a:solidFill>
                <a:latin typeface="Arial"/>
              </a:defRPr>
            </a:pPr>
            <a:r>
              <a:t>•  180~200</a:t>
            </a:r>
          </a:p>
          <a:p>
            <a:pPr>
              <a:lnSpc>
                <a:spcPct val="130000"/>
              </a:lnSpc>
              <a:spcAft>
                <a:spcPts val="1200"/>
              </a:spcAft>
              <a:defRPr sz="1800">
                <a:solidFill>
                  <a:srgbClr val="1D1D1F"/>
                </a:solidFill>
                <a:latin typeface="Arial"/>
              </a:defRPr>
            </a:pPr>
            <a:r>
              <a:t>•  Singapore Raffles</a:t>
            </a:r>
          </a:p>
          <a:p>
            <a:pPr>
              <a:lnSpc>
                <a:spcPct val="130000"/>
              </a:lnSpc>
              <a:spcAft>
                <a:spcPts val="1200"/>
              </a:spcAft>
              <a:defRPr sz="1800">
                <a:solidFill>
                  <a:srgbClr val="1D1D1F"/>
                </a:solidFill>
                <a:latin typeface="Arial"/>
              </a:defRPr>
            </a:pPr>
            <a:r>
              <a:t>•  130~150</a:t>
            </a:r>
          </a:p>
          <a:p>
            <a:pPr>
              <a:lnSpc>
                <a:spcPct val="130000"/>
              </a:lnSpc>
              <a:spcAft>
                <a:spcPts val="1200"/>
              </a:spcAft>
              <a:defRPr sz="1800">
                <a:solidFill>
                  <a:srgbClr val="1D1D1F"/>
                </a:solidFill>
                <a:latin typeface="Arial"/>
              </a:defRPr>
            </a:pPr>
            <a:r>
              <a:t>•  Seoul GBD Prime</a:t>
            </a:r>
          </a:p>
          <a:p>
            <a:pPr>
              <a:lnSpc>
                <a:spcPct val="130000"/>
              </a:lnSpc>
              <a:spcAft>
                <a:spcPts val="1200"/>
              </a:spcAft>
              <a:defRPr sz="1800">
                <a:solidFill>
                  <a:srgbClr val="1D1D1F"/>
                </a:solidFill>
                <a:latin typeface="Arial"/>
              </a:defRPr>
            </a:pPr>
            <a:r>
              <a:t>•  80~90</a:t>
            </a:r>
          </a:p>
          <a:p>
            <a:pPr>
              <a:lnSpc>
                <a:spcPct val="130000"/>
              </a:lnSpc>
              <a:spcAft>
                <a:spcPts val="1200"/>
              </a:spcAft>
              <a:defRPr sz="1800">
                <a:solidFill>
                  <a:srgbClr val="1D1D1F"/>
                </a:solidFill>
                <a:latin typeface="Arial"/>
              </a:defRPr>
            </a:pPr>
            <a:r>
              <a:t>•  Only 1/3 of Hong Kong Central</a:t>
            </a:r>
          </a:p>
          <a:p>
            <a:pPr>
              <a:lnSpc>
                <a:spcPct val="130000"/>
              </a:lnSpc>
              <a:spcAft>
                <a:spcPts val="1200"/>
              </a:spcAft>
              <a:defRPr sz="1800">
                <a:solidFill>
                  <a:srgbClr val="1D1D1F"/>
                </a:solidFill>
                <a:latin typeface="Arial"/>
              </a:defRPr>
            </a:pPr>
            <a:r>
              <a:t>•  Seoul Prime rent, lower than Singapore and only one-third of Hong Kong Central.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Convergence Trade: Rationale for a 2x Rally</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Powerful Sales Logic: New Trophies Reaching Tokyo Convergence Point of USD 150+</a:t>
            </a:r>
          </a:p>
          <a:p>
            <a:pPr>
              <a:lnSpc>
                <a:spcPct val="130000"/>
              </a:lnSpc>
              <a:spcAft>
                <a:spcPts val="1200"/>
              </a:spcAft>
              <a:defRPr sz="1800">
                <a:solidFill>
                  <a:srgbClr val="1D1D1F"/>
                </a:solidFill>
                <a:latin typeface="Arial"/>
              </a:defRPr>
            </a:pPr>
            <a:r>
              <a:t>•  2026 (Current)</a:t>
            </a:r>
          </a:p>
          <a:p>
            <a:pPr>
              <a:lnSpc>
                <a:spcPct val="130000"/>
              </a:lnSpc>
              <a:spcAft>
                <a:spcPts val="1200"/>
              </a:spcAft>
              <a:defRPr sz="1800">
                <a:solidFill>
                  <a:srgbClr val="1D1D1F"/>
                </a:solidFill>
                <a:latin typeface="Arial"/>
              </a:defRPr>
            </a:pPr>
            <a:r>
              <a:t>•  USD 80</a:t>
            </a:r>
          </a:p>
          <a:p>
            <a:pPr>
              <a:lnSpc>
                <a:spcPct val="130000"/>
              </a:lnSpc>
              <a:spcAft>
                <a:spcPts val="1200"/>
              </a:spcAft>
              <a:defRPr sz="1800">
                <a:solidFill>
                  <a:srgbClr val="1D1D1F"/>
                </a:solidFill>
                <a:latin typeface="Arial"/>
              </a:defRPr>
            </a:pPr>
            <a:r>
              <a:t>•  s</a:t>
            </a:r>
          </a:p>
          <a:p>
            <a:pPr>
              <a:lnSpc>
                <a:spcPct val="130000"/>
              </a:lnSpc>
              <a:spcAft>
                <a:spcPts val="1200"/>
              </a:spcAft>
              <a:defRPr sz="1800">
                <a:solidFill>
                  <a:srgbClr val="1D1D1F"/>
                </a:solidFill>
                <a:latin typeface="Arial"/>
              </a:defRPr>
            </a:pPr>
            <a:r>
              <a:t>•  Ridiculously Undervalued</a:t>
            </a:r>
          </a:p>
          <a:p>
            <a:pPr>
              <a:lnSpc>
                <a:spcPct val="130000"/>
              </a:lnSpc>
              <a:spcAft>
                <a:spcPts val="1200"/>
              </a:spcAft>
              <a:defRPr sz="1800">
                <a:solidFill>
                  <a:srgbClr val="1D1D1F"/>
                </a:solidFill>
                <a:latin typeface="Arial"/>
              </a:defRPr>
            </a:pPr>
            <a:r>
              <a:t>•  Convergence Trade</a:t>
            </a:r>
          </a:p>
          <a:p>
            <a:pPr>
              <a:lnSpc>
                <a:spcPct val="130000"/>
              </a:lnSpc>
              <a:spcAft>
                <a:spcPts val="1200"/>
              </a:spcAft>
              <a:defRPr sz="1800">
                <a:solidFill>
                  <a:srgbClr val="1D1D1F"/>
                </a:solidFill>
                <a:latin typeface="Arial"/>
              </a:defRPr>
            </a:pPr>
            <a:r>
              <a:t>•  Price Convergence over 15 years</a:t>
            </a:r>
          </a:p>
          <a:p>
            <a:pPr>
              <a:lnSpc>
                <a:spcPct val="130000"/>
              </a:lnSpc>
              <a:spcAft>
                <a:spcPts val="1200"/>
              </a:spcAft>
              <a:defRPr sz="1800">
                <a:solidFill>
                  <a:srgbClr val="1D1D1F"/>
                </a:solidFill>
                <a:latin typeface="Arial"/>
              </a:defRPr>
            </a:pPr>
            <a:r>
              <a:t>•  Convergence Trade</a:t>
            </a:r>
          </a:p>
          <a:p>
            <a:pPr>
              <a:lnSpc>
                <a:spcPct val="130000"/>
              </a:lnSpc>
              <a:spcAft>
                <a:spcPts val="1200"/>
              </a:spcAft>
              <a:defRPr sz="1800">
                <a:solidFill>
                  <a:srgbClr val="1D1D1F"/>
                </a:solidFill>
                <a:latin typeface="Arial"/>
              </a:defRPr>
            </a:pPr>
            <a:r>
              <a:t>•  2040 (Tokyo Marunouchi level)</a:t>
            </a:r>
          </a:p>
          <a:p>
            <a:pPr>
              <a:lnSpc>
                <a:spcPct val="130000"/>
              </a:lnSpc>
              <a:spcAft>
                <a:spcPts val="1200"/>
              </a:spcAft>
              <a:defRPr sz="1800">
                <a:solidFill>
                  <a:srgbClr val="1D1D1F"/>
                </a:solidFill>
                <a:latin typeface="Arial"/>
              </a:defRPr>
            </a:pPr>
            <a:r>
              <a:t>•  USD 150</a:t>
            </a:r>
          </a:p>
          <a:p>
            <a:pPr>
              <a:lnSpc>
                <a:spcPct val="130000"/>
              </a:lnSpc>
              <a:spcAft>
                <a:spcPts val="1200"/>
              </a:spcAft>
              <a:defRPr sz="1800">
                <a:solidFill>
                  <a:srgbClr val="1D1D1F"/>
                </a:solidFill>
                <a:latin typeface="Arial"/>
              </a:defRPr>
            </a:pPr>
            <a:r>
              <a:t>•  ~180</a:t>
            </a:r>
          </a:p>
          <a:p>
            <a:pPr>
              <a:lnSpc>
                <a:spcPct val="130000"/>
              </a:lnSpc>
              <a:spcAft>
                <a:spcPts val="1200"/>
              </a:spcAft>
              <a:defRPr sz="1800">
                <a:solidFill>
                  <a:srgbClr val="1D1D1F"/>
                </a:solidFill>
                <a:latin typeface="Arial"/>
              </a:defRPr>
            </a:pPr>
            <a:r>
              <a:t>•  This absurd undervaluation paradoxically acts as the single strongest thesis to sell IOTA to global LPs: "Prices have the potential to converge to 2x over the next 15 years."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Part 3.</a:t>
            </a:r>
          </a:p>
          <a:p>
            <a:pPr algn="ctr">
              <a:spcBef>
                <a:spcPts val="1200"/>
              </a:spcBef>
              <a:defRPr sz="3200" b="1">
                <a:solidFill>
                  <a:srgbClr val="FFFFFF"/>
                </a:solidFill>
                <a:latin typeface="Arial"/>
              </a:defRPr>
            </a:pPr>
            <a:r>
              <a:t>IGIS Asset Management Strategic Positioning</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1.</a:t>
            </a:r>
          </a:p>
          <a:p>
            <a:pPr algn="ctr">
              <a:spcBef>
                <a:spcPts val="1200"/>
              </a:spcBef>
              <a:defRPr sz="3200" b="1">
                <a:solidFill>
                  <a:srgbClr val="FFFFFF"/>
                </a:solidFill>
                <a:latin typeface="Arial"/>
              </a:defRPr>
            </a:pPr>
            <a:r>
              <a:t>Leap Towards a Global AM</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IGIS Current Position &amp; Global Comparison</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#1 in Korea with 73T KRW AUM, yet 1/9 of Global Top</a:t>
            </a:r>
          </a:p>
          <a:p>
            <a:pPr>
              <a:lnSpc>
                <a:spcPct val="130000"/>
              </a:lnSpc>
              <a:spcAft>
                <a:spcPts val="1200"/>
              </a:spcAft>
              <a:defRPr sz="1800">
                <a:solidFill>
                  <a:srgbClr val="1D1D1F"/>
                </a:solidFill>
                <a:latin typeface="Arial"/>
              </a:defRPr>
            </a:pPr>
            <a:r>
              <a:t>•  Global Real Estate AM AUM (100M USD)</a:t>
            </a:r>
          </a:p>
          <a:p>
            <a:pPr>
              <a:lnSpc>
                <a:spcPct val="130000"/>
              </a:lnSpc>
              <a:spcAft>
                <a:spcPts val="1200"/>
              </a:spcAft>
              <a:defRPr sz="1800">
                <a:solidFill>
                  <a:srgbClr val="1D1D1F"/>
                </a:solidFill>
                <a:latin typeface="Arial"/>
              </a:defRPr>
            </a:pPr>
            <a:r>
              <a:t>•  Blackstone RE</a:t>
            </a:r>
          </a:p>
          <a:p>
            <a:pPr>
              <a:lnSpc>
                <a:spcPct val="130000"/>
              </a:lnSpc>
              <a:spcAft>
                <a:spcPts val="1200"/>
              </a:spcAft>
              <a:defRPr sz="1800">
                <a:solidFill>
                  <a:srgbClr val="1D1D1F"/>
                </a:solidFill>
                <a:latin typeface="Arial"/>
              </a:defRPr>
            </a:pPr>
            <a:r>
              <a:t>•  3,360</a:t>
            </a:r>
          </a:p>
          <a:p>
            <a:pPr>
              <a:lnSpc>
                <a:spcPct val="130000"/>
              </a:lnSpc>
              <a:spcAft>
                <a:spcPts val="1200"/>
              </a:spcAft>
              <a:defRPr sz="1800">
                <a:solidFill>
                  <a:srgbClr val="1D1D1F"/>
                </a:solidFill>
                <a:latin typeface="Arial"/>
              </a:defRPr>
            </a:pPr>
            <a:r>
              <a:t>•  Brookfield RE</a:t>
            </a:r>
          </a:p>
          <a:p>
            <a:pPr>
              <a:lnSpc>
                <a:spcPct val="130000"/>
              </a:lnSpc>
              <a:spcAft>
                <a:spcPts val="1200"/>
              </a:spcAft>
              <a:defRPr sz="1800">
                <a:solidFill>
                  <a:srgbClr val="1D1D1F"/>
                </a:solidFill>
                <a:latin typeface="Arial"/>
              </a:defRPr>
            </a:pPr>
            <a:r>
              <a:t>•  2,750</a:t>
            </a:r>
          </a:p>
          <a:p>
            <a:pPr>
              <a:lnSpc>
                <a:spcPct val="130000"/>
              </a:lnSpc>
              <a:spcAft>
                <a:spcPts val="1200"/>
              </a:spcAft>
              <a:defRPr sz="1800">
                <a:solidFill>
                  <a:srgbClr val="1D1D1F"/>
                </a:solidFill>
                <a:latin typeface="Arial"/>
              </a:defRPr>
            </a:pPr>
            <a:r>
              <a:t>•  PGIM RE</a:t>
            </a:r>
          </a:p>
          <a:p>
            <a:pPr>
              <a:lnSpc>
                <a:spcPct val="130000"/>
              </a:lnSpc>
              <a:spcAft>
                <a:spcPts val="1200"/>
              </a:spcAft>
              <a:defRPr sz="1800">
                <a:solidFill>
                  <a:srgbClr val="1D1D1F"/>
                </a:solidFill>
                <a:latin typeface="Arial"/>
              </a:defRPr>
            </a:pPr>
            <a:r>
              <a:t>•  2,100</a:t>
            </a:r>
          </a:p>
          <a:p>
            <a:pPr>
              <a:lnSpc>
                <a:spcPct val="130000"/>
              </a:lnSpc>
              <a:spcAft>
                <a:spcPts val="1200"/>
              </a:spcAft>
              <a:defRPr sz="1800">
                <a:solidFill>
                  <a:srgbClr val="1D1D1F"/>
                </a:solidFill>
                <a:latin typeface="Arial"/>
              </a:defRPr>
            </a:pPr>
            <a:r>
              <a:t>•  Hines</a:t>
            </a:r>
          </a:p>
          <a:p>
            <a:pPr>
              <a:lnSpc>
                <a:spcPct val="130000"/>
              </a:lnSpc>
              <a:spcAft>
                <a:spcPts val="1200"/>
              </a:spcAft>
              <a:defRPr sz="1800">
                <a:solidFill>
                  <a:srgbClr val="1D1D1F"/>
                </a:solidFill>
                <a:latin typeface="Arial"/>
              </a:defRPr>
            </a:pPr>
            <a:r>
              <a:t>•  950</a:t>
            </a:r>
          </a:p>
          <a:p>
            <a:pPr>
              <a:lnSpc>
                <a:spcPct val="130000"/>
              </a:lnSpc>
              <a:spcAft>
                <a:spcPts val="1200"/>
              </a:spcAft>
              <a:defRPr sz="1800">
                <a:solidFill>
                  <a:srgbClr val="1D1D1F"/>
                </a:solidFill>
                <a:latin typeface="Arial"/>
              </a:defRPr>
            </a:pPr>
            <a:r>
              <a:t>•  IGIS</a:t>
            </a:r>
          </a:p>
          <a:p>
            <a:pPr>
              <a:lnSpc>
                <a:spcPct val="130000"/>
              </a:lnSpc>
              <a:spcAft>
                <a:spcPts val="1200"/>
              </a:spcAft>
              <a:defRPr sz="1800">
                <a:solidFill>
                  <a:srgbClr val="1D1D1F"/>
                </a:solidFill>
                <a:latin typeface="Arial"/>
              </a:defRPr>
            </a:pPr>
            <a:r>
              <a:t>•  530</a:t>
            </a:r>
          </a:p>
          <a:p>
            <a:pPr>
              <a:lnSpc>
                <a:spcPct val="130000"/>
              </a:lnSpc>
              <a:spcAft>
                <a:spcPts val="1200"/>
              </a:spcAft>
              <a:defRPr sz="1800">
                <a:solidFill>
                  <a:srgbClr val="1D1D1F"/>
                </a:solidFill>
                <a:latin typeface="Arial"/>
              </a:defRPr>
            </a:pPr>
            <a:r>
              <a:t>•  Only 1/9 of Blackstone</a:t>
            </a:r>
          </a:p>
          <a:p>
            <a:pPr>
              <a:lnSpc>
                <a:spcPct val="130000"/>
              </a:lnSpc>
              <a:spcAft>
                <a:spcPts val="1200"/>
              </a:spcAft>
              <a:defRPr sz="1800">
                <a:solidFill>
                  <a:srgbClr val="1D1D1F"/>
                </a:solidFill>
                <a:latin typeface="Arial"/>
              </a:defRPr>
            </a:pPr>
            <a:r>
              <a:t>•  Moving beyond #1 in domestic RE funds/REITs to objectively recognize our position on the global stage.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Essential Conditions for Tier 1 Global AM Leap</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4 Core Requirements and Platformization for 200~300T KRW AUM</a:t>
            </a:r>
          </a:p>
          <a:p>
            <a:pPr>
              <a:lnSpc>
                <a:spcPct val="130000"/>
              </a:lnSpc>
              <a:spcAft>
                <a:spcPts val="1200"/>
              </a:spcAft>
              <a:defRPr sz="1800">
                <a:solidFill>
                  <a:srgbClr val="1D1D1F"/>
                </a:solidFill>
                <a:latin typeface="Arial"/>
              </a:defRPr>
            </a:pPr>
            <a:r>
              <a:t>•  01</a:t>
            </a:r>
          </a:p>
          <a:p>
            <a:pPr>
              <a:lnSpc>
                <a:spcPct val="130000"/>
              </a:lnSpc>
              <a:spcAft>
                <a:spcPts val="1200"/>
              </a:spcAft>
              <a:defRPr sz="1800">
                <a:solidFill>
                  <a:srgbClr val="1D1D1F"/>
                </a:solidFill>
                <a:latin typeface="Arial"/>
              </a:defRPr>
            </a:pPr>
            <a:r>
              <a:t>•  Securing Global LP Base</a:t>
            </a:r>
          </a:p>
          <a:p>
            <a:pPr>
              <a:lnSpc>
                <a:spcPct val="130000"/>
              </a:lnSpc>
              <a:spcAft>
                <a:spcPts val="1200"/>
              </a:spcAft>
              <a:defRPr sz="1800">
                <a:solidFill>
                  <a:srgbClr val="1D1D1F"/>
                </a:solidFill>
                <a:latin typeface="Arial"/>
              </a:defRPr>
            </a:pPr>
            <a:r>
              <a:t>•  02</a:t>
            </a:r>
          </a:p>
          <a:p>
            <a:pPr>
              <a:lnSpc>
                <a:spcPct val="130000"/>
              </a:lnSpc>
              <a:spcAft>
                <a:spcPts val="1200"/>
              </a:spcAft>
              <a:defRPr sz="1800">
                <a:solidFill>
                  <a:srgbClr val="1D1D1F"/>
                </a:solidFill>
                <a:latin typeface="Arial"/>
              </a:defRPr>
            </a:pPr>
            <a:r>
              <a:t>•  Improving Fee Margin Structure</a:t>
            </a:r>
          </a:p>
          <a:p>
            <a:pPr>
              <a:lnSpc>
                <a:spcPct val="130000"/>
              </a:lnSpc>
              <a:spcAft>
                <a:spcPts val="1200"/>
              </a:spcAft>
              <a:defRPr sz="1800">
                <a:solidFill>
                  <a:srgbClr val="1D1D1F"/>
                </a:solidFill>
                <a:latin typeface="Arial"/>
              </a:defRPr>
            </a:pPr>
            <a:r>
              <a:t>•  03</a:t>
            </a:r>
          </a:p>
          <a:p>
            <a:pPr>
              <a:lnSpc>
                <a:spcPct val="130000"/>
              </a:lnSpc>
              <a:spcAft>
                <a:spcPts val="1200"/>
              </a:spcAft>
              <a:defRPr sz="1800">
                <a:solidFill>
                  <a:srgbClr val="1D1D1F"/>
                </a:solidFill>
                <a:latin typeface="Arial"/>
              </a:defRPr>
            </a:pPr>
            <a:r>
              <a:t>•  Expanding Permanent Capital</a:t>
            </a:r>
          </a:p>
          <a:p>
            <a:pPr>
              <a:lnSpc>
                <a:spcPct val="130000"/>
              </a:lnSpc>
              <a:spcAft>
                <a:spcPts val="1200"/>
              </a:spcAft>
              <a:defRPr sz="1800">
                <a:solidFill>
                  <a:srgbClr val="1D1D1F"/>
                </a:solidFill>
                <a:latin typeface="Arial"/>
              </a:defRPr>
            </a:pPr>
            <a:r>
              <a:t>•  04</a:t>
            </a:r>
          </a:p>
          <a:p>
            <a:pPr>
              <a:lnSpc>
                <a:spcPct val="130000"/>
              </a:lnSpc>
              <a:spcAft>
                <a:spcPts val="1200"/>
              </a:spcAft>
              <a:defRPr sz="1800">
                <a:solidFill>
                  <a:srgbClr val="1D1D1F"/>
                </a:solidFill>
                <a:latin typeface="Arial"/>
              </a:defRPr>
            </a:pPr>
            <a:r>
              <a:t>•  Multi-strategy Platformization</a:t>
            </a:r>
          </a:p>
          <a:p>
            <a:pPr>
              <a:lnSpc>
                <a:spcPct val="130000"/>
              </a:lnSpc>
              <a:spcAft>
                <a:spcPts val="1200"/>
              </a:spcAft>
              <a:defRPr sz="1800">
                <a:solidFill>
                  <a:srgbClr val="1D1D1F"/>
                </a:solidFill>
                <a:latin typeface="Arial"/>
              </a:defRPr>
            </a:pPr>
            <a:r>
              <a:t>•  블랙스톤의 40년 진화 패턴 (한국 압축 버전 목표)' : 'Reference: Blackstone\'s 40-year Evolution Pattern (Goal: Korean Compressed Version)'</a:t>
            </a:r>
          </a:p>
          <a:p>
            <a:pPr>
              <a:lnSpc>
                <a:spcPct val="130000"/>
              </a:lnSpc>
              <a:spcAft>
                <a:spcPts val="1200"/>
              </a:spcAft>
              <a:defRPr sz="1800">
                <a:solidFill>
                  <a:srgbClr val="1D1D1F"/>
                </a:solidFill>
                <a:latin typeface="Arial"/>
              </a:defRPr>
            </a:pPr>
            <a:r>
              <a:t>•  'PE Start' }, { year: '1992', text: lang === 'kr' ? '부동산 진입' : 'Real Estate' }, { year: '2007', text: lang === 'kr' ? 'IPO' : 'IPO' }, { year: '2015', text: lang === 'kr' ? 'BREIT 출시' : 'BREIT Launch' }, { year: '2023', text: lang === 'kr' ? '인프라/생명과학' : 'Infra/Life Science' } ].map((item, idx) =&gt; ( {item.year} {item.text} ))</a:t>
            </a:r>
          </a:p>
          <a:p>
            <a:pPr>
              <a:lnSpc>
                <a:spcPct val="130000"/>
              </a:lnSpc>
              <a:spcAft>
                <a:spcPts val="1200"/>
              </a:spcAft>
              <a:defRPr sz="1800">
                <a:solidFill>
                  <a:srgbClr val="1D1D1F"/>
                </a:solidFill>
                <a:latin typeface="Arial"/>
              </a:defRPr>
            </a:pPr>
            <a:r>
              <a:t>•  A compressed Blackstone evolution model accompanied by qualitative structural improvement beyond simple scale expansion.</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IGIS\'s Korean Differentiation &amp; Hybrid Model</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Completion of In-house Vertical Integration Beyond Blackstone</a:t>
            </a:r>
          </a:p>
          <a:p>
            <a:pPr>
              <a:lnSpc>
                <a:spcPct val="130000"/>
              </a:lnSpc>
              <a:spcAft>
                <a:spcPts val="1200"/>
              </a:spcAft>
              <a:defRPr sz="1800">
                <a:solidFill>
                  <a:srgbClr val="1D1D1F"/>
                </a:solidFill>
                <a:latin typeface="Arial"/>
              </a:defRPr>
            </a:pPr>
            <a:r>
              <a:t>•  01</a:t>
            </a:r>
          </a:p>
          <a:p>
            <a:pPr>
              <a:lnSpc>
                <a:spcPct val="130000"/>
              </a:lnSpc>
              <a:spcAft>
                <a:spcPts val="1200"/>
              </a:spcAft>
              <a:defRPr sz="1800">
                <a:solidFill>
                  <a:srgbClr val="1D1D1F"/>
                </a:solidFill>
                <a:latin typeface="Arial"/>
              </a:defRPr>
            </a:pPr>
            <a:r>
              <a:t>•  Overwhelming Dominance in Seoul Prime</a:t>
            </a:r>
          </a:p>
          <a:p>
            <a:pPr>
              <a:lnSpc>
                <a:spcPct val="130000"/>
              </a:lnSpc>
              <a:spcAft>
                <a:spcPts val="1200"/>
              </a:spcAft>
              <a:defRPr sz="1800">
                <a:solidFill>
                  <a:srgbClr val="1D1D1F"/>
                </a:solidFill>
                <a:latin typeface="Arial"/>
              </a:defRPr>
            </a:pPr>
            <a:r>
              <a:t>•  Exclusive insights and powerful deal sourcing networks for prime assets in a single megacity</a:t>
            </a:r>
          </a:p>
          <a:p>
            <a:pPr>
              <a:lnSpc>
                <a:spcPct val="130000"/>
              </a:lnSpc>
              <a:spcAft>
                <a:spcPts val="1200"/>
              </a:spcAft>
              <a:defRPr sz="1800">
                <a:solidFill>
                  <a:srgbClr val="1D1D1F"/>
                </a:solidFill>
                <a:latin typeface="Arial"/>
              </a:defRPr>
            </a:pPr>
            <a:r>
              <a:t>•  02</a:t>
            </a:r>
          </a:p>
          <a:p>
            <a:pPr>
              <a:lnSpc>
                <a:spcPct val="130000"/>
              </a:lnSpc>
              <a:spcAft>
                <a:spcPts val="1200"/>
              </a:spcAft>
              <a:defRPr sz="1800">
                <a:solidFill>
                  <a:srgbClr val="1D1D1F"/>
                </a:solidFill>
                <a:latin typeface="Arial"/>
              </a:defRPr>
            </a:pPr>
            <a:r>
              <a:t>•  Trusted Capital from Domestic Inst. LPs</a:t>
            </a:r>
          </a:p>
          <a:p>
            <a:pPr>
              <a:lnSpc>
                <a:spcPct val="130000"/>
              </a:lnSpc>
              <a:spcAft>
                <a:spcPts val="1200"/>
              </a:spcAft>
              <a:defRPr sz="1800">
                <a:solidFill>
                  <a:srgbClr val="1D1D1F"/>
                </a:solidFill>
                <a:latin typeface="Arial"/>
              </a:defRPr>
            </a:pPr>
            <a:r>
              <a:t>•  Deep partnerships and trust built over long periods with core institutional investors like NPS</a:t>
            </a:r>
          </a:p>
          <a:p>
            <a:pPr>
              <a:lnSpc>
                <a:spcPct val="130000"/>
              </a:lnSpc>
              <a:spcAft>
                <a:spcPts val="1200"/>
              </a:spcAft>
              <a:defRPr sz="1800">
                <a:solidFill>
                  <a:srgbClr val="1D1D1F"/>
                </a:solidFill>
                <a:latin typeface="Arial"/>
              </a:defRPr>
            </a:pPr>
            <a:r>
              <a:t>•  03</a:t>
            </a:r>
          </a:p>
          <a:p>
            <a:pPr>
              <a:lnSpc>
                <a:spcPct val="130000"/>
              </a:lnSpc>
              <a:spcAft>
                <a:spcPts val="1200"/>
              </a:spcAft>
              <a:defRPr sz="1800">
                <a:solidFill>
                  <a:srgbClr val="1D1D1F"/>
                </a:solidFill>
                <a:latin typeface="Arial"/>
              </a:defRPr>
            </a:pPr>
            <a:r>
              <a:t>•  In-house Vertical Integration</a:t>
            </a:r>
          </a:p>
          <a:p>
            <a:pPr>
              <a:lnSpc>
                <a:spcPct val="130000"/>
              </a:lnSpc>
              <a:spcAft>
                <a:spcPts val="1200"/>
              </a:spcAft>
              <a:defRPr sz="1800">
                <a:solidFill>
                  <a:srgbClr val="1D1D1F"/>
                </a:solidFill>
                <a:latin typeface="Arial"/>
              </a:defRPr>
            </a:pPr>
            <a:r>
              <a:t>•  Internalization of Develop-Structure-Operate (Factorial Builders, IGIS[X], etc.)</a:t>
            </a:r>
          </a:p>
          <a:p>
            <a:pPr>
              <a:lnSpc>
                <a:spcPct val="130000"/>
              </a:lnSpc>
              <a:spcAft>
                <a:spcPts val="1200"/>
              </a:spcAft>
              <a:defRPr sz="1800">
                <a:solidFill>
                  <a:srgbClr val="1D1D1F"/>
                </a:solidFill>
                <a:latin typeface="Arial"/>
              </a:defRPr>
            </a:pPr>
            <a:r>
              <a:t>•  Optimal Hybrid Model Beyond Blackstone\'s Simple Buy-Sell Approach</a:t>
            </a:r>
          </a:p>
          <a:p>
            <a:pPr>
              <a:lnSpc>
                <a:spcPct val="130000"/>
              </a:lnSpc>
              <a:spcAft>
                <a:spcPts val="1200"/>
              </a:spcAft>
              <a:defRPr sz="1800">
                <a:solidFill>
                  <a:srgbClr val="1D1D1F"/>
                </a:solidFill>
                <a:latin typeface="Arial"/>
              </a:defRPr>
            </a:pPr>
            <a:r>
              <a:t>•  Mori Building (Tokyo)</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Hong Kong Land (Central)</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Related (Hudson Yards)</a:t>
            </a:r>
          </a:p>
          <a:p>
            <a:pPr>
              <a:lnSpc>
                <a:spcPct val="130000"/>
              </a:lnSpc>
              <a:spcAft>
                <a:spcPts val="1200"/>
              </a:spcAft>
              <a:defRPr sz="1800">
                <a:solidFill>
                  <a:srgbClr val="1D1D1F"/>
                </a:solidFill>
                <a:latin typeface="Arial"/>
              </a:defRPr>
            </a:pPr>
            <a:r>
              <a:t>•  Asia\'s top-tier real estate value creation platform moving beyond a simple asset buy-sell model.</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2.</a:t>
            </a:r>
          </a:p>
          <a:p>
            <a:pPr algn="ctr">
              <a:spcBef>
                <a:spcPts val="1200"/>
              </a:spcBef>
              <a:defRPr sz="3200" b="1">
                <a:solidFill>
                  <a:srgbClr val="FFFFFF"/>
                </a:solidFill>
                <a:latin typeface="Arial"/>
              </a:defRPr>
            </a:pPr>
            <a:r>
              <a:t>3 Major Platforms Execution Roadmap</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Master Plan for IGIS DC REIT Listing</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Independent Listed DC REIT via Power Grid Preemption &amp; Big Tech Lock-in</a:t>
            </a:r>
          </a:p>
          <a:p>
            <a:pPr>
              <a:lnSpc>
                <a:spcPct val="130000"/>
              </a:lnSpc>
              <a:spcAft>
                <a:spcPts val="1200"/>
              </a:spcAft>
              <a:defRPr sz="1800">
                <a:solidFill>
                  <a:srgbClr val="1D1D1F"/>
                </a:solidFill>
                <a:latin typeface="Arial"/>
              </a:defRPr>
            </a:pPr>
            <a:r>
              <a:t>•  Current Asset Base</a:t>
            </a:r>
          </a:p>
          <a:p>
            <a:pPr>
              <a:lnSpc>
                <a:spcPct val="130000"/>
              </a:lnSpc>
              <a:spcAft>
                <a:spcPts val="1200"/>
              </a:spcAft>
              <a:defRPr sz="1800">
                <a:solidFill>
                  <a:srgbClr val="1D1D1F"/>
                </a:solidFill>
                <a:latin typeface="Arial"/>
              </a:defRPr>
            </a:pPr>
            <a:r>
              <a:t>•  Bundang Hostway IDC within IGIS Value Plus REIT + 13 North American DC Portfolios (187MW)</a:t>
            </a:r>
          </a:p>
          <a:p>
            <a:pPr>
              <a:lnSpc>
                <a:spcPct val="130000"/>
              </a:lnSpc>
              <a:spcAft>
                <a:spcPts val="1200"/>
              </a:spcAft>
              <a:defRPr sz="1800">
                <a:solidFill>
                  <a:srgbClr val="1D1D1F"/>
                </a:solidFill>
                <a:latin typeface="Arial"/>
              </a:defRPr>
            </a:pPr>
            <a:r>
              <a:t>•  GOAL</a:t>
            </a:r>
          </a:p>
          <a:p>
            <a:pPr>
              <a:lnSpc>
                <a:spcPct val="130000"/>
              </a:lnSpc>
              <a:spcAft>
                <a:spcPts val="1200"/>
              </a:spcAft>
              <a:defRPr sz="1800">
                <a:solidFill>
                  <a:srgbClr val="1D1D1F"/>
                </a:solidFill>
                <a:latin typeface="Arial"/>
              </a:defRPr>
            </a:pPr>
            <a:r>
              <a:t>•  Spin-off Goal</a:t>
            </a:r>
          </a:p>
          <a:p>
            <a:pPr>
              <a:lnSpc>
                <a:spcPct val="130000"/>
              </a:lnSpc>
              <a:spcAft>
                <a:spcPts val="1200"/>
              </a:spcAft>
              <a:defRPr sz="1800">
                <a:solidFill>
                  <a:srgbClr val="1D1D1F"/>
                </a:solidFill>
                <a:latin typeface="Arial"/>
              </a:defRPr>
            </a:pPr>
            <a:r>
              <a:t>•  Independent listed DC REIT spin-off within 5 years (2028-2030)</a:t>
            </a:r>
          </a:p>
          <a:p>
            <a:pPr>
              <a:lnSpc>
                <a:spcPct val="130000"/>
              </a:lnSpc>
              <a:spcAft>
                <a:spcPts val="1200"/>
              </a:spcAft>
              <a:defRPr sz="1800">
                <a:solidFill>
                  <a:srgbClr val="1D1D1F"/>
                </a:solidFill>
                <a:latin typeface="Arial"/>
              </a:defRPr>
            </a:pPr>
            <a:r>
              <a:t>•  Build-up to a globalish DC REIT on par with US Digital Realty (approx $50B) &amp; Equinix ($80B)</a:t>
            </a:r>
          </a:p>
          <a:p>
            <a:pPr>
              <a:lnSpc>
                <a:spcPct val="130000"/>
              </a:lnSpc>
              <a:spcAft>
                <a:spcPts val="1200"/>
              </a:spcAft>
              <a:defRPr sz="1800">
                <a:solidFill>
                  <a:srgbClr val="1D1D1F"/>
                </a:solidFill>
                <a:latin typeface="Arial"/>
              </a:defRPr>
            </a:pPr>
            <a:r>
              <a:t>•  1</a:t>
            </a:r>
          </a:p>
          <a:p>
            <a:pPr>
              <a:lnSpc>
                <a:spcPct val="130000"/>
              </a:lnSpc>
              <a:spcAft>
                <a:spcPts val="1200"/>
              </a:spcAft>
              <a:defRPr sz="1800">
                <a:solidFill>
                  <a:srgbClr val="1D1D1F"/>
                </a:solidFill>
                <a:latin typeface="Arial"/>
              </a:defRPr>
            </a:pPr>
            <a:r>
              <a:t>•  Securing New DC Development Pipeline in Seoul Metro</a:t>
            </a:r>
          </a:p>
          <a:p>
            <a:pPr>
              <a:lnSpc>
                <a:spcPct val="130000"/>
              </a:lnSpc>
              <a:spcAft>
                <a:spcPts val="1200"/>
              </a:spcAft>
              <a:defRPr sz="1800">
                <a:solidFill>
                  <a:srgbClr val="1D1D1F"/>
                </a:solidFill>
                <a:latin typeface="Arial"/>
              </a:defRPr>
            </a:pPr>
            <a:r>
              <a:t>•  Power intake rights are the ultimate asset</a:t>
            </a:r>
          </a:p>
          <a:p>
            <a:pPr>
              <a:lnSpc>
                <a:spcPct val="130000"/>
              </a:lnSpc>
              <a:spcAft>
                <a:spcPts val="1200"/>
              </a:spcAft>
              <a:defRPr sz="1800">
                <a:solidFill>
                  <a:srgbClr val="1D1D1F"/>
                </a:solidFill>
                <a:latin typeface="Arial"/>
              </a:defRPr>
            </a:pPr>
            <a:r>
              <a:t>•  2</a:t>
            </a:r>
          </a:p>
          <a:p>
            <a:pPr>
              <a:lnSpc>
                <a:spcPct val="130000"/>
              </a:lnSpc>
              <a:spcAft>
                <a:spcPts val="1200"/>
              </a:spcAft>
              <a:defRPr sz="1800">
                <a:solidFill>
                  <a:srgbClr val="1D1D1F"/>
                </a:solidFill>
                <a:latin typeface="Arial"/>
              </a:defRPr>
            </a:pPr>
            <a:r>
              <a:t>•  Regional Diversification via SE Asia &amp; Japan DC Acquisitions</a:t>
            </a:r>
          </a:p>
          <a:p>
            <a:pPr>
              <a:lnSpc>
                <a:spcPct val="130000"/>
              </a:lnSpc>
              <a:spcAft>
                <a:spcPts val="1200"/>
              </a:spcAft>
              <a:defRPr sz="1800">
                <a:solidFill>
                  <a:srgbClr val="1D1D1F"/>
                </a:solidFill>
                <a:latin typeface="Arial"/>
              </a:defRPr>
            </a:pPr>
            <a:r>
              <a:t>•  Risk mitigation and scale-up via Asian hub connections</a:t>
            </a:r>
          </a:p>
          <a:p>
            <a:pPr>
              <a:lnSpc>
                <a:spcPct val="130000"/>
              </a:lnSpc>
              <a:spcAft>
                <a:spcPts val="1200"/>
              </a:spcAft>
              <a:defRPr sz="1800">
                <a:solidFill>
                  <a:srgbClr val="1D1D1F"/>
                </a:solidFill>
                <a:latin typeface="Arial"/>
              </a:defRPr>
            </a:pPr>
            <a:r>
              <a:t>•  3</a:t>
            </a:r>
          </a:p>
          <a:p>
            <a:pPr>
              <a:lnSpc>
                <a:spcPct val="130000"/>
              </a:lnSpc>
              <a:spcAft>
                <a:spcPts val="1200"/>
              </a:spcAft>
              <a:defRPr sz="1800">
                <a:solidFill>
                  <a:srgbClr val="1D1D1F"/>
                </a:solidFill>
                <a:latin typeface="Arial"/>
              </a:defRPr>
            </a:pPr>
            <a:r>
              <a:t>•  Securing Long-term Leases from Hyperscalers</a:t>
            </a:r>
          </a:p>
          <a:p>
            <a:pPr>
              <a:lnSpc>
                <a:spcPct val="130000"/>
              </a:lnSpc>
              <a:spcAft>
                <a:spcPts val="1200"/>
              </a:spcAft>
              <a:defRPr sz="1800">
                <a:solidFill>
                  <a:srgbClr val="1D1D1F"/>
                </a:solidFill>
                <a:latin typeface="Arial"/>
              </a:defRPr>
            </a:pPr>
            <a:r>
              <a:t>•  Lock-in of Big Tech clients (AWS, MS, Google, Naver, Kakao)</a:t>
            </a:r>
          </a:p>
          <a:p>
            <a:pPr>
              <a:lnSpc>
                <a:spcPct val="130000"/>
              </a:lnSpc>
              <a:spcAft>
                <a:spcPts val="1200"/>
              </a:spcAft>
              <a:defRPr sz="1800">
                <a:solidFill>
                  <a:srgbClr val="1D1D1F"/>
                </a:solidFill>
                <a:latin typeface="Arial"/>
              </a:defRPr>
            </a:pPr>
            <a:r>
              <a:t>•  Beyond the 13 NA portfolios, we launch a spin-off roadmap for an independent listed DC REIT platform comparable to Equinix, backed by domestic power intake rights and big tech lease commitments.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IGIS Senior REIT\'s Conquest of 300T KRW Market</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Senior Housing Blue Ocean Combining Pension D2C &amp; Healthcare</a:t>
            </a:r>
          </a:p>
          <a:p>
            <a:pPr>
              <a:lnSpc>
                <a:spcPct val="130000"/>
              </a:lnSpc>
              <a:spcAft>
                <a:spcPts val="1200"/>
              </a:spcAft>
              <a:defRPr sz="1800">
                <a:solidFill>
                  <a:srgbClr val="1D1D1F"/>
                </a:solidFill>
                <a:latin typeface="Arial"/>
              </a:defRPr>
            </a:pPr>
            <a:r>
              <a:t>•  The Most Certain Mega Trend</a:t>
            </a:r>
          </a:p>
          <a:p>
            <a:pPr>
              <a:lnSpc>
                <a:spcPct val="130000"/>
              </a:lnSpc>
              <a:spcAft>
                <a:spcPts val="1200"/>
              </a:spcAft>
              <a:defRPr sz="1800">
                <a:solidFill>
                  <a:srgbClr val="1D1D1F"/>
                </a:solidFill>
                <a:latin typeface="Arial"/>
              </a:defRPr>
            </a:pPr>
            <a:r>
              <a:t>•  Structural unmet demand in the 0.6% → 5% penetration gap will dominate the next 15 years</a:t>
            </a:r>
          </a:p>
          <a:p>
            <a:pPr>
              <a:lnSpc>
                <a:spcPct val="130000"/>
              </a:lnSpc>
              <a:spcAft>
                <a:spcPts val="1200"/>
              </a:spcAft>
              <a:defRPr sz="1800">
                <a:solidFill>
                  <a:srgbClr val="1D1D1F"/>
                </a:solidFill>
                <a:latin typeface="Arial"/>
              </a:defRPr>
            </a:pPr>
            <a:r>
              <a:t>•  Evolution of Market Paradigm</a:t>
            </a:r>
          </a:p>
          <a:p>
            <a:pPr>
              <a:lnSpc>
                <a:spcPct val="130000"/>
              </a:lnSpc>
              <a:spcAft>
                <a:spcPts val="1200"/>
              </a:spcAft>
              <a:defRPr sz="1800">
                <a:solidFill>
                  <a:srgbClr val="1D1D1F"/>
                </a:solidFill>
                <a:latin typeface="Arial"/>
              </a:defRPr>
            </a:pPr>
            <a:r>
              <a:t>•  Logistics (Coupang Effect) → Replaced by Senior Care (Housing) Effect</a:t>
            </a:r>
          </a:p>
          <a:p>
            <a:pPr>
              <a:lnSpc>
                <a:spcPct val="130000"/>
              </a:lnSpc>
              <a:spcAft>
                <a:spcPts val="1200"/>
              </a:spcAft>
              <a:defRPr sz="1800">
                <a:solidFill>
                  <a:srgbClr val="1D1D1F"/>
                </a:solidFill>
                <a:latin typeface="Arial"/>
              </a:defRPr>
            </a:pPr>
            <a:r>
              <a:t>•  Logistics, the growth engine for the $1T→$2T phase, perfectly transitions to senior housing for the $2T→$3T phase</a:t>
            </a:r>
          </a:p>
          <a:p>
            <a:pPr>
              <a:lnSpc>
                <a:spcPct val="130000"/>
              </a:lnSpc>
              <a:spcAft>
                <a:spcPts val="1200"/>
              </a:spcAft>
              <a:defRPr sz="1800">
                <a:solidFill>
                  <a:srgbClr val="1D1D1F"/>
                </a:solidFill>
                <a:latin typeface="Arial"/>
              </a:defRPr>
            </a:pPr>
            <a:r>
              <a:t>•  1</a:t>
            </a:r>
          </a:p>
          <a:p>
            <a:pPr>
              <a:lnSpc>
                <a:spcPct val="130000"/>
              </a:lnSpc>
              <a:spcAft>
                <a:spcPts val="1200"/>
              </a:spcAft>
              <a:defRPr sz="1800">
                <a:solidFill>
                  <a:srgbClr val="1D1D1F"/>
                </a:solidFill>
                <a:latin typeface="Arial"/>
              </a:defRPr>
            </a:pPr>
            <a:r>
              <a:t>•  World-class Operator Collaboration</a:t>
            </a:r>
          </a:p>
          <a:p>
            <a:pPr>
              <a:lnSpc>
                <a:spcPct val="130000"/>
              </a:lnSpc>
              <a:spcAft>
                <a:spcPts val="1200"/>
              </a:spcAft>
              <a:defRPr sz="1800">
                <a:solidFill>
                  <a:srgbClr val="1D1D1F"/>
                </a:solidFill>
                <a:latin typeface="Arial"/>
              </a:defRPr>
            </a:pPr>
            <a:r>
              <a:t>•  Partnerships with proven global operators like Marriott Senior Living</a:t>
            </a:r>
          </a:p>
          <a:p>
            <a:pPr>
              <a:lnSpc>
                <a:spcPct val="130000"/>
              </a:lnSpc>
              <a:spcAft>
                <a:spcPts val="1200"/>
              </a:spcAft>
              <a:defRPr sz="1800">
                <a:solidFill>
                  <a:srgbClr val="1D1D1F"/>
                </a:solidFill>
                <a:latin typeface="Arial"/>
              </a:defRPr>
            </a:pPr>
            <a:r>
              <a:t>•  2</a:t>
            </a:r>
          </a:p>
          <a:p>
            <a:pPr>
              <a:lnSpc>
                <a:spcPct val="130000"/>
              </a:lnSpc>
              <a:spcAft>
                <a:spcPts val="1200"/>
              </a:spcAft>
              <a:defRPr sz="1800">
                <a:solidFill>
                  <a:srgbClr val="1D1D1F"/>
                </a:solidFill>
                <a:latin typeface="Arial"/>
              </a:defRPr>
            </a:pPr>
            <a:r>
              <a:t>•  Captive Medical Institution Linkage</a:t>
            </a:r>
          </a:p>
          <a:p>
            <a:pPr>
              <a:lnSpc>
                <a:spcPct val="130000"/>
              </a:lnSpc>
              <a:spcAft>
                <a:spcPts val="1200"/>
              </a:spcAft>
              <a:defRPr sz="1800">
                <a:solidFill>
                  <a:srgbClr val="1D1D1F"/>
                </a:solidFill>
                <a:latin typeface="Arial"/>
              </a:defRPr>
            </a:pPr>
            <a:r>
              <a:t>•  Building robust healthcare infrastructure via exclusive ties with major hospital groups</a:t>
            </a:r>
          </a:p>
          <a:p>
            <a:pPr>
              <a:lnSpc>
                <a:spcPct val="130000"/>
              </a:lnSpc>
              <a:spcAft>
                <a:spcPts val="1200"/>
              </a:spcAft>
              <a:defRPr sz="1800">
                <a:solidFill>
                  <a:srgbClr val="1D1D1F"/>
                </a:solidFill>
                <a:latin typeface="Arial"/>
              </a:defRPr>
            </a:pPr>
            <a:r>
              <a:t>•  3</a:t>
            </a:r>
          </a:p>
          <a:p>
            <a:pPr>
              <a:lnSpc>
                <a:spcPct val="130000"/>
              </a:lnSpc>
              <a:spcAft>
                <a:spcPts val="1200"/>
              </a:spcAft>
              <a:defRPr sz="1800">
                <a:solidFill>
                  <a:srgbClr val="1D1D1F"/>
                </a:solidFill>
                <a:latin typeface="Arial"/>
              </a:defRPr>
            </a:pPr>
            <a:r>
              <a:t>•  Pension Subscriber Direct Marketing</a:t>
            </a:r>
          </a:p>
          <a:p>
            <a:pPr>
              <a:lnSpc>
                <a:spcPct val="130000"/>
              </a:lnSpc>
              <a:spcAft>
                <a:spcPts val="1200"/>
              </a:spcAft>
              <a:defRPr sz="1800">
                <a:solidFill>
                  <a:srgbClr val="1D1D1F"/>
                </a:solidFill>
                <a:latin typeface="Arial"/>
              </a:defRPr>
            </a:pPr>
            <a:r>
              <a:t>•  D2C occupancy marketing targeting retirees with solid funds (NPS, etc.)</a:t>
            </a:r>
          </a:p>
          <a:p>
            <a:pPr>
              <a:lnSpc>
                <a:spcPct val="130000"/>
              </a:lnSpc>
              <a:spcAft>
                <a:spcPts val="1200"/>
              </a:spcAft>
              <a:defRPr sz="1800">
                <a:solidFill>
                  <a:srgbClr val="1D1D1F"/>
                </a:solidFill>
                <a:latin typeface="Arial"/>
              </a:defRPr>
            </a:pPr>
            <a:r>
              <a:t>•  4</a:t>
            </a:r>
          </a:p>
          <a:p>
            <a:pPr>
              <a:lnSpc>
                <a:spcPct val="130000"/>
              </a:lnSpc>
              <a:spcAft>
                <a:spcPts val="1200"/>
              </a:spcAft>
              <a:defRPr sz="1800">
                <a:solidFill>
                  <a:srgbClr val="1D1D1F"/>
                </a:solidFill>
                <a:latin typeface="Arial"/>
              </a:defRPr>
            </a:pPr>
            <a:r>
              <a:t>•  Senior Total Healthcare Data Sync</a:t>
            </a:r>
          </a:p>
          <a:p>
            <a:pPr>
              <a:lnSpc>
                <a:spcPct val="130000"/>
              </a:lnSpc>
              <a:spcAft>
                <a:spcPts val="1200"/>
              </a:spcAft>
              <a:defRPr sz="1800">
                <a:solidFill>
                  <a:srgbClr val="1D1D1F"/>
                </a:solidFill>
                <a:latin typeface="Arial"/>
              </a:defRPr>
            </a:pPr>
            <a:r>
              <a:t>•  Providing integrated solutions: Senior Housing + Healthcare + Data (Wearables/AI)</a:t>
            </a:r>
          </a:p>
          <a:p>
            <a:pPr>
              <a:lnSpc>
                <a:spcPct val="130000"/>
              </a:lnSpc>
              <a:spcAft>
                <a:spcPts val="1200"/>
              </a:spcAft>
              <a:defRPr sz="1800">
                <a:solidFill>
                  <a:srgbClr val="1D1D1F"/>
                </a:solidFill>
                <a:latin typeface="Arial"/>
              </a:defRPr>
            </a:pPr>
            <a:r>
              <a:t>•  Starting with the KB Golden Life model, we combine global Marriott operations and D2C marketing to pension retirees to build the #1 senior housing platform that overwhelms foreign capital (Invesco, etc.).</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Prime Mixed-Use Trophy Serialization</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'IGIS Trophy Series': Global LP Package Based on IOTA</a:t>
            </a:r>
          </a:p>
          <a:p>
            <a:pPr>
              <a:lnSpc>
                <a:spcPct val="130000"/>
              </a:lnSpc>
              <a:spcAft>
                <a:spcPts val="1200"/>
              </a:spcAft>
              <a:defRPr sz="1800">
                <a:solidFill>
                  <a:srgbClr val="1D1D1F"/>
                </a:solidFill>
                <a:latin typeface="Arial"/>
              </a:defRPr>
            </a:pPr>
            <a:r>
              <a:t>•  1</a:t>
            </a:r>
          </a:p>
          <a:p>
            <a:pPr>
              <a:lnSpc>
                <a:spcPct val="130000"/>
              </a:lnSpc>
              <a:spcAft>
                <a:spcPts val="1200"/>
              </a:spcAft>
              <a:defRPr sz="1800">
                <a:solidFill>
                  <a:srgbClr val="1D1D1F"/>
                </a:solidFill>
                <a:latin typeface="Arial"/>
              </a:defRPr>
            </a:pPr>
            <a:r>
              <a:t>•  First Major Reference</a:t>
            </a:r>
          </a:p>
          <a:p>
            <a:pPr>
              <a:lnSpc>
                <a:spcPct val="130000"/>
              </a:lnSpc>
              <a:spcAft>
                <a:spcPts val="1200"/>
              </a:spcAft>
              <a:defRPr sz="1800">
                <a:solidFill>
                  <a:srgbClr val="1D1D1F"/>
                </a:solidFill>
                <a:latin typeface="Arial"/>
              </a:defRPr>
            </a:pPr>
            <a:r>
              <a:t>•  Successful Landing of IOTA Project</a:t>
            </a:r>
          </a:p>
          <a:p>
            <a:pPr>
              <a:lnSpc>
                <a:spcPct val="130000"/>
              </a:lnSpc>
              <a:spcAft>
                <a:spcPts val="1200"/>
              </a:spcAft>
              <a:defRPr sz="1800">
                <a:solidFill>
                  <a:srgbClr val="1D1D1F"/>
                </a:solidFill>
                <a:latin typeface="Arial"/>
              </a:defRPr>
            </a:pPr>
            <a:r>
              <a:t>•  2</a:t>
            </a:r>
          </a:p>
          <a:p>
            <a:pPr>
              <a:lnSpc>
                <a:spcPct val="130000"/>
              </a:lnSpc>
              <a:spcAft>
                <a:spcPts val="1200"/>
              </a:spcAft>
              <a:defRPr sz="1800">
                <a:solidFill>
                  <a:srgbClr val="1D1D1F"/>
                </a:solidFill>
                <a:latin typeface="Arial"/>
              </a:defRPr>
            </a:pPr>
            <a:r>
              <a:t>•  Series Expansion</a:t>
            </a:r>
          </a:p>
          <a:p>
            <a:pPr>
              <a:lnSpc>
                <a:spcPct val="130000"/>
              </a:lnSpc>
              <a:spcAft>
                <a:spcPts val="1200"/>
              </a:spcAft>
              <a:defRPr sz="1800">
                <a:solidFill>
                  <a:srgbClr val="1D1D1F"/>
                </a:solidFill>
                <a:latin typeface="Arial"/>
              </a:defRPr>
            </a:pPr>
            <a:r>
              <a:t>•  Infinite chain expansion into YIBD zones, Jamsil/Yeouido redevelopments, Magok mid-to-large blocks</a:t>
            </a:r>
          </a:p>
          <a:p>
            <a:pPr>
              <a:lnSpc>
                <a:spcPct val="130000"/>
              </a:lnSpc>
              <a:spcAft>
                <a:spcPts val="1200"/>
              </a:spcAft>
              <a:defRPr sz="1800">
                <a:solidFill>
                  <a:srgbClr val="1D1D1F"/>
                </a:solidFill>
                <a:latin typeface="Arial"/>
              </a:defRPr>
            </a:pPr>
            <a:r>
              <a:t>•  3</a:t>
            </a:r>
          </a:p>
          <a:p>
            <a:pPr>
              <a:lnSpc>
                <a:spcPct val="130000"/>
              </a:lnSpc>
              <a:spcAft>
                <a:spcPts val="1200"/>
              </a:spcAft>
              <a:defRPr sz="1800">
                <a:solidFill>
                  <a:srgbClr val="1D1D1F"/>
                </a:solidFill>
                <a:latin typeface="Arial"/>
              </a:defRPr>
            </a:pPr>
            <a:r>
              <a:t>•  Brand Packaging</a:t>
            </a:r>
          </a:p>
          <a:p>
            <a:pPr>
              <a:lnSpc>
                <a:spcPct val="130000"/>
              </a:lnSpc>
              <a:spcAft>
                <a:spcPts val="1200"/>
              </a:spcAft>
              <a:defRPr sz="1800">
                <a:solidFill>
                  <a:srgbClr val="1D1D1F"/>
                </a:solidFill>
                <a:latin typeface="Arial"/>
              </a:defRPr>
            </a:pPr>
            <a:r>
              <a:t>•  Single branding of "IGIS Trophy Series" &amp; specialized package sales for Global LPs</a:t>
            </a:r>
          </a:p>
          <a:p>
            <a:pPr>
              <a:lnSpc>
                <a:spcPct val="130000"/>
              </a:lnSpc>
              <a:spcAft>
                <a:spcPts val="1200"/>
              </a:spcAft>
              <a:defRPr sz="1800">
                <a:solidFill>
                  <a:srgbClr val="1D1D1F"/>
                </a:solidFill>
                <a:latin typeface="Arial"/>
              </a:defRPr>
            </a:pPr>
            <a:r>
              <a:t>•  By leveraging the anchor mega-project IOTA, we commercialize the 'IGIS Trophy Series', a specialized package for global LPs that infinitely expands into Magok and Yeouido developments.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3.</a:t>
            </a:r>
          </a:p>
          <a:p>
            <a:pPr algn="ctr">
              <a:spcBef>
                <a:spcPts val="1200"/>
              </a:spcBef>
              <a:defRPr sz="3200" b="1">
                <a:solidFill>
                  <a:srgbClr val="FFFFFF"/>
                </a:solidFill>
                <a:latin typeface="Arial"/>
              </a:defRPr>
            </a:pPr>
            <a:r>
              <a:t>Factorial Builders' : 'Operating OS : Factorial Builders'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Core Medium for Spatial Operating Platform Evolution</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Beyond Asset Management, Evolution into a 'Spatial Operating Platform'</a:t>
            </a:r>
          </a:p>
          <a:p>
            <a:pPr>
              <a:lnSpc>
                <a:spcPct val="130000"/>
              </a:lnSpc>
              <a:spcAft>
                <a:spcPts val="1200"/>
              </a:spcAft>
              <a:defRPr sz="1800">
                <a:solidFill>
                  <a:srgbClr val="1D1D1F"/>
                </a:solidFill>
                <a:latin typeface="Arial"/>
              </a:defRPr>
            </a:pPr>
            <a:r>
              <a:t>•  Past</a:t>
            </a:r>
          </a:p>
          <a:p>
            <a:pPr>
              <a:lnSpc>
                <a:spcPct val="130000"/>
              </a:lnSpc>
              <a:spcAft>
                <a:spcPts val="1200"/>
              </a:spcAft>
              <a:defRPr sz="1800">
                <a:solidFill>
                  <a:srgbClr val="1D1D1F"/>
                </a:solidFill>
                <a:latin typeface="Arial"/>
              </a:defRPr>
            </a:pPr>
            <a:r>
              <a:t>•  Simple Rent-driven Asset Management</a:t>
            </a:r>
          </a:p>
          <a:p>
            <a:pPr>
              <a:lnSpc>
                <a:spcPct val="130000"/>
              </a:lnSpc>
              <a:spcAft>
                <a:spcPts val="1200"/>
              </a:spcAft>
              <a:defRPr sz="1800">
                <a:solidFill>
                  <a:srgbClr val="1D1D1F"/>
                </a:solidFill>
                <a:latin typeface="Arial"/>
              </a:defRPr>
            </a:pPr>
            <a:r>
              <a:t>•  OS</a:t>
            </a:r>
          </a:p>
          <a:p>
            <a:pPr>
              <a:lnSpc>
                <a:spcPct val="130000"/>
              </a:lnSpc>
              <a:spcAft>
                <a:spcPts val="1200"/>
              </a:spcAft>
              <a:defRPr sz="1800">
                <a:solidFill>
                  <a:srgbClr val="1D1D1F"/>
                </a:solidFill>
                <a:latin typeface="Arial"/>
              </a:defRPr>
            </a:pPr>
            <a:r>
              <a:t>•  Present &amp; Future (Factorial Builders)</a:t>
            </a:r>
          </a:p>
          <a:p>
            <a:pPr>
              <a:lnSpc>
                <a:spcPct val="130000"/>
              </a:lnSpc>
              <a:spcAft>
                <a:spcPts val="1200"/>
              </a:spcAft>
              <a:defRPr sz="1800">
                <a:solidFill>
                  <a:srgbClr val="1D1D1F"/>
                </a:solidFill>
                <a:latin typeface="Arial"/>
              </a:defRPr>
            </a:pPr>
            <a:r>
              <a:t>•  Spatial Operating Platform Providing Corporate Infrastructure</a:t>
            </a:r>
          </a:p>
          <a:p>
            <a:pPr>
              <a:lnSpc>
                <a:spcPct val="130000"/>
              </a:lnSpc>
              <a:spcAft>
                <a:spcPts val="1200"/>
              </a:spcAft>
              <a:defRPr sz="1800">
                <a:solidFill>
                  <a:srgbClr val="1D1D1F"/>
                </a:solidFill>
                <a:latin typeface="Arial"/>
              </a:defRPr>
            </a:pPr>
            <a:r>
              <a:t>•  Tech-Ready Building</a:t>
            </a:r>
          </a:p>
          <a:p>
            <a:pPr>
              <a:lnSpc>
                <a:spcPct val="130000"/>
              </a:lnSpc>
              <a:spcAft>
                <a:spcPts val="1200"/>
              </a:spcAft>
              <a:defRPr sz="1800">
                <a:solidFill>
                  <a:srgbClr val="1D1D1F"/>
                </a:solidFill>
                <a:latin typeface="Arial"/>
              </a:defRPr>
            </a:pPr>
            <a:r>
              <a:t>•  Factorial Seongsu (Robot &amp; IoT Friendly)</a:t>
            </a:r>
          </a:p>
          <a:p>
            <a:pPr>
              <a:lnSpc>
                <a:spcPct val="130000"/>
              </a:lnSpc>
              <a:spcAft>
                <a:spcPts val="1200"/>
              </a:spcAft>
              <a:defRPr sz="1800">
                <a:solidFill>
                  <a:srgbClr val="1D1D1F"/>
                </a:solidFill>
                <a:latin typeface="Arial"/>
              </a:defRPr>
            </a:pPr>
            <a:r>
              <a:t>•  Co-developed with Samsung &amp; Hyundai Motor Group to realize a future building combining hardware and software.</a:t>
            </a:r>
          </a:p>
          <a:p>
            <a:pPr>
              <a:lnSpc>
                <a:spcPct val="130000"/>
              </a:lnSpc>
              <a:spcAft>
                <a:spcPts val="1200"/>
              </a:spcAft>
              <a:defRPr sz="1800">
                <a:solidFill>
                  <a:srgbClr val="1D1D1F"/>
                </a:solidFill>
                <a:latin typeface="Arial"/>
              </a:defRPr>
            </a:pPr>
            <a:r>
              <a:t>•  Business Model</a:t>
            </a:r>
          </a:p>
          <a:p>
            <a:pPr>
              <a:lnSpc>
                <a:spcPct val="130000"/>
              </a:lnSpc>
              <a:spcAft>
                <a:spcPts val="1200"/>
              </a:spcAft>
              <a:defRPr sz="1800">
                <a:solidFill>
                  <a:srgbClr val="1D1D1F"/>
                </a:solidFill>
                <a:latin typeface="Arial"/>
              </a:defRPr>
            </a:pPr>
            <a:r>
              <a:t>•  'Asset as a Service' (AaaS) Model</a:t>
            </a:r>
          </a:p>
          <a:p>
            <a:pPr>
              <a:lnSpc>
                <a:spcPct val="130000"/>
              </a:lnSpc>
              <a:spcAft>
                <a:spcPts val="1200"/>
              </a:spcAft>
              <a:defRPr sz="1800">
                <a:solidFill>
                  <a:srgbClr val="1D1D1F"/>
                </a:solidFill>
                <a:latin typeface="Arial"/>
              </a:defRPr>
            </a:pPr>
            <a:r>
              <a:t>•  Redefining assets as core operational infrastructure services that aid corporate growth, via collaboration with Samil PwC.</a:t>
            </a:r>
          </a:p>
          <a:p>
            <a:pPr>
              <a:lnSpc>
                <a:spcPct val="130000"/>
              </a:lnSpc>
              <a:spcAft>
                <a:spcPts val="1200"/>
              </a:spcAft>
              <a:defRPr sz="1800">
                <a:solidFill>
                  <a:srgbClr val="1D1D1F"/>
                </a:solidFill>
                <a:latin typeface="Arial"/>
              </a:defRPr>
            </a:pPr>
            <a:r>
              <a:t>•  A true spatial operating OS platform that combines hardware (Tech-Ready) and software (AaaS) to provide real estate to corporations as a 'service'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Institutional Version of WeWork</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Overcoming WeWork's Structural Limits &amp; Global Benchmark 'Vertical City'</a:t>
            </a:r>
          </a:p>
          <a:p>
            <a:pPr>
              <a:lnSpc>
                <a:spcPct val="130000"/>
              </a:lnSpc>
              <a:spcAft>
                <a:spcPts val="1200"/>
              </a:spcAft>
              <a:defRPr sz="1800">
                <a:solidFill>
                  <a:srgbClr val="1D1D1F"/>
                </a:solidFill>
                <a:latin typeface="Arial"/>
              </a:defRPr>
            </a:pPr>
            <a:r>
              <a:t>•  Limit</a:t>
            </a:r>
          </a:p>
          <a:p>
            <a:pPr>
              <a:lnSpc>
                <a:spcPct val="130000"/>
              </a:lnSpc>
              <a:spcAft>
                <a:spcPts val="1200"/>
              </a:spcAft>
              <a:defRPr sz="1800">
                <a:solidFill>
                  <a:srgbClr val="1D1D1F"/>
                </a:solidFill>
                <a:latin typeface="Arial"/>
              </a:defRPr>
            </a:pPr>
            <a:r>
              <a:t>•  Fundamental Limits of WeWork's Failure</a:t>
            </a:r>
          </a:p>
          <a:p>
            <a:pPr>
              <a:lnSpc>
                <a:spcPct val="130000"/>
              </a:lnSpc>
              <a:spcAft>
                <a:spcPts val="1200"/>
              </a:spcAft>
              <a:defRPr sz="1800">
                <a:solidFill>
                  <a:srgbClr val="1D1D1F"/>
                </a:solidFill>
                <a:latin typeface="Arial"/>
              </a:defRPr>
            </a:pPr>
            <a:r>
              <a:t>•  (1) No Own Capital &amp; (2) Short/Long-term Rent Mismatch</a:t>
            </a:r>
          </a:p>
          <a:p>
            <a:pPr>
              <a:lnSpc>
                <a:spcPct val="130000"/>
              </a:lnSpc>
              <a:spcAft>
                <a:spcPts val="1200"/>
              </a:spcAft>
              <a:defRPr sz="1800">
                <a:solidFill>
                  <a:srgbClr val="1D1D1F"/>
                </a:solidFill>
                <a:latin typeface="Arial"/>
              </a:defRPr>
            </a:pPr>
            <a:r>
              <a:t>•  Solution</a:t>
            </a:r>
          </a:p>
          <a:p>
            <a:pPr>
              <a:lnSpc>
                <a:spcPct val="130000"/>
              </a:lnSpc>
              <a:spcAft>
                <a:spcPts val="1200"/>
              </a:spcAft>
              <a:defRPr sz="1800">
                <a:solidFill>
                  <a:srgbClr val="1D1D1F"/>
                </a:solidFill>
                <a:latin typeface="Arial"/>
              </a:defRPr>
            </a:pPr>
            <a:r>
              <a:t>•  IGIS's Institutional Version</a:t>
            </a:r>
          </a:p>
          <a:p>
            <a:pPr>
              <a:lnSpc>
                <a:spcPct val="130000"/>
              </a:lnSpc>
              <a:spcAft>
                <a:spcPts val="1200"/>
              </a:spcAft>
              <a:defRPr sz="1800">
                <a:solidFill>
                  <a:srgbClr val="1D1D1F"/>
                </a:solidFill>
                <a:latin typeface="Arial"/>
              </a:defRPr>
            </a:pPr>
            <a:r>
              <a:t>•  1.</a:t>
            </a:r>
          </a:p>
          <a:p>
            <a:pPr>
              <a:lnSpc>
                <a:spcPct val="130000"/>
              </a:lnSpc>
              <a:spcAft>
                <a:spcPts val="1200"/>
              </a:spcAft>
              <a:defRPr sz="1800">
                <a:solidFill>
                  <a:srgbClr val="1D1D1F"/>
                </a:solidFill>
                <a:latin typeface="Arial"/>
              </a:defRPr>
            </a:pPr>
            <a:r>
              <a:t>•  Capital (Massive Capital Power)</a:t>
            </a:r>
          </a:p>
          <a:p>
            <a:pPr>
              <a:lnSpc>
                <a:spcPct val="130000"/>
              </a:lnSpc>
              <a:spcAft>
                <a:spcPts val="1200"/>
              </a:spcAft>
              <a:defRPr sz="1800">
                <a:solidFill>
                  <a:srgbClr val="1D1D1F"/>
                </a:solidFill>
                <a:latin typeface="Arial"/>
              </a:defRPr>
            </a:pPr>
            <a:r>
              <a:t>•  2.</a:t>
            </a:r>
          </a:p>
          <a:p>
            <a:pPr>
              <a:lnSpc>
                <a:spcPct val="130000"/>
              </a:lnSpc>
              <a:spcAft>
                <a:spcPts val="1200"/>
              </a:spcAft>
              <a:defRPr sz="1800">
                <a:solidFill>
                  <a:srgbClr val="1D1D1F"/>
                </a:solidFill>
                <a:latin typeface="Arial"/>
              </a:defRPr>
            </a:pPr>
            <a:r>
              <a:t>•  Real Estate Ownership</a:t>
            </a:r>
          </a:p>
          <a:p>
            <a:pPr>
              <a:lnSpc>
                <a:spcPct val="130000"/>
              </a:lnSpc>
              <a:spcAft>
                <a:spcPts val="1200"/>
              </a:spcAft>
              <a:defRPr sz="1800">
                <a:solidFill>
                  <a:srgbClr val="1D1D1F"/>
                </a:solidFill>
                <a:latin typeface="Arial"/>
              </a:defRPr>
            </a:pPr>
            <a:r>
              <a:t>•  3.</a:t>
            </a:r>
          </a:p>
          <a:p>
            <a:pPr>
              <a:lnSpc>
                <a:spcPct val="130000"/>
              </a:lnSpc>
              <a:spcAft>
                <a:spcPts val="1200"/>
              </a:spcAft>
              <a:defRPr sz="1800">
                <a:solidFill>
                  <a:srgbClr val="1D1D1F"/>
                </a:solidFill>
                <a:latin typeface="Arial"/>
              </a:defRPr>
            </a:pPr>
            <a:r>
              <a:t>•  Operating Layer (Spatial Operations OS)</a:t>
            </a:r>
          </a:p>
          <a:p>
            <a:pPr>
              <a:lnSpc>
                <a:spcPct val="130000"/>
              </a:lnSpc>
              <a:spcAft>
                <a:spcPts val="1200"/>
              </a:spcAft>
              <a:defRPr sz="1800">
                <a:solidFill>
                  <a:srgbClr val="1D1D1F"/>
                </a:solidFill>
                <a:latin typeface="Arial"/>
              </a:defRPr>
            </a:pPr>
            <a:r>
              <a:t>•  Global Benchmark Model</a:t>
            </a:r>
          </a:p>
          <a:p>
            <a:pPr>
              <a:lnSpc>
                <a:spcPct val="130000"/>
              </a:lnSpc>
              <a:spcAft>
                <a:spcPts val="1200"/>
              </a:spcAft>
              <a:defRPr sz="1800">
                <a:solidFill>
                  <a:srgbClr val="1D1D1F"/>
                </a:solidFill>
                <a:latin typeface="Arial"/>
              </a:defRPr>
            </a:pPr>
            <a:r>
              <a:t>•  Mori Building</a:t>
            </a:r>
          </a:p>
          <a:p>
            <a:pPr>
              <a:lnSpc>
                <a:spcPct val="130000"/>
              </a:lnSpc>
              <a:spcAft>
                <a:spcPts val="1200"/>
              </a:spcAft>
              <a:defRPr sz="1800">
                <a:solidFill>
                  <a:srgbClr val="1D1D1F"/>
                </a:solidFill>
                <a:latin typeface="Arial"/>
              </a:defRPr>
            </a:pPr>
            <a:r>
              <a:t>•  Mori Building, Toranomon &amp; Azabudai Hills (2023)</a:t>
            </a:r>
          </a:p>
          <a:p>
            <a:pPr>
              <a:lnSpc>
                <a:spcPct val="130000"/>
              </a:lnSpc>
              <a:spcAft>
                <a:spcPts val="1200"/>
              </a:spcAft>
              <a:defRPr sz="1800">
                <a:solidFill>
                  <a:srgbClr val="1D1D1F"/>
                </a:solidFill>
                <a:latin typeface="Arial"/>
              </a:defRPr>
            </a:pPr>
            <a:r>
              <a:t>•  Closest to Mori Building\'s operational model. A successful case that perfectly combines overwhelming capital, physical assets, and delicate operational capabilities.</a:t>
            </a:r>
          </a:p>
          <a:p>
            <a:pPr>
              <a:lnSpc>
                <a:spcPct val="130000"/>
              </a:lnSpc>
              <a:spcAft>
                <a:spcPts val="1200"/>
              </a:spcAft>
              <a:defRPr sz="1800">
                <a:solidFill>
                  <a:srgbClr val="1D1D1F"/>
                </a:solidFill>
                <a:latin typeface="Arial"/>
              </a:defRPr>
            </a:pPr>
            <a:r>
              <a:t>•  Adopting "Vertical City" Concept</a:t>
            </a:r>
          </a:p>
          <a:p>
            <a:pPr>
              <a:lnSpc>
                <a:spcPct val="130000"/>
              </a:lnSpc>
              <a:spcAft>
                <a:spcPts val="1200"/>
              </a:spcAft>
              <a:defRPr sz="1800">
                <a:solidFill>
                  <a:srgbClr val="1D1D1F"/>
                </a:solidFill>
                <a:latin typeface="Arial"/>
              </a:defRPr>
            </a:pPr>
            <a:r>
              <a:t>•  Directly applying Mori\'s model of integrated operation of office, residential, culture, and F&amp;B into IOTA</a:t>
            </a:r>
          </a:p>
          <a:p>
            <a:pPr>
              <a:lnSpc>
                <a:spcPct val="130000"/>
              </a:lnSpc>
              <a:spcAft>
                <a:spcPts val="1200"/>
              </a:spcAft>
              <a:defRPr sz="1800">
                <a:solidFill>
                  <a:srgbClr val="1D1D1F"/>
                </a:solidFill>
                <a:latin typeface="Arial"/>
              </a:defRPr>
            </a:pPr>
            <a:r>
              <a:t>•  IGIS, equipped with Capital, Ownership, and Operating capabilities, can realize an Institutional spatial platform overcoming WeWork's failures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4.</a:t>
            </a:r>
          </a:p>
          <a:p>
            <a:pPr algn="ctr">
              <a:spcBef>
                <a:spcPts val="1200"/>
              </a:spcBef>
              <a:defRPr sz="3200" b="1">
                <a:solidFill>
                  <a:srgbClr val="FFFFFF"/>
                </a:solidFill>
                <a:latin typeface="Arial"/>
              </a:defRPr>
            </a:pPr>
            <a:r>
              <a:t>Building Global LP Relationships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Global Commingled Fund</a:t>
            </a:r>
          </a:p>
          <a:p>
            <a:pPr>
              <a:spcBef>
                <a:spcPts val="1200"/>
              </a:spcBef>
              <a:defRPr sz="3200" b="1">
                <a:solidFill>
                  <a:srgbClr val="1D1D1F"/>
                </a:solidFill>
                <a:latin typeface="Arial"/>
              </a:defRPr>
            </a:pPr>
            <a:r>
              <a:t>Bidirectional Platform via 1st Global Commingled Fund</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Decisive Turning Point</a:t>
            </a:r>
          </a:p>
          <a:p>
            <a:pPr>
              <a:lnSpc>
                <a:spcPct val="130000"/>
              </a:lnSpc>
              <a:spcAft>
                <a:spcPts val="1200"/>
              </a:spcAft>
              <a:defRPr sz="1800">
                <a:solidFill>
                  <a:srgbClr val="1D1D1F"/>
                </a:solidFill>
                <a:latin typeface="Arial"/>
              </a:defRPr>
            </a:pPr>
            <a:r>
              <a:t>•  IGIS 1st Global Commingled Fund</a:t>
            </a:r>
          </a:p>
          <a:p>
            <a:pPr>
              <a:lnSpc>
                <a:spcPct val="130000"/>
              </a:lnSpc>
              <a:spcAft>
                <a:spcPts val="1200"/>
              </a:spcAft>
              <a:defRPr sz="1800">
                <a:solidFill>
                  <a:srgbClr val="1D1D1F"/>
                </a:solidFill>
                <a:latin typeface="Arial"/>
              </a:defRPr>
            </a:pPr>
            <a:r>
              <a:t>•  Target: $1B USD</a:t>
            </a:r>
          </a:p>
          <a:p>
            <a:pPr>
              <a:lnSpc>
                <a:spcPct val="130000"/>
              </a:lnSpc>
              <a:spcAft>
                <a:spcPts val="1200"/>
              </a:spcAft>
              <a:defRPr sz="1800">
                <a:solidFill>
                  <a:srgbClr val="1D1D1F"/>
                </a:solidFill>
                <a:latin typeface="Arial"/>
              </a:defRPr>
            </a:pPr>
            <a:r>
              <a:t>•  (1) Globalizing Domestic Assets</a:t>
            </a:r>
          </a:p>
          <a:p>
            <a:pPr>
              <a:lnSpc>
                <a:spcPct val="130000"/>
              </a:lnSpc>
              <a:spcAft>
                <a:spcPts val="1200"/>
              </a:spcAft>
              <a:defRPr sz="1800">
                <a:solidFill>
                  <a:srgbClr val="1D1D1F"/>
                </a:solidFill>
                <a:latin typeface="Arial"/>
              </a:defRPr>
            </a:pPr>
            <a:r>
              <a:t>•  Package sale of IGIS Korean assets to Global LPs</a:t>
            </a:r>
          </a:p>
          <a:p>
            <a:pPr>
              <a:lnSpc>
                <a:spcPct val="130000"/>
              </a:lnSpc>
              <a:spcAft>
                <a:spcPts val="1200"/>
              </a:spcAft>
              <a:defRPr sz="1800">
                <a:solidFill>
                  <a:srgbClr val="1D1D1F"/>
                </a:solidFill>
                <a:latin typeface="Arial"/>
              </a:defRPr>
            </a:pPr>
            <a:r>
              <a:t>•  (2) Attracting Global Assets to Korea</a:t>
            </a:r>
          </a:p>
          <a:p>
            <a:pPr>
              <a:lnSpc>
                <a:spcPct val="130000"/>
              </a:lnSpc>
              <a:spcAft>
                <a:spcPts val="1200"/>
              </a:spcAft>
              <a:defRPr sz="1800">
                <a:solidFill>
                  <a:srgbClr val="1D1D1F"/>
                </a:solidFill>
                <a:latin typeface="Arial"/>
              </a:defRPr>
            </a:pPr>
            <a:r>
              <a:t>•  Overseas mandate for Korean LPs &amp; Global Deal Sourcing Hub</a:t>
            </a:r>
          </a:p>
          <a:p>
            <a:pPr>
              <a:lnSpc>
                <a:spcPct val="130000"/>
              </a:lnSpc>
              <a:spcAft>
                <a:spcPts val="1200"/>
              </a:spcAft>
              <a:defRPr sz="1800">
                <a:solidFill>
                  <a:srgbClr val="1D1D1F"/>
                </a:solidFill>
                <a:latin typeface="Arial"/>
              </a:defRPr>
            </a:pPr>
            <a:r>
              <a:t>•  Breaking away from the current domestic LP-dominated structure, leaping into a bidirectional platform within 5 years via commingled fund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Priority Target LPs</a:t>
            </a:r>
          </a:p>
          <a:p>
            <a:pPr>
              <a:spcBef>
                <a:spcPts val="1200"/>
              </a:spcBef>
              <a:defRPr sz="3200" b="1">
                <a:solidFill>
                  <a:srgbClr val="1D1D1F"/>
                </a:solidFill>
                <a:latin typeface="Arial"/>
              </a:defRPr>
            </a:pPr>
            <a:r>
              <a:t>Global Capital Landscape &amp; Targeting Strategy</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1</a:t>
            </a:r>
          </a:p>
          <a:p>
            <a:pPr>
              <a:lnSpc>
                <a:spcPct val="130000"/>
              </a:lnSpc>
              <a:spcAft>
                <a:spcPts val="1200"/>
              </a:spcAft>
              <a:defRPr sz="1800">
                <a:solidFill>
                  <a:srgbClr val="1D1D1F"/>
                </a:solidFill>
                <a:latin typeface="Arial"/>
              </a:defRPr>
            </a:pPr>
            <a:r>
              <a:t>•  GIC, Temasek (Singapore)</a:t>
            </a:r>
          </a:p>
          <a:p>
            <a:pPr>
              <a:lnSpc>
                <a:spcPct val="130000"/>
              </a:lnSpc>
              <a:spcAft>
                <a:spcPts val="1200"/>
              </a:spcAft>
              <a:defRPr sz="1800">
                <a:solidFill>
                  <a:srgbClr val="1D1D1F"/>
                </a:solidFill>
                <a:latin typeface="Arial"/>
              </a:defRPr>
            </a:pPr>
            <a:r>
              <a:t>•  Prior LP participation experience in Korean trophy assets</a:t>
            </a:r>
          </a:p>
          <a:p>
            <a:pPr>
              <a:lnSpc>
                <a:spcPct val="130000"/>
              </a:lnSpc>
              <a:spcAft>
                <a:spcPts val="1200"/>
              </a:spcAft>
              <a:defRPr sz="1800">
                <a:solidFill>
                  <a:srgbClr val="1D1D1F"/>
                </a:solidFill>
                <a:latin typeface="Arial"/>
              </a:defRPr>
            </a:pPr>
            <a:r>
              <a:t>•  2</a:t>
            </a:r>
          </a:p>
          <a:p>
            <a:pPr>
              <a:lnSpc>
                <a:spcPct val="130000"/>
              </a:lnSpc>
              <a:spcAft>
                <a:spcPts val="1200"/>
              </a:spcAft>
              <a:defRPr sz="1800">
                <a:solidFill>
                  <a:srgbClr val="1D1D1F"/>
                </a:solidFill>
                <a:latin typeface="Arial"/>
              </a:defRPr>
            </a:pPr>
            <a:r>
              <a:t>•  CPPIB (Canada Pension)</a:t>
            </a:r>
          </a:p>
          <a:p>
            <a:pPr>
              <a:lnSpc>
                <a:spcPct val="130000"/>
              </a:lnSpc>
              <a:spcAft>
                <a:spcPts val="1200"/>
              </a:spcAft>
              <a:defRPr sz="1800">
                <a:solidFill>
                  <a:srgbClr val="1D1D1F"/>
                </a:solidFill>
                <a:latin typeface="Arial"/>
              </a:defRPr>
            </a:pPr>
            <a:r>
              <a:t>•  Active stance in Korean market, e.g., MGRV Co-living JV</a:t>
            </a:r>
          </a:p>
          <a:p>
            <a:pPr>
              <a:lnSpc>
                <a:spcPct val="130000"/>
              </a:lnSpc>
              <a:spcAft>
                <a:spcPts val="1200"/>
              </a:spcAft>
              <a:defRPr sz="1800">
                <a:solidFill>
                  <a:srgbClr val="1D1D1F"/>
                </a:solidFill>
                <a:latin typeface="Arial"/>
              </a:defRPr>
            </a:pPr>
            <a:r>
              <a:t>•  3</a:t>
            </a:r>
          </a:p>
          <a:p>
            <a:pPr>
              <a:lnSpc>
                <a:spcPct val="130000"/>
              </a:lnSpc>
              <a:spcAft>
                <a:spcPts val="1200"/>
              </a:spcAft>
              <a:defRPr sz="1800">
                <a:solidFill>
                  <a:srgbClr val="1D1D1F"/>
                </a:solidFill>
                <a:latin typeface="Arial"/>
              </a:defRPr>
            </a:pPr>
            <a:r>
              <a:t>•  ADIA, Mubadala, QIA (Middle East)</a:t>
            </a:r>
          </a:p>
          <a:p>
            <a:pPr>
              <a:lnSpc>
                <a:spcPct val="130000"/>
              </a:lnSpc>
              <a:spcAft>
                <a:spcPts val="1200"/>
              </a:spcAft>
              <a:defRPr sz="1800">
                <a:solidFill>
                  <a:srgbClr val="1D1D1F"/>
                </a:solidFill>
                <a:latin typeface="Arial"/>
              </a:defRPr>
            </a:pPr>
            <a:r>
              <a:t>•  Deploying massive global capacity in AI infra &amp; Data Centers</a:t>
            </a:r>
          </a:p>
          <a:p>
            <a:pPr>
              <a:lnSpc>
                <a:spcPct val="130000"/>
              </a:lnSpc>
              <a:spcAft>
                <a:spcPts val="1200"/>
              </a:spcAft>
              <a:defRPr sz="1800">
                <a:solidFill>
                  <a:srgbClr val="1D1D1F"/>
                </a:solidFill>
                <a:latin typeface="Arial"/>
              </a:defRPr>
            </a:pPr>
            <a:r>
              <a:t>•  4</a:t>
            </a:r>
          </a:p>
          <a:p>
            <a:pPr>
              <a:lnSpc>
                <a:spcPct val="130000"/>
              </a:lnSpc>
              <a:spcAft>
                <a:spcPts val="1200"/>
              </a:spcAft>
              <a:defRPr sz="1800">
                <a:solidFill>
                  <a:srgbClr val="1D1D1F"/>
                </a:solidFill>
                <a:latin typeface="Arial"/>
              </a:defRPr>
            </a:pPr>
            <a:r>
              <a:t>•  NBIM (Norway)</a:t>
            </a:r>
          </a:p>
          <a:p>
            <a:pPr>
              <a:lnSpc>
                <a:spcPct val="130000"/>
              </a:lnSpc>
              <a:spcAft>
                <a:spcPts val="1200"/>
              </a:spcAft>
              <a:defRPr sz="1800">
                <a:solidFill>
                  <a:srgbClr val="1D1D1F"/>
                </a:solidFill>
                <a:latin typeface="Arial"/>
              </a:defRPr>
            </a:pPr>
            <a:r>
              <a:t>•  Continuous expansion of direct real estate investments</a:t>
            </a:r>
          </a:p>
          <a:p>
            <a:pPr>
              <a:lnSpc>
                <a:spcPct val="130000"/>
              </a:lnSpc>
              <a:spcAft>
                <a:spcPts val="1200"/>
              </a:spcAft>
              <a:defRPr sz="1800">
                <a:solidFill>
                  <a:srgbClr val="1D1D1F"/>
                </a:solidFill>
                <a:latin typeface="Arial"/>
              </a:defRPr>
            </a:pPr>
            <a:r>
              <a:t>•  5</a:t>
            </a:r>
          </a:p>
          <a:p>
            <a:pPr>
              <a:lnSpc>
                <a:spcPct val="130000"/>
              </a:lnSpc>
              <a:spcAft>
                <a:spcPts val="1200"/>
              </a:spcAft>
              <a:defRPr sz="1800">
                <a:solidFill>
                  <a:srgbClr val="1D1D1F"/>
                </a:solidFill>
                <a:latin typeface="Arial"/>
              </a:defRPr>
            </a:pPr>
            <a:r>
              <a:t>•  AustralianSuper, CalPERS, ABP</a:t>
            </a:r>
          </a:p>
          <a:p>
            <a:pPr>
              <a:lnSpc>
                <a:spcPct val="130000"/>
              </a:lnSpc>
              <a:spcAft>
                <a:spcPts val="1200"/>
              </a:spcAft>
              <a:defRPr sz="1800">
                <a:solidFill>
                  <a:srgbClr val="1D1D1F"/>
                </a:solidFill>
                <a:latin typeface="Arial"/>
              </a:defRPr>
            </a:pPr>
            <a:r>
              <a:t>•  Strong global mandates in Infra &amp; Real Estate</a:t>
            </a:r>
          </a:p>
          <a:p>
            <a:pPr>
              <a:lnSpc>
                <a:spcPct val="130000"/>
              </a:lnSpc>
              <a:spcAft>
                <a:spcPts val="1200"/>
              </a:spcAft>
              <a:defRPr sz="1800">
                <a:solidFill>
                  <a:srgbClr val="1D1D1F"/>
                </a:solidFill>
                <a:latin typeface="Arial"/>
              </a:defRPr>
            </a:pPr>
            <a:r>
              <a:t>•  6</a:t>
            </a:r>
          </a:p>
          <a:p>
            <a:pPr>
              <a:lnSpc>
                <a:spcPct val="130000"/>
              </a:lnSpc>
              <a:spcAft>
                <a:spcPts val="1200"/>
              </a:spcAft>
              <a:defRPr sz="1800">
                <a:solidFill>
                  <a:srgbClr val="1D1D1F"/>
                </a:solidFill>
                <a:latin typeface="Arial"/>
              </a:defRPr>
            </a:pPr>
            <a:r>
              <a:t>•  Mitsubishi, Mitsui, Sumitomo (Japan)</a:t>
            </a:r>
          </a:p>
          <a:p>
            <a:pPr>
              <a:lnSpc>
                <a:spcPct val="130000"/>
              </a:lnSpc>
              <a:spcAft>
                <a:spcPts val="1200"/>
              </a:spcAft>
              <a:defRPr sz="1800">
                <a:solidFill>
                  <a:srgbClr val="1D1D1F"/>
                </a:solidFill>
                <a:latin typeface="Arial"/>
              </a:defRPr>
            </a:pPr>
            <a:r>
              <a:t>•  Key channels corresponding to Japanese capital entering Korea</a:t>
            </a:r>
          </a:p>
          <a:p>
            <a:pPr>
              <a:lnSpc>
                <a:spcPct val="130000"/>
              </a:lnSpc>
              <a:spcAft>
                <a:spcPts val="1200"/>
              </a:spcAft>
              <a:defRPr sz="1800">
                <a:solidFill>
                  <a:srgbClr val="1D1D1F"/>
                </a:solidFill>
                <a:latin typeface="Arial"/>
              </a:defRPr>
            </a:pPr>
            <a:r>
              <a:t>•  Accelerating massive global capital attraction via precise targeting tailored to the unique strategies and needs of each global LP</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Global IB Collaboration Channels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Deeper Integration with Top-tier Global IBs</a:t>
            </a:r>
          </a:p>
          <a:p>
            <a:pPr>
              <a:lnSpc>
                <a:spcPct val="130000"/>
              </a:lnSpc>
              <a:spcAft>
                <a:spcPts val="1200"/>
              </a:spcAft>
              <a:defRPr sz="1800">
                <a:solidFill>
                  <a:srgbClr val="1D1D1F"/>
                </a:solidFill>
                <a:latin typeface="Arial"/>
              </a:defRPr>
            </a:pPr>
            <a:r>
              <a:t>•  Partnership Integration</a:t>
            </a:r>
          </a:p>
          <a:p>
            <a:pPr>
              <a:lnSpc>
                <a:spcPct val="130000"/>
              </a:lnSpc>
              <a:spcAft>
                <a:spcPts val="1200"/>
              </a:spcAft>
              <a:defRPr sz="1800">
                <a:solidFill>
                  <a:srgbClr val="1D1D1F"/>
                </a:solidFill>
                <a:latin typeface="Arial"/>
              </a:defRPr>
            </a:pPr>
            <a:r>
              <a:t>•  Strong strategic integration with Korea PB &amp; Alternative Coverage teams</a:t>
            </a:r>
          </a:p>
          <a:p>
            <a:pPr>
              <a:lnSpc>
                <a:spcPct val="130000"/>
              </a:lnSpc>
              <a:spcAft>
                <a:spcPts val="1200"/>
              </a:spcAft>
              <a:defRPr sz="1800">
                <a:solidFill>
                  <a:srgbClr val="1D1D1F"/>
                </a:solidFill>
                <a:latin typeface="Arial"/>
              </a:defRPr>
            </a:pPr>
            <a:r>
              <a:t>•  IOTA Anchor Case</a:t>
            </a:r>
          </a:p>
          <a:p>
            <a:pPr>
              <a:lnSpc>
                <a:spcPct val="130000"/>
              </a:lnSpc>
              <a:spcAft>
                <a:spcPts val="1200"/>
              </a:spcAft>
              <a:defRPr sz="1800">
                <a:solidFill>
                  <a:srgbClr val="1D1D1F"/>
                </a:solidFill>
                <a:latin typeface="Arial"/>
              </a:defRPr>
            </a:pPr>
            <a:r>
              <a:t>•  Fully utilized as the core Anchor case for Global Roadshows in Japan, Europe, and Middle East</a:t>
            </a:r>
          </a:p>
          <a:p>
            <a:pPr>
              <a:lnSpc>
                <a:spcPct val="130000"/>
              </a:lnSpc>
              <a:spcAft>
                <a:spcPts val="1200"/>
              </a:spcAft>
              <a:defRPr sz="1800">
                <a:solidFill>
                  <a:srgbClr val="1D1D1F"/>
                </a:solidFill>
                <a:latin typeface="Arial"/>
              </a:defRPr>
            </a:pPr>
            <a:r>
              <a:t>•  By fully leveraging the top-tier global IB network, IOTA project is elevated to the core engine of international capital attraction</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5.</a:t>
            </a:r>
          </a:p>
          <a:p>
            <a:pPr algn="ctr">
              <a:spcBef>
                <a:spcPts val="1200"/>
              </a:spcBef>
              <a:defRPr sz="3200" b="1">
                <a:solidFill>
                  <a:srgbClr val="FFFFFF"/>
                </a:solidFill>
                <a:latin typeface="Arial"/>
              </a:defRPr>
            </a:pPr>
            <a:r>
              <a:t>AI Adoption Workflow</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Acquisition Underwriting</a:t>
            </a:r>
          </a:p>
          <a:p>
            <a:pPr>
              <a:spcBef>
                <a:spcPts val="1200"/>
              </a:spcBef>
              <a:defRPr sz="3200" b="1">
                <a:solidFill>
                  <a:srgbClr val="FFFFFF"/>
                </a:solidFill>
                <a:latin typeface="Arial"/>
              </a:defRPr>
            </a:pPr>
            <a:r>
              <a:t>AI-Driven Deal Sourcing &amp; IC Automation</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Raw Data Input</a:t>
            </a:r>
          </a:p>
          <a:p>
            <a:pPr>
              <a:lnSpc>
                <a:spcPct val="130000"/>
              </a:lnSpc>
              <a:spcAft>
                <a:spcPts val="1200"/>
              </a:spcAft>
              <a:defRPr sz="1800">
                <a:solidFill>
                  <a:srgbClr val="FFFFFF"/>
                </a:solidFill>
                <a:latin typeface="Arial"/>
              </a:defRPr>
            </a:pPr>
            <a:r>
              <a:t>•  Market Reports &amp; Teasers</a:t>
            </a:r>
          </a:p>
          <a:p>
            <a:pPr>
              <a:lnSpc>
                <a:spcPct val="130000"/>
              </a:lnSpc>
              <a:spcAft>
                <a:spcPts val="1200"/>
              </a:spcAft>
              <a:defRPr sz="1800">
                <a:solidFill>
                  <a:srgbClr val="FFFFFF"/>
                </a:solidFill>
                <a:latin typeface="Arial"/>
              </a:defRPr>
            </a:pPr>
            <a:r>
              <a:t>•  Transaction &amp; Cap Rate</a:t>
            </a:r>
          </a:p>
          <a:p>
            <a:pPr>
              <a:lnSpc>
                <a:spcPct val="130000"/>
              </a:lnSpc>
              <a:spcAft>
                <a:spcPts val="1200"/>
              </a:spcAft>
              <a:defRPr sz="1800">
                <a:solidFill>
                  <a:srgbClr val="FFFFFF"/>
                </a:solidFill>
                <a:latin typeface="Arial"/>
              </a:defRPr>
            </a:pPr>
            <a:r>
              <a:t>•  Claude</a:t>
            </a:r>
          </a:p>
          <a:p>
            <a:pPr>
              <a:lnSpc>
                <a:spcPct val="130000"/>
              </a:lnSpc>
              <a:spcAft>
                <a:spcPts val="1200"/>
              </a:spcAft>
              <a:defRPr sz="1800">
                <a:solidFill>
                  <a:srgbClr val="FFFFFF"/>
                </a:solidFill>
                <a:latin typeface="Arial"/>
              </a:defRPr>
            </a:pPr>
            <a:r>
              <a:t>•  / GPT</a:t>
            </a:r>
          </a:p>
          <a:p>
            <a:pPr>
              <a:lnSpc>
                <a:spcPct val="130000"/>
              </a:lnSpc>
              <a:spcAft>
                <a:spcPts val="1200"/>
              </a:spcAft>
              <a:defRPr sz="1800">
                <a:solidFill>
                  <a:srgbClr val="FFFFFF"/>
                </a:solidFill>
                <a:latin typeface="Arial"/>
              </a:defRPr>
            </a:pPr>
            <a:r>
              <a:t>•  Market Comp &amp; Scenario Compute</a:t>
            </a:r>
          </a:p>
          <a:p>
            <a:pPr>
              <a:lnSpc>
                <a:spcPct val="130000"/>
              </a:lnSpc>
              <a:spcAft>
                <a:spcPts val="1200"/>
              </a:spcAft>
              <a:defRPr sz="1800">
                <a:solidFill>
                  <a:srgbClr val="FFFFFF"/>
                </a:solidFill>
                <a:latin typeface="Arial"/>
              </a:defRPr>
            </a:pPr>
            <a:r>
              <a:t>•  Auto Draft Generation</a:t>
            </a:r>
          </a:p>
          <a:p>
            <a:pPr>
              <a:lnSpc>
                <a:spcPct val="130000"/>
              </a:lnSpc>
              <a:spcAft>
                <a:spcPts val="1200"/>
              </a:spcAft>
              <a:defRPr sz="1800">
                <a:solidFill>
                  <a:srgbClr val="FFFFFF"/>
                </a:solidFill>
                <a:latin typeface="Arial"/>
              </a:defRPr>
            </a:pPr>
            <a:r>
              <a:t>•  LOI</a:t>
            </a:r>
          </a:p>
          <a:p>
            <a:pPr>
              <a:lnSpc>
                <a:spcPct val="130000"/>
              </a:lnSpc>
              <a:spcAft>
                <a:spcPts val="1200"/>
              </a:spcAft>
              <a:defRPr sz="1800">
                <a:solidFill>
                  <a:srgbClr val="FFFFFF"/>
                </a:solidFill>
                <a:latin typeface="Arial"/>
              </a:defRPr>
            </a:pPr>
            <a:r>
              <a:t>•  Letter of Intent</a:t>
            </a:r>
          </a:p>
          <a:p>
            <a:pPr>
              <a:lnSpc>
                <a:spcPct val="130000"/>
              </a:lnSpc>
              <a:spcAft>
                <a:spcPts val="1200"/>
              </a:spcAft>
              <a:defRPr sz="1800">
                <a:solidFill>
                  <a:srgbClr val="FFFFFF"/>
                </a:solidFill>
                <a:latin typeface="Arial"/>
              </a:defRPr>
            </a:pPr>
            <a:r>
              <a:t>•  IC Memo</a:t>
            </a:r>
          </a:p>
          <a:p>
            <a:pPr>
              <a:lnSpc>
                <a:spcPct val="130000"/>
              </a:lnSpc>
              <a:spcAft>
                <a:spcPts val="1200"/>
              </a:spcAft>
              <a:defRPr sz="1800">
                <a:solidFill>
                  <a:srgbClr val="FFFFFF"/>
                </a:solidFill>
                <a:latin typeface="Arial"/>
              </a:defRPr>
            </a:pPr>
            <a:r>
              <a:t>•  Investment Memo</a:t>
            </a:r>
          </a:p>
          <a:p>
            <a:pPr>
              <a:lnSpc>
                <a:spcPct val="130000"/>
              </a:lnSpc>
              <a:spcAft>
                <a:spcPts val="1200"/>
              </a:spcAft>
              <a:defRPr sz="1800">
                <a:solidFill>
                  <a:srgbClr val="FFFFFF"/>
                </a:solidFill>
                <a:latin typeface="Arial"/>
              </a:defRPr>
            </a:pPr>
            <a:r>
              <a:t>•  AI instantly parses raw property info &amp; market data to compute financial scenarios (Cap Rate)</a:t>
            </a:r>
          </a:p>
          <a:p>
            <a:pPr>
              <a:lnSpc>
                <a:spcPct val="130000"/>
              </a:lnSpc>
              <a:spcAft>
                <a:spcPts val="1200"/>
              </a:spcAft>
              <a:defRPr sz="1800">
                <a:solidFill>
                  <a:srgbClr val="FFFFFF"/>
                </a:solidFill>
                <a:latin typeface="Arial"/>
              </a:defRPr>
            </a:pPr>
            <a:r>
              <a:t>•  Applying the operational innovation workflow already adopted by global top-tiers like Goldman &amp; Blackstone to Korea</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Asset Management &amp; CF Protection</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Proactive Risk Management &amp; Operation Dashboard</a:t>
            </a:r>
          </a:p>
          <a:p>
            <a:pPr>
              <a:lnSpc>
                <a:spcPct val="130000"/>
              </a:lnSpc>
              <a:spcAft>
                <a:spcPts val="1200"/>
              </a:spcAft>
              <a:defRPr sz="1800">
                <a:solidFill>
                  <a:srgbClr val="FFFFFF"/>
                </a:solidFill>
                <a:latin typeface="Arial"/>
              </a:defRPr>
            </a:pPr>
            <a:r>
              <a:t>•  ALERT</a:t>
            </a:r>
          </a:p>
          <a:p>
            <a:pPr>
              <a:lnSpc>
                <a:spcPct val="130000"/>
              </a:lnSpc>
              <a:spcAft>
                <a:spcPts val="1200"/>
              </a:spcAft>
              <a:defRPr sz="1800">
                <a:solidFill>
                  <a:srgbClr val="FFFFFF"/>
                </a:solidFill>
                <a:latin typeface="Arial"/>
              </a:defRPr>
            </a:pPr>
            <a:r>
              <a:t>•  Early Vacancy Warning</a:t>
            </a:r>
          </a:p>
          <a:p>
            <a:pPr>
              <a:lnSpc>
                <a:spcPct val="130000"/>
              </a:lnSpc>
              <a:spcAft>
                <a:spcPts val="1200"/>
              </a:spcAft>
              <a:defRPr sz="1800">
                <a:solidFill>
                  <a:srgbClr val="FFFFFF"/>
                </a:solidFill>
                <a:latin typeface="Arial"/>
              </a:defRPr>
            </a:pPr>
            <a:r>
              <a:t>•  Tenant B - Renewal probability &lt; 30%</a:t>
            </a:r>
          </a:p>
          <a:p>
            <a:pPr>
              <a:lnSpc>
                <a:spcPct val="130000"/>
              </a:lnSpc>
              <a:spcAft>
                <a:spcPts val="1200"/>
              </a:spcAft>
              <a:defRPr sz="1800">
                <a:solidFill>
                  <a:srgbClr val="FFFFFF"/>
                </a:solidFill>
                <a:latin typeface="Arial"/>
              </a:defRPr>
            </a:pPr>
            <a:r>
              <a:t>•  Arrears Prediction</a:t>
            </a:r>
          </a:p>
          <a:p>
            <a:pPr>
              <a:lnSpc>
                <a:spcPct val="130000"/>
              </a:lnSpc>
              <a:spcAft>
                <a:spcPts val="1200"/>
              </a:spcAft>
              <a:defRPr sz="1800">
                <a:solidFill>
                  <a:srgbClr val="FFFFFF"/>
                </a:solidFill>
                <a:latin typeface="Arial"/>
              </a:defRPr>
            </a:pPr>
            <a:r>
              <a:t>•  High Risk</a:t>
            </a:r>
          </a:p>
          <a:p>
            <a:pPr>
              <a:lnSpc>
                <a:spcPct val="130000"/>
              </a:lnSpc>
              <a:spcAft>
                <a:spcPts val="1200"/>
              </a:spcAft>
              <a:defRPr sz="1800">
                <a:solidFill>
                  <a:srgbClr val="FFFFFF"/>
                </a:solidFill>
                <a:latin typeface="Arial"/>
              </a:defRPr>
            </a:pPr>
            <a:r>
              <a:t>•  CAPEX Optimization</a:t>
            </a:r>
          </a:p>
          <a:p>
            <a:pPr>
              <a:lnSpc>
                <a:spcPct val="130000"/>
              </a:lnSpc>
              <a:spcAft>
                <a:spcPts val="1200"/>
              </a:spcAft>
              <a:defRPr sz="1800">
                <a:solidFill>
                  <a:srgbClr val="FFFFFF"/>
                </a:solidFill>
                <a:latin typeface="Arial"/>
              </a:defRPr>
            </a:pPr>
            <a:r>
              <a:t>•  Optimal</a:t>
            </a:r>
          </a:p>
          <a:p>
            <a:pPr>
              <a:lnSpc>
                <a:spcPct val="130000"/>
              </a:lnSpc>
              <a:spcAft>
                <a:spcPts val="1200"/>
              </a:spcAft>
              <a:defRPr sz="1800">
                <a:solidFill>
                  <a:srgbClr val="FFFFFF"/>
                </a:solidFill>
                <a:latin typeface="Arial"/>
              </a:defRPr>
            </a:pPr>
            <a:r>
              <a:t>•  Operational Efficiency Gain</a:t>
            </a:r>
          </a:p>
          <a:p>
            <a:pPr>
              <a:lnSpc>
                <a:spcPct val="130000"/>
              </a:lnSpc>
              <a:spcAft>
                <a:spcPts val="1200"/>
              </a:spcAft>
              <a:defRPr sz="1800">
                <a:solidFill>
                  <a:srgbClr val="FFFFFF"/>
                </a:solidFill>
                <a:latin typeface="Arial"/>
              </a:defRPr>
            </a:pPr>
            <a:r>
              <a:t>•  30</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Expecting massive cost savings and cash flow protection across IGIS 73T KRW AUM</a:t>
            </a:r>
          </a:p>
          <a:p>
            <a:pPr>
              <a:lnSpc>
                <a:spcPct val="130000"/>
              </a:lnSpc>
              <a:spcAft>
                <a:spcPts val="1200"/>
              </a:spcAft>
              <a:defRPr sz="1800">
                <a:solidFill>
                  <a:srgbClr val="FFFFFF"/>
                </a:solidFill>
                <a:latin typeface="Arial"/>
              </a:defRPr>
            </a:pPr>
            <a:r>
              <a:t>•  Replacing human intuition with data-driven early warning systems for tenant risk management</a:t>
            </a:r>
          </a:p>
          <a:p>
            <a:pPr>
              <a:lnSpc>
                <a:spcPct val="130000"/>
              </a:lnSpc>
              <a:spcAft>
                <a:spcPts val="1200"/>
              </a:spcAft>
              <a:defRPr sz="1800">
                <a:solidFill>
                  <a:srgbClr val="FFFFFF"/>
                </a:solidFill>
                <a:latin typeface="Arial"/>
              </a:defRPr>
            </a:pPr>
            <a:r>
              <a:t>•  Preventing leakage costs of massive funds through rent arrears prediction &amp; CAPEX optimization</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LP Reporting</a:t>
            </a:r>
          </a:p>
          <a:p>
            <a:pPr>
              <a:spcBef>
                <a:spcPts val="1200"/>
              </a:spcBef>
              <a:defRPr sz="3200" b="1">
                <a:solidFill>
                  <a:srgbClr val="FFFFFF"/>
                </a:solidFill>
                <a:latin typeface="Arial"/>
              </a:defRPr>
            </a:pPr>
            <a:r>
              <a:t>Simultaneous Multi-Language Reporting &amp; Data Integration</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Financial Data</a:t>
            </a:r>
          </a:p>
          <a:p>
            <a:pPr>
              <a:lnSpc>
                <a:spcPct val="130000"/>
              </a:lnSpc>
              <a:spcAft>
                <a:spcPts val="1200"/>
              </a:spcAft>
              <a:defRPr sz="1800">
                <a:solidFill>
                  <a:srgbClr val="FFFFFF"/>
                </a:solidFill>
                <a:latin typeface="Arial"/>
              </a:defRPr>
            </a:pPr>
            <a:r>
              <a:t>•  ESG Data</a:t>
            </a:r>
          </a:p>
          <a:p>
            <a:pPr>
              <a:lnSpc>
                <a:spcPct val="130000"/>
              </a:lnSpc>
              <a:spcAft>
                <a:spcPts val="1200"/>
              </a:spcAft>
              <a:defRPr sz="1800">
                <a:solidFill>
                  <a:srgbClr val="FFFFFF"/>
                </a:solidFill>
                <a:latin typeface="Arial"/>
              </a:defRPr>
            </a:pPr>
            <a:r>
              <a:t>•  AI Gen</a:t>
            </a:r>
          </a:p>
          <a:p>
            <a:pPr>
              <a:lnSpc>
                <a:spcPct val="130000"/>
              </a:lnSpc>
              <a:spcAft>
                <a:spcPts val="1200"/>
              </a:spcAft>
              <a:defRPr sz="1800">
                <a:solidFill>
                  <a:srgbClr val="FFFFFF"/>
                </a:solidFill>
                <a:latin typeface="Arial"/>
              </a:defRPr>
            </a:pPr>
            <a:r>
              <a:t>•  Engine</a:t>
            </a:r>
          </a:p>
          <a:p>
            <a:pPr>
              <a:lnSpc>
                <a:spcPct val="130000"/>
              </a:lnSpc>
              <a:spcAft>
                <a:spcPts val="1200"/>
              </a:spcAft>
              <a:defRPr sz="1800">
                <a:solidFill>
                  <a:srgbClr val="FFFFFF"/>
                </a:solidFill>
                <a:latin typeface="Arial"/>
              </a:defRPr>
            </a:pPr>
            <a:r>
              <a:t>•  Real-time Generation</a:t>
            </a:r>
          </a:p>
          <a:p>
            <a:pPr>
              <a:lnSpc>
                <a:spcPct val="130000"/>
              </a:lnSpc>
              <a:spcAft>
                <a:spcPts val="1200"/>
              </a:spcAft>
              <a:defRPr sz="1800">
                <a:solidFill>
                  <a:srgbClr val="FFFFFF"/>
                </a:solidFill>
                <a:latin typeface="Arial"/>
              </a:defRPr>
            </a:pPr>
            <a:r>
              <a:t>•  English</a:t>
            </a:r>
          </a:p>
          <a:p>
            <a:pPr>
              <a:lnSpc>
                <a:spcPct val="130000"/>
              </a:lnSpc>
              <a:spcAft>
                <a:spcPts val="1200"/>
              </a:spcAft>
              <a:defRPr sz="1800">
                <a:solidFill>
                  <a:srgbClr val="FFFFFF"/>
                </a:solidFill>
                <a:latin typeface="Arial"/>
              </a:defRPr>
            </a:pPr>
            <a:r>
              <a:t>•  Korean</a:t>
            </a:r>
          </a:p>
          <a:p>
            <a:pPr>
              <a:lnSpc>
                <a:spcPct val="130000"/>
              </a:lnSpc>
              <a:spcAft>
                <a:spcPts val="1200"/>
              </a:spcAft>
              <a:defRPr sz="1800">
                <a:solidFill>
                  <a:srgbClr val="FFFFFF"/>
                </a:solidFill>
                <a:latin typeface="Arial"/>
              </a:defRPr>
            </a:pPr>
            <a:r>
              <a:t>•  Chinese</a:t>
            </a:r>
          </a:p>
          <a:p>
            <a:pPr>
              <a:lnSpc>
                <a:spcPct val="130000"/>
              </a:lnSpc>
              <a:spcAft>
                <a:spcPts val="1200"/>
              </a:spcAft>
              <a:defRPr sz="1800">
                <a:solidFill>
                  <a:srgbClr val="FFFFFF"/>
                </a:solidFill>
                <a:latin typeface="Arial"/>
              </a:defRPr>
            </a:pPr>
            <a:r>
              <a:t>•  Japanese</a:t>
            </a:r>
          </a:p>
          <a:p>
            <a:pPr>
              <a:lnSpc>
                <a:spcPct val="130000"/>
              </a:lnSpc>
              <a:spcAft>
                <a:spcPts val="1200"/>
              </a:spcAft>
              <a:defRPr sz="1800">
                <a:solidFill>
                  <a:srgbClr val="FFFFFF"/>
                </a:solidFill>
                <a:latin typeface="Arial"/>
              </a:defRPr>
            </a:pPr>
            <a:r>
              <a:t>•  Automatically aggregates financial &amp; ESG data to generate quarterly reports matching global standards</a:t>
            </a:r>
          </a:p>
          <a:p>
            <a:pPr>
              <a:lnSpc>
                <a:spcPct val="130000"/>
              </a:lnSpc>
              <a:spcAft>
                <a:spcPts val="1200"/>
              </a:spcAft>
              <a:defRPr sz="1800">
                <a:solidFill>
                  <a:srgbClr val="FFFFFF"/>
                </a:solidFill>
                <a:latin typeface="Arial"/>
              </a:defRPr>
            </a:pPr>
            <a:r>
              <a:t>•  Secures essential infra for global LP expansion by removing language barriers with simultaneous multi-lang output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IPR Project REIT Structuring</a:t>
            </a:r>
          </a:p>
          <a:p>
            <a:pPr>
              <a:spcBef>
                <a:spcPts val="1200"/>
              </a:spcBef>
              <a:defRPr sz="3200" b="1">
                <a:solidFill>
                  <a:srgbClr val="FFFFFF"/>
                </a:solidFill>
                <a:latin typeface="Arial"/>
              </a:defRPr>
            </a:pPr>
            <a:r>
              <a:t>Mega PF Scenario &amp; Sensitivity Analysis Automation</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7T KRW PF Cash Flow Tranche</a:t>
            </a:r>
          </a:p>
          <a:p>
            <a:pPr>
              <a:lnSpc>
                <a:spcPct val="130000"/>
              </a:lnSpc>
              <a:spcAft>
                <a:spcPts val="1200"/>
              </a:spcAft>
              <a:defRPr sz="1800">
                <a:solidFill>
                  <a:srgbClr val="FFFFFF"/>
                </a:solidFill>
                <a:latin typeface="Arial"/>
              </a:defRPr>
            </a:pPr>
            <a:r>
              <a:t>•  Equity (Common/Pref)</a:t>
            </a:r>
          </a:p>
          <a:p>
            <a:pPr>
              <a:lnSpc>
                <a:spcPct val="130000"/>
              </a:lnSpc>
              <a:spcAft>
                <a:spcPts val="1200"/>
              </a:spcAft>
              <a:defRPr sz="1800">
                <a:solidFill>
                  <a:srgbClr val="FFFFFF"/>
                </a:solidFill>
                <a:latin typeface="Arial"/>
              </a:defRPr>
            </a:pPr>
            <a:r>
              <a:t>•  20%</a:t>
            </a:r>
          </a:p>
          <a:p>
            <a:pPr>
              <a:lnSpc>
                <a:spcPct val="130000"/>
              </a:lnSpc>
              <a:spcAft>
                <a:spcPts val="1200"/>
              </a:spcAft>
              <a:defRPr sz="1800">
                <a:solidFill>
                  <a:srgbClr val="FFFFFF"/>
                </a:solidFill>
                <a:latin typeface="Arial"/>
              </a:defRPr>
            </a:pPr>
            <a:r>
              <a:t>•  Mezzanine Loan</a:t>
            </a:r>
          </a:p>
          <a:p>
            <a:pPr>
              <a:lnSpc>
                <a:spcPct val="130000"/>
              </a:lnSpc>
              <a:spcAft>
                <a:spcPts val="1200"/>
              </a:spcAft>
              <a:defRPr sz="1800">
                <a:solidFill>
                  <a:srgbClr val="FFFFFF"/>
                </a:solidFill>
                <a:latin typeface="Arial"/>
              </a:defRPr>
            </a:pPr>
            <a:r>
              <a:t>•  30%</a:t>
            </a:r>
          </a:p>
          <a:p>
            <a:pPr>
              <a:lnSpc>
                <a:spcPct val="130000"/>
              </a:lnSpc>
              <a:spcAft>
                <a:spcPts val="1200"/>
              </a:spcAft>
              <a:defRPr sz="1800">
                <a:solidFill>
                  <a:srgbClr val="FFFFFF"/>
                </a:solidFill>
                <a:latin typeface="Arial"/>
              </a:defRPr>
            </a:pPr>
            <a:r>
              <a:t>•  Senior Loan</a:t>
            </a:r>
          </a:p>
          <a:p>
            <a:pPr>
              <a:lnSpc>
                <a:spcPct val="130000"/>
              </a:lnSpc>
              <a:spcAft>
                <a:spcPts val="1200"/>
              </a:spcAft>
              <a:defRPr sz="1800">
                <a:solidFill>
                  <a:srgbClr val="FFFFFF"/>
                </a:solidFill>
                <a:latin typeface="Arial"/>
              </a:defRPr>
            </a:pPr>
            <a:r>
              <a:t>•  50%</a:t>
            </a:r>
          </a:p>
          <a:p>
            <a:pPr>
              <a:lnSpc>
                <a:spcPct val="130000"/>
              </a:lnSpc>
              <a:spcAft>
                <a:spcPts val="1200"/>
              </a:spcAft>
              <a:defRPr sz="1800">
                <a:solidFill>
                  <a:srgbClr val="FFFFFF"/>
                </a:solidFill>
                <a:latin typeface="Arial"/>
              </a:defRPr>
            </a:pPr>
            <a:r>
              <a:t>•  AI Sensitivity Simulator</a:t>
            </a:r>
          </a:p>
          <a:p>
            <a:pPr>
              <a:lnSpc>
                <a:spcPct val="130000"/>
              </a:lnSpc>
              <a:spcAft>
                <a:spcPts val="1200"/>
              </a:spcAft>
              <a:defRPr sz="1800">
                <a:solidFill>
                  <a:srgbClr val="FFFFFF"/>
                </a:solidFill>
                <a:latin typeface="Arial"/>
              </a:defRPr>
            </a:pPr>
            <a:r>
              <a:t>•  Auto-Sync</a:t>
            </a:r>
          </a:p>
          <a:p>
            <a:pPr>
              <a:lnSpc>
                <a:spcPct val="130000"/>
              </a:lnSpc>
              <a:spcAft>
                <a:spcPts val="1200"/>
              </a:spcAft>
              <a:defRPr sz="1800">
                <a:solidFill>
                  <a:srgbClr val="FFFFFF"/>
                </a:solidFill>
                <a:latin typeface="Arial"/>
              </a:defRPr>
            </a:pPr>
            <a:r>
              <a:t>•  Interest Rate</a:t>
            </a:r>
          </a:p>
          <a:p>
            <a:pPr>
              <a:lnSpc>
                <a:spcPct val="130000"/>
              </a:lnSpc>
              <a:spcAft>
                <a:spcPts val="1200"/>
              </a:spcAft>
              <a:defRPr sz="1800">
                <a:solidFill>
                  <a:srgbClr val="FFFFFF"/>
                </a:solidFill>
                <a:latin typeface="Arial"/>
              </a:defRPr>
            </a:pPr>
            <a:r>
              <a:t>•  Vacancy Rate</a:t>
            </a:r>
          </a:p>
          <a:p>
            <a:pPr>
              <a:lnSpc>
                <a:spcPct val="130000"/>
              </a:lnSpc>
              <a:spcAft>
                <a:spcPts val="1200"/>
              </a:spcAft>
              <a:defRPr sz="1800">
                <a:solidFill>
                  <a:srgbClr val="FFFFFF"/>
                </a:solidFill>
                <a:latin typeface="Arial"/>
              </a:defRPr>
            </a:pPr>
            <a:r>
              <a:t>•  Rent</a:t>
            </a:r>
          </a:p>
          <a:p>
            <a:pPr>
              <a:lnSpc>
                <a:spcPct val="130000"/>
              </a:lnSpc>
              <a:spcAft>
                <a:spcPts val="1200"/>
              </a:spcAft>
              <a:defRPr sz="1800">
                <a:solidFill>
                  <a:srgbClr val="FFFFFF"/>
                </a:solidFill>
                <a:latin typeface="Arial"/>
              </a:defRPr>
            </a:pPr>
            <a:r>
              <a:t>•  IPO / Exit Scenario Valuation</a:t>
            </a:r>
          </a:p>
          <a:p>
            <a:pPr>
              <a:lnSpc>
                <a:spcPct val="130000"/>
              </a:lnSpc>
              <a:spcAft>
                <a:spcPts val="1200"/>
              </a:spcAft>
              <a:defRPr sz="1800">
                <a:solidFill>
                  <a:srgbClr val="FFFFFF"/>
                </a:solidFill>
                <a:latin typeface="Arial"/>
              </a:defRPr>
            </a:pPr>
            <a:r>
              <a:t>•  Automated simulation of tranche-level cash flow and sensitivity analysis (interest, vacancy) for mega-scale (7T) PF</a:t>
            </a:r>
          </a:p>
          <a:p>
            <a:pPr>
              <a:lnSpc>
                <a:spcPct val="130000"/>
              </a:lnSpc>
              <a:spcAft>
                <a:spcPts val="1200"/>
              </a:spcAft>
              <a:defRPr sz="1800">
                <a:solidFill>
                  <a:srgbClr val="FFFFFF"/>
                </a:solidFill>
                <a:latin typeface="Arial"/>
              </a:defRPr>
            </a:pPr>
            <a:r>
              <a:t>•  Instantly responding to changing macro environments to derive optimal IPO and exit scenarios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6.</a:t>
            </a:r>
          </a:p>
          <a:p>
            <a:pPr algn="ctr">
              <a:spcBef>
                <a:spcPts val="1200"/>
              </a:spcBef>
              <a:defRPr sz="3200" b="1">
                <a:solidFill>
                  <a:srgbClr val="FFFFFF"/>
                </a:solidFill>
                <a:latin typeface="Arial"/>
              </a:defRPr>
            </a:pPr>
            <a:r>
              <a:t>Capital Structure Innovation</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Cross-over Strategy</a:t>
            </a:r>
          </a:p>
          <a:p>
            <a:pPr>
              <a:spcBef>
                <a:spcPts val="1200"/>
              </a:spcBef>
              <a:defRPr sz="3200" b="1">
                <a:solidFill>
                  <a:srgbClr val="1D1D1F"/>
                </a:solidFill>
                <a:latin typeface="Arial"/>
              </a:defRPr>
            </a:pPr>
            <a:r>
              <a:t>Integrated Investment Crossing Real Estate, Infra &amp; PE</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Asset Class Integration</a:t>
            </a:r>
          </a:p>
          <a:p>
            <a:pPr>
              <a:lnSpc>
                <a:spcPct val="130000"/>
              </a:lnSpc>
              <a:spcAft>
                <a:spcPts val="1200"/>
              </a:spcAft>
              <a:defRPr sz="1800">
                <a:solidFill>
                  <a:srgbClr val="1D1D1F"/>
                </a:solidFill>
                <a:latin typeface="Arial"/>
              </a:defRPr>
            </a:pPr>
            <a:r>
              <a:t>•  Combining Real Estate, Infra, and PE into one to create convergence synergy and Alpha.</a:t>
            </a:r>
          </a:p>
          <a:p>
            <a:pPr>
              <a:lnSpc>
                <a:spcPct val="130000"/>
              </a:lnSpc>
              <a:spcAft>
                <a:spcPts val="1200"/>
              </a:spcAft>
              <a:defRPr sz="1800">
                <a:solidFill>
                  <a:srgbClr val="1D1D1F"/>
                </a:solidFill>
                <a:latin typeface="Arial"/>
              </a:defRPr>
            </a:pPr>
            <a:r>
              <a:t>•  RE</a:t>
            </a:r>
          </a:p>
          <a:p>
            <a:pPr>
              <a:lnSpc>
                <a:spcPct val="130000"/>
              </a:lnSpc>
              <a:spcAft>
                <a:spcPts val="1200"/>
              </a:spcAft>
              <a:defRPr sz="1800">
                <a:solidFill>
                  <a:srgbClr val="1D1D1F"/>
                </a:solidFill>
                <a:latin typeface="Arial"/>
              </a:defRPr>
            </a:pPr>
            <a:r>
              <a:t>•  Infra</a:t>
            </a:r>
          </a:p>
          <a:p>
            <a:pPr>
              <a:lnSpc>
                <a:spcPct val="130000"/>
              </a:lnSpc>
              <a:spcAft>
                <a:spcPts val="1200"/>
              </a:spcAft>
              <a:defRPr sz="1800">
                <a:solidFill>
                  <a:srgbClr val="1D1D1F"/>
                </a:solidFill>
                <a:latin typeface="Arial"/>
              </a:defRPr>
            </a:pPr>
            <a:r>
              <a:t>•  PE</a:t>
            </a:r>
          </a:p>
          <a:p>
            <a:pPr>
              <a:lnSpc>
                <a:spcPct val="130000"/>
              </a:lnSpc>
              <a:spcAft>
                <a:spcPts val="1200"/>
              </a:spcAft>
              <a:defRPr sz="1800">
                <a:solidFill>
                  <a:srgbClr val="1D1D1F"/>
                </a:solidFill>
                <a:latin typeface="Arial"/>
              </a:defRPr>
            </a:pPr>
            <a:r>
              <a:t>•  블랙스톤(Blackstone)이 2014년 인프라 펀드 출시 후 AUM을 2배 도약시킨 패턴을 적용' : '💡 Benchmark: Applying Blackstone’s pattern of doubling AUM after launching its infra fund in 2014'</a:t>
            </a:r>
          </a:p>
          <a:p>
            <a:pPr>
              <a:lnSpc>
                <a:spcPct val="130000"/>
              </a:lnSpc>
              <a:spcAft>
                <a:spcPts val="1200"/>
              </a:spcAft>
              <a:defRPr sz="1800">
                <a:solidFill>
                  <a:srgbClr val="1D1D1F"/>
                </a:solidFill>
                <a:latin typeface="Arial"/>
              </a:defRPr>
            </a:pPr>
            <a:r>
              <a:t>•  1</a:t>
            </a:r>
          </a:p>
          <a:p>
            <a:pPr>
              <a:lnSpc>
                <a:spcPct val="130000"/>
              </a:lnSpc>
              <a:spcAft>
                <a:spcPts val="1200"/>
              </a:spcAft>
              <a:defRPr sz="1800">
                <a:solidFill>
                  <a:srgbClr val="1D1D1F"/>
                </a:solidFill>
                <a:latin typeface="Arial"/>
              </a:defRPr>
            </a:pPr>
            <a:r>
              <a:t>•  Data Center</a:t>
            </a:r>
          </a:p>
          <a:p>
            <a:pPr>
              <a:lnSpc>
                <a:spcPct val="130000"/>
              </a:lnSpc>
              <a:spcAft>
                <a:spcPts val="1200"/>
              </a:spcAft>
              <a:defRPr sz="1800">
                <a:solidFill>
                  <a:srgbClr val="1D1D1F"/>
                </a:solidFill>
                <a:latin typeface="Arial"/>
              </a:defRPr>
            </a:pPr>
            <a:r>
              <a:t>•  Perfect fusion of real estate and telecom infra</a:t>
            </a:r>
          </a:p>
          <a:p>
            <a:pPr>
              <a:lnSpc>
                <a:spcPct val="130000"/>
              </a:lnSpc>
              <a:spcAft>
                <a:spcPts val="1200"/>
              </a:spcAft>
              <a:defRPr sz="1800">
                <a:solidFill>
                  <a:srgbClr val="1D1D1F"/>
                </a:solidFill>
                <a:latin typeface="Arial"/>
              </a:defRPr>
            </a:pPr>
            <a:r>
              <a:t>•  2</a:t>
            </a:r>
          </a:p>
          <a:p>
            <a:pPr>
              <a:lnSpc>
                <a:spcPct val="130000"/>
              </a:lnSpc>
              <a:spcAft>
                <a:spcPts val="1200"/>
              </a:spcAft>
              <a:defRPr sz="1800">
                <a:solidFill>
                  <a:srgbClr val="1D1D1F"/>
                </a:solidFill>
                <a:latin typeface="Arial"/>
              </a:defRPr>
            </a:pPr>
            <a:r>
              <a:t>•  Renewable Infra</a:t>
            </a:r>
          </a:p>
          <a:p>
            <a:pPr>
              <a:lnSpc>
                <a:spcPct val="130000"/>
              </a:lnSpc>
              <a:spcAft>
                <a:spcPts val="1200"/>
              </a:spcAft>
              <a:defRPr sz="1800">
                <a:solidFill>
                  <a:srgbClr val="1D1D1F"/>
                </a:solidFill>
                <a:latin typeface="Arial"/>
              </a:defRPr>
            </a:pPr>
            <a:r>
              <a:t>•  Hydrogen fuel cell &amp; ESS blind funds</a:t>
            </a:r>
          </a:p>
          <a:p>
            <a:pPr>
              <a:lnSpc>
                <a:spcPct val="130000"/>
              </a:lnSpc>
              <a:spcAft>
                <a:spcPts val="1200"/>
              </a:spcAft>
              <a:defRPr sz="1800">
                <a:solidFill>
                  <a:srgbClr val="1D1D1F"/>
                </a:solidFill>
                <a:latin typeface="Arial"/>
              </a:defRPr>
            </a:pPr>
            <a:r>
              <a:t>•  3</a:t>
            </a:r>
          </a:p>
          <a:p>
            <a:pPr>
              <a:lnSpc>
                <a:spcPct val="130000"/>
              </a:lnSpc>
              <a:spcAft>
                <a:spcPts val="1200"/>
              </a:spcAft>
              <a:defRPr sz="1800">
                <a:solidFill>
                  <a:srgbClr val="1D1D1F"/>
                </a:solidFill>
                <a:latin typeface="Arial"/>
              </a:defRPr>
            </a:pPr>
            <a:r>
              <a:t>•  Senior/Healthcare</a:t>
            </a:r>
          </a:p>
          <a:p>
            <a:pPr>
              <a:lnSpc>
                <a:spcPct val="130000"/>
              </a:lnSpc>
              <a:spcAft>
                <a:spcPts val="1200"/>
              </a:spcAft>
              <a:defRPr sz="1800">
                <a:solidFill>
                  <a:srgbClr val="1D1D1F"/>
                </a:solidFill>
                <a:latin typeface="Arial"/>
              </a:defRPr>
            </a:pPr>
            <a:r>
              <a:t>•  Combining real estate space with operations (PE)</a:t>
            </a:r>
          </a:p>
          <a:p>
            <a:pPr>
              <a:lnSpc>
                <a:spcPct val="130000"/>
              </a:lnSpc>
              <a:spcAft>
                <a:spcPts val="1200"/>
              </a:spcAft>
              <a:defRPr sz="1800">
                <a:solidFill>
                  <a:srgbClr val="1D1D1F"/>
                </a:solidFill>
                <a:latin typeface="Arial"/>
              </a:defRPr>
            </a:pPr>
            <a:r>
              <a:t>•  Benchmarking Blackstone’s pattern of doubling AUM after launching an infra fund in 2014</a:t>
            </a:r>
          </a:p>
          <a:p>
            <a:pPr>
              <a:lnSpc>
                <a:spcPct val="130000"/>
              </a:lnSpc>
              <a:spcAft>
                <a:spcPts val="1200"/>
              </a:spcAft>
              <a:defRPr sz="1800">
                <a:solidFill>
                  <a:srgbClr val="1D1D1F"/>
                </a:solidFill>
                <a:latin typeface="Arial"/>
              </a:defRPr>
            </a:pPr>
            <a:r>
              <a:t>•  IGIS also pre-empts high-return Alpha generated at the boundaries (Cross-over) between asset classes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SWF Partnership &amp; Insurer Capital</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Matching Long-Duration Capital with Trophy Assets</a:t>
            </a:r>
          </a:p>
          <a:p>
            <a:pPr>
              <a:lnSpc>
                <a:spcPct val="130000"/>
              </a:lnSpc>
              <a:spcAft>
                <a:spcPts val="1200"/>
              </a:spcAft>
              <a:defRPr sz="1800">
                <a:solidFill>
                  <a:srgbClr val="1D1D1F"/>
                </a:solidFill>
                <a:latin typeface="Arial"/>
              </a:defRPr>
            </a:pPr>
            <a:r>
              <a:t>•  Sovereign Wealth Funds (SWF)</a:t>
            </a:r>
          </a:p>
          <a:p>
            <a:pPr>
              <a:lnSpc>
                <a:spcPct val="130000"/>
              </a:lnSpc>
              <a:spcAft>
                <a:spcPts val="1200"/>
              </a:spcAft>
              <a:defRPr sz="1800">
                <a:solidFill>
                  <a:srgbClr val="1D1D1F"/>
                </a:solidFill>
                <a:latin typeface="Arial"/>
              </a:defRPr>
            </a:pPr>
            <a:r>
              <a:t>•  Partnerships with top-tier institutions holding massive capital (ADIA, PIF, GIC)</a:t>
            </a:r>
          </a:p>
          <a:p>
            <a:pPr>
              <a:lnSpc>
                <a:spcPct val="130000"/>
              </a:lnSpc>
              <a:spcAft>
                <a:spcPts val="1200"/>
              </a:spcAft>
              <a:defRPr sz="1800">
                <a:solidFill>
                  <a:srgbClr val="1D1D1F"/>
                </a:solidFill>
                <a:latin typeface="Arial"/>
              </a:defRPr>
            </a:pPr>
            <a:r>
              <a:t>•  Global &amp; Domestic Insurers</a:t>
            </a:r>
          </a:p>
          <a:p>
            <a:pPr>
              <a:lnSpc>
                <a:spcPct val="130000"/>
              </a:lnSpc>
              <a:spcAft>
                <a:spcPts val="1200"/>
              </a:spcAft>
              <a:defRPr sz="1800">
                <a:solidFill>
                  <a:srgbClr val="1D1D1F"/>
                </a:solidFill>
                <a:latin typeface="Arial"/>
              </a:defRPr>
            </a:pPr>
            <a:r>
              <a:t>•  삼성생명 · 교보생명 · 한화생명' : 'Domestic: Samsung Life · Kyobo · Hanwha'</a:t>
            </a:r>
          </a:p>
          <a:p>
            <a:pPr>
              <a:lnSpc>
                <a:spcPct val="130000"/>
              </a:lnSpc>
              <a:spcAft>
                <a:spcPts val="1200"/>
              </a:spcAft>
              <a:defRPr sz="1800">
                <a:solidFill>
                  <a:srgbClr val="1D1D1F"/>
                </a:solidFill>
                <a:latin typeface="Arial"/>
              </a:defRPr>
            </a:pPr>
            <a:r>
              <a:t>•  Allianz · AXA · MetLife' : 'Global: Allianz · AXA · MetLife'</a:t>
            </a:r>
          </a:p>
          <a:p>
            <a:pPr>
              <a:lnSpc>
                <a:spcPct val="130000"/>
              </a:lnSpc>
              <a:spcAft>
                <a:spcPts val="1200"/>
              </a:spcAft>
              <a:defRPr sz="1800">
                <a:solidFill>
                  <a:srgbClr val="1D1D1F"/>
                </a:solidFill>
                <a:latin typeface="Arial"/>
              </a:defRPr>
            </a:pPr>
            <a:r>
              <a:t>•  Long-Duration</a:t>
            </a:r>
          </a:p>
          <a:p>
            <a:pPr>
              <a:lnSpc>
                <a:spcPct val="130000"/>
              </a:lnSpc>
              <a:spcAft>
                <a:spcPts val="1200"/>
              </a:spcAft>
              <a:defRPr sz="1800">
                <a:solidFill>
                  <a:srgbClr val="1D1D1F"/>
                </a:solidFill>
                <a:latin typeface="Arial"/>
              </a:defRPr>
            </a:pPr>
            <a:r>
              <a:t>•  Capital</a:t>
            </a:r>
          </a:p>
          <a:p>
            <a:pPr>
              <a:lnSpc>
                <a:spcPct val="130000"/>
              </a:lnSpc>
              <a:spcAft>
                <a:spcPts val="1200"/>
              </a:spcAft>
              <a:defRPr sz="1800">
                <a:solidFill>
                  <a:srgbClr val="1D1D1F"/>
                </a:solidFill>
                <a:latin typeface="Arial"/>
              </a:defRPr>
            </a:pPr>
            <a:r>
              <a:t>•  Target Destination</a:t>
            </a:r>
          </a:p>
          <a:p>
            <a:pPr>
              <a:lnSpc>
                <a:spcPct val="130000"/>
              </a:lnSpc>
              <a:spcAft>
                <a:spcPts val="1200"/>
              </a:spcAft>
              <a:defRPr sz="1800">
                <a:solidFill>
                  <a:srgbClr val="1D1D1F"/>
                </a:solidFill>
                <a:latin typeface="Arial"/>
              </a:defRPr>
            </a:pPr>
            <a:r>
              <a:t>•  Trophy Assets</a:t>
            </a:r>
          </a:p>
          <a:p>
            <a:pPr>
              <a:lnSpc>
                <a:spcPct val="130000"/>
              </a:lnSpc>
              <a:spcAft>
                <a:spcPts val="1200"/>
              </a:spcAft>
              <a:defRPr sz="1800">
                <a:solidFill>
                  <a:srgbClr val="1D1D1F"/>
                </a:solidFill>
                <a:latin typeface="Arial"/>
              </a:defRPr>
            </a:pPr>
            <a:r>
              <a:t>•  Core Equity</a:t>
            </a:r>
          </a:p>
          <a:p>
            <a:pPr>
              <a:lnSpc>
                <a:spcPct val="130000"/>
              </a:lnSpc>
              <a:spcAft>
                <a:spcPts val="1200"/>
              </a:spcAft>
              <a:defRPr sz="1800">
                <a:solidFill>
                  <a:srgbClr val="1D1D1F"/>
                </a:solidFill>
                <a:latin typeface="Arial"/>
              </a:defRPr>
            </a:pPr>
            <a:r>
              <a:t>•  Stable Return</a:t>
            </a:r>
          </a:p>
          <a:p>
            <a:pPr>
              <a:lnSpc>
                <a:spcPct val="130000"/>
              </a:lnSpc>
              <a:spcAft>
                <a:spcPts val="1200"/>
              </a:spcAft>
              <a:defRPr sz="1800">
                <a:solidFill>
                  <a:srgbClr val="1D1D1F"/>
                </a:solidFill>
                <a:latin typeface="Arial"/>
              </a:defRPr>
            </a:pPr>
            <a:r>
              <a:t>•  Senior Debt</a:t>
            </a:r>
          </a:p>
          <a:p>
            <a:pPr>
              <a:lnSpc>
                <a:spcPct val="130000"/>
              </a:lnSpc>
              <a:spcAft>
                <a:spcPts val="1200"/>
              </a:spcAft>
              <a:defRPr sz="1800">
                <a:solidFill>
                  <a:srgbClr val="1D1D1F"/>
                </a:solidFill>
                <a:latin typeface="Arial"/>
              </a:defRPr>
            </a:pPr>
            <a:r>
              <a:t>•  Capital Protection</a:t>
            </a:r>
          </a:p>
          <a:p>
            <a:pPr>
              <a:lnSpc>
                <a:spcPct val="130000"/>
              </a:lnSpc>
              <a:spcAft>
                <a:spcPts val="1200"/>
              </a:spcAft>
              <a:defRPr sz="1800">
                <a:solidFill>
                  <a:srgbClr val="1D1D1F"/>
                </a:solidFill>
                <a:latin typeface="Arial"/>
              </a:defRPr>
            </a:pPr>
            <a:r>
              <a:t>•  Accurately targeting the long-duration needs characteristic of insurance capital</a:t>
            </a:r>
          </a:p>
          <a:p>
            <a:pPr>
              <a:lnSpc>
                <a:spcPct val="130000"/>
              </a:lnSpc>
              <a:spcAft>
                <a:spcPts val="1200"/>
              </a:spcAft>
              <a:defRPr sz="1800">
                <a:solidFill>
                  <a:srgbClr val="1D1D1F"/>
                </a:solidFill>
                <a:latin typeface="Arial"/>
              </a:defRPr>
            </a:pPr>
            <a:r>
              <a:t>•  Optimized for senior debt and core equity of urban trophy assets ensuring stable dividends and capital protection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Family Office &amp; Pension Fund Partnerships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Strategic Alliance of New Capital Pools &amp; Mega Pensions</a:t>
            </a:r>
          </a:p>
          <a:p>
            <a:pPr>
              <a:lnSpc>
                <a:spcPct val="130000"/>
              </a:lnSpc>
              <a:spcAft>
                <a:spcPts val="1200"/>
              </a:spcAft>
              <a:defRPr sz="1800">
                <a:solidFill>
                  <a:srgbClr val="FFFFFF"/>
                </a:solidFill>
                <a:latin typeface="Arial"/>
              </a:defRPr>
            </a:pPr>
            <a:r>
              <a:t>•  Emerging Family Office</a:t>
            </a:r>
          </a:p>
          <a:p>
            <a:pPr>
              <a:lnSpc>
                <a:spcPct val="130000"/>
              </a:lnSpc>
              <a:spcAft>
                <a:spcPts val="1200"/>
              </a:spcAft>
              <a:defRPr sz="1800">
                <a:solidFill>
                  <a:srgbClr val="FFFFFF"/>
                </a:solidFill>
                <a:latin typeface="Arial"/>
              </a:defRPr>
            </a:pPr>
            <a:r>
              <a:t>•  Korea\'s Emerging Tech Wealth</a:t>
            </a:r>
          </a:p>
          <a:p>
            <a:pPr>
              <a:lnSpc>
                <a:spcPct val="130000"/>
              </a:lnSpc>
              <a:spcAft>
                <a:spcPts val="1200"/>
              </a:spcAft>
              <a:defRPr sz="1800">
                <a:solidFill>
                  <a:srgbClr val="FFFFFF"/>
                </a:solidFill>
                <a:latin typeface="Arial"/>
              </a:defRPr>
            </a:pPr>
            <a:r>
              <a:t>•  Coupang</a:t>
            </a:r>
          </a:p>
          <a:p>
            <a:pPr>
              <a:lnSpc>
                <a:spcPct val="130000"/>
              </a:lnSpc>
              <a:spcAft>
                <a:spcPts val="1200"/>
              </a:spcAft>
              <a:defRPr sz="1800">
                <a:solidFill>
                  <a:srgbClr val="FFFFFF"/>
                </a:solidFill>
                <a:latin typeface="Arial"/>
              </a:defRPr>
            </a:pPr>
            <a:r>
              <a:t>•  HYBE</a:t>
            </a:r>
          </a:p>
          <a:p>
            <a:pPr>
              <a:lnSpc>
                <a:spcPct val="130000"/>
              </a:lnSpc>
              <a:spcAft>
                <a:spcPts val="1200"/>
              </a:spcAft>
              <a:defRPr sz="1800">
                <a:solidFill>
                  <a:srgbClr val="FFFFFF"/>
                </a:solidFill>
                <a:latin typeface="Arial"/>
              </a:defRPr>
            </a:pPr>
            <a:r>
              <a:t>•  Celltrion</a:t>
            </a:r>
          </a:p>
          <a:p>
            <a:pPr>
              <a:lnSpc>
                <a:spcPct val="130000"/>
              </a:lnSpc>
              <a:spcAft>
                <a:spcPts val="1200"/>
              </a:spcAft>
              <a:defRPr sz="1800">
                <a:solidFill>
                  <a:srgbClr val="FFFFFF"/>
                </a:solidFill>
                <a:latin typeface="Arial"/>
              </a:defRPr>
            </a:pPr>
            <a:r>
              <a:t>•  Kakao</a:t>
            </a:r>
          </a:p>
          <a:p>
            <a:pPr>
              <a:lnSpc>
                <a:spcPct val="130000"/>
              </a:lnSpc>
              <a:spcAft>
                <a:spcPts val="1200"/>
              </a:spcAft>
              <a:defRPr sz="1800">
                <a:solidFill>
                  <a:srgbClr val="FFFFFF"/>
                </a:solidFill>
                <a:latin typeface="Arial"/>
              </a:defRPr>
            </a:pPr>
            <a:r>
              <a:t>•  Massive new capital pool from tech founders over the next 5 years</a:t>
            </a:r>
          </a:p>
          <a:p>
            <a:pPr>
              <a:lnSpc>
                <a:spcPct val="130000"/>
              </a:lnSpc>
              <a:spcAft>
                <a:spcPts val="1200"/>
              </a:spcAft>
              <a:defRPr sz="1800">
                <a:solidFill>
                  <a:srgbClr val="FFFFFF"/>
                </a:solidFill>
                <a:latin typeface="Arial"/>
              </a:defRPr>
            </a:pPr>
            <a:r>
              <a:t>•  Mega Public Pensions</a:t>
            </a:r>
          </a:p>
          <a:p>
            <a:pPr>
              <a:lnSpc>
                <a:spcPct val="130000"/>
              </a:lnSpc>
              <a:spcAft>
                <a:spcPts val="1200"/>
              </a:spcAft>
              <a:defRPr sz="1800">
                <a:solidFill>
                  <a:srgbClr val="FFFFFF"/>
                </a:solidFill>
                <a:latin typeface="Arial"/>
              </a:defRPr>
            </a:pPr>
            <a:r>
              <a:t>•  Sovereign-backed Mega Pensions</a:t>
            </a:r>
          </a:p>
          <a:p>
            <a:pPr>
              <a:lnSpc>
                <a:spcPct val="130000"/>
              </a:lnSpc>
              <a:spcAft>
                <a:spcPts val="1200"/>
              </a:spcAft>
              <a:defRPr sz="1800">
                <a:solidFill>
                  <a:srgbClr val="FFFFFF"/>
                </a:solidFill>
                <a:latin typeface="Arial"/>
              </a:defRPr>
            </a:pPr>
            <a:r>
              <a:t>•  NPS (National Pension Service)</a:t>
            </a:r>
          </a:p>
          <a:p>
            <a:pPr>
              <a:lnSpc>
                <a:spcPct val="130000"/>
              </a:lnSpc>
              <a:spcAft>
                <a:spcPts val="1200"/>
              </a:spcAft>
              <a:defRPr sz="1800">
                <a:solidFill>
                  <a:srgbClr val="FFFFFF"/>
                </a:solidFill>
                <a:latin typeface="Arial"/>
              </a:defRPr>
            </a:pPr>
            <a:r>
              <a:t>•  2026 AUM ~1,200T KRW</a:t>
            </a:r>
          </a:p>
          <a:p>
            <a:pPr>
              <a:lnSpc>
                <a:spcPct val="130000"/>
              </a:lnSpc>
              <a:spcAft>
                <a:spcPts val="1200"/>
              </a:spcAft>
              <a:defRPr sz="1800">
                <a:solidFill>
                  <a:srgbClr val="FFFFFF"/>
                </a:solidFill>
                <a:latin typeface="Arial"/>
              </a:defRPr>
            </a:pPr>
            <a:r>
              <a:t>•  KTCU</a:t>
            </a:r>
          </a:p>
          <a:p>
            <a:pPr>
              <a:lnSpc>
                <a:spcPct val="130000"/>
              </a:lnSpc>
              <a:spcAft>
                <a:spcPts val="1200"/>
              </a:spcAft>
              <a:defRPr sz="1800">
                <a:solidFill>
                  <a:srgbClr val="FFFFFF"/>
                </a:solidFill>
                <a:latin typeface="Arial"/>
              </a:defRPr>
            </a:pPr>
            <a:r>
              <a:t>•  POBA</a:t>
            </a:r>
          </a:p>
          <a:p>
            <a:pPr>
              <a:lnSpc>
                <a:spcPct val="130000"/>
              </a:lnSpc>
              <a:spcAft>
                <a:spcPts val="1200"/>
              </a:spcAft>
              <a:defRPr sz="1800">
                <a:solidFill>
                  <a:srgbClr val="FFFFFF"/>
                </a:solidFill>
                <a:latin typeface="Arial"/>
              </a:defRPr>
            </a:pPr>
            <a:r>
              <a:t>•  Korea Post</a:t>
            </a:r>
          </a:p>
          <a:p>
            <a:pPr>
              <a:lnSpc>
                <a:spcPct val="130000"/>
              </a:lnSpc>
              <a:spcAft>
                <a:spcPts val="1200"/>
              </a:spcAft>
              <a:defRPr sz="1800">
                <a:solidFill>
                  <a:srgbClr val="FFFFFF"/>
                </a:solidFill>
                <a:latin typeface="Arial"/>
              </a:defRPr>
            </a:pPr>
            <a:r>
              <a:t>•  KFCC</a:t>
            </a:r>
          </a:p>
          <a:p>
            <a:pPr>
              <a:lnSpc>
                <a:spcPct val="130000"/>
              </a:lnSpc>
              <a:spcAft>
                <a:spcPts val="1200"/>
              </a:spcAft>
              <a:defRPr sz="1800">
                <a:solidFill>
                  <a:srgbClr val="FFFFFF"/>
                </a:solidFill>
                <a:latin typeface="Arial"/>
              </a:defRPr>
            </a:pPr>
            <a:r>
              <a:t>•  Perfect alignment: NPS overseas expansion ↔ IGIS Global Funds</a:t>
            </a:r>
          </a:p>
          <a:p>
            <a:pPr>
              <a:lnSpc>
                <a:spcPct val="130000"/>
              </a:lnSpc>
              <a:spcAft>
                <a:spcPts val="1200"/>
              </a:spcAft>
              <a:defRPr sz="1800">
                <a:solidFill>
                  <a:srgbClr val="FFFFFF"/>
                </a:solidFill>
                <a:latin typeface="Arial"/>
              </a:defRPr>
            </a:pPr>
            <a:r>
              <a:t>•  Dual-engagement strategy encompassing traditional mega-institutions and emerging tech wealth</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7.</a:t>
            </a:r>
          </a:p>
          <a:p>
            <a:pPr algn="ctr">
              <a:spcBef>
                <a:spcPts val="1200"/>
              </a:spcBef>
              <a:defRPr sz="3200" b="1">
                <a:solidFill>
                  <a:srgbClr val="FFFFFF"/>
                </a:solidFill>
                <a:latin typeface="Arial"/>
              </a:defRPr>
            </a:pPr>
            <a:r>
              <a:t>Governance Taekwang Acquisition &amp; Human Capital</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Ownership Transition</a:t>
            </a:r>
          </a:p>
          <a:p>
            <a:pPr>
              <a:spcBef>
                <a:spcPts val="1200"/>
              </a:spcBef>
              <a:defRPr sz="3200" b="1">
                <a:solidFill>
                  <a:srgbClr val="1D1D1F"/>
                </a:solidFill>
                <a:latin typeface="Arial"/>
              </a:defRPr>
            </a:pPr>
            <a:r>
              <a:t>Major Turning Point: From Family to Institutional Ownership</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Family Ownership</a:t>
            </a:r>
          </a:p>
          <a:p>
            <a:pPr>
              <a:lnSpc>
                <a:spcPct val="130000"/>
              </a:lnSpc>
              <a:spcAft>
                <a:spcPts val="1200"/>
              </a:spcAft>
              <a:defRPr sz="1800">
                <a:solidFill>
                  <a:srgbClr val="1D1D1F"/>
                </a:solidFill>
                <a:latin typeface="Arial"/>
              </a:defRPr>
            </a:pPr>
            <a:r>
              <a:t>•  Founder legacy &amp; family-centric operation (12.4% inherited stake)</a:t>
            </a:r>
          </a:p>
          <a:p>
            <a:pPr>
              <a:lnSpc>
                <a:spcPct val="130000"/>
              </a:lnSpc>
              <a:spcAft>
                <a:spcPts val="1200"/>
              </a:spcAft>
              <a:defRPr sz="1800">
                <a:solidFill>
                  <a:srgbClr val="1D1D1F"/>
                </a:solidFill>
                <a:latin typeface="Arial"/>
              </a:defRPr>
            </a:pPr>
            <a:r>
              <a:t>•  Institutional Ownership</a:t>
            </a:r>
          </a:p>
          <a:p>
            <a:pPr>
              <a:lnSpc>
                <a:spcPct val="130000"/>
              </a:lnSpc>
              <a:spcAft>
                <a:spcPts val="1200"/>
              </a:spcAft>
              <a:defRPr sz="1800">
                <a:solidFill>
                  <a:srgbClr val="1D1D1F"/>
                </a:solidFill>
                <a:latin typeface="Arial"/>
              </a:defRPr>
            </a:pPr>
            <a:r>
              <a:t>•  Establishment of institutional structure via Taekwang, Hanwha bids</a:t>
            </a:r>
          </a:p>
          <a:p>
            <a:pPr>
              <a:lnSpc>
                <a:spcPct val="130000"/>
              </a:lnSpc>
              <a:spcAft>
                <a:spcPts val="1200"/>
              </a:spcAft>
              <a:defRPr sz="1800">
                <a:solidFill>
                  <a:srgbClr val="1D1D1F"/>
                </a:solidFill>
                <a:latin typeface="Arial"/>
              </a:defRPr>
            </a:pPr>
            <a:r>
              <a:t>•  Enterprise value ~KRW 800B. Not just M&amp;A, but the next evolution of IGIS brand.</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Core Risks &amp; Responses (Retention &amp; Dual-Management)</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Protecting Core Capital: 'Talent' &amp; 'Track Record'</a:t>
            </a:r>
          </a:p>
          <a:p>
            <a:pPr>
              <a:lnSpc>
                <a:spcPct val="130000"/>
              </a:lnSpc>
              <a:spcAft>
                <a:spcPts val="1200"/>
              </a:spcAft>
              <a:defRPr sz="1800">
                <a:solidFill>
                  <a:srgbClr val="1D1D1F"/>
                </a:solidFill>
                <a:latin typeface="Arial"/>
              </a:defRPr>
            </a:pPr>
            <a:r>
              <a:t>•  Opportunity</a:t>
            </a:r>
          </a:p>
          <a:p>
            <a:pPr>
              <a:lnSpc>
                <a:spcPct val="130000"/>
              </a:lnSpc>
              <a:spcAft>
                <a:spcPts val="1200"/>
              </a:spcAft>
              <a:defRPr sz="1800">
                <a:solidFill>
                  <a:srgbClr val="1D1D1F"/>
                </a:solidFill>
                <a:latin typeface="Arial"/>
              </a:defRPr>
            </a:pPr>
            <a:r>
              <a:t>•  Expanding Global LP Trust</a:t>
            </a:r>
          </a:p>
          <a:p>
            <a:pPr>
              <a:lnSpc>
                <a:spcPct val="130000"/>
              </a:lnSpc>
              <a:spcAft>
                <a:spcPts val="1200"/>
              </a:spcAft>
              <a:defRPr sz="1800">
                <a:solidFill>
                  <a:srgbClr val="1D1D1F"/>
                </a:solidFill>
                <a:latin typeface="Arial"/>
              </a:defRPr>
            </a:pPr>
            <a:r>
              <a:t>•  Transition to Institutional Ownership acts as a clear signal of transparent governance for global investors.</a:t>
            </a:r>
          </a:p>
          <a:p>
            <a:pPr>
              <a:lnSpc>
                <a:spcPct val="130000"/>
              </a:lnSpc>
              <a:spcAft>
                <a:spcPts val="1200"/>
              </a:spcAft>
              <a:defRPr sz="1800">
                <a:solidFill>
                  <a:srgbClr val="1D1D1F"/>
                </a:solidFill>
                <a:latin typeface="Arial"/>
              </a:defRPr>
            </a:pPr>
            <a:r>
              <a:t>•  Core Risk</a:t>
            </a:r>
          </a:p>
          <a:p>
            <a:pPr>
              <a:lnSpc>
                <a:spcPct val="130000"/>
              </a:lnSpc>
              <a:spcAft>
                <a:spcPts val="1200"/>
              </a:spcAft>
              <a:defRPr sz="1800">
                <a:solidFill>
                  <a:srgbClr val="1D1D1F"/>
                </a:solidFill>
                <a:latin typeface="Arial"/>
              </a:defRPr>
            </a:pPr>
            <a:r>
              <a:t>•  Key Talent Retention Risk</a:t>
            </a:r>
          </a:p>
          <a:p>
            <a:pPr>
              <a:lnSpc>
                <a:spcPct val="130000"/>
              </a:lnSpc>
              <a:spcAft>
                <a:spcPts val="1200"/>
              </a:spcAft>
              <a:defRPr sz="1800">
                <a:solidFill>
                  <a:srgbClr val="1D1D1F"/>
                </a:solidFill>
                <a:latin typeface="Arial"/>
              </a:defRPr>
            </a:pPr>
            <a:r>
              <a:t>•  An asset manager\'s value is its people. Guaranteeing operational autonomy and robust retention design will dictate brand value for the next 5 years.</a:t>
            </a:r>
          </a:p>
          <a:p>
            <a:pPr>
              <a:lnSpc>
                <a:spcPct val="130000"/>
              </a:lnSpc>
              <a:spcAft>
                <a:spcPts val="1200"/>
              </a:spcAft>
              <a:defRPr sz="1800">
                <a:solidFill>
                  <a:srgbClr val="1D1D1F"/>
                </a:solidFill>
                <a:latin typeface="Arial"/>
              </a:defRPr>
            </a:pPr>
            <a:r>
              <a:t>•  Securing a Dual-Management structure for talent retention is essential.</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Political Variables in Buyer Selection (Political &amp; Security Risks)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Security Perspectives on Operating Critical Infrastructure</a:t>
            </a:r>
          </a:p>
          <a:p>
            <a:pPr>
              <a:lnSpc>
                <a:spcPct val="130000"/>
              </a:lnSpc>
              <a:spcAft>
                <a:spcPts val="1200"/>
              </a:spcAft>
              <a:defRPr sz="1800">
                <a:solidFill>
                  <a:srgbClr val="1D1D1F"/>
                </a:solidFill>
                <a:latin typeface="Arial"/>
              </a:defRPr>
            </a:pPr>
            <a:r>
              <a:t>•  High Political Risk</a:t>
            </a:r>
          </a:p>
          <a:p>
            <a:pPr>
              <a:lnSpc>
                <a:spcPct val="130000"/>
              </a:lnSpc>
              <a:spcAft>
                <a:spcPts val="1200"/>
              </a:spcAft>
              <a:defRPr sz="1800">
                <a:solidFill>
                  <a:srgbClr val="1D1D1F"/>
                </a:solidFill>
                <a:latin typeface="Arial"/>
              </a:defRPr>
            </a:pPr>
            <a:r>
              <a:t>•  Chinese Capital (e.g., Hillhouse)</a:t>
            </a:r>
          </a:p>
          <a:p>
            <a:pPr>
              <a:lnSpc>
                <a:spcPct val="130000"/>
              </a:lnSpc>
              <a:spcAft>
                <a:spcPts val="1200"/>
              </a:spcAft>
              <a:defRPr sz="1800">
                <a:solidFill>
                  <a:srgbClr val="1D1D1F"/>
                </a:solidFill>
                <a:latin typeface="Arial"/>
              </a:defRPr>
            </a:pPr>
            <a:r>
              <a:t>•  Given the nature of critical infrastructure like data centers and logistics, acquisition by foreign/Chinese capital presents high political and national security risks.</a:t>
            </a:r>
          </a:p>
          <a:p>
            <a:pPr>
              <a:lnSpc>
                <a:spcPct val="130000"/>
              </a:lnSpc>
              <a:spcAft>
                <a:spcPts val="1200"/>
              </a:spcAft>
              <a:defRPr sz="1800">
                <a:solidFill>
                  <a:srgbClr val="1D1D1F"/>
                </a:solidFill>
                <a:latin typeface="Arial"/>
              </a:defRPr>
            </a:pPr>
            <a:r>
              <a:t>•  Politically Stable</a:t>
            </a:r>
          </a:p>
          <a:p>
            <a:pPr>
              <a:lnSpc>
                <a:spcPct val="130000"/>
              </a:lnSpc>
              <a:spcAft>
                <a:spcPts val="1200"/>
              </a:spcAft>
              <a:defRPr sz="1800">
                <a:solidFill>
                  <a:srgbClr val="1D1D1F"/>
                </a:solidFill>
                <a:latin typeface="Arial"/>
              </a:defRPr>
            </a:pPr>
            <a:r>
              <a:t>•  Domestic Industrial &amp; Multi-national Institutions</a:t>
            </a:r>
          </a:p>
          <a:p>
            <a:pPr>
              <a:lnSpc>
                <a:spcPct val="130000"/>
              </a:lnSpc>
              <a:spcAft>
                <a:spcPts val="1200"/>
              </a:spcAft>
              <a:defRPr sz="1800">
                <a:solidFill>
                  <a:srgbClr val="1D1D1F"/>
                </a:solidFill>
                <a:latin typeface="Arial"/>
              </a:defRPr>
            </a:pPr>
            <a:r>
              <a:t>•  Consequently, domestic industrial capital like Taekwang and Hanwha, or multinational institutional capital like GIC and Brookfield, are politically stable alternatives.</a:t>
            </a:r>
          </a:p>
          <a:p>
            <a:pPr>
              <a:lnSpc>
                <a:spcPct val="130000"/>
              </a:lnSpc>
              <a:spcAft>
                <a:spcPts val="1200"/>
              </a:spcAft>
              <a:defRPr sz="1800">
                <a:solidFill>
                  <a:srgbClr val="1D1D1F"/>
                </a:solidFill>
                <a:latin typeface="Arial"/>
              </a:defRPr>
            </a:pPr>
            <a:r>
              <a:t>•  Given the national security importance of IGIS\'s portfolio, this will act as a key variable in acquirer selection.</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Part 4.</a:t>
            </a:r>
          </a:p>
          <a:p>
            <a:pPr algn="ctr">
              <a:spcBef>
                <a:spcPts val="1200"/>
              </a:spcBef>
              <a:defRPr sz="3200" b="1">
                <a:solidFill>
                  <a:srgbClr val="FFFFFF"/>
                </a:solidFill>
                <a:latin typeface="Arial"/>
              </a:defRPr>
            </a:pPr>
            <a:r>
              <a:t>Role of IOTA Seoul</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1.</a:t>
            </a:r>
          </a:p>
          <a:p>
            <a:pPr algn="ctr">
              <a:spcBef>
                <a:spcPts val="1200"/>
              </a:spcBef>
              <a:defRPr sz="3200" b="1">
                <a:solidFill>
                  <a:srgbClr val="FFFFFF"/>
                </a:solidFill>
                <a:latin typeface="Arial"/>
              </a:defRPr>
            </a:pPr>
            <a:r>
              <a:t>Macro &amp; Urban Positioning</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Turning Point for Global Urban Hierarchy</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Korean Application of Global Hub Redevelopment Patterns</a:t>
            </a:r>
          </a:p>
          <a:p>
            <a:pPr>
              <a:lnSpc>
                <a:spcPct val="130000"/>
              </a:lnSpc>
              <a:spcAft>
                <a:spcPts val="1200"/>
              </a:spcAft>
              <a:defRPr sz="1800">
                <a:solidFill>
                  <a:srgbClr val="1D1D1F"/>
                </a:solidFill>
                <a:latin typeface="Arial"/>
              </a:defRPr>
            </a:pPr>
            <a:r>
              <a:t>•  Tokyo</a:t>
            </a:r>
          </a:p>
          <a:p>
            <a:pPr>
              <a:lnSpc>
                <a:spcPct val="130000"/>
              </a:lnSpc>
              <a:spcAft>
                <a:spcPts val="1200"/>
              </a:spcAft>
              <a:defRPr sz="1800">
                <a:solidFill>
                  <a:srgbClr val="1D1D1F"/>
                </a:solidFill>
                <a:latin typeface="Arial"/>
              </a:defRPr>
            </a:pPr>
            <a:r>
              <a:t>•  Marunouchi Redevelopment</a:t>
            </a:r>
          </a:p>
          <a:p>
            <a:pPr>
              <a:lnSpc>
                <a:spcPct val="130000"/>
              </a:lnSpc>
              <a:spcAft>
                <a:spcPts val="1200"/>
              </a:spcAft>
              <a:defRPr sz="1800">
                <a:solidFill>
                  <a:srgbClr val="1D1D1F"/>
                </a:solidFill>
                <a:latin typeface="Arial"/>
              </a:defRPr>
            </a:pPr>
            <a:r>
              <a:t>•  Redeveloped over a generation by Mitsubishi Estate since the 1990s, solidifying its status as a global financial hub.</a:t>
            </a:r>
          </a:p>
          <a:p>
            <a:pPr>
              <a:lnSpc>
                <a:spcPct val="130000"/>
              </a:lnSpc>
              <a:spcAft>
                <a:spcPts val="1200"/>
              </a:spcAft>
              <a:defRPr sz="1800">
                <a:solidFill>
                  <a:srgbClr val="1D1D1F"/>
                </a:solidFill>
                <a:latin typeface="Arial"/>
              </a:defRPr>
            </a:pPr>
            <a:r>
              <a:t>•  London</a:t>
            </a:r>
          </a:p>
          <a:p>
            <a:pPr>
              <a:lnSpc>
                <a:spcPct val="130000"/>
              </a:lnSpc>
              <a:spcAft>
                <a:spcPts val="1200"/>
              </a:spcAft>
              <a:defRPr sz="1800">
                <a:solidFill>
                  <a:srgbClr val="1D1D1F"/>
                </a:solidFill>
                <a:latin typeface="Arial"/>
              </a:defRPr>
            </a:pPr>
            <a:r>
              <a:t>•  King's Cross / St Pancras</a:t>
            </a:r>
          </a:p>
          <a:p>
            <a:pPr>
              <a:lnSpc>
                <a:spcPct val="130000"/>
              </a:lnSpc>
              <a:spcAft>
                <a:spcPts val="1200"/>
              </a:spcAft>
              <a:defRPr sz="1800">
                <a:solidFill>
                  <a:srgbClr val="1D1D1F"/>
                </a:solidFill>
                <a:latin typeface="Arial"/>
              </a:defRPr>
            </a:pPr>
            <a:r>
              <a:t>•  Redeveloped in the mid-2000s, attracting global headquarters like Google, Meta, and AstraZeneca.</a:t>
            </a:r>
          </a:p>
          <a:p>
            <a:pPr>
              <a:lnSpc>
                <a:spcPct val="130000"/>
              </a:lnSpc>
              <a:spcAft>
                <a:spcPts val="1200"/>
              </a:spcAft>
              <a:defRPr sz="1800">
                <a:solidFill>
                  <a:srgbClr val="1D1D1F"/>
                </a:solidFill>
                <a:latin typeface="Arial"/>
              </a:defRPr>
            </a:pPr>
            <a:r>
              <a:t>•  New York</a:t>
            </a:r>
          </a:p>
          <a:p>
            <a:pPr>
              <a:lnSpc>
                <a:spcPct val="130000"/>
              </a:lnSpc>
              <a:spcAft>
                <a:spcPts val="1200"/>
              </a:spcAft>
              <a:defRPr sz="1800">
                <a:solidFill>
                  <a:srgbClr val="1D1D1F"/>
                </a:solidFill>
                <a:latin typeface="Arial"/>
              </a:defRPr>
            </a:pPr>
            <a:r>
              <a:t>•  One Vanderbilt</a:t>
            </a:r>
          </a:p>
          <a:p>
            <a:pPr>
              <a:lnSpc>
                <a:spcPct val="130000"/>
              </a:lnSpc>
              <a:spcAft>
                <a:spcPts val="1200"/>
              </a:spcAft>
              <a:defRPr sz="1800">
                <a:solidFill>
                  <a:srgbClr val="1D1D1F"/>
                </a:solidFill>
                <a:latin typeface="Arial"/>
              </a:defRPr>
            </a:pPr>
            <a:r>
              <a:t>•  Redefined the Grand Central area in 2020, implementing a Transit-Oriented Vertical City.</a:t>
            </a:r>
          </a:p>
          <a:p>
            <a:pPr>
              <a:lnSpc>
                <a:spcPct val="130000"/>
              </a:lnSpc>
              <a:spcAft>
                <a:spcPts val="1200"/>
              </a:spcAft>
              <a:defRPr sz="1800">
                <a:solidFill>
                  <a:srgbClr val="1D1D1F"/>
                </a:solidFill>
                <a:latin typeface="Arial"/>
              </a:defRPr>
            </a:pPr>
            <a:r>
              <a:t>•  IOTA Seoul: A turning point for Seoul’s global hierarchy and the Korean application of a Transit-Oriented Vertical City</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Core Location Value</a:t>
            </a:r>
          </a:p>
          <a:p>
            <a:pPr>
              <a:spcBef>
                <a:spcPts val="1200"/>
              </a:spcBef>
              <a:defRPr sz="3200" b="1">
                <a:solidFill>
                  <a:srgbClr val="1D1D1F"/>
                </a:solidFill>
                <a:latin typeface="Arial"/>
              </a:defRPr>
            </a:pPr>
            <a:r>
              <a:t>Overwhelming Transit Network &amp; CBD Connectivity</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Transit Network</a:t>
            </a:r>
          </a:p>
          <a:p>
            <a:pPr>
              <a:lnSpc>
                <a:spcPct val="130000"/>
              </a:lnSpc>
              <a:spcAft>
                <a:spcPts val="1200"/>
              </a:spcAft>
              <a:defRPr sz="1800">
                <a:solidFill>
                  <a:srgbClr val="1D1D1F"/>
                </a:solidFill>
                <a:latin typeface="Arial"/>
              </a:defRPr>
            </a:pPr>
            <a:r>
              <a:t>•  Intersection of 7 Rail Lines</a:t>
            </a:r>
          </a:p>
          <a:p>
            <a:pPr>
              <a:lnSpc>
                <a:spcPct val="130000"/>
              </a:lnSpc>
              <a:spcAft>
                <a:spcPts val="1200"/>
              </a:spcAft>
              <a:defRPr sz="1800">
                <a:solidFill>
                  <a:srgbClr val="1D1D1F"/>
                </a:solidFill>
                <a:latin typeface="Arial"/>
              </a:defRPr>
            </a:pPr>
            <a:r>
              <a:t>•  KTX · SRT</a:t>
            </a:r>
          </a:p>
          <a:p>
            <a:pPr>
              <a:lnSpc>
                <a:spcPct val="130000"/>
              </a:lnSpc>
              <a:spcAft>
                <a:spcPts val="1200"/>
              </a:spcAft>
              <a:defRPr sz="1800">
                <a:solidFill>
                  <a:srgbClr val="1D1D1F"/>
                </a:solidFill>
                <a:latin typeface="Arial"/>
              </a:defRPr>
            </a:pPr>
            <a:r>
              <a:t>•  Line 1, 4, AREX</a:t>
            </a:r>
          </a:p>
          <a:p>
            <a:pPr>
              <a:lnSpc>
                <a:spcPct val="130000"/>
              </a:lnSpc>
              <a:spcAft>
                <a:spcPts val="1200"/>
              </a:spcAft>
              <a:defRPr sz="1800">
                <a:solidFill>
                  <a:srgbClr val="1D1D1F"/>
                </a:solidFill>
                <a:latin typeface="Arial"/>
              </a:defRPr>
            </a:pPr>
            <a:r>
              <a:t>•  GTX-A (Opened 2024)</a:t>
            </a:r>
          </a:p>
          <a:p>
            <a:pPr>
              <a:lnSpc>
                <a:spcPct val="130000"/>
              </a:lnSpc>
              <a:spcAft>
                <a:spcPts val="1200"/>
              </a:spcAft>
              <a:defRPr sz="1800">
                <a:solidFill>
                  <a:srgbClr val="1D1D1F"/>
                </a:solidFill>
                <a:latin typeface="Arial"/>
              </a:defRPr>
            </a:pPr>
            <a:r>
              <a:t>•  GTX-B (Expected 2030)</a:t>
            </a:r>
          </a:p>
          <a:p>
            <a:pPr>
              <a:lnSpc>
                <a:spcPct val="130000"/>
              </a:lnSpc>
              <a:spcAft>
                <a:spcPts val="1200"/>
              </a:spcAft>
              <a:defRPr sz="1800">
                <a:solidFill>
                  <a:srgbClr val="1D1D1F"/>
                </a:solidFill>
                <a:latin typeface="Arial"/>
              </a:defRPr>
            </a:pPr>
            <a:r>
              <a:t>•  Connectivity</a:t>
            </a:r>
          </a:p>
          <a:p>
            <a:pPr>
              <a:lnSpc>
                <a:spcPct val="130000"/>
              </a:lnSpc>
              <a:spcAft>
                <a:spcPts val="1200"/>
              </a:spcAft>
              <a:defRPr sz="1800">
                <a:solidFill>
                  <a:srgbClr val="1D1D1F"/>
                </a:solidFill>
                <a:latin typeface="Arial"/>
              </a:defRPr>
            </a:pPr>
            <a:r>
              <a:t>•  Pedestrian &amp; Subway Access</a:t>
            </a:r>
          </a:p>
          <a:p>
            <a:pPr>
              <a:lnSpc>
                <a:spcPct val="130000"/>
              </a:lnSpc>
              <a:spcAft>
                <a:spcPts val="1200"/>
              </a:spcAft>
              <a:defRPr sz="1800">
                <a:solidFill>
                  <a:srgbClr val="1D1D1F"/>
                </a:solidFill>
                <a:latin typeface="Arial"/>
              </a:defRPr>
            </a:pPr>
            <a:r>
              <a:t>•  Namsan (Nature/Greenery)</a:t>
            </a:r>
          </a:p>
          <a:p>
            <a:pPr>
              <a:lnSpc>
                <a:spcPct val="130000"/>
              </a:lnSpc>
              <a:spcAft>
                <a:spcPts val="1200"/>
              </a:spcAft>
              <a:defRPr sz="1800">
                <a:solidFill>
                  <a:srgbClr val="1D1D1F"/>
                </a:solidFill>
                <a:latin typeface="Arial"/>
              </a:defRPr>
            </a:pPr>
            <a:r>
              <a:t>•  Downtown (Traditional CBD)</a:t>
            </a:r>
          </a:p>
          <a:p>
            <a:pPr>
              <a:lnSpc>
                <a:spcPct val="130000"/>
              </a:lnSpc>
              <a:spcAft>
                <a:spcPts val="1200"/>
              </a:spcAft>
              <a:defRPr sz="1800">
                <a:solidFill>
                  <a:srgbClr val="1D1D1F"/>
                </a:solidFill>
                <a:latin typeface="Arial"/>
              </a:defRPr>
            </a:pPr>
            <a:r>
              <a:t>•  Yongsan IBD (Planned)</a:t>
            </a:r>
          </a:p>
          <a:p>
            <a:pPr>
              <a:lnSpc>
                <a:spcPct val="130000"/>
              </a:lnSpc>
              <a:spcAft>
                <a:spcPts val="1200"/>
              </a:spcAft>
              <a:defRPr sz="1800">
                <a:solidFill>
                  <a:srgbClr val="1D1D1F"/>
                </a:solidFill>
                <a:latin typeface="Arial"/>
              </a:defRPr>
            </a:pPr>
            <a:r>
              <a:t>•  Mapo/Yeouido Accessibility</a:t>
            </a:r>
          </a:p>
          <a:p>
            <a:pPr>
              <a:lnSpc>
                <a:spcPct val="130000"/>
              </a:lnSpc>
              <a:spcAft>
                <a:spcPts val="1200"/>
              </a:spcAft>
              <a:defRPr sz="1800">
                <a:solidFill>
                  <a:srgbClr val="1D1D1F"/>
                </a:solidFill>
                <a:latin typeface="Arial"/>
              </a:defRPr>
            </a:pPr>
            <a:r>
              <a:t>•  Global Entry</a:t>
            </a:r>
          </a:p>
          <a:p>
            <a:pPr>
              <a:lnSpc>
                <a:spcPct val="130000"/>
              </a:lnSpc>
              <a:spcAft>
                <a:spcPts val="1200"/>
              </a:spcAft>
              <a:defRPr sz="1800">
                <a:solidFill>
                  <a:srgbClr val="1D1D1F"/>
                </a:solidFill>
                <a:latin typeface="Arial"/>
              </a:defRPr>
            </a:pPr>
            <a:r>
              <a:t>•  Foreign Business Tourism Entry Point</a:t>
            </a:r>
          </a:p>
          <a:p>
            <a:pPr>
              <a:lnSpc>
                <a:spcPct val="130000"/>
              </a:lnSpc>
              <a:spcAft>
                <a:spcPts val="1200"/>
              </a:spcAft>
              <a:defRPr sz="1800">
                <a:solidFill>
                  <a:srgbClr val="1D1D1F"/>
                </a:solidFill>
                <a:latin typeface="Arial"/>
              </a:defRPr>
            </a:pPr>
            <a:r>
              <a:t>•  Directly connected to Incheon International Airport via AREX, serving as the first gateway upon entering Seoul (approx. 30 min).</a:t>
            </a:r>
          </a:p>
          <a:p>
            <a:pPr>
              <a:lnSpc>
                <a:spcPct val="130000"/>
              </a:lnSpc>
              <a:spcAft>
                <a:spcPts val="1200"/>
              </a:spcAft>
              <a:defRPr sz="1800">
                <a:solidFill>
                  <a:srgbClr val="1D1D1F"/>
                </a:solidFill>
                <a:latin typeface="Arial"/>
              </a:defRPr>
            </a:pPr>
            <a:r>
              <a:t>•  A national infrastructure-level hub comparable to Tokyo Station</a:t>
            </a:r>
          </a:p>
          <a:p>
            <a:pPr>
              <a:lnSpc>
                <a:spcPct val="130000"/>
              </a:lnSpc>
              <a:spcAft>
                <a:spcPts val="1200"/>
              </a:spcAft>
              <a:defRPr sz="1800">
                <a:solidFill>
                  <a:srgbClr val="1D1D1F"/>
                </a:solidFill>
                <a:latin typeface="Arial"/>
              </a:defRPr>
            </a:pPr>
            <a:r>
              <a:t>•  Pedestrian and subway connectivity to Namsan (greenery) + CBD + Yongsan IBD + Mapo/Yeouido</a:t>
            </a:r>
          </a:p>
          <a:p>
            <a:pPr>
              <a:lnSpc>
                <a:spcPct val="130000"/>
              </a:lnSpc>
              <a:spcAft>
                <a:spcPts val="1200"/>
              </a:spcAft>
              <a:defRPr sz="1800">
                <a:solidFill>
                  <a:srgbClr val="1D1D1F"/>
                </a:solidFill>
                <a:latin typeface="Arial"/>
              </a:defRPr>
            </a:pPr>
            <a:r>
              <a:t>•  Entry point for foreign business tourism (Directly connected to Incheon Airport, 30 min)</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Beyond Development: City-making</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"Namsan to Citizens" - Combining Public Space with Trophy Assets</a:t>
            </a:r>
          </a:p>
          <a:p>
            <a:pPr>
              <a:lnSpc>
                <a:spcPct val="130000"/>
              </a:lnSpc>
              <a:spcAft>
                <a:spcPts val="1200"/>
              </a:spcAft>
              <a:defRPr sz="1800">
                <a:solidFill>
                  <a:srgbClr val="1D1D1F"/>
                </a:solidFill>
                <a:latin typeface="Arial"/>
              </a:defRPr>
            </a:pPr>
            <a:r>
              <a:t>•  Heritage</a:t>
            </a:r>
          </a:p>
          <a:p>
            <a:pPr>
              <a:lnSpc>
                <a:spcPct val="130000"/>
              </a:lnSpc>
              <a:spcAft>
                <a:spcPts val="1200"/>
              </a:spcAft>
              <a:defRPr sz="1800">
                <a:solidFill>
                  <a:srgbClr val="1D1D1F"/>
                </a:solidFill>
                <a:latin typeface="Arial"/>
              </a:defRPr>
            </a:pPr>
            <a:r>
              <a:t>•  Hilton Atrium Preservation</a:t>
            </a:r>
          </a:p>
          <a:p>
            <a:pPr>
              <a:lnSpc>
                <a:spcPct val="130000"/>
              </a:lnSpc>
              <a:spcAft>
                <a:spcPts val="1200"/>
              </a:spcAft>
              <a:defRPr sz="1800">
                <a:solidFill>
                  <a:srgbClr val="1D1D1F"/>
                </a:solidFill>
                <a:latin typeface="Arial"/>
              </a:defRPr>
            </a:pPr>
            <a:r>
              <a:t>•  Preserving the historic Hilton Atrium in 3D digital format with world-class architects like SOM and Foster+Partners.</a:t>
            </a:r>
          </a:p>
          <a:p>
            <a:pPr>
              <a:lnSpc>
                <a:spcPct val="130000"/>
              </a:lnSpc>
              <a:spcAft>
                <a:spcPts val="1200"/>
              </a:spcAft>
              <a:defRPr sz="1800">
                <a:solidFill>
                  <a:srgbClr val="1D1D1F"/>
                </a:solidFill>
                <a:latin typeface="Arial"/>
              </a:defRPr>
            </a:pPr>
            <a:r>
              <a:t>•  Green Space</a:t>
            </a:r>
          </a:p>
          <a:p>
            <a:pPr>
              <a:lnSpc>
                <a:spcPct val="130000"/>
              </a:lnSpc>
              <a:spcAft>
                <a:spcPts val="1200"/>
              </a:spcAft>
              <a:defRPr sz="1800">
                <a:solidFill>
                  <a:srgbClr val="1D1D1F"/>
                </a:solidFill>
                <a:latin typeface="Arial"/>
              </a:defRPr>
            </a:pPr>
            <a:r>
              <a:t>•  7,000m² Public Greenery</a:t>
            </a:r>
          </a:p>
          <a:p>
            <a:pPr>
              <a:lnSpc>
                <a:spcPct val="130000"/>
              </a:lnSpc>
              <a:spcAft>
                <a:spcPts val="1200"/>
              </a:spcAft>
              <a:defRPr sz="1800">
                <a:solidFill>
                  <a:srgbClr val="1D1D1F"/>
                </a:solidFill>
                <a:latin typeface="Arial"/>
              </a:defRPr>
            </a:pPr>
            <a:r>
              <a:t>•  Creating a massive open space equivalent to a soccer field in the city center for public enjoyment.</a:t>
            </a:r>
          </a:p>
          <a:p>
            <a:pPr>
              <a:lnSpc>
                <a:spcPct val="130000"/>
              </a:lnSpc>
              <a:spcAft>
                <a:spcPts val="1200"/>
              </a:spcAft>
              <a:defRPr sz="1800">
                <a:solidFill>
                  <a:srgbClr val="1D1D1F"/>
                </a:solidFill>
                <a:latin typeface="Arial"/>
              </a:defRPr>
            </a:pPr>
            <a:r>
              <a:t>•  Public Flow</a:t>
            </a:r>
          </a:p>
          <a:p>
            <a:pPr>
              <a:lnSpc>
                <a:spcPct val="130000"/>
              </a:lnSpc>
              <a:spcAft>
                <a:spcPts val="1200"/>
              </a:spcAft>
              <a:defRPr sz="1800">
                <a:solidFill>
                  <a:srgbClr val="1D1D1F"/>
                </a:solidFill>
                <a:latin typeface="Arial"/>
              </a:defRPr>
            </a:pPr>
            <a:r>
              <a:t>•  Pedestrian Path &amp; Public Office</a:t>
            </a:r>
          </a:p>
          <a:p>
            <a:pPr>
              <a:lnSpc>
                <a:spcPct val="130000"/>
              </a:lnSpc>
              <a:spcAft>
                <a:spcPts val="1200"/>
              </a:spcAft>
              <a:defRPr sz="1800">
                <a:solidFill>
                  <a:srgbClr val="1D1D1F"/>
                </a:solidFill>
                <a:latin typeface="Arial"/>
              </a:defRPr>
            </a:pPr>
            <a:r>
              <a:t>•  Establishing an escalator pedestrian path from Seoul Station Exit 8 to Namsan Park, and dedicating public offices.</a:t>
            </a:r>
          </a:p>
          <a:p>
            <a:pPr>
              <a:lnSpc>
                <a:spcPct val="130000"/>
              </a:lnSpc>
              <a:spcAft>
                <a:spcPts val="1200"/>
              </a:spcAft>
              <a:defRPr sz="1800">
                <a:solidFill>
                  <a:srgbClr val="1D1D1F"/>
                </a:solidFill>
                <a:latin typeface="Arial"/>
              </a:defRPr>
            </a:pPr>
            <a:r>
              <a:t>•  Trophy Asset</a:t>
            </a:r>
          </a:p>
          <a:p>
            <a:pPr>
              <a:lnSpc>
                <a:spcPct val="130000"/>
              </a:lnSpc>
              <a:spcAft>
                <a:spcPts val="1200"/>
              </a:spcAft>
              <a:defRPr sz="1800">
                <a:solidFill>
                  <a:srgbClr val="1D1D1F"/>
                </a:solidFill>
                <a:latin typeface="Arial"/>
              </a:defRPr>
            </a:pPr>
            <a:r>
              <a:t>•  Global Luxury Hotel</a:t>
            </a:r>
          </a:p>
          <a:p>
            <a:pPr>
              <a:lnSpc>
                <a:spcPct val="130000"/>
              </a:lnSpc>
              <a:spcAft>
                <a:spcPts val="1200"/>
              </a:spcAft>
              <a:defRPr sz="1800">
                <a:solidFill>
                  <a:srgbClr val="1D1D1F"/>
                </a:solidFill>
                <a:latin typeface="Arial"/>
              </a:defRPr>
            </a:pPr>
            <a:r>
              <a:t>•  Securing the project\'s trophy asset status by attracting top-tier global luxury brands like Marriott Ritz-Carlton.</a:t>
            </a:r>
          </a:p>
          <a:p>
            <a:pPr>
              <a:lnSpc>
                <a:spcPct val="130000"/>
              </a:lnSpc>
              <a:spcAft>
                <a:spcPts val="1200"/>
              </a:spcAft>
              <a:defRPr sz="1800">
                <a:solidFill>
                  <a:srgbClr val="1D1D1F"/>
                </a:solidFill>
                <a:latin typeface="Arial"/>
              </a:defRPr>
            </a:pPr>
            <a:r>
              <a:t>•  A city-making act beyond simple development. A combined model of Lotte World Tower, Azabudai Hills, and Hudson Yards.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2.</a:t>
            </a:r>
          </a:p>
          <a:p>
            <a:pPr algn="ctr">
              <a:spcBef>
                <a:spcPts val="1200"/>
              </a:spcBef>
              <a:defRPr sz="3200" b="1">
                <a:solidFill>
                  <a:srgbClr val="FFFFFF"/>
                </a:solidFill>
                <a:latin typeface="Arial"/>
              </a:defRPr>
            </a:pPr>
            <a:r>
              <a:t>Capital Structure &amp; Execution Variables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Project Fundamentals</a:t>
            </a:r>
          </a:p>
          <a:p>
            <a:pPr>
              <a:spcBef>
                <a:spcPts val="1200"/>
              </a:spcBef>
              <a:defRPr sz="3200" b="1">
                <a:solidFill>
                  <a:srgbClr val="1D1D1F"/>
                </a:solidFill>
                <a:latin typeface="Arial"/>
              </a:defRPr>
            </a:pPr>
            <a:r>
              <a:t>YD427 &amp; YD816' : 'Two Massive Pillars: YD427 &amp; YD816'</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YD427 PFV</a:t>
            </a:r>
          </a:p>
          <a:p>
            <a:pPr>
              <a:lnSpc>
                <a:spcPct val="130000"/>
              </a:lnSpc>
              <a:spcAft>
                <a:spcPts val="1200"/>
              </a:spcAft>
              <a:defRPr sz="1800">
                <a:solidFill>
                  <a:srgbClr val="1D1D1F"/>
                </a:solidFill>
                <a:latin typeface="Arial"/>
              </a:defRPr>
            </a:pPr>
            <a:r>
              <a:t>•  IOTA 1 · Hotel (Hilton Site)</a:t>
            </a:r>
          </a:p>
          <a:p>
            <a:pPr>
              <a:lnSpc>
                <a:spcPct val="130000"/>
              </a:lnSpc>
              <a:spcAft>
                <a:spcPts val="1200"/>
              </a:spcAft>
              <a:defRPr sz="1800">
                <a:solidFill>
                  <a:srgbClr val="1D1D1F"/>
                </a:solidFill>
                <a:latin typeface="Arial"/>
              </a:defRPr>
            </a:pPr>
            <a:r>
              <a:t>•  : 'Builder:</a:t>
            </a:r>
          </a:p>
          <a:p>
            <a:pPr>
              <a:lnSpc>
                <a:spcPct val="130000"/>
              </a:lnSpc>
              <a:spcAft>
                <a:spcPts val="1200"/>
              </a:spcAft>
              <a:defRPr sz="1800">
                <a:solidFill>
                  <a:srgbClr val="1D1D1F"/>
                </a:solidFill>
                <a:latin typeface="Arial"/>
              </a:defRPr>
            </a:pPr>
            <a:r>
              <a:t>•  Hyundai E&amp;C</a:t>
            </a:r>
          </a:p>
          <a:p>
            <a:pPr>
              <a:lnSpc>
                <a:spcPct val="130000"/>
              </a:lnSpc>
              <a:spcAft>
                <a:spcPts val="1200"/>
              </a:spcAft>
              <a:defRPr sz="1800">
                <a:solidFill>
                  <a:srgbClr val="1D1D1F"/>
                </a:solidFill>
                <a:latin typeface="Arial"/>
              </a:defRPr>
            </a:pPr>
            <a:r>
              <a:t>•  : 'Project Scale:</a:t>
            </a:r>
          </a:p>
          <a:p>
            <a:pPr>
              <a:lnSpc>
                <a:spcPct val="130000"/>
              </a:lnSpc>
              <a:spcAft>
                <a:spcPts val="1200"/>
              </a:spcAft>
              <a:defRPr sz="1800">
                <a:solidFill>
                  <a:srgbClr val="1D1D1F"/>
                </a:solidFill>
                <a:latin typeface="Arial"/>
              </a:defRPr>
            </a:pPr>
            <a:r>
              <a:t>•  Total cost approx. 6T KRW</a:t>
            </a:r>
          </a:p>
          <a:p>
            <a:pPr>
              <a:lnSpc>
                <a:spcPct val="130000"/>
              </a:lnSpc>
              <a:spcAft>
                <a:spcPts val="1200"/>
              </a:spcAft>
              <a:defRPr sz="1800">
                <a:solidFill>
                  <a:srgbClr val="1D1D1F"/>
                </a:solidFill>
                <a:latin typeface="Arial"/>
              </a:defRPr>
            </a:pPr>
            <a:r>
              <a:t>•  : 'Funding Status:</a:t>
            </a:r>
          </a:p>
          <a:p>
            <a:pPr>
              <a:lnSpc>
                <a:spcPct val="130000"/>
              </a:lnSpc>
              <a:spcAft>
                <a:spcPts val="1200"/>
              </a:spcAft>
              <a:defRPr sz="1800">
                <a:solidFill>
                  <a:srgbClr val="1D1D1F"/>
                </a:solidFill>
                <a:latin typeface="Arial"/>
              </a:defRPr>
            </a:pPr>
            <a:r>
              <a:t>•  1st Main PF 2.2T KRW completed (May 2025)</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2nd Main PF 4.5T KRW expected (May 2027)</a:t>
            </a:r>
          </a:p>
          <a:p>
            <a:pPr>
              <a:lnSpc>
                <a:spcPct val="130000"/>
              </a:lnSpc>
              <a:spcAft>
                <a:spcPts val="1200"/>
              </a:spcAft>
              <a:defRPr sz="1800">
                <a:solidFill>
                  <a:srgbClr val="1D1D1F"/>
                </a:solidFill>
                <a:latin typeface="Arial"/>
              </a:defRPr>
            </a:pPr>
            <a:r>
              <a:t>•  : 'Usage:</a:t>
            </a:r>
          </a:p>
          <a:p>
            <a:pPr>
              <a:lnSpc>
                <a:spcPct val="130000"/>
              </a:lnSpc>
              <a:spcAft>
                <a:spcPts val="1200"/>
              </a:spcAft>
              <a:defRPr sz="1800">
                <a:solidFill>
                  <a:srgbClr val="1D1D1F"/>
                </a:solidFill>
                <a:latin typeface="Arial"/>
              </a:defRPr>
            </a:pPr>
            <a:r>
              <a:t>•  Ritz-Carlton Hotel + Office</a:t>
            </a:r>
          </a:p>
          <a:p>
            <a:pPr>
              <a:lnSpc>
                <a:spcPct val="130000"/>
              </a:lnSpc>
              <a:spcAft>
                <a:spcPts val="1200"/>
              </a:spcAft>
              <a:defRPr sz="1800">
                <a:solidFill>
                  <a:srgbClr val="1D1D1F"/>
                </a:solidFill>
                <a:latin typeface="Arial"/>
              </a:defRPr>
            </a:pPr>
            <a:r>
              <a:t>•  : 'Target Completion:</a:t>
            </a:r>
          </a:p>
          <a:p>
            <a:pPr>
              <a:lnSpc>
                <a:spcPct val="130000"/>
              </a:lnSpc>
              <a:spcAft>
                <a:spcPts val="1200"/>
              </a:spcAft>
              <a:defRPr sz="1800">
                <a:solidFill>
                  <a:srgbClr val="1D1D1F"/>
                </a:solidFill>
                <a:latin typeface="Arial"/>
              </a:defRPr>
            </a:pPr>
            <a:r>
              <a:t>•  March 2031</a:t>
            </a:r>
          </a:p>
          <a:p>
            <a:pPr>
              <a:lnSpc>
                <a:spcPct val="130000"/>
              </a:lnSpc>
              <a:spcAft>
                <a:spcPts val="1200"/>
              </a:spcAft>
              <a:defRPr sz="1800">
                <a:solidFill>
                  <a:srgbClr val="1D1D1F"/>
                </a:solidFill>
                <a:latin typeface="Arial"/>
              </a:defRPr>
            </a:pPr>
            <a:r>
              <a:t>•  YD816 PFV</a:t>
            </a:r>
          </a:p>
          <a:p>
            <a:pPr>
              <a:lnSpc>
                <a:spcPct val="130000"/>
              </a:lnSpc>
              <a:spcAft>
                <a:spcPts val="1200"/>
              </a:spcAft>
              <a:defRPr sz="1800">
                <a:solidFill>
                  <a:srgbClr val="1D1D1F"/>
                </a:solidFill>
                <a:latin typeface="Arial"/>
              </a:defRPr>
            </a:pPr>
            <a:r>
              <a:t>•  IOTA 2 · Office (Metro/Seoullo Tower)</a:t>
            </a:r>
          </a:p>
          <a:p>
            <a:pPr>
              <a:lnSpc>
                <a:spcPct val="130000"/>
              </a:lnSpc>
              <a:spcAft>
                <a:spcPts val="1200"/>
              </a:spcAft>
              <a:defRPr sz="1800">
                <a:solidFill>
                  <a:srgbClr val="1D1D1F"/>
                </a:solidFill>
                <a:latin typeface="Arial"/>
              </a:defRPr>
            </a:pPr>
            <a:r>
              <a:t>•  : 'Builder:</a:t>
            </a:r>
          </a:p>
          <a:p>
            <a:pPr>
              <a:lnSpc>
                <a:spcPct val="130000"/>
              </a:lnSpc>
              <a:spcAft>
                <a:spcPts val="1200"/>
              </a:spcAft>
              <a:defRPr sz="1800">
                <a:solidFill>
                  <a:srgbClr val="1D1D1F"/>
                </a:solidFill>
                <a:latin typeface="Arial"/>
              </a:defRPr>
            </a:pPr>
            <a:r>
              <a:t>•  Samsung C&amp;T</a:t>
            </a:r>
          </a:p>
          <a:p>
            <a:pPr>
              <a:lnSpc>
                <a:spcPct val="130000"/>
              </a:lnSpc>
              <a:spcAft>
                <a:spcPts val="1200"/>
              </a:spcAft>
              <a:defRPr sz="1800">
                <a:solidFill>
                  <a:srgbClr val="1D1D1F"/>
                </a:solidFill>
                <a:latin typeface="Arial"/>
              </a:defRPr>
            </a:pPr>
            <a:r>
              <a:t>•  : 'Project Scale:</a:t>
            </a:r>
          </a:p>
          <a:p>
            <a:pPr>
              <a:lnSpc>
                <a:spcPct val="130000"/>
              </a:lnSpc>
              <a:spcAft>
                <a:spcPts val="1200"/>
              </a:spcAft>
              <a:defRPr sz="1800">
                <a:solidFill>
                  <a:srgbClr val="1D1D1F"/>
                </a:solidFill>
                <a:latin typeface="Arial"/>
              </a:defRPr>
            </a:pPr>
            <a:r>
              <a:t>•  Total cost approx. 2.19T KRW</a:t>
            </a:r>
          </a:p>
          <a:p>
            <a:pPr>
              <a:lnSpc>
                <a:spcPct val="130000"/>
              </a:lnSpc>
              <a:spcAft>
                <a:spcPts val="1200"/>
              </a:spcAft>
              <a:defRPr sz="1800">
                <a:solidFill>
                  <a:srgbClr val="1D1D1F"/>
                </a:solidFill>
                <a:latin typeface="Arial"/>
              </a:defRPr>
            </a:pPr>
            <a:r>
              <a:t>•  : 'Incentive:</a:t>
            </a:r>
          </a:p>
          <a:p>
            <a:pPr>
              <a:lnSpc>
                <a:spcPct val="130000"/>
              </a:lnSpc>
              <a:spcAft>
                <a:spcPts val="1200"/>
              </a:spcAft>
              <a:defRPr sz="1800">
                <a:solidFill>
                  <a:srgbClr val="1D1D1F"/>
                </a:solidFill>
                <a:latin typeface="Arial"/>
              </a:defRPr>
            </a:pPr>
            <a:r>
              <a:t>•  Secured 1,100% FAR</a:t>
            </a:r>
          </a:p>
          <a:p>
            <a:pPr>
              <a:lnSpc>
                <a:spcPct val="130000"/>
              </a:lnSpc>
              <a:spcAft>
                <a:spcPts val="1200"/>
              </a:spcAft>
              <a:defRPr sz="1800">
                <a:solidFill>
                  <a:srgbClr val="1D1D1F"/>
                </a:solidFill>
                <a:latin typeface="Arial"/>
              </a:defRPr>
            </a:pPr>
            <a:r>
              <a:t>•  : 'Scale:</a:t>
            </a:r>
          </a:p>
          <a:p>
            <a:pPr>
              <a:lnSpc>
                <a:spcPct val="130000"/>
              </a:lnSpc>
              <a:spcAft>
                <a:spcPts val="1200"/>
              </a:spcAft>
              <a:defRPr sz="1800">
                <a:solidFill>
                  <a:srgbClr val="1D1D1F"/>
                </a:solidFill>
                <a:latin typeface="Arial"/>
              </a:defRPr>
            </a:pPr>
            <a:r>
              <a:t>•  B9 to 34F</a:t>
            </a:r>
          </a:p>
          <a:p>
            <a:pPr>
              <a:lnSpc>
                <a:spcPct val="130000"/>
              </a:lnSpc>
              <a:spcAft>
                <a:spcPts val="1200"/>
              </a:spcAft>
              <a:defRPr sz="1800">
                <a:solidFill>
                  <a:srgbClr val="1D1D1F"/>
                </a:solidFill>
                <a:latin typeface="Arial"/>
              </a:defRPr>
            </a:pPr>
            <a:r>
              <a:t>•  : 'Management:</a:t>
            </a:r>
          </a:p>
          <a:p>
            <a:pPr>
              <a:lnSpc>
                <a:spcPct val="130000"/>
              </a:lnSpc>
              <a:spcAft>
                <a:spcPts val="1200"/>
              </a:spcAft>
              <a:defRPr sz="1800">
                <a:solidFill>
                  <a:srgbClr val="1D1D1F"/>
                </a:solidFill>
                <a:latin typeface="Arial"/>
              </a:defRPr>
            </a:pPr>
            <a:r>
              <a:t>•  IGIS General Private Real Estate Investment Trust No. 421</a:t>
            </a:r>
          </a:p>
          <a:p>
            <a:pPr>
              <a:lnSpc>
                <a:spcPct val="130000"/>
              </a:lnSpc>
              <a:spcAft>
                <a:spcPts val="1200"/>
              </a:spcAft>
              <a:defRPr sz="1800">
                <a:solidFill>
                  <a:srgbClr val="1D1D1F"/>
                </a:solidFill>
                <a:latin typeface="Arial"/>
              </a:defRPr>
            </a:pPr>
            <a:r>
              <a:t>•  A massive unified PF project worth approx 8 trillion KRW, the largest in Korean real estate history.</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Capital Structure &amp; Efficiency</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7T KRW IPR Unified Capital Structure</a:t>
            </a:r>
          </a:p>
          <a:p>
            <a:pPr>
              <a:lnSpc>
                <a:spcPct val="130000"/>
              </a:lnSpc>
              <a:spcAft>
                <a:spcPts val="1200"/>
              </a:spcAft>
              <a:defRPr sz="1800">
                <a:solidFill>
                  <a:srgbClr val="1D1D1F"/>
                </a:solidFill>
                <a:latin typeface="Arial"/>
              </a:defRPr>
            </a:pPr>
            <a:r>
              <a:t>•  Capital Stack</a:t>
            </a:r>
          </a:p>
          <a:p>
            <a:pPr>
              <a:lnSpc>
                <a:spcPct val="130000"/>
              </a:lnSpc>
              <a:spcAft>
                <a:spcPts val="1200"/>
              </a:spcAft>
              <a:defRPr sz="1800">
                <a:solidFill>
                  <a:srgbClr val="1D1D1F"/>
                </a:solidFill>
                <a:latin typeface="Arial"/>
              </a:defRPr>
            </a:pPr>
            <a:r>
              <a:t>•  7T KRW Multi-layered Capital Structure</a:t>
            </a:r>
          </a:p>
          <a:p>
            <a:pPr>
              <a:lnSpc>
                <a:spcPct val="130000"/>
              </a:lnSpc>
              <a:spcAft>
                <a:spcPts val="1200"/>
              </a:spcAft>
              <a:defRPr sz="1800">
                <a:solidFill>
                  <a:srgbClr val="1D1D1F"/>
                </a:solidFill>
                <a:latin typeface="Arial"/>
              </a:defRPr>
            </a:pPr>
            <a:r>
              <a:t>•  Senior Debt</a:t>
            </a:r>
          </a:p>
          <a:p>
            <a:pPr>
              <a:lnSpc>
                <a:spcPct val="130000"/>
              </a:lnSpc>
              <a:spcAft>
                <a:spcPts val="1200"/>
              </a:spcAft>
              <a:defRPr sz="1800">
                <a:solidFill>
                  <a:srgbClr val="1D1D1F"/>
                </a:solidFill>
                <a:latin typeface="Arial"/>
              </a:defRPr>
            </a:pPr>
            <a:r>
              <a:t>•  approx 5T KRW</a:t>
            </a:r>
          </a:p>
          <a:p>
            <a:pPr>
              <a:lnSpc>
                <a:spcPct val="130000"/>
              </a:lnSpc>
              <a:spcAft>
                <a:spcPts val="1200"/>
              </a:spcAft>
              <a:defRPr sz="1800">
                <a:solidFill>
                  <a:srgbClr val="1D1D1F"/>
                </a:solidFill>
                <a:latin typeface="Arial"/>
              </a:defRPr>
            </a:pPr>
            <a:r>
              <a:t>•  Mezzanine</a:t>
            </a:r>
          </a:p>
          <a:p>
            <a:pPr>
              <a:lnSpc>
                <a:spcPct val="130000"/>
              </a:lnSpc>
              <a:spcAft>
                <a:spcPts val="1200"/>
              </a:spcAft>
              <a:defRPr sz="1800">
                <a:solidFill>
                  <a:srgbClr val="1D1D1F"/>
                </a:solidFill>
                <a:latin typeface="Arial"/>
              </a:defRPr>
            </a:pPr>
            <a:r>
              <a:t>•  approx 1T KRW</a:t>
            </a:r>
          </a:p>
          <a:p>
            <a:pPr>
              <a:lnSpc>
                <a:spcPct val="130000"/>
              </a:lnSpc>
              <a:spcAft>
                <a:spcPts val="1200"/>
              </a:spcAft>
              <a:defRPr sz="1800">
                <a:solidFill>
                  <a:srgbClr val="1D1D1F"/>
                </a:solidFill>
                <a:latin typeface="Arial"/>
              </a:defRPr>
            </a:pPr>
            <a:r>
              <a:t>•  Junior</a:t>
            </a:r>
          </a:p>
          <a:p>
            <a:pPr>
              <a:lnSpc>
                <a:spcPct val="130000"/>
              </a:lnSpc>
              <a:spcAft>
                <a:spcPts val="1200"/>
              </a:spcAft>
              <a:defRPr sz="1800">
                <a:solidFill>
                  <a:srgbClr val="1D1D1F"/>
                </a:solidFill>
                <a:latin typeface="Arial"/>
              </a:defRPr>
            </a:pPr>
            <a:r>
              <a:t>•  approx 0.3T KRW</a:t>
            </a:r>
          </a:p>
          <a:p>
            <a:pPr>
              <a:lnSpc>
                <a:spcPct val="130000"/>
              </a:lnSpc>
              <a:spcAft>
                <a:spcPts val="1200"/>
              </a:spcAft>
              <a:defRPr sz="1800">
                <a:solidFill>
                  <a:srgbClr val="1D1D1F"/>
                </a:solidFill>
                <a:latin typeface="Arial"/>
              </a:defRPr>
            </a:pPr>
            <a:r>
              <a:t>•  Equity (10%)</a:t>
            </a:r>
          </a:p>
          <a:p>
            <a:pPr>
              <a:lnSpc>
                <a:spcPct val="130000"/>
              </a:lnSpc>
              <a:spcAft>
                <a:spcPts val="1200"/>
              </a:spcAft>
              <a:defRPr sz="1800">
                <a:solidFill>
                  <a:srgbClr val="1D1D1F"/>
                </a:solidFill>
                <a:latin typeface="Arial"/>
              </a:defRPr>
            </a:pPr>
            <a:r>
              <a:t>•  approx 0.7T KRW</a:t>
            </a:r>
          </a:p>
          <a:p>
            <a:pPr>
              <a:lnSpc>
                <a:spcPct val="130000"/>
              </a:lnSpc>
              <a:spcAft>
                <a:spcPts val="1200"/>
              </a:spcAft>
              <a:defRPr sz="1800">
                <a:solidFill>
                  <a:srgbClr val="1D1D1F"/>
                </a:solidFill>
                <a:latin typeface="Arial"/>
              </a:defRPr>
            </a:pPr>
            <a:r>
              <a:t>•  * Equity estimated at ~700B KRW Sponsor+LP equity.</a:t>
            </a:r>
          </a:p>
          <a:p>
            <a:pPr>
              <a:lnSpc>
                <a:spcPct val="130000"/>
              </a:lnSpc>
              <a:spcAft>
                <a:spcPts val="1200"/>
              </a:spcAft>
              <a:defRPr sz="1800">
                <a:solidFill>
                  <a:srgbClr val="1D1D1F"/>
                </a:solidFill>
                <a:latin typeface="Arial"/>
              </a:defRPr>
            </a:pPr>
            <a:r>
              <a:t>•  Efficiency &amp; Risks</a:t>
            </a:r>
          </a:p>
          <a:p>
            <a:pPr>
              <a:lnSpc>
                <a:spcPct val="130000"/>
              </a:lnSpc>
              <a:spcAft>
                <a:spcPts val="1200"/>
              </a:spcAft>
              <a:defRPr sz="1800">
                <a:solidFill>
                  <a:srgbClr val="1D1D1F"/>
                </a:solidFill>
                <a:latin typeface="Arial"/>
              </a:defRPr>
            </a:pPr>
            <a:r>
              <a:t>•  Capital Efficiency &amp; Structural Risks</a:t>
            </a:r>
          </a:p>
          <a:p>
            <a:pPr>
              <a:lnSpc>
                <a:spcPct val="130000"/>
              </a:lnSpc>
              <a:spcAft>
                <a:spcPts val="1200"/>
              </a:spcAft>
              <a:defRPr sz="1800">
                <a:solidFill>
                  <a:srgbClr val="1D1D1F"/>
                </a:solidFill>
                <a:latin typeface="Arial"/>
              </a:defRPr>
            </a:pPr>
            <a:r>
              <a:t>•  Optimal Efficiency Model</a:t>
            </a:r>
          </a:p>
          <a:p>
            <a:pPr>
              <a:lnSpc>
                <a:spcPct val="130000"/>
              </a:lnSpc>
              <a:spcAft>
                <a:spcPts val="1200"/>
              </a:spcAft>
              <a:defRPr sz="1800">
                <a:solidFill>
                  <a:srgbClr val="1D1D1F"/>
                </a:solidFill>
                <a:latin typeface="Arial"/>
              </a:defRPr>
            </a:pPr>
            <a:r>
              <a:t>•  Option C (New SPC + In-kind investment) is the most capital efficient.</a:t>
            </a:r>
          </a:p>
          <a:p>
            <a:pPr>
              <a:lnSpc>
                <a:spcPct val="130000"/>
              </a:lnSpc>
              <a:spcAft>
                <a:spcPts val="1200"/>
              </a:spcAft>
              <a:defRPr sz="1800">
                <a:solidFill>
                  <a:srgbClr val="1D1D1F"/>
                </a:solidFill>
                <a:latin typeface="Arial"/>
              </a:defRPr>
            </a:pPr>
            <a:r>
              <a:t>•  Tranche B Pre-emptive Right Risk</a:t>
            </a:r>
          </a:p>
          <a:p>
            <a:pPr>
              <a:lnSpc>
                <a:spcPct val="130000"/>
              </a:lnSpc>
              <a:spcAft>
                <a:spcPts val="1200"/>
              </a:spcAft>
              <a:defRPr sz="1800">
                <a:solidFill>
                  <a:srgbClr val="1D1D1F"/>
                </a:solidFill>
                <a:latin typeface="Arial"/>
              </a:defRPr>
            </a:pPr>
            <a:r>
              <a:t>•  Pre-emptive rights of Tranche B cause dilution risk during new IPR capital raises.</a:t>
            </a:r>
          </a:p>
          <a:p>
            <a:pPr>
              <a:lnSpc>
                <a:spcPct val="130000"/>
              </a:lnSpc>
              <a:spcAft>
                <a:spcPts val="1200"/>
              </a:spcAft>
              <a:defRPr sz="1800">
                <a:solidFill>
                  <a:srgbClr val="1D1D1F"/>
                </a:solidFill>
                <a:latin typeface="Arial"/>
              </a:defRPr>
            </a:pPr>
            <a:r>
              <a:t>•  일부 매입·정리(buyback) 및 행사 조건 명확화를 통해 자본 구조 사전 정리 필요' : 'Action: Clarify conditions and perform buybacks to clean up capital structure.'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Immediate Execution Variables</a:t>
            </a:r>
          </a:p>
          <a:p>
            <a:pPr>
              <a:spcBef>
                <a:spcPts val="1200"/>
              </a:spcBef>
              <a:defRPr sz="3200" b="1">
                <a:solidFill>
                  <a:srgbClr val="1D1D1F"/>
                </a:solidFill>
                <a:latin typeface="Arial"/>
              </a:defRPr>
            </a:pPr>
            <a:r>
              <a:t>YD816 Main PF Transition Risk &amp; Timeline</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Crisis</a:t>
            </a:r>
          </a:p>
          <a:p>
            <a:pPr>
              <a:lnSpc>
                <a:spcPct val="130000"/>
              </a:lnSpc>
              <a:spcAft>
                <a:spcPts val="1200"/>
              </a:spcAft>
              <a:defRPr sz="1800">
                <a:solidFill>
                  <a:srgbClr val="1D1D1F"/>
                </a:solidFill>
                <a:latin typeface="Arial"/>
              </a:defRPr>
            </a:pPr>
            <a:r>
              <a:t>•  Main PF Transition Failure Risk</a:t>
            </a:r>
          </a:p>
          <a:p>
            <a:pPr>
              <a:lnSpc>
                <a:spcPct val="130000"/>
              </a:lnSpc>
              <a:spcAft>
                <a:spcPts val="1200"/>
              </a:spcAft>
              <a:defRPr sz="1800">
                <a:solidFill>
                  <a:srgbClr val="1D1D1F"/>
                </a:solidFill>
                <a:latin typeface="Arial"/>
              </a:defRPr>
            </a:pPr>
            <a:r>
              <a:t>•  KB Kookmin Bank notified EOD on 480B KRW senior debt on Jan 17, 2026.</a:t>
            </a:r>
          </a:p>
          <a:p>
            <a:pPr>
              <a:lnSpc>
                <a:spcPct val="130000"/>
              </a:lnSpc>
              <a:spcAft>
                <a:spcPts val="1200"/>
              </a:spcAft>
              <a:defRPr sz="1800">
                <a:solidFill>
                  <a:srgbClr val="1D1D1F"/>
                </a:solidFill>
                <a:latin typeface="Arial"/>
              </a:defRPr>
            </a:pPr>
            <a:r>
              <a:t>•  Senior lender replacement negotiation with Meritz Securities rejected in 1st/2nd investment committees.</a:t>
            </a:r>
          </a:p>
          <a:p>
            <a:pPr>
              <a:lnSpc>
                <a:spcPct val="130000"/>
              </a:lnSpc>
              <a:spcAft>
                <a:spcPts val="1200"/>
              </a:spcAft>
              <a:defRPr sz="1800">
                <a:solidFill>
                  <a:srgbClr val="1D1D1F"/>
                </a:solidFill>
                <a:latin typeface="Arial"/>
              </a:defRPr>
            </a:pPr>
            <a:r>
              <a:t>•  Timeline</a:t>
            </a:r>
          </a:p>
          <a:p>
            <a:pPr>
              <a:lnSpc>
                <a:spcPct val="130000"/>
              </a:lnSpc>
              <a:spcAft>
                <a:spcPts val="1200"/>
              </a:spcAft>
              <a:defRPr sz="1800">
                <a:solidFill>
                  <a:srgbClr val="1D1D1F"/>
                </a:solidFill>
                <a:latin typeface="Arial"/>
              </a:defRPr>
            </a:pPr>
            <a:r>
              <a:t>•  Short Sale Deadline Approaching</a:t>
            </a:r>
          </a:p>
          <a:p>
            <a:pPr>
              <a:lnSpc>
                <a:spcPct val="130000"/>
              </a:lnSpc>
              <a:spcAft>
                <a:spcPts val="1200"/>
              </a:spcAft>
              <a:defRPr sz="1800">
                <a:solidFill>
                  <a:srgbClr val="1D1D1F"/>
                </a:solidFill>
                <a:latin typeface="Arial"/>
              </a:defRPr>
            </a:pPr>
            <a:r>
              <a:t>•  Negotiation Time</a:t>
            </a:r>
          </a:p>
          <a:p>
            <a:pPr>
              <a:lnSpc>
                <a:spcPct val="130000"/>
              </a:lnSpc>
              <a:spcAft>
                <a:spcPts val="1200"/>
              </a:spcAft>
              <a:defRPr sz="1800">
                <a:solidFill>
                  <a:srgbClr val="1D1D1F"/>
                </a:solidFill>
                <a:latin typeface="Arial"/>
              </a:defRPr>
            </a:pPr>
            <a:r>
              <a:t>•  Approx 2 weeks</a:t>
            </a:r>
          </a:p>
          <a:p>
            <a:pPr>
              <a:lnSpc>
                <a:spcPct val="130000"/>
              </a:lnSpc>
              <a:spcAft>
                <a:spcPts val="1200"/>
              </a:spcAft>
              <a:defRPr sz="1800">
                <a:solidFill>
                  <a:srgbClr val="1D1D1F"/>
                </a:solidFill>
                <a:latin typeface="Arial"/>
              </a:defRPr>
            </a:pPr>
            <a:r>
              <a:t>•  Execution Grace</a:t>
            </a:r>
          </a:p>
          <a:p>
            <a:pPr>
              <a:lnSpc>
                <a:spcPct val="130000"/>
              </a:lnSpc>
              <a:spcAft>
                <a:spcPts val="1200"/>
              </a:spcAft>
              <a:defRPr sz="1800">
                <a:solidFill>
                  <a:srgbClr val="1D1D1F"/>
                </a:solidFill>
                <a:latin typeface="Arial"/>
              </a:defRPr>
            </a:pPr>
            <a:r>
              <a:t>•  1 month</a:t>
            </a:r>
          </a:p>
          <a:p>
            <a:pPr>
              <a:lnSpc>
                <a:spcPct val="130000"/>
              </a:lnSpc>
              <a:spcAft>
                <a:spcPts val="1200"/>
              </a:spcAft>
              <a:defRPr sz="1800">
                <a:solidFill>
                  <a:srgbClr val="1D1D1F"/>
                </a:solidFill>
                <a:latin typeface="Arial"/>
              </a:defRPr>
            </a:pPr>
            <a:r>
              <a:t>•  공매 개시 실질적 데드라인' : 'Mid-March: Actual short sale deadline'</a:t>
            </a:r>
          </a:p>
          <a:p>
            <a:pPr>
              <a:lnSpc>
                <a:spcPct val="130000"/>
              </a:lnSpc>
              <a:spcAft>
                <a:spcPts val="1200"/>
              </a:spcAft>
              <a:defRPr sz="1800">
                <a:solidFill>
                  <a:srgbClr val="1D1D1F"/>
                </a:solidFill>
                <a:latin typeface="Arial"/>
              </a:defRPr>
            </a:pPr>
            <a:r>
              <a:t>•  Countermeasure</a:t>
            </a:r>
          </a:p>
          <a:p>
            <a:pPr>
              <a:lnSpc>
                <a:spcPct val="130000"/>
              </a:lnSpc>
              <a:spcAft>
                <a:spcPts val="1200"/>
              </a:spcAft>
              <a:defRPr sz="1800">
                <a:solidFill>
                  <a:srgbClr val="1D1D1F"/>
                </a:solidFill>
                <a:latin typeface="Arial"/>
              </a:defRPr>
            </a:pPr>
            <a:r>
              <a:t>•  Capital Structure Supplementation</a:t>
            </a:r>
          </a:p>
          <a:p>
            <a:pPr>
              <a:lnSpc>
                <a:spcPct val="130000"/>
              </a:lnSpc>
              <a:spcAft>
                <a:spcPts val="1200"/>
              </a:spcAft>
              <a:defRPr sz="1800">
                <a:solidFill>
                  <a:srgbClr val="1D1D1F"/>
                </a:solidFill>
                <a:latin typeface="Arial"/>
              </a:defRPr>
            </a:pPr>
            <a:r>
              <a:t>•  Securing Daemyung Sono Group as SI to supplement capital structure.</a:t>
            </a:r>
          </a:p>
          <a:p>
            <a:pPr>
              <a:lnSpc>
                <a:spcPct val="130000"/>
              </a:lnSpc>
              <a:spcAft>
                <a:spcPts val="1200"/>
              </a:spcAft>
              <a:defRPr sz="1800">
                <a:solidFill>
                  <a:srgbClr val="1D1D1F"/>
                </a:solidFill>
                <a:latin typeface="Arial"/>
              </a:defRPr>
            </a:pPr>
            <a:r>
              <a:t>•  Negotiating extension of Samsung C&amp;T Master Lease (75%) commitment.</a:t>
            </a:r>
          </a:p>
          <a:p>
            <a:pPr>
              <a:lnSpc>
                <a:spcPct val="130000"/>
              </a:lnSpc>
              <a:spcAft>
                <a:spcPts val="1200"/>
              </a:spcAft>
              <a:defRPr sz="1800">
                <a:solidFill>
                  <a:srgbClr val="1D1D1F"/>
                </a:solidFill>
                <a:latin typeface="Arial"/>
              </a:defRPr>
            </a:pPr>
            <a:r>
              <a:t>•  As of April 2026, YD816 PFV approx 1T KRW Refinancing Completed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Key Action Items &amp; Targets</a:t>
            </a:r>
          </a:p>
          <a:p>
            <a:pPr>
              <a:spcBef>
                <a:spcPts val="1200"/>
              </a:spcBef>
              <a:defRPr sz="3200" b="1">
                <a:solidFill>
                  <a:srgbClr val="FFFFFF"/>
                </a:solidFill>
                <a:latin typeface="Arial"/>
              </a:defRPr>
            </a:pPr>
            <a:r>
              <a:t>3 Major Tasks for Successful Closing</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Task 01</a:t>
            </a:r>
          </a:p>
          <a:p>
            <a:pPr>
              <a:lnSpc>
                <a:spcPct val="130000"/>
              </a:lnSpc>
              <a:spcAft>
                <a:spcPts val="1200"/>
              </a:spcAft>
              <a:defRPr sz="1800">
                <a:solidFill>
                  <a:srgbClr val="FFFFFF"/>
                </a:solidFill>
                <a:latin typeface="Arial"/>
              </a:defRPr>
            </a:pPr>
            <a:r>
              <a:t>•  Immediate YD816 Main PF Closing</a:t>
            </a:r>
          </a:p>
          <a:p>
            <a:pPr>
              <a:lnSpc>
                <a:spcPct val="130000"/>
              </a:lnSpc>
              <a:spcAft>
                <a:spcPts val="1200"/>
              </a:spcAft>
              <a:defRPr sz="1800">
                <a:solidFill>
                  <a:srgbClr val="FFFFFF"/>
                </a:solidFill>
                <a:latin typeface="Arial"/>
              </a:defRPr>
            </a:pPr>
            <a:r>
              <a:t>•  Resolve urgent priority by securing acquirer to avoid short sale (additional negotiation with Meritz or alternative senior lender).</a:t>
            </a:r>
          </a:p>
          <a:p>
            <a:pPr>
              <a:lnSpc>
                <a:spcPct val="130000"/>
              </a:lnSpc>
              <a:spcAft>
                <a:spcPts val="1200"/>
              </a:spcAft>
              <a:defRPr sz="1800">
                <a:solidFill>
                  <a:srgbClr val="FFFFFF"/>
                </a:solidFill>
                <a:latin typeface="Arial"/>
              </a:defRPr>
            </a:pPr>
            <a:r>
              <a:t>•  Task 02</a:t>
            </a:r>
          </a:p>
          <a:p>
            <a:pPr>
              <a:lnSpc>
                <a:spcPct val="130000"/>
              </a:lnSpc>
              <a:spcAft>
                <a:spcPts val="1200"/>
              </a:spcAft>
              <a:defRPr sz="1800">
                <a:solidFill>
                  <a:srgbClr val="FFFFFF"/>
                </a:solidFill>
                <a:latin typeface="Arial"/>
              </a:defRPr>
            </a:pPr>
            <a:r>
              <a:t>•  YD427 2nd PF Pre-Anchor</a:t>
            </a:r>
          </a:p>
          <a:p>
            <a:pPr>
              <a:lnSpc>
                <a:spcPct val="130000"/>
              </a:lnSpc>
              <a:spcAft>
                <a:spcPts val="1200"/>
              </a:spcAft>
              <a:defRPr sz="1800">
                <a:solidFill>
                  <a:srgbClr val="FFFFFF"/>
                </a:solidFill>
                <a:latin typeface="Arial"/>
              </a:defRPr>
            </a:pPr>
            <a:r>
              <a:t>•  Secure pre-anchor for 4.5T KRW 2nd PF in May 2027. The core game of the largest 7T KRW PF in Korean RE history.</a:t>
            </a:r>
          </a:p>
          <a:p>
            <a:pPr>
              <a:lnSpc>
                <a:spcPct val="130000"/>
              </a:lnSpc>
              <a:spcAft>
                <a:spcPts val="1200"/>
              </a:spcAft>
              <a:defRPr sz="1800">
                <a:solidFill>
                  <a:srgbClr val="FFFFFF"/>
                </a:solidFill>
                <a:latin typeface="Arial"/>
              </a:defRPr>
            </a:pPr>
            <a:r>
              <a:t>•  Task 03</a:t>
            </a:r>
          </a:p>
          <a:p>
            <a:pPr>
              <a:lnSpc>
                <a:spcPct val="130000"/>
              </a:lnSpc>
              <a:spcAft>
                <a:spcPts val="1200"/>
              </a:spcAft>
              <a:defRPr sz="1800">
                <a:solidFill>
                  <a:srgbClr val="FFFFFF"/>
                </a:solidFill>
                <a:latin typeface="Arial"/>
              </a:defRPr>
            </a:pPr>
            <a:r>
              <a:t>•  Unified Value Storytelling</a:t>
            </a:r>
          </a:p>
          <a:p>
            <a:pPr>
              <a:lnSpc>
                <a:spcPct val="130000"/>
              </a:lnSpc>
              <a:spcAft>
                <a:spcPts val="1200"/>
              </a:spcAft>
              <a:defRPr sz="1800">
                <a:solidFill>
                  <a:srgbClr val="FFFFFF"/>
                </a:solidFill>
                <a:latin typeface="Arial"/>
              </a:defRPr>
            </a:pPr>
            <a:r>
              <a:t>•  Overcome lack of unified valuation by lenders. Defend against IOTA brand fragmentation if unified value is unrecognized.</a:t>
            </a:r>
          </a:p>
          <a:p>
            <a:pPr>
              <a:lnSpc>
                <a:spcPct val="130000"/>
              </a:lnSpc>
              <a:spcAft>
                <a:spcPts val="1200"/>
              </a:spcAft>
              <a:defRPr sz="1800">
                <a:solidFill>
                  <a:srgbClr val="FFFFFF"/>
                </a:solidFill>
                <a:latin typeface="Arial"/>
              </a:defRPr>
            </a:pPr>
            <a:r>
              <a:t>•  [2026.12 Target] Success: Ultimate reference for Global LP expansion. Failure: Brand Impairment risk.</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3.</a:t>
            </a:r>
          </a:p>
          <a:p>
            <a:pPr algn="ctr">
              <a:spcBef>
                <a:spcPts val="1200"/>
              </a:spcBef>
              <a:defRPr sz="3200" b="1">
                <a:solidFill>
                  <a:srgbClr val="FFFFFF"/>
                </a:solidFill>
                <a:latin typeface="Arial"/>
              </a:defRPr>
            </a:pPr>
            <a:r>
              <a:t>Position in IGIS 2030 Strategy</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Strategic Asset for 2030 Growth</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Anchor Trophy Asset &amp; Global LP Entry</a:t>
            </a:r>
          </a:p>
          <a:p>
            <a:pPr>
              <a:lnSpc>
                <a:spcPct val="130000"/>
              </a:lnSpc>
              <a:spcAft>
                <a:spcPts val="1200"/>
              </a:spcAft>
              <a:defRPr sz="1800">
                <a:solidFill>
                  <a:srgbClr val="1D1D1F"/>
                </a:solidFill>
                <a:latin typeface="Arial"/>
              </a:defRPr>
            </a:pPr>
            <a:r>
              <a:t>•  Asset 01</a:t>
            </a:r>
          </a:p>
          <a:p>
            <a:pPr>
              <a:lnSpc>
                <a:spcPct val="130000"/>
              </a:lnSpc>
              <a:spcAft>
                <a:spcPts val="1200"/>
              </a:spcAft>
              <a:defRPr sz="1800">
                <a:solidFill>
                  <a:srgbClr val="1D1D1F"/>
                </a:solidFill>
                <a:latin typeface="Arial"/>
              </a:defRPr>
            </a:pPr>
            <a:r>
              <a:t>•  Anchor Trophy Asset</a:t>
            </a:r>
          </a:p>
          <a:p>
            <a:pPr>
              <a:lnSpc>
                <a:spcPct val="130000"/>
              </a:lnSpc>
              <a:spcAft>
                <a:spcPts val="1200"/>
              </a:spcAft>
              <a:defRPr sz="1800">
                <a:solidFill>
                  <a:srgbClr val="1D1D1F"/>
                </a:solidFill>
                <a:latin typeface="Arial"/>
              </a:defRPr>
            </a:pPr>
            <a:r>
              <a:t>•  Single largest PR asset for IGIS brand over the next 10 years.</a:t>
            </a:r>
          </a:p>
          <a:p>
            <a:pPr>
              <a:lnSpc>
                <a:spcPct val="130000"/>
              </a:lnSpc>
              <a:spcAft>
                <a:spcPts val="1200"/>
              </a:spcAft>
              <a:defRPr sz="1800">
                <a:solidFill>
                  <a:srgbClr val="1D1D1F"/>
                </a:solidFill>
                <a:latin typeface="Arial"/>
              </a:defRPr>
            </a:pPr>
            <a:r>
              <a:t>•  Concentrating ~7T KRW (10%) into a single project on the path from 73T to 100T KRW AUM.</a:t>
            </a:r>
          </a:p>
          <a:p>
            <a:pPr>
              <a:lnSpc>
                <a:spcPct val="130000"/>
              </a:lnSpc>
              <a:spcAft>
                <a:spcPts val="1200"/>
              </a:spcAft>
              <a:defRPr sz="1800">
                <a:solidFill>
                  <a:srgbClr val="1D1D1F"/>
                </a:solidFill>
                <a:latin typeface="Arial"/>
              </a:defRPr>
            </a:pPr>
            <a:r>
              <a:t>•  Extremely high portfolio concentration is both a weakness and an overwhelming strength.</a:t>
            </a:r>
          </a:p>
          <a:p>
            <a:pPr>
              <a:lnSpc>
                <a:spcPct val="130000"/>
              </a:lnSpc>
              <a:spcAft>
                <a:spcPts val="1200"/>
              </a:spcAft>
              <a:defRPr sz="1800">
                <a:solidFill>
                  <a:srgbClr val="1D1D1F"/>
                </a:solidFill>
                <a:latin typeface="Arial"/>
              </a:defRPr>
            </a:pPr>
            <a:r>
              <a:t>•  Asset 02</a:t>
            </a:r>
          </a:p>
          <a:p>
            <a:pPr>
              <a:lnSpc>
                <a:spcPct val="130000"/>
              </a:lnSpc>
              <a:spcAft>
                <a:spcPts val="1200"/>
              </a:spcAft>
              <a:defRPr sz="1800">
                <a:solidFill>
                  <a:srgbClr val="1D1D1F"/>
                </a:solidFill>
                <a:latin typeface="Arial"/>
              </a:defRPr>
            </a:pPr>
            <a:r>
              <a:t>•  Global LP Entry Vehicle</a:t>
            </a:r>
          </a:p>
          <a:p>
            <a:pPr>
              <a:lnSpc>
                <a:spcPct val="130000"/>
              </a:lnSpc>
              <a:spcAft>
                <a:spcPts val="1200"/>
              </a:spcAft>
              <a:defRPr sz="1800">
                <a:solidFill>
                  <a:srgbClr val="1D1D1F"/>
                </a:solidFill>
                <a:latin typeface="Arial"/>
              </a:defRPr>
            </a:pPr>
            <a:r>
              <a:t>•  Introducing new global LPs (GIC, CPPIB, QIA, Allianz, Mitsubishi Estate) via IOTA.</a:t>
            </a:r>
          </a:p>
          <a:p>
            <a:pPr>
              <a:lnSpc>
                <a:spcPct val="130000"/>
              </a:lnSpc>
              <a:spcAft>
                <a:spcPts val="1200"/>
              </a:spcAft>
              <a:defRPr sz="1800">
                <a:solidFill>
                  <a:srgbClr val="1D1D1F"/>
                </a:solidFill>
                <a:latin typeface="Arial"/>
              </a:defRPr>
            </a:pPr>
            <a:r>
              <a:t>•  Reverse Mirror Effect</a:t>
            </a:r>
          </a:p>
          <a:p>
            <a:pPr>
              <a:lnSpc>
                <a:spcPct val="130000"/>
              </a:lnSpc>
              <a:spcAft>
                <a:spcPts val="1200"/>
              </a:spcAft>
              <a:defRPr sz="1800">
                <a:solidFill>
                  <a:srgbClr val="1D1D1F"/>
                </a:solidFill>
                <a:latin typeface="Arial"/>
              </a:defRPr>
            </a:pPr>
            <a:r>
              <a:t>•  Just as Brookfield was perceived as an external GP during the IFC Seoul acquisition, now IGIS successfully attracts global capital as a GP.</a:t>
            </a:r>
          </a:p>
          <a:p>
            <a:pPr>
              <a:lnSpc>
                <a:spcPct val="130000"/>
              </a:lnSpc>
              <a:spcAft>
                <a:spcPts val="1200"/>
              </a:spcAft>
              <a:defRPr sz="1800">
                <a:solidFill>
                  <a:srgbClr val="1D1D1F"/>
                </a:solidFill>
                <a:latin typeface="Arial"/>
              </a:defRPr>
            </a:pPr>
            <a:r>
              <a:t>•  A lever to leap into a global standard GP, beyond a simple deal</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Future Blueprint Presented by IOTA</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Innovative Operation Showcase &amp; Trophy Template</a:t>
            </a:r>
          </a:p>
          <a:p>
            <a:pPr>
              <a:lnSpc>
                <a:spcPct val="130000"/>
              </a:lnSpc>
              <a:spcAft>
                <a:spcPts val="1200"/>
              </a:spcAft>
              <a:defRPr sz="1800">
                <a:solidFill>
                  <a:srgbClr val="FFFFFF"/>
                </a:solidFill>
                <a:latin typeface="Arial"/>
              </a:defRPr>
            </a:pPr>
            <a:r>
              <a:t>•  Blueprint 01</a:t>
            </a:r>
          </a:p>
          <a:p>
            <a:pPr>
              <a:lnSpc>
                <a:spcPct val="130000"/>
              </a:lnSpc>
              <a:spcAft>
                <a:spcPts val="1200"/>
              </a:spcAft>
              <a:defRPr sz="1800">
                <a:solidFill>
                  <a:srgbClr val="FFFFFF"/>
                </a:solidFill>
                <a:latin typeface="Arial"/>
              </a:defRPr>
            </a:pPr>
            <a:r>
              <a:t>•  Factorial Builders Operating Model</a:t>
            </a:r>
          </a:p>
          <a:p>
            <a:pPr>
              <a:lnSpc>
                <a:spcPct val="130000"/>
              </a:lnSpc>
              <a:spcAft>
                <a:spcPts val="1200"/>
              </a:spcAft>
              <a:defRPr sz="1800">
                <a:solidFill>
                  <a:srgbClr val="FFFFFF"/>
                </a:solidFill>
                <a:latin typeface="Arial"/>
              </a:defRPr>
            </a:pPr>
            <a:r>
              <a:t>•  ( Implementing a proprietary building OS integrated with AI, robotics, and IoT under the 'Asset as a Service' model Securing an ultra-gap operational edge over global standards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4.</a:t>
            </a:r>
          </a:p>
          <a:p>
            <a:pPr algn="ctr">
              <a:spcBef>
                <a:spcPts val="1200"/>
              </a:spcBef>
              <a:defRPr sz="3200" b="1">
                <a:solidFill>
                  <a:srgbClr val="FFFFFF"/>
                </a:solidFill>
                <a:latin typeface="Arial"/>
              </a:defRPr>
            </a:pPr>
            <a:r>
              <a:t>Value Creation Thesis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Fundamental Asset Value</a:t>
            </a:r>
          </a:p>
          <a:p>
            <a:pPr>
              <a:spcBef>
                <a:spcPts val="1200"/>
              </a:spcBef>
              <a:defRPr sz="3200" b="1">
                <a:solidFill>
                  <a:srgbClr val="FFFFFF"/>
                </a:solidFill>
                <a:latin typeface="Arial"/>
              </a:defRPr>
            </a:pPr>
            <a:r>
              <a:t>Locational Land Value &amp; NOI Capability</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4.1 VALUE DRIVER</a:t>
            </a:r>
          </a:p>
          <a:p>
            <a:pPr>
              <a:lnSpc>
                <a:spcPct val="130000"/>
              </a:lnSpc>
              <a:spcAft>
                <a:spcPts val="1200"/>
              </a:spcAft>
              <a:defRPr sz="1800">
                <a:solidFill>
                  <a:srgbClr val="FFFFFF"/>
                </a:solidFill>
                <a:latin typeface="Arial"/>
              </a:defRPr>
            </a:pPr>
            <a:r>
              <a:t>•  Land Collateral Value</a:t>
            </a:r>
          </a:p>
          <a:p>
            <a:pPr>
              <a:lnSpc>
                <a:spcPct val="130000"/>
              </a:lnSpc>
              <a:spcAft>
                <a:spcPts val="1200"/>
              </a:spcAft>
              <a:defRPr sz="1800">
                <a:solidFill>
                  <a:srgbClr val="FFFFFF"/>
                </a:solidFill>
                <a:latin typeface="Arial"/>
              </a:defRPr>
            </a:pPr>
            <a:r>
              <a:t>•  +10-20% Upside</a:t>
            </a:r>
          </a:p>
          <a:p>
            <a:pPr>
              <a:lnSpc>
                <a:spcPct val="130000"/>
              </a:lnSpc>
              <a:spcAft>
                <a:spcPts val="1200"/>
              </a:spcAft>
              <a:defRPr sz="1800">
                <a:solidFill>
                  <a:srgbClr val="FFFFFF"/>
                </a:solidFill>
                <a:latin typeface="Arial"/>
              </a:defRPr>
            </a:pPr>
            <a:r>
              <a:t>•  100</a:t>
            </a:r>
          </a:p>
          <a:p>
            <a:pPr>
              <a:lnSpc>
                <a:spcPct val="130000"/>
              </a:lnSpc>
              <a:spcAft>
                <a:spcPts val="1200"/>
              </a:spcAft>
              <a:defRPr sz="1800">
                <a:solidFill>
                  <a:srgbClr val="FFFFFF"/>
                </a:solidFill>
                <a:latin typeface="Arial"/>
              </a:defRPr>
            </a:pPr>
            <a:r>
              <a:t>•  150</a:t>
            </a:r>
          </a:p>
          <a:p>
            <a:pPr>
              <a:lnSpc>
                <a:spcPct val="130000"/>
              </a:lnSpc>
              <a:spcAft>
                <a:spcPts val="1200"/>
              </a:spcAft>
              <a:defRPr sz="1800">
                <a:solidFill>
                  <a:srgbClr val="FFFFFF"/>
                </a:solidFill>
                <a:latin typeface="Arial"/>
              </a:defRPr>
            </a:pPr>
            <a:r>
              <a:t>•  200+</a:t>
            </a:r>
          </a:p>
          <a:p>
            <a:pPr>
              <a:lnSpc>
                <a:spcPct val="130000"/>
              </a:lnSpc>
              <a:spcAft>
                <a:spcPts val="1200"/>
              </a:spcAft>
              <a:defRPr sz="1800">
                <a:solidFill>
                  <a:srgbClr val="FFFFFF"/>
                </a:solidFill>
                <a:latin typeface="Arial"/>
              </a:defRPr>
            </a:pPr>
            <a:r>
              <a:t>•  2024 (Now)</a:t>
            </a:r>
          </a:p>
          <a:p>
            <a:pPr>
              <a:lnSpc>
                <a:spcPct val="130000"/>
              </a:lnSpc>
              <a:spcAft>
                <a:spcPts val="1200"/>
              </a:spcAft>
              <a:defRPr sz="1800">
                <a:solidFill>
                  <a:srgbClr val="FFFFFF"/>
                </a:solidFill>
                <a:latin typeface="Arial"/>
              </a:defRPr>
            </a:pPr>
            <a:r>
              <a:t>•  2028 (GTX-A)</a:t>
            </a:r>
          </a:p>
          <a:p>
            <a:pPr>
              <a:lnSpc>
                <a:spcPct val="130000"/>
              </a:lnSpc>
              <a:spcAft>
                <a:spcPts val="1200"/>
              </a:spcAft>
              <a:defRPr sz="1800">
                <a:solidFill>
                  <a:srgbClr val="FFFFFF"/>
                </a:solidFill>
                <a:latin typeface="Arial"/>
              </a:defRPr>
            </a:pPr>
            <a:r>
              <a:t>•  2031 (GTX-B)</a:t>
            </a:r>
          </a:p>
          <a:p>
            <a:pPr>
              <a:lnSpc>
                <a:spcPct val="130000"/>
              </a:lnSpc>
              <a:spcAft>
                <a:spcPts val="1200"/>
              </a:spcAft>
              <a:defRPr sz="1800">
                <a:solidFill>
                  <a:srgbClr val="FFFFFF"/>
                </a:solidFill>
                <a:latin typeface="Arial"/>
              </a:defRPr>
            </a:pPr>
            <a:r>
              <a:t>•  Seoul Stn - Incheon Airport</a:t>
            </a:r>
          </a:p>
          <a:p>
            <a:pPr>
              <a:lnSpc>
                <a:spcPct val="130000"/>
              </a:lnSpc>
              <a:spcAft>
                <a:spcPts val="1200"/>
              </a:spcAft>
              <a:defRPr sz="1800">
                <a:solidFill>
                  <a:srgbClr val="FFFFFF"/>
                </a:solidFill>
                <a:latin typeface="Arial"/>
              </a:defRPr>
            </a:pPr>
            <a:r>
              <a:t>•  Premium of GTX-A/B intersection fully reflects, forming a structural uptrend over the next 5-10 years.</a:t>
            </a:r>
          </a:p>
          <a:p>
            <a:pPr>
              <a:lnSpc>
                <a:spcPct val="130000"/>
              </a:lnSpc>
              <a:spcAft>
                <a:spcPts val="1200"/>
              </a:spcAft>
              <a:defRPr sz="1800">
                <a:solidFill>
                  <a:srgbClr val="FFFFFF"/>
                </a:solidFill>
                <a:latin typeface="Arial"/>
              </a:defRPr>
            </a:pPr>
            <a:r>
              <a:t>•  4.2 STABILIZATION</a:t>
            </a:r>
          </a:p>
          <a:p>
            <a:pPr>
              <a:lnSpc>
                <a:spcPct val="130000"/>
              </a:lnSpc>
              <a:spcAft>
                <a:spcPts val="1200"/>
              </a:spcAft>
              <a:defRPr sz="1800">
                <a:solidFill>
                  <a:srgbClr val="FFFFFF"/>
                </a:solidFill>
                <a:latin typeface="Arial"/>
              </a:defRPr>
            </a:pPr>
            <a:r>
              <a:t>•  Stabilized Cash Flow</a:t>
            </a:r>
          </a:p>
          <a:p>
            <a:pPr>
              <a:lnSpc>
                <a:spcPct val="130000"/>
              </a:lnSpc>
              <a:spcAft>
                <a:spcPts val="1200"/>
              </a:spcAft>
              <a:defRPr sz="1800">
                <a:solidFill>
                  <a:srgbClr val="FFFFFF"/>
                </a:solidFill>
                <a:latin typeface="Arial"/>
              </a:defRPr>
            </a:pPr>
            <a:r>
              <a:t>•  2026</a:t>
            </a:r>
          </a:p>
          <a:p>
            <a:pPr>
              <a:lnSpc>
                <a:spcPct val="130000"/>
              </a:lnSpc>
              <a:spcAft>
                <a:spcPts val="1200"/>
              </a:spcAft>
              <a:defRPr sz="1800">
                <a:solidFill>
                  <a:srgbClr val="FFFFFF"/>
                </a:solidFill>
                <a:latin typeface="Arial"/>
              </a:defRPr>
            </a:pPr>
            <a:r>
              <a:t>•  NOI</a:t>
            </a:r>
          </a:p>
          <a:p>
            <a:pPr>
              <a:lnSpc>
                <a:spcPct val="130000"/>
              </a:lnSpc>
              <a:spcAft>
                <a:spcPts val="1200"/>
              </a:spcAft>
              <a:defRPr sz="1800">
                <a:solidFill>
                  <a:srgbClr val="FFFFFF"/>
                </a:solidFill>
                <a:latin typeface="Arial"/>
              </a:defRPr>
            </a:pPr>
            <a:r>
              <a:t>•  ~300B</a:t>
            </a:r>
          </a:p>
          <a:p>
            <a:pPr>
              <a:lnSpc>
                <a:spcPct val="130000"/>
              </a:lnSpc>
              <a:spcAft>
                <a:spcPts val="1200"/>
              </a:spcAft>
              <a:defRPr sz="1800">
                <a:solidFill>
                  <a:srgbClr val="FFFFFF"/>
                </a:solidFill>
                <a:latin typeface="Arial"/>
              </a:defRPr>
            </a:pPr>
            <a:r>
              <a:t>•  Bull Scenario</a:t>
            </a:r>
          </a:p>
          <a:p>
            <a:pPr>
              <a:lnSpc>
                <a:spcPct val="130000"/>
              </a:lnSpc>
              <a:spcAft>
                <a:spcPts val="1200"/>
              </a:spcAft>
              <a:defRPr sz="1800">
                <a:solidFill>
                  <a:srgbClr val="FFFFFF"/>
                </a:solidFill>
                <a:latin typeface="Arial"/>
              </a:defRPr>
            </a:pPr>
            <a:r>
              <a:t>•  ~450B</a:t>
            </a:r>
          </a:p>
          <a:p>
            <a:pPr>
              <a:lnSpc>
                <a:spcPct val="130000"/>
              </a:lnSpc>
              <a:spcAft>
                <a:spcPts val="1200"/>
              </a:spcAft>
              <a:defRPr sz="1800">
                <a:solidFill>
                  <a:srgbClr val="FFFFFF"/>
                </a:solidFill>
                <a:latin typeface="Arial"/>
              </a:defRPr>
            </a:pPr>
            <a:r>
              <a:t>•  6T ~ 10T KRW</a:t>
            </a:r>
          </a:p>
          <a:p>
            <a:pPr>
              <a:lnSpc>
                <a:spcPct val="130000"/>
              </a:lnSpc>
              <a:spcAft>
                <a:spcPts val="1200"/>
              </a:spcAft>
              <a:defRPr sz="1800">
                <a:solidFill>
                  <a:srgbClr val="FFFFFF"/>
                </a:solidFill>
                <a:latin typeface="Arial"/>
              </a:defRPr>
            </a:pPr>
            <a:r>
              <a:t>•  Target</a:t>
            </a:r>
          </a:p>
          <a:p>
            <a:pPr>
              <a:lnSpc>
                <a:spcPct val="130000"/>
              </a:lnSpc>
              <a:spcAft>
                <a:spcPts val="1200"/>
              </a:spcAft>
              <a:defRPr sz="1800">
                <a:solidFill>
                  <a:srgbClr val="FFFFFF"/>
                </a:solidFill>
                <a:latin typeface="Arial"/>
              </a:defRPr>
            </a:pPr>
            <a:r>
              <a:t>•  Asset Value</a:t>
            </a:r>
          </a:p>
          <a:p>
            <a:pPr>
              <a:lnSpc>
                <a:spcPct val="130000"/>
              </a:lnSpc>
              <a:spcAft>
                <a:spcPts val="1200"/>
              </a:spcAft>
              <a:defRPr sz="1800">
                <a:solidFill>
                  <a:srgbClr val="FFFFFF"/>
                </a:solidFill>
                <a:latin typeface="Arial"/>
              </a:defRPr>
            </a:pPr>
            <a:r>
              <a:t>•  %</a:t>
            </a:r>
          </a:p>
          <a:p>
            <a:pPr>
              <a:lnSpc>
                <a:spcPct val="130000"/>
              </a:lnSpc>
              <a:spcAft>
                <a:spcPts val="1200"/>
              </a:spcAft>
              <a:defRPr sz="1800">
                <a:solidFill>
                  <a:srgbClr val="FFFFFF"/>
                </a:solidFill>
                <a:latin typeface="Arial"/>
              </a:defRPr>
            </a:pPr>
            <a:r>
              <a:t>•  Value achievable post-completion (300K sqm) at 4% cap rate, assuming 250K-350K KRW/pyeong rent.</a:t>
            </a:r>
          </a:p>
          <a:p>
            <a:pPr>
              <a:lnSpc>
                <a:spcPct val="130000"/>
              </a:lnSpc>
              <a:spcAft>
                <a:spcPts val="1200"/>
              </a:spcAft>
              <a:defRPr sz="1800">
                <a:solidFill>
                  <a:srgbClr val="FFFFFF"/>
                </a:solidFill>
                <a:latin typeface="Arial"/>
              </a:defRPr>
            </a:pPr>
            <a:r>
              <a:t>•  Solid Cash Flow and Value Add potential generated by overwhelming location and scale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Prime Premium &amp; Exit Strategy</a:t>
            </a:r>
          </a:p>
          <a:p>
            <a:pPr>
              <a:spcBef>
                <a:spcPts val="1200"/>
              </a:spcBef>
              <a:defRPr sz="3200" b="1">
                <a:solidFill>
                  <a:srgbClr val="FFFFFF"/>
                </a:solidFill>
                <a:latin typeface="Arial"/>
              </a:defRPr>
            </a:pPr>
            <a:r>
              <a:t>Asset Premium and Capital Recycling / IPO Options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4.3 ASSET PREMIUM</a:t>
            </a:r>
          </a:p>
          <a:p>
            <a:pPr>
              <a:lnSpc>
                <a:spcPct val="130000"/>
              </a:lnSpc>
              <a:spcAft>
                <a:spcPts val="1200"/>
              </a:spcAft>
              <a:defRPr sz="1800">
                <a:solidFill>
                  <a:srgbClr val="FFFFFF"/>
                </a:solidFill>
                <a:latin typeface="Arial"/>
              </a:defRPr>
            </a:pPr>
            <a:r>
              <a:t>•  Premium Over Seoul Prime</a:t>
            </a:r>
          </a:p>
          <a:p>
            <a:pPr>
              <a:lnSpc>
                <a:spcPct val="130000"/>
              </a:lnSpc>
              <a:spcAft>
                <a:spcPts val="1200"/>
              </a:spcAft>
              <a:defRPr sz="1800">
                <a:solidFill>
                  <a:srgbClr val="FFFFFF"/>
                </a:solidFill>
                <a:latin typeface="Arial"/>
              </a:defRPr>
            </a:pPr>
            <a:r>
              <a:t>•  Base</a:t>
            </a:r>
          </a:p>
          <a:p>
            <a:pPr>
              <a:lnSpc>
                <a:spcPct val="130000"/>
              </a:lnSpc>
              <a:spcAft>
                <a:spcPts val="1200"/>
              </a:spcAft>
              <a:defRPr sz="1800">
                <a:solidFill>
                  <a:srgbClr val="FFFFFF"/>
                </a:solidFill>
                <a:latin typeface="Arial"/>
              </a:defRPr>
            </a:pPr>
            <a:r>
              <a:t>•  Seoul Avg</a:t>
            </a:r>
          </a:p>
          <a:p>
            <a:pPr>
              <a:lnSpc>
                <a:spcPct val="130000"/>
              </a:lnSpc>
              <a:spcAft>
                <a:spcPts val="1200"/>
              </a:spcAft>
              <a:defRPr sz="1800">
                <a:solidFill>
                  <a:srgbClr val="FFFFFF"/>
                </a:solidFill>
                <a:latin typeface="Arial"/>
              </a:defRPr>
            </a:pPr>
            <a:r>
              <a:t>•  +30~50%</a:t>
            </a:r>
          </a:p>
          <a:p>
            <a:pPr>
              <a:lnSpc>
                <a:spcPct val="130000"/>
              </a:lnSpc>
              <a:spcAft>
                <a:spcPts val="1200"/>
              </a:spcAft>
              <a:defRPr sz="1800">
                <a:solidFill>
                  <a:srgbClr val="FFFFFF"/>
                </a:solidFill>
                <a:latin typeface="Arial"/>
              </a:defRPr>
            </a:pPr>
            <a:r>
              <a:t>•  IOTA Seoul</a:t>
            </a:r>
          </a:p>
          <a:p>
            <a:pPr>
              <a:lnSpc>
                <a:spcPct val="130000"/>
              </a:lnSpc>
              <a:spcAft>
                <a:spcPts val="1200"/>
              </a:spcAft>
              <a:defRPr sz="1800">
                <a:solidFill>
                  <a:srgbClr val="FFFFFF"/>
                </a:solidFill>
                <a:latin typeface="Arial"/>
              </a:defRPr>
            </a:pPr>
            <a:r>
              <a:t>•  Tokyo Marunouchi Gap (~40%)</a:t>
            </a:r>
          </a:p>
          <a:p>
            <a:pPr>
              <a:lnSpc>
                <a:spcPct val="130000"/>
              </a:lnSpc>
              <a:spcAft>
                <a:spcPts val="1200"/>
              </a:spcAft>
              <a:defRPr sz="1800">
                <a:solidFill>
                  <a:srgbClr val="FFFFFF"/>
                </a:solidFill>
                <a:latin typeface="Arial"/>
              </a:defRPr>
            </a:pPr>
            <a:r>
              <a:t>•  Expect an ultra-gap premium comparable to Tokyo Marunouchi, driven by GTX and luxury mixed-use integration.</a:t>
            </a:r>
          </a:p>
          <a:p>
            <a:pPr>
              <a:lnSpc>
                <a:spcPct val="130000"/>
              </a:lnSpc>
              <a:spcAft>
                <a:spcPts val="1200"/>
              </a:spcAft>
              <a:defRPr sz="1800">
                <a:solidFill>
                  <a:srgbClr val="FFFFFF"/>
                </a:solidFill>
                <a:latin typeface="Arial"/>
              </a:defRPr>
            </a:pPr>
            <a:r>
              <a:t>•  4.4 &amp; 4.5 EXIT OPTIONALITY</a:t>
            </a:r>
          </a:p>
          <a:p>
            <a:pPr>
              <a:lnSpc>
                <a:spcPct val="130000"/>
              </a:lnSpc>
              <a:spcAft>
                <a:spcPts val="1200"/>
              </a:spcAft>
              <a:defRPr sz="1800">
                <a:solidFill>
                  <a:srgbClr val="FFFFFF"/>
                </a:solidFill>
                <a:latin typeface="Arial"/>
              </a:defRPr>
            </a:pPr>
            <a:r>
              <a:t>•  Post-Stabilization Exit Options</a:t>
            </a:r>
          </a:p>
          <a:p>
            <a:pPr>
              <a:lnSpc>
                <a:spcPct val="130000"/>
              </a:lnSpc>
              <a:spcAft>
                <a:spcPts val="1200"/>
              </a:spcAft>
              <a:defRPr sz="1800">
                <a:solidFill>
                  <a:srgbClr val="FFFFFF"/>
                </a:solidFill>
                <a:latin typeface="Arial"/>
              </a:defRPr>
            </a:pPr>
            <a:r>
              <a:t>•  OPTION A</a:t>
            </a:r>
          </a:p>
          <a:p>
            <a:pPr>
              <a:lnSpc>
                <a:spcPct val="130000"/>
              </a:lnSpc>
              <a:spcAft>
                <a:spcPts val="1200"/>
              </a:spcAft>
              <a:defRPr sz="1800">
                <a:solidFill>
                  <a:srgbClr val="FFFFFF"/>
                </a:solidFill>
                <a:latin typeface="Arial"/>
              </a:defRPr>
            </a:pPr>
            <a:r>
              <a:t>•  Global Core Fund Sale</a:t>
            </a:r>
          </a:p>
          <a:p>
            <a:pPr>
              <a:lnSpc>
                <a:spcPct val="130000"/>
              </a:lnSpc>
              <a:spcAft>
                <a:spcPts val="1200"/>
              </a:spcAft>
              <a:defRPr sz="1800">
                <a:solidFill>
                  <a:srgbClr val="FFFFFF"/>
                </a:solidFill>
                <a:latin typeface="Arial"/>
              </a:defRPr>
            </a:pPr>
            <a:r>
              <a:t>•  To blue-chip institutions (GIC, Allianz)</a:t>
            </a:r>
          </a:p>
          <a:p>
            <a:pPr>
              <a:lnSpc>
                <a:spcPct val="130000"/>
              </a:lnSpc>
              <a:spcAft>
                <a:spcPts val="1200"/>
              </a:spcAft>
              <a:defRPr sz="1800">
                <a:solidFill>
                  <a:srgbClr val="FFFFFF"/>
                </a:solidFill>
                <a:latin typeface="Arial"/>
              </a:defRPr>
            </a:pPr>
            <a:r>
              <a:t>•  OPTION B</a:t>
            </a:r>
          </a:p>
          <a:p>
            <a:pPr>
              <a:lnSpc>
                <a:spcPct val="130000"/>
              </a:lnSpc>
              <a:spcAft>
                <a:spcPts val="1200"/>
              </a:spcAft>
              <a:defRPr sz="1800">
                <a:solidFill>
                  <a:srgbClr val="FFFFFF"/>
                </a:solidFill>
                <a:latin typeface="Arial"/>
              </a:defRPr>
            </a:pPr>
            <a:r>
              <a:t>•  Permanent Hold</a:t>
            </a:r>
          </a:p>
          <a:p>
            <a:pPr>
              <a:lnSpc>
                <a:spcPct val="130000"/>
              </a:lnSpc>
              <a:spcAft>
                <a:spcPts val="1200"/>
              </a:spcAft>
              <a:defRPr sz="1800">
                <a:solidFill>
                  <a:srgbClr val="FFFFFF"/>
                </a:solidFill>
                <a:latin typeface="Arial"/>
              </a:defRPr>
            </a:pPr>
            <a:r>
              <a:t>•  Tokyo GranSta Model (Maintain Trophy)</a:t>
            </a:r>
          </a:p>
          <a:p>
            <a:pPr>
              <a:lnSpc>
                <a:spcPct val="130000"/>
              </a:lnSpc>
              <a:spcAft>
                <a:spcPts val="1200"/>
              </a:spcAft>
              <a:defRPr sz="1800">
                <a:solidFill>
                  <a:srgbClr val="FFFFFF"/>
                </a:solidFill>
                <a:latin typeface="Arial"/>
              </a:defRPr>
            </a:pPr>
            <a:r>
              <a:t>•  OPTION C (BASE CASE)</a:t>
            </a:r>
          </a:p>
          <a:p>
            <a:pPr>
              <a:lnSpc>
                <a:spcPct val="130000"/>
              </a:lnSpc>
              <a:spcAft>
                <a:spcPts val="1200"/>
              </a:spcAft>
              <a:defRPr sz="1800">
                <a:solidFill>
                  <a:srgbClr val="FFFFFF"/>
                </a:solidFill>
                <a:latin typeface="Arial"/>
              </a:defRPr>
            </a:pPr>
            <a:r>
              <a:t>•  IOTA Office REIT IPO</a:t>
            </a:r>
          </a:p>
          <a:p>
            <a:pPr>
              <a:lnSpc>
                <a:spcPct val="130000"/>
              </a:lnSpc>
              <a:spcAft>
                <a:spcPts val="1200"/>
              </a:spcAft>
              <a:defRPr sz="1800">
                <a:solidFill>
                  <a:srgbClr val="FFFFFF"/>
                </a:solidFill>
                <a:latin typeface="Arial"/>
              </a:defRPr>
            </a:pPr>
            <a:r>
              <a:t>•  5-7T KRW Scale single largest REIT</a:t>
            </a:r>
          </a:p>
          <a:p>
            <a:pPr>
              <a:lnSpc>
                <a:spcPct val="130000"/>
              </a:lnSpc>
              <a:spcAft>
                <a:spcPts val="1200"/>
              </a:spcAft>
              <a:defRPr sz="1800">
                <a:solidFill>
                  <a:srgbClr val="FFFFFF"/>
                </a:solidFill>
                <a:latin typeface="Arial"/>
              </a:defRPr>
            </a:pPr>
            <a:r>
              <a:t>•  Best Scenario</a:t>
            </a:r>
          </a:p>
          <a:p>
            <a:pPr>
              <a:lnSpc>
                <a:spcPct val="130000"/>
              </a:lnSpc>
              <a:spcAft>
                <a:spcPts val="1200"/>
              </a:spcAft>
              <a:defRPr sz="1800">
                <a:solidFill>
                  <a:srgbClr val="FFFFFF"/>
                </a:solidFill>
                <a:latin typeface="Arial"/>
              </a:defRPr>
            </a:pPr>
            <a:r>
              <a:t>•  Securing the potential for the largest single REIT listing and prime exit options for global capital</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5.</a:t>
            </a:r>
          </a:p>
          <a:p>
            <a:pPr algn="ctr">
              <a:spcBef>
                <a:spcPts val="1200"/>
              </a:spcBef>
              <a:defRPr sz="3200" b="1">
                <a:solidFill>
                  <a:srgbClr val="FFFFFF"/>
                </a:solidFill>
                <a:latin typeface="Arial"/>
              </a:defRPr>
            </a:pPr>
            <a:r>
              <a:t>Risk Analysis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Macro &amp; Market Environment</a:t>
            </a:r>
          </a:p>
          <a:p>
            <a:pPr>
              <a:spcBef>
                <a:spcPts val="1200"/>
              </a:spcBef>
              <a:defRPr sz="3200" b="1">
                <a:solidFill>
                  <a:srgbClr val="FFFFFF"/>
                </a:solidFill>
                <a:latin typeface="Arial"/>
              </a:defRPr>
            </a:pPr>
            <a:r>
              <a:t>Macro Variables &amp; PF Liquidity Risks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RISK 1</a:t>
            </a:r>
          </a:p>
          <a:p>
            <a:pPr>
              <a:lnSpc>
                <a:spcPct val="130000"/>
              </a:lnSpc>
              <a:spcAft>
                <a:spcPts val="1200"/>
              </a:spcAft>
              <a:defRPr sz="1800">
                <a:solidFill>
                  <a:srgbClr val="FFFFFF"/>
                </a:solidFill>
                <a:latin typeface="Arial"/>
              </a:defRPr>
            </a:pPr>
            <a:r>
              <a:t>•  Interest Rate Environment</a:t>
            </a:r>
          </a:p>
          <a:p>
            <a:pPr>
              <a:lnSpc>
                <a:spcPct val="130000"/>
              </a:lnSpc>
              <a:spcAft>
                <a:spcPts val="1200"/>
              </a:spcAft>
              <a:defRPr sz="1800">
                <a:solidFill>
                  <a:srgbClr val="FFFFFF"/>
                </a:solidFill>
                <a:latin typeface="Arial"/>
              </a:defRPr>
            </a:pPr>
            <a:r>
              <a:t>•  Base rate expected to fall further in 2026-2027, but sharp cuts are limited.</a:t>
            </a:r>
          </a:p>
          <a:p>
            <a:pPr>
              <a:lnSpc>
                <a:spcPct val="130000"/>
              </a:lnSpc>
              <a:spcAft>
                <a:spcPts val="1200"/>
              </a:spcAft>
              <a:defRPr sz="1800">
                <a:solidFill>
                  <a:srgbClr val="FFFFFF"/>
                </a:solidFill>
                <a:latin typeface="Arial"/>
              </a:defRPr>
            </a:pPr>
            <a:r>
              <a:t>•  If PF Senior rate drops to 5-6%, IPR equity IRR improves by 200-300bp.</a:t>
            </a:r>
          </a:p>
          <a:p>
            <a:pPr>
              <a:lnSpc>
                <a:spcPct val="130000"/>
              </a:lnSpc>
              <a:spcAft>
                <a:spcPts val="1200"/>
              </a:spcAft>
              <a:defRPr sz="1800">
                <a:solidFill>
                  <a:srgbClr val="FFFFFF"/>
                </a:solidFill>
                <a:latin typeface="Arial"/>
              </a:defRPr>
            </a:pPr>
            <a:r>
              <a:t>•  RISK 2</a:t>
            </a:r>
          </a:p>
          <a:p>
            <a:pPr>
              <a:lnSpc>
                <a:spcPct val="130000"/>
              </a:lnSpc>
              <a:spcAft>
                <a:spcPts val="1200"/>
              </a:spcAft>
              <a:defRPr sz="1800">
                <a:solidFill>
                  <a:srgbClr val="FFFFFF"/>
                </a:solidFill>
                <a:latin typeface="Arial"/>
              </a:defRPr>
            </a:pPr>
            <a:r>
              <a:t>•  Construction Cost Inflation</a:t>
            </a:r>
          </a:p>
          <a:p>
            <a:pPr>
              <a:lnSpc>
                <a:spcPct val="130000"/>
              </a:lnSpc>
              <a:spcAft>
                <a:spcPts val="1200"/>
              </a:spcAft>
              <a:defRPr sz="1800">
                <a:solidFill>
                  <a:srgbClr val="FFFFFF"/>
                </a:solidFill>
                <a:latin typeface="Arial"/>
              </a:defRPr>
            </a:pPr>
            <a:r>
              <a:t>•  Despite downward adjustment to 40M KRW/pyeong, risk of further fluctuations remains.</a:t>
            </a:r>
          </a:p>
          <a:p>
            <a:pPr>
              <a:lnSpc>
                <a:spcPct val="130000"/>
              </a:lnSpc>
              <a:spcAft>
                <a:spcPts val="1200"/>
              </a:spcAft>
              <a:defRPr sz="1800">
                <a:solidFill>
                  <a:srgbClr val="FFFFFF"/>
                </a:solidFill>
                <a:latin typeface="Arial"/>
              </a:defRPr>
            </a:pPr>
            <a:r>
              <a:t>•  Lock-in of unit costs with Samsung C&amp;T and Hyundai E&amp;C is the key control variable.</a:t>
            </a:r>
          </a:p>
          <a:p>
            <a:pPr>
              <a:lnSpc>
                <a:spcPct val="130000"/>
              </a:lnSpc>
              <a:spcAft>
                <a:spcPts val="1200"/>
              </a:spcAft>
              <a:defRPr sz="1800">
                <a:solidFill>
                  <a:srgbClr val="FFFFFF"/>
                </a:solidFill>
                <a:latin typeface="Arial"/>
              </a:defRPr>
            </a:pPr>
            <a:r>
              <a:t>•  RISK 3</a:t>
            </a:r>
          </a:p>
          <a:p>
            <a:pPr>
              <a:lnSpc>
                <a:spcPct val="130000"/>
              </a:lnSpc>
              <a:spcAft>
                <a:spcPts val="1200"/>
              </a:spcAft>
              <a:defRPr sz="1800">
                <a:solidFill>
                  <a:srgbClr val="FFFFFF"/>
                </a:solidFill>
                <a:latin typeface="Arial"/>
              </a:defRPr>
            </a:pPr>
            <a:r>
              <a:t>•  PF Market Liquidity</a:t>
            </a:r>
          </a:p>
          <a:p>
            <a:pPr>
              <a:lnSpc>
                <a:spcPct val="130000"/>
              </a:lnSpc>
              <a:spcAft>
                <a:spcPts val="1200"/>
              </a:spcAft>
              <a:defRPr sz="1800">
                <a:solidFill>
                  <a:srgbClr val="FFFFFF"/>
                </a:solidFill>
                <a:latin typeface="Arial"/>
              </a:defRPr>
            </a:pPr>
            <a:r>
              <a:t>•  Market trust recovering post-PF crisis, but financial sector remains conservative on mega PFs.</a:t>
            </a:r>
          </a:p>
          <a:p>
            <a:pPr>
              <a:lnSpc>
                <a:spcPct val="130000"/>
              </a:lnSpc>
              <a:spcAft>
                <a:spcPts val="1200"/>
              </a:spcAft>
              <a:defRPr sz="1800">
                <a:solidFill>
                  <a:srgbClr val="FFFFFF"/>
                </a:solidFill>
                <a:latin typeface="Arial"/>
              </a:defRPr>
            </a:pPr>
            <a:r>
              <a:t>•  Mega PFs like IOTA require club deal syndications as single institutions cannot cover them.</a:t>
            </a:r>
          </a:p>
          <a:p>
            <a:pPr>
              <a:lnSpc>
                <a:spcPct val="130000"/>
              </a:lnSpc>
              <a:spcAft>
                <a:spcPts val="1200"/>
              </a:spcAft>
              <a:defRPr sz="1800">
                <a:solidFill>
                  <a:srgbClr val="FFFFFF"/>
                </a:solidFill>
                <a:latin typeface="Arial"/>
              </a:defRPr>
            </a:pPr>
            <a:r>
              <a:t>•  Thorough control of interest rates/costs and diversification of funding to counter macro uncertainties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FFFFFF"/>
                </a:solidFill>
                <a:latin typeface="Arial"/>
              </a:defRPr>
            </a:pPr>
            <a:r>
              <a:t>Politics, Regulations &amp; Operations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Permit Variables &amp; Anchor Tenant Risks</a:t>
            </a:r>
          </a:p>
          <a:p>
            <a:pPr>
              <a:lnSpc>
                <a:spcPct val="130000"/>
              </a:lnSpc>
              <a:spcAft>
                <a:spcPts val="1200"/>
              </a:spcAft>
              <a:defRPr sz="1800">
                <a:solidFill>
                  <a:srgbClr val="FFFFFF"/>
                </a:solidFill>
                <a:latin typeface="Arial"/>
              </a:defRPr>
            </a:pPr>
            <a:r>
              <a:t>•  RISK 4</a:t>
            </a:r>
          </a:p>
          <a:p>
            <a:pPr>
              <a:lnSpc>
                <a:spcPct val="130000"/>
              </a:lnSpc>
              <a:spcAft>
                <a:spcPts val="1200"/>
              </a:spcAft>
              <a:defRPr sz="1800">
                <a:solidFill>
                  <a:srgbClr val="FFFFFF"/>
                </a:solidFill>
                <a:latin typeface="Arial"/>
              </a:defRPr>
            </a:pPr>
            <a:r>
              <a:t>•  Regulatory &amp; Political Variables</a:t>
            </a:r>
          </a:p>
          <a:p>
            <a:pPr>
              <a:lnSpc>
                <a:spcPct val="130000"/>
              </a:lnSpc>
              <a:spcAft>
                <a:spcPts val="1200"/>
              </a:spcAft>
              <a:defRPr sz="1800">
                <a:solidFill>
                  <a:srgbClr val="FFFFFF"/>
                </a:solidFill>
                <a:latin typeface="Arial"/>
              </a:defRPr>
            </a:pPr>
            <a:r>
              <a:t>•  Secured urban planning approval, but permits and various impact assessments remain.</a:t>
            </a:r>
          </a:p>
          <a:p>
            <a:pPr>
              <a:lnSpc>
                <a:spcPct val="130000"/>
              </a:lnSpc>
              <a:spcAft>
                <a:spcPts val="1200"/>
              </a:spcAft>
              <a:defRPr sz="1800">
                <a:solidFill>
                  <a:srgbClr val="FFFFFF"/>
                </a:solidFill>
                <a:latin typeface="Arial"/>
              </a:defRPr>
            </a:pPr>
            <a:r>
              <a:t>•  Possibility of urban planning changes due to political shifts.</a:t>
            </a:r>
          </a:p>
          <a:p>
            <a:pPr>
              <a:lnSpc>
                <a:spcPct val="130000"/>
              </a:lnSpc>
              <a:spcAft>
                <a:spcPts val="1200"/>
              </a:spcAft>
              <a:defRPr sz="1800">
                <a:solidFill>
                  <a:srgbClr val="FFFFFF"/>
                </a:solidFill>
                <a:latin typeface="Arial"/>
              </a:defRPr>
            </a:pPr>
            <a:r>
              <a:t>•  Key Requirement</a:t>
            </a:r>
          </a:p>
          <a:p>
            <a:pPr>
              <a:lnSpc>
                <a:spcPct val="130000"/>
              </a:lnSpc>
              <a:spcAft>
                <a:spcPts val="1200"/>
              </a:spcAft>
              <a:defRPr sz="1800">
                <a:solidFill>
                  <a:srgbClr val="FFFFFF"/>
                </a:solidFill>
                <a:latin typeface="Arial"/>
              </a:defRPr>
            </a:pPr>
            <a:r>
              <a:t>•  Thorough alignment with the real estate/urban planning stance of the late Lee Jae-myung administration (2027-2030) is required.</a:t>
            </a:r>
          </a:p>
          <a:p>
            <a:pPr>
              <a:lnSpc>
                <a:spcPct val="130000"/>
              </a:lnSpc>
              <a:spcAft>
                <a:spcPts val="1200"/>
              </a:spcAft>
              <a:defRPr sz="1800">
                <a:solidFill>
                  <a:srgbClr val="FFFFFF"/>
                </a:solidFill>
                <a:latin typeface="Arial"/>
              </a:defRPr>
            </a:pPr>
            <a:r>
              <a:t>•  RISK 5</a:t>
            </a:r>
          </a:p>
          <a:p>
            <a:pPr>
              <a:lnSpc>
                <a:spcPct val="130000"/>
              </a:lnSpc>
              <a:spcAft>
                <a:spcPts val="1200"/>
              </a:spcAft>
              <a:defRPr sz="1800">
                <a:solidFill>
                  <a:srgbClr val="FFFFFF"/>
                </a:solidFill>
                <a:latin typeface="Arial"/>
              </a:defRPr>
            </a:pPr>
            <a:r>
              <a:t>•  Securing Anchor Tenants</a:t>
            </a:r>
          </a:p>
          <a:p>
            <a:pPr>
              <a:lnSpc>
                <a:spcPct val="130000"/>
              </a:lnSpc>
              <a:spcAft>
                <a:spcPts val="1200"/>
              </a:spcAft>
              <a:defRPr sz="1800">
                <a:solidFill>
                  <a:srgbClr val="FFFFFF"/>
                </a:solidFill>
                <a:latin typeface="Arial"/>
              </a:defRPr>
            </a:pPr>
            <a:r>
              <a:t>•  Samsung C&amp;T master lease (75%) and Ritz-Carlton agreement are progress, but lease extension negotiation is a variable for Main PF.</a:t>
            </a:r>
          </a:p>
          <a:p>
            <a:pPr>
              <a:lnSpc>
                <a:spcPct val="130000"/>
              </a:lnSpc>
              <a:spcAft>
                <a:spcPts val="1200"/>
              </a:spcAft>
              <a:defRPr sz="1800">
                <a:solidFill>
                  <a:srgbClr val="FFFFFF"/>
                </a:solidFill>
                <a:latin typeface="Arial"/>
              </a:defRPr>
            </a:pPr>
            <a:r>
              <a:t>•  Core of Trophy Positioning</a:t>
            </a:r>
          </a:p>
          <a:p>
            <a:pPr>
              <a:lnSpc>
                <a:spcPct val="130000"/>
              </a:lnSpc>
              <a:spcAft>
                <a:spcPts val="1200"/>
              </a:spcAft>
              <a:defRPr sz="1800">
                <a:solidFill>
                  <a:srgbClr val="FFFFFF"/>
                </a:solidFill>
                <a:latin typeface="Arial"/>
              </a:defRPr>
            </a:pPr>
            <a:r>
              <a:t>•  Attracting global HQs (Google, MS, Amazon, etc.) for the remaining 25% office space.</a:t>
            </a:r>
          </a:p>
          <a:p>
            <a:pPr>
              <a:lnSpc>
                <a:spcPct val="130000"/>
              </a:lnSpc>
              <a:spcAft>
                <a:spcPts val="1200"/>
              </a:spcAft>
              <a:defRPr sz="1800">
                <a:solidFill>
                  <a:srgbClr val="FFFFFF"/>
                </a:solidFill>
                <a:latin typeface="Arial"/>
              </a:defRPr>
            </a:pPr>
            <a:r>
              <a:t>•  Flexibly respond to political shifts and maximize asset value with global anchor tenants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A1A1A1"/>
                </a:solidFill>
                <a:latin typeface="Arial"/>
              </a:defRPr>
            </a:pPr>
            <a:r>
              <a:t>Global Capital &amp; Governance</a:t>
            </a:r>
          </a:p>
          <a:p>
            <a:pPr>
              <a:spcBef>
                <a:spcPts val="1200"/>
              </a:spcBef>
              <a:defRPr sz="3200" b="1">
                <a:solidFill>
                  <a:srgbClr val="FFFFFF"/>
                </a:solidFill>
                <a:latin typeface="Arial"/>
              </a:defRPr>
            </a:pPr>
            <a:r>
              <a:t>Foreign Capital &amp; Governance Sale Risks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FFFFFF"/>
                </a:solidFill>
                <a:latin typeface="Arial"/>
              </a:defRPr>
            </a:pPr>
            <a:r>
              <a:t>•  RISK 6</a:t>
            </a:r>
          </a:p>
          <a:p>
            <a:pPr>
              <a:lnSpc>
                <a:spcPct val="130000"/>
              </a:lnSpc>
              <a:spcAft>
                <a:spcPts val="1200"/>
              </a:spcAft>
              <a:defRPr sz="1800">
                <a:solidFill>
                  <a:srgbClr val="FFFFFF"/>
                </a:solidFill>
                <a:latin typeface="Arial"/>
              </a:defRPr>
            </a:pPr>
            <a:r>
              <a:t>•  Foreign Capital Participation</a:t>
            </a:r>
          </a:p>
          <a:p>
            <a:pPr>
              <a:lnSpc>
                <a:spcPct val="130000"/>
              </a:lnSpc>
              <a:spcAft>
                <a:spcPts val="1200"/>
              </a:spcAft>
              <a:defRPr sz="1800">
                <a:solidFill>
                  <a:srgbClr val="FFFFFF"/>
                </a:solidFill>
                <a:latin typeface="Arial"/>
              </a:defRPr>
            </a:pPr>
            <a:r>
              <a:t>•  Trophy significance is complete only with explicit participation of global LPs in IPR Equity.</a:t>
            </a:r>
          </a:p>
          <a:p>
            <a:pPr>
              <a:lnSpc>
                <a:spcPct val="130000"/>
              </a:lnSpc>
              <a:spcAft>
                <a:spcPts val="1200"/>
              </a:spcAft>
              <a:defRPr sz="1800">
                <a:solidFill>
                  <a:srgbClr val="FFFFFF"/>
                </a:solidFill>
                <a:latin typeface="Arial"/>
              </a:defRPr>
            </a:pPr>
            <a:r>
              <a:t>•  Strategic Milestone</a:t>
            </a:r>
          </a:p>
          <a:p>
            <a:pPr>
              <a:lnSpc>
                <a:spcPct val="130000"/>
              </a:lnSpc>
              <a:spcAft>
                <a:spcPts val="1200"/>
              </a:spcAft>
              <a:defRPr sz="1800">
                <a:solidFill>
                  <a:srgbClr val="FFFFFF"/>
                </a:solidFill>
                <a:latin typeface="Arial"/>
              </a:defRPr>
            </a:pPr>
            <a:r>
              <a:t>•  Secure at least 1-2 global SWF/Pension LPs by closing in Dec 2026.</a:t>
            </a:r>
          </a:p>
          <a:p>
            <a:pPr>
              <a:lnSpc>
                <a:spcPct val="130000"/>
              </a:lnSpc>
              <a:spcAft>
                <a:spcPts val="1200"/>
              </a:spcAft>
              <a:defRPr sz="1800">
                <a:solidFill>
                  <a:srgbClr val="FFFFFF"/>
                </a:solidFill>
                <a:latin typeface="Arial"/>
              </a:defRPr>
            </a:pPr>
            <a:r>
              <a:t>•  RISK 7</a:t>
            </a:r>
          </a:p>
          <a:p>
            <a:pPr>
              <a:lnSpc>
                <a:spcPct val="130000"/>
              </a:lnSpc>
              <a:spcAft>
                <a:spcPts val="1200"/>
              </a:spcAft>
              <a:defRPr sz="1800">
                <a:solidFill>
                  <a:srgbClr val="FFFFFF"/>
                </a:solidFill>
                <a:latin typeface="Arial"/>
              </a:defRPr>
            </a:pPr>
            <a:r>
              <a:t>•  Governance Risks</a:t>
            </a:r>
          </a:p>
          <a:p>
            <a:pPr>
              <a:lnSpc>
                <a:spcPct val="130000"/>
              </a:lnSpc>
              <a:spcAft>
                <a:spcPts val="1200"/>
              </a:spcAft>
              <a:defRPr sz="1800">
                <a:solidFill>
                  <a:srgbClr val="FFFFFF"/>
                </a:solidFill>
                <a:latin typeface="Arial"/>
              </a:defRPr>
            </a:pPr>
            <a:r>
              <a:t>•  IGIS controlling stake sale in progress. Commitment from the new major shareholder to the IOTA project is crucial for LP trust.</a:t>
            </a:r>
          </a:p>
          <a:p>
            <a:pPr>
              <a:lnSpc>
                <a:spcPct val="130000"/>
              </a:lnSpc>
              <a:spcAft>
                <a:spcPts val="1200"/>
              </a:spcAft>
              <a:defRPr sz="1800">
                <a:solidFill>
                  <a:srgbClr val="FFFFFF"/>
                </a:solidFill>
                <a:latin typeface="Arial"/>
              </a:defRPr>
            </a:pPr>
            <a:r>
              <a:t>•  Perfect time alignment between the acquirer selection schedule and IPR closing schedule is essential.</a:t>
            </a:r>
          </a:p>
          <a:p>
            <a:pPr>
              <a:lnSpc>
                <a:spcPct val="130000"/>
              </a:lnSpc>
              <a:spcAft>
                <a:spcPts val="1200"/>
              </a:spcAft>
              <a:defRPr sz="1800">
                <a:solidFill>
                  <a:srgbClr val="FFFFFF"/>
                </a:solidFill>
                <a:latin typeface="Arial"/>
              </a:defRPr>
            </a:pPr>
            <a:r>
              <a:t>•  Completing IPR closing through global capital attraction and stable governance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6.</a:t>
            </a:r>
          </a:p>
          <a:p>
            <a:pPr algn="ctr">
              <a:spcBef>
                <a:spcPts val="1200"/>
              </a:spcBef>
              <a:defRPr sz="3200" b="1">
                <a:solidFill>
                  <a:srgbClr val="FFFFFF"/>
                </a:solidFill>
                <a:latin typeface="Arial"/>
              </a:defRPr>
            </a:pPr>
            <a:r>
              <a:t>Historical Significance of IOTA</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The 4 Inflection Points &amp; IOTA</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The New Defining Trophy of the $1T to $2T Era</a:t>
            </a:r>
          </a:p>
          <a:p>
            <a:pPr>
              <a:lnSpc>
                <a:spcPct val="130000"/>
              </a:lnSpc>
              <a:spcAft>
                <a:spcPts val="1200"/>
              </a:spcAft>
              <a:defRPr sz="1800">
                <a:solidFill>
                  <a:srgbClr val="1D1D1F"/>
                </a:solidFill>
                <a:latin typeface="Arial"/>
              </a:defRPr>
            </a:pPr>
            <a:r>
              <a:t>•  Global Hegemony &amp; Historical Inflection Points</a:t>
            </a:r>
          </a:p>
          <a:p>
            <a:pPr>
              <a:lnSpc>
                <a:spcPct val="130000"/>
              </a:lnSpc>
              <a:spcAft>
                <a:spcPts val="1200"/>
              </a:spcAft>
              <a:defRPr sz="1800">
                <a:solidFill>
                  <a:srgbClr val="1D1D1F"/>
                </a:solidFill>
                <a:latin typeface="Arial"/>
              </a:defRPr>
            </a:pPr>
            <a:r>
              <a:t>•  18C</a:t>
            </a:r>
          </a:p>
          <a:p>
            <a:pPr>
              <a:lnSpc>
                <a:spcPct val="130000"/>
              </a:lnSpc>
              <a:spcAft>
                <a:spcPts val="1200"/>
              </a:spcAft>
              <a:defRPr sz="1800">
                <a:solidFill>
                  <a:srgbClr val="1D1D1F"/>
                </a:solidFill>
                <a:latin typeface="Arial"/>
              </a:defRPr>
            </a:pPr>
            <a:r>
              <a:t>•  Industrial Revolution</a:t>
            </a:r>
          </a:p>
          <a:p>
            <a:pPr>
              <a:lnSpc>
                <a:spcPct val="130000"/>
              </a:lnSpc>
              <a:spcAft>
                <a:spcPts val="1200"/>
              </a:spcAft>
              <a:defRPr sz="1800">
                <a:solidFill>
                  <a:srgbClr val="1D1D1F"/>
                </a:solidFill>
                <a:latin typeface="Arial"/>
              </a:defRPr>
            </a:pPr>
            <a:r>
              <a:t>•  Steam Engine → Single tech inflection point forming global hegemony</a:t>
            </a:r>
          </a:p>
          <a:p>
            <a:pPr>
              <a:lnSpc>
                <a:spcPct val="130000"/>
              </a:lnSpc>
              <a:spcAft>
                <a:spcPts val="1200"/>
              </a:spcAft>
              <a:defRPr sz="1800">
                <a:solidFill>
                  <a:srgbClr val="1D1D1F"/>
                </a:solidFill>
                <a:latin typeface="Arial"/>
              </a:defRPr>
            </a:pPr>
            <a:r>
              <a:t>•  20C</a:t>
            </a:r>
          </a:p>
          <a:p>
            <a:pPr>
              <a:lnSpc>
                <a:spcPct val="130000"/>
              </a:lnSpc>
              <a:spcAft>
                <a:spcPts val="1200"/>
              </a:spcAft>
              <a:defRPr sz="1800">
                <a:solidFill>
                  <a:srgbClr val="1D1D1F"/>
                </a:solidFill>
                <a:latin typeface="Arial"/>
              </a:defRPr>
            </a:pPr>
            <a:r>
              <a:t>•  Cold War (US/USSR)</a:t>
            </a:r>
          </a:p>
          <a:p>
            <a:pPr>
              <a:lnSpc>
                <a:spcPct val="130000"/>
              </a:lnSpc>
              <a:spcAft>
                <a:spcPts val="1200"/>
              </a:spcAft>
              <a:defRPr sz="1800">
                <a:solidFill>
                  <a:srgbClr val="1D1D1F"/>
                </a:solidFill>
                <a:latin typeface="Arial"/>
              </a:defRPr>
            </a:pPr>
            <a:r>
              <a:t>•  Nuclear/Space tech → Forming new geopolitics</a:t>
            </a:r>
          </a:p>
          <a:p>
            <a:pPr>
              <a:lnSpc>
                <a:spcPct val="130000"/>
              </a:lnSpc>
              <a:spcAft>
                <a:spcPts val="1200"/>
              </a:spcAft>
              <a:defRPr sz="1800">
                <a:solidFill>
                  <a:srgbClr val="1D1D1F"/>
                </a:solidFill>
                <a:latin typeface="Arial"/>
              </a:defRPr>
            </a:pPr>
            <a:r>
              <a:t>•  21C</a:t>
            </a:r>
          </a:p>
          <a:p>
            <a:pPr>
              <a:lnSpc>
                <a:spcPct val="130000"/>
              </a:lnSpc>
              <a:spcAft>
                <a:spcPts val="1200"/>
              </a:spcAft>
              <a:defRPr sz="1800">
                <a:solidFill>
                  <a:srgbClr val="1D1D1F"/>
                </a:solidFill>
                <a:latin typeface="Arial"/>
              </a:defRPr>
            </a:pPr>
            <a:r>
              <a:t>•  Korea\'s 4 Inflection Points</a:t>
            </a:r>
          </a:p>
          <a:p>
            <a:pPr>
              <a:lnSpc>
                <a:spcPct val="130000"/>
              </a:lnSpc>
              <a:spcAft>
                <a:spcPts val="1200"/>
              </a:spcAft>
              <a:defRPr sz="1800">
                <a:solidFill>
                  <a:srgbClr val="1D1D1F"/>
                </a:solidFill>
                <a:latin typeface="Arial"/>
              </a:defRPr>
            </a:pPr>
            <a:r>
              <a:t>•  AI · Semiconductors · Culture · Population</a:t>
            </a:r>
          </a:p>
          <a:p>
            <a:pPr>
              <a:lnSpc>
                <a:spcPct val="130000"/>
              </a:lnSpc>
              <a:spcAft>
                <a:spcPts val="1200"/>
              </a:spcAft>
              <a:defRPr sz="1800">
                <a:solidFill>
                  <a:srgbClr val="1D1D1F"/>
                </a:solidFill>
                <a:latin typeface="Arial"/>
              </a:defRPr>
            </a:pPr>
            <a:r>
              <a:t>•  The Conclusion of the $1T to $2T Era</a:t>
            </a:r>
          </a:p>
          <a:p>
            <a:pPr>
              <a:lnSpc>
                <a:spcPct val="130000"/>
              </a:lnSpc>
              <a:spcAft>
                <a:spcPts val="1200"/>
              </a:spcAft>
              <a:defRPr sz="1800">
                <a:solidFill>
                  <a:srgbClr val="1D1D1F"/>
                </a:solidFill>
                <a:latin typeface="Arial"/>
              </a:defRPr>
            </a:pPr>
            <a:r>
              <a:t>•  Birth of a New Landmark</a:t>
            </a:r>
          </a:p>
          <a:p>
            <a:pPr>
              <a:lnSpc>
                <a:spcPct val="130000"/>
              </a:lnSpc>
              <a:spcAft>
                <a:spcPts val="1200"/>
              </a:spcAft>
              <a:defRPr sz="1800">
                <a:solidFill>
                  <a:srgbClr val="1D1D1F"/>
                </a:solidFill>
                <a:latin typeface="Arial"/>
              </a:defRPr>
            </a:pPr>
            <a:r>
              <a:t>•  A new era as Korea passes 4 inflection points. IOTA is a symbolic turning point leaping beyond single-building development into block-scale urban development.</a:t>
            </a:r>
          </a:p>
          <a:p>
            <a:pPr>
              <a:lnSpc>
                <a:spcPct val="130000"/>
              </a:lnSpc>
              <a:spcAft>
                <a:spcPts val="1200"/>
              </a:spcAft>
              <a:defRPr sz="1800">
                <a:solidFill>
                  <a:srgbClr val="1D1D1F"/>
                </a:solidFill>
                <a:latin typeface="Arial"/>
              </a:defRPr>
            </a:pPr>
            <a:r>
              <a:t>•  The frontline of a massive paradigm shift that proves the scale-up of the national economy beyond simple asset value.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Long-term Stewardship of Urban Districts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Beyond ROI: The Start of a Cross-Generational Capital Cycle</a:t>
            </a:r>
          </a:p>
          <a:p>
            <a:pPr>
              <a:lnSpc>
                <a:spcPct val="130000"/>
              </a:lnSpc>
              <a:spcAft>
                <a:spcPts val="1200"/>
              </a:spcAft>
              <a:defRPr sz="1800">
                <a:solidFill>
                  <a:srgbClr val="1D1D1F"/>
                </a:solidFill>
                <a:latin typeface="Arial"/>
              </a:defRPr>
            </a:pPr>
            <a:r>
              <a:t>•  30-50 Year District Masterplans by Single Developers</a:t>
            </a:r>
          </a:p>
          <a:p>
            <a:pPr>
              <a:lnSpc>
                <a:spcPct val="130000"/>
              </a:lnSpc>
              <a:spcAft>
                <a:spcPts val="1200"/>
              </a:spcAft>
              <a:defRPr sz="1800">
                <a:solidFill>
                  <a:srgbClr val="1D1D1F"/>
                </a:solidFill>
                <a:latin typeface="Arial"/>
              </a:defRPr>
            </a:pPr>
            <a:r>
              <a:t>•  TOKYO</a:t>
            </a:r>
          </a:p>
          <a:p>
            <a:pPr>
              <a:lnSpc>
                <a:spcPct val="130000"/>
              </a:lnSpc>
              <a:spcAft>
                <a:spcPts val="1200"/>
              </a:spcAft>
              <a:defRPr sz="1800">
                <a:solidFill>
                  <a:srgbClr val="1D1D1F"/>
                </a:solidFill>
                <a:latin typeface="Arial"/>
              </a:defRPr>
            </a:pPr>
            <a:r>
              <a:t>•  Marunouchi</a:t>
            </a:r>
          </a:p>
          <a:p>
            <a:pPr>
              <a:lnSpc>
                <a:spcPct val="130000"/>
              </a:lnSpc>
              <a:spcAft>
                <a:spcPts val="1200"/>
              </a:spcAft>
              <a:defRPr sz="1800">
                <a:solidFill>
                  <a:srgbClr val="1D1D1F"/>
                </a:solidFill>
                <a:latin typeface="Arial"/>
              </a:defRPr>
            </a:pPr>
            <a:r>
              <a:t>•  Led by Mitsubishi Estate</a:t>
            </a:r>
          </a:p>
          <a:p>
            <a:pPr>
              <a:lnSpc>
                <a:spcPct val="130000"/>
              </a:lnSpc>
              <a:spcAft>
                <a:spcPts val="1200"/>
              </a:spcAft>
              <a:defRPr sz="1800">
                <a:solidFill>
                  <a:srgbClr val="1D1D1F"/>
                </a:solidFill>
                <a:latin typeface="Arial"/>
              </a:defRPr>
            </a:pPr>
            <a:r>
              <a:t>•  LONDON</a:t>
            </a:r>
          </a:p>
          <a:p>
            <a:pPr>
              <a:lnSpc>
                <a:spcPct val="130000"/>
              </a:lnSpc>
              <a:spcAft>
                <a:spcPts val="1200"/>
              </a:spcAft>
              <a:defRPr sz="1800">
                <a:solidFill>
                  <a:srgbClr val="1D1D1F"/>
                </a:solidFill>
                <a:latin typeface="Arial"/>
              </a:defRPr>
            </a:pPr>
            <a:r>
              <a:t>•  King's Cross</a:t>
            </a:r>
          </a:p>
          <a:p>
            <a:pPr>
              <a:lnSpc>
                <a:spcPct val="130000"/>
              </a:lnSpc>
              <a:spcAft>
                <a:spcPts val="1200"/>
              </a:spcAft>
              <a:defRPr sz="1800">
                <a:solidFill>
                  <a:srgbClr val="1D1D1F"/>
                </a:solidFill>
                <a:latin typeface="Arial"/>
              </a:defRPr>
            </a:pPr>
            <a:r>
              <a:t>•  Argent Group</a:t>
            </a:r>
          </a:p>
          <a:p>
            <a:pPr>
              <a:lnSpc>
                <a:spcPct val="130000"/>
              </a:lnSpc>
              <a:spcAft>
                <a:spcPts val="1200"/>
              </a:spcAft>
              <a:defRPr sz="1800">
                <a:solidFill>
                  <a:srgbClr val="1D1D1F"/>
                </a:solidFill>
                <a:latin typeface="Arial"/>
              </a:defRPr>
            </a:pPr>
            <a:r>
              <a:t>•  NY</a:t>
            </a:r>
          </a:p>
          <a:p>
            <a:pPr>
              <a:lnSpc>
                <a:spcPct val="130000"/>
              </a:lnSpc>
              <a:spcAft>
                <a:spcPts val="1200"/>
              </a:spcAft>
              <a:defRPr sz="1800">
                <a:solidFill>
                  <a:srgbClr val="1D1D1F"/>
                </a:solidFill>
                <a:latin typeface="Arial"/>
              </a:defRPr>
            </a:pPr>
            <a:r>
              <a:t>•  Hudson Yards</a:t>
            </a:r>
          </a:p>
          <a:p>
            <a:pPr>
              <a:lnSpc>
                <a:spcPct val="130000"/>
              </a:lnSpc>
              <a:spcAft>
                <a:spcPts val="1200"/>
              </a:spcAft>
              <a:defRPr sz="1800">
                <a:solidFill>
                  <a:srgbClr val="1D1D1F"/>
                </a:solidFill>
                <a:latin typeface="Arial"/>
              </a:defRPr>
            </a:pPr>
            <a:r>
              <a:t>•  Related Companies</a:t>
            </a:r>
          </a:p>
          <a:p>
            <a:pPr>
              <a:lnSpc>
                <a:spcPct val="130000"/>
              </a:lnSpc>
              <a:spcAft>
                <a:spcPts val="1200"/>
              </a:spcAft>
              <a:defRPr sz="1800">
                <a:solidFill>
                  <a:srgbClr val="1D1D1F"/>
                </a:solidFill>
                <a:latin typeface="Arial"/>
              </a:defRPr>
            </a:pPr>
            <a:r>
              <a:t>•  Global Common Pattern</a:t>
            </a:r>
          </a:p>
          <a:p>
            <a:pPr>
              <a:lnSpc>
                <a:spcPct val="130000"/>
              </a:lnSpc>
              <a:spcAft>
                <a:spcPts val="1200"/>
              </a:spcAft>
              <a:defRPr sz="1800">
                <a:solidFill>
                  <a:srgbClr val="1D1D1F"/>
                </a:solidFill>
                <a:latin typeface="Arial"/>
              </a:defRPr>
            </a:pPr>
            <a:r>
              <a:t>•  A single developer stewarding a city district across generations</a:t>
            </a:r>
          </a:p>
          <a:p>
            <a:pPr>
              <a:lnSpc>
                <a:spcPct val="130000"/>
              </a:lnSpc>
              <a:spcAft>
                <a:spcPts val="1200"/>
              </a:spcAft>
              <a:defRPr sz="1800">
                <a:solidFill>
                  <a:srgbClr val="1D1D1F"/>
                </a:solidFill>
                <a:latin typeface="Arial"/>
              </a:defRPr>
            </a:pPr>
            <a:r>
              <a:t>•  Cross-Generational Capital Cycle</a:t>
            </a:r>
          </a:p>
          <a:p>
            <a:pPr>
              <a:lnSpc>
                <a:spcPct val="130000"/>
              </a:lnSpc>
              <a:spcAft>
                <a:spcPts val="1200"/>
              </a:spcAft>
              <a:defRPr sz="1800">
                <a:solidFill>
                  <a:srgbClr val="1D1D1F"/>
                </a:solidFill>
                <a:latin typeface="Arial"/>
              </a:defRPr>
            </a:pPr>
            <a:r>
              <a:t>•  Coexistence of City and Capital</a:t>
            </a:r>
          </a:p>
          <a:p>
            <a:pPr>
              <a:lnSpc>
                <a:spcPct val="130000"/>
              </a:lnSpc>
              <a:spcAft>
                <a:spcPts val="1200"/>
              </a:spcAft>
              <a:defRPr sz="1800">
                <a:solidFill>
                  <a:srgbClr val="1D1D1F"/>
                </a:solidFill>
                <a:latin typeface="Arial"/>
              </a:defRPr>
            </a:pPr>
            <a:r>
              <a:t>•  A long-term Stewardship model that continuously manages and evolves urban spaces over 30-50 years, not just building and selling.</a:t>
            </a:r>
          </a:p>
          <a:p>
            <a:pPr>
              <a:lnSpc>
                <a:spcPct val="130000"/>
              </a:lnSpc>
              <a:spcAft>
                <a:spcPts val="1200"/>
              </a:spcAft>
              <a:defRPr sz="1800">
                <a:solidFill>
                  <a:srgbClr val="1D1D1F"/>
                </a:solidFill>
                <a:latin typeface="Arial"/>
              </a:defRPr>
            </a:pPr>
            <a:r>
              <a:t>•  Like NY\'s Related or London\'s Argent, IOTA marks the beginning of IGIS becoming a long-term partner managing Seoul beyond a simple developer.</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3200" b="1">
                <a:solidFill>
                  <a:srgbClr val="1D1D1F"/>
                </a:solidFill>
                <a:latin typeface="Arial"/>
              </a:defRPr>
            </a:pPr>
            <a:r>
              <a:t>Symbolism &amp; Powerful Brand Effect</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Beyond a Single Building: A Landmark Defining Seoul\'s Identity</a:t>
            </a:r>
          </a:p>
          <a:p>
            <a:pPr>
              <a:lnSpc>
                <a:spcPct val="130000"/>
              </a:lnSpc>
              <a:spcAft>
                <a:spcPts val="1200"/>
              </a:spcAft>
              <a:defRPr sz="1800">
                <a:solidFill>
                  <a:srgbClr val="1D1D1F"/>
                </a:solidFill>
                <a:latin typeface="Arial"/>
              </a:defRPr>
            </a:pPr>
            <a:r>
              <a:t>•  Beyond Single Buildings to Block-Scale Paradigm</a:t>
            </a:r>
          </a:p>
          <a:p>
            <a:pPr>
              <a:lnSpc>
                <a:spcPct val="130000"/>
              </a:lnSpc>
              <a:spcAft>
                <a:spcPts val="1200"/>
              </a:spcAft>
              <a:defRPr sz="1800">
                <a:solidFill>
                  <a:srgbClr val="1D1D1F"/>
                </a:solidFill>
                <a:latin typeface="Arial"/>
              </a:defRPr>
            </a:pPr>
            <a:r>
              <a:t>•  $1T Era</a:t>
            </a:r>
          </a:p>
          <a:p>
            <a:pPr>
              <a:lnSpc>
                <a:spcPct val="130000"/>
              </a:lnSpc>
              <a:spcAft>
                <a:spcPts val="1200"/>
              </a:spcAft>
              <a:defRPr sz="1800">
                <a:solidFill>
                  <a:srgbClr val="1D1D1F"/>
                </a:solidFill>
                <a:latin typeface="Arial"/>
              </a:defRPr>
            </a:pPr>
            <a:r>
              <a:t>•  IFC</a:t>
            </a:r>
          </a:p>
          <a:p>
            <a:pPr>
              <a:lnSpc>
                <a:spcPct val="130000"/>
              </a:lnSpc>
              <a:spcAft>
                <a:spcPts val="1200"/>
              </a:spcAft>
              <a:defRPr sz="1800">
                <a:solidFill>
                  <a:srgbClr val="1D1D1F"/>
                </a:solidFill>
                <a:latin typeface="Arial"/>
              </a:defRPr>
            </a:pPr>
            <a:r>
              <a:t>•  Single Building Limit</a:t>
            </a:r>
          </a:p>
          <a:p>
            <a:pPr>
              <a:lnSpc>
                <a:spcPct val="130000"/>
              </a:lnSpc>
              <a:spcAft>
                <a:spcPts val="1200"/>
              </a:spcAft>
              <a:defRPr sz="1800">
                <a:solidFill>
                  <a:srgbClr val="1D1D1F"/>
                </a:solidFill>
                <a:latin typeface="Arial"/>
              </a:defRPr>
            </a:pPr>
            <a:r>
              <a:t>•  →</a:t>
            </a:r>
          </a:p>
          <a:p>
            <a:pPr>
              <a:lnSpc>
                <a:spcPct val="130000"/>
              </a:lnSpc>
              <a:spcAft>
                <a:spcPts val="1200"/>
              </a:spcAft>
              <a:defRPr sz="1800">
                <a:solidFill>
                  <a:srgbClr val="1D1D1F"/>
                </a:solidFill>
                <a:latin typeface="Arial"/>
              </a:defRPr>
            </a:pPr>
            <a:r>
              <a:t>•  Leap to $3T → $4-5T Economy</a:t>
            </a:r>
          </a:p>
          <a:p>
            <a:pPr>
              <a:lnSpc>
                <a:spcPct val="130000"/>
              </a:lnSpc>
              <a:spcAft>
                <a:spcPts val="1200"/>
              </a:spcAft>
              <a:defRPr sz="1800">
                <a:solidFill>
                  <a:srgbClr val="1D1D1F"/>
                </a:solidFill>
                <a:latin typeface="Arial"/>
              </a:defRPr>
            </a:pPr>
            <a:r>
              <a:t>•  IOTA</a:t>
            </a:r>
          </a:p>
          <a:p>
            <a:pPr>
              <a:lnSpc>
                <a:spcPct val="130000"/>
              </a:lnSpc>
              <a:spcAft>
                <a:spcPts val="1200"/>
              </a:spcAft>
              <a:defRPr sz="1800">
                <a:solidFill>
                  <a:srgbClr val="1D1D1F"/>
                </a:solidFill>
                <a:latin typeface="Arial"/>
              </a:defRPr>
            </a:pPr>
            <a:r>
              <a:t>•  Landmark Defining Seoul\'s Identity for the Next 50 Years</a:t>
            </a:r>
          </a:p>
          <a:p>
            <a:pPr>
              <a:lnSpc>
                <a:spcPct val="130000"/>
              </a:lnSpc>
              <a:spcAft>
                <a:spcPts val="1200"/>
              </a:spcAft>
              <a:defRPr sz="1800">
                <a:solidFill>
                  <a:srgbClr val="1D1D1F"/>
                </a:solidFill>
                <a:latin typeface="Arial"/>
              </a:defRPr>
            </a:pPr>
            <a:r>
              <a:t>•  A Landmark Defining Seoul\'s Identity</a:t>
            </a:r>
          </a:p>
          <a:p>
            <a:pPr>
              <a:lnSpc>
                <a:spcPct val="130000"/>
              </a:lnSpc>
              <a:spcAft>
                <a:spcPts val="1200"/>
              </a:spcAft>
              <a:defRPr sz="1800">
                <a:solidFill>
                  <a:srgbClr val="1D1D1F"/>
                </a:solidFill>
                <a:latin typeface="Arial"/>
              </a:defRPr>
            </a:pPr>
            <a:r>
              <a:t>•  City Brand Effect</a:t>
            </a:r>
          </a:p>
          <a:p>
            <a:pPr>
              <a:lnSpc>
                <a:spcPct val="130000"/>
              </a:lnSpc>
              <a:spcAft>
                <a:spcPts val="1200"/>
              </a:spcAft>
              <a:defRPr sz="1800">
                <a:solidFill>
                  <a:srgbClr val="1D1D1F"/>
                </a:solidFill>
                <a:latin typeface="Arial"/>
              </a:defRPr>
            </a:pPr>
            <a:r>
              <a:t>•  As Korea leaps to a $4-5T economy in the next 50 years, IOTA will remain a symbol with a powerful city brand effect equal to Tokyo Midtown or Roppongi Hills.</a:t>
            </a:r>
          </a:p>
          <a:p>
            <a:pPr>
              <a:lnSpc>
                <a:spcPct val="130000"/>
              </a:lnSpc>
              <a:spcAft>
                <a:spcPts val="1200"/>
              </a:spcAft>
              <a:defRPr sz="1800">
                <a:solidFill>
                  <a:srgbClr val="1D1D1F"/>
                </a:solidFill>
                <a:latin typeface="Arial"/>
              </a:defRPr>
            </a:pPr>
            <a:r>
              <a:t>•  Not just real estate development, but a process of city creation that opens a new era for Korea.</a:t>
            </a:r>
          </a:p>
          <a:p>
            <a:pPr>
              <a:lnSpc>
                <a:spcPct val="130000"/>
              </a:lnSpc>
              <a:spcAft>
                <a:spcPts val="1200"/>
              </a:spcAft>
              <a:defRPr sz="1800">
                <a:solidFill>
                  <a:srgbClr val="1D1D1F"/>
                </a:solidFill>
                <a:latin typeface="Arial"/>
              </a:defRPr>
            </a:pPr>
            <a:r>
              <a:t>•  IGIS will be recorded in Asian capital market history not just as an asset manager, but as the capital that built the city through this single largest project.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A1A1A1"/>
                </a:solidFill>
                <a:latin typeface="Arial"/>
              </a:defRPr>
            </a:pPr>
            <a:r>
              <a:t>Chapter 7.</a:t>
            </a:r>
          </a:p>
          <a:p>
            <a:pPr algn="ctr">
              <a:spcBef>
                <a:spcPts val="1200"/>
              </a:spcBef>
              <a:defRPr sz="3200" b="1">
                <a:solidFill>
                  <a:srgbClr val="FFFFFF"/>
                </a:solidFill>
                <a:latin typeface="Arial"/>
              </a:defRPr>
            </a:pPr>
            <a:r>
              <a:t>Execution Strategy &amp; Conclusion</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Execution Strategy</a:t>
            </a:r>
          </a:p>
          <a:p>
            <a:pPr>
              <a:spcBef>
                <a:spcPts val="1200"/>
              </a:spcBef>
              <a:defRPr sz="3200" b="1">
                <a:solidFill>
                  <a:srgbClr val="1D1D1F"/>
                </a:solidFill>
                <a:latin typeface="Arial"/>
              </a:defRPr>
            </a:pPr>
            <a:r>
              <a:t>Future Action Item Priorities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즉시</a:t>
            </a:r>
          </a:p>
          <a:p>
            <a:pPr>
              <a:lnSpc>
                <a:spcPct val="130000"/>
              </a:lnSpc>
              <a:spcAft>
                <a:spcPts val="1200"/>
              </a:spcAft>
              <a:defRPr sz="1800">
                <a:solidFill>
                  <a:srgbClr val="1D1D1F"/>
                </a:solidFill>
                <a:latin typeface="Arial"/>
              </a:defRPr>
            </a:pPr>
            <a:r>
              <a:t>•  (2026.5 ~ 2026.9)</a:t>
            </a:r>
          </a:p>
          <a:p>
            <a:pPr>
              <a:lnSpc>
                <a:spcPct val="130000"/>
              </a:lnSpc>
              <a:spcAft>
                <a:spcPts val="1200"/>
              </a:spcAft>
              <a:defRPr sz="1800">
                <a:solidFill>
                  <a:srgbClr val="1D1D1F"/>
                </a:solidFill>
                <a:latin typeface="Arial"/>
              </a:defRPr>
            </a:pPr>
            <a:r>
              <a:t>•  YD816 본PF 전환 클로징</a:t>
            </a:r>
          </a:p>
          <a:p>
            <a:pPr>
              <a:lnSpc>
                <a:spcPct val="130000"/>
              </a:lnSpc>
              <a:spcAft>
                <a:spcPts val="1200"/>
              </a:spcAft>
              <a:defRPr sz="1800">
                <a:solidFill>
                  <a:srgbClr val="1D1D1F"/>
                </a:solidFill>
                <a:latin typeface="Arial"/>
              </a:defRPr>
            </a:pPr>
            <a:r>
              <a:t>•  또는 공매 회피 인수자 확정</a:t>
            </a:r>
          </a:p>
          <a:p>
            <a:pPr>
              <a:lnSpc>
                <a:spcPct val="130000"/>
              </a:lnSpc>
              <a:spcAft>
                <a:spcPts val="1200"/>
              </a:spcAft>
              <a:defRPr sz="1800">
                <a:solidFill>
                  <a:srgbClr val="1D1D1F"/>
                </a:solidFill>
                <a:latin typeface="Arial"/>
              </a:defRPr>
            </a:pPr>
            <a:r>
              <a:t>•  메리츠증권 추가 협상 및 대체 Senior 대주(농협·하나·신한) 동시 진행</a:t>
            </a:r>
          </a:p>
          <a:p>
            <a:pPr>
              <a:lnSpc>
                <a:spcPct val="130000"/>
              </a:lnSpc>
              <a:spcAft>
                <a:spcPts val="1200"/>
              </a:spcAft>
              <a:defRPr sz="1800">
                <a:solidFill>
                  <a:srgbClr val="1D1D1F"/>
                </a:solidFill>
                <a:latin typeface="Arial"/>
              </a:defRPr>
            </a:pPr>
            <a:r>
              <a:t>•  삼성물산 마스터리스 확약 연장 / 한투리얼·HDC현산 트랜치 B 우선매수권 사전 정리</a:t>
            </a:r>
          </a:p>
          <a:p>
            <a:pPr>
              <a:lnSpc>
                <a:spcPct val="130000"/>
              </a:lnSpc>
              <a:spcAft>
                <a:spcPts val="1200"/>
              </a:spcAft>
              <a:defRPr sz="1800">
                <a:solidFill>
                  <a:srgbClr val="1D1D1F"/>
                </a:solidFill>
                <a:latin typeface="Arial"/>
              </a:defRPr>
            </a:pPr>
            <a:r>
              <a:t>•  단기</a:t>
            </a:r>
          </a:p>
          <a:p>
            <a:pPr>
              <a:lnSpc>
                <a:spcPct val="130000"/>
              </a:lnSpc>
              <a:spcAft>
                <a:spcPts val="1200"/>
              </a:spcAft>
              <a:defRPr sz="1800">
                <a:solidFill>
                  <a:srgbClr val="1D1D1F"/>
                </a:solidFill>
                <a:latin typeface="Arial"/>
              </a:defRPr>
            </a:pPr>
            <a:r>
              <a:t>•  (2026.9 ~ 2026.12)</a:t>
            </a:r>
          </a:p>
          <a:p>
            <a:pPr>
              <a:lnSpc>
                <a:spcPct val="130000"/>
              </a:lnSpc>
              <a:spcAft>
                <a:spcPts val="1200"/>
              </a:spcAft>
              <a:defRPr sz="1800">
                <a:solidFill>
                  <a:srgbClr val="1D1D1F"/>
                </a:solidFill>
                <a:latin typeface="Arial"/>
              </a:defRPr>
            </a:pPr>
            <a:r>
              <a:t>•  7조 원 통합 PF 컨센서스 구축</a:t>
            </a:r>
          </a:p>
          <a:p>
            <a:pPr>
              <a:lnSpc>
                <a:spcPct val="130000"/>
              </a:lnSpc>
              <a:spcAft>
                <a:spcPts val="1200"/>
              </a:spcAft>
              <a:defRPr sz="1800">
                <a:solidFill>
                  <a:srgbClr val="1D1D1F"/>
                </a:solidFill>
                <a:latin typeface="Arial"/>
              </a:defRPr>
            </a:pPr>
            <a:r>
              <a:t>•  글로벌 LP 1~2개사 IPR Equity 참여 LOI 확보 (GIC·CPPIB·QIA 우선 타겟)</a:t>
            </a:r>
          </a:p>
          <a:p>
            <a:pPr>
              <a:lnSpc>
                <a:spcPct val="130000"/>
              </a:lnSpc>
              <a:spcAft>
                <a:spcPts val="1200"/>
              </a:spcAft>
              <a:defRPr sz="1800">
                <a:solidFill>
                  <a:srgbClr val="1D1D1F"/>
                </a:solidFill>
                <a:latin typeface="Arial"/>
              </a:defRPr>
            </a:pPr>
            <a:r>
              <a:t>•  Option C 신설 SPC 구조 확정 및 12월 클로징 Grand Stage 준비</a:t>
            </a:r>
          </a:p>
          <a:p>
            <a:pPr>
              <a:lnSpc>
                <a:spcPct val="130000"/>
              </a:lnSpc>
              <a:spcAft>
                <a:spcPts val="1200"/>
              </a:spcAft>
              <a:defRPr sz="1800">
                <a:solidFill>
                  <a:srgbClr val="1D1D1F"/>
                </a:solidFill>
                <a:latin typeface="Arial"/>
              </a:defRPr>
            </a:pPr>
            <a:r>
              <a:t>•  중기</a:t>
            </a:r>
          </a:p>
          <a:p>
            <a:pPr>
              <a:lnSpc>
                <a:spcPct val="130000"/>
              </a:lnSpc>
              <a:spcAft>
                <a:spcPts val="1200"/>
              </a:spcAft>
              <a:defRPr sz="1800">
                <a:solidFill>
                  <a:srgbClr val="1D1D1F"/>
                </a:solidFill>
                <a:latin typeface="Arial"/>
              </a:defRPr>
            </a:pPr>
            <a:r>
              <a:t>•  (2027 ~ 2028)</a:t>
            </a:r>
          </a:p>
          <a:p>
            <a:pPr>
              <a:lnSpc>
                <a:spcPct val="130000"/>
              </a:lnSpc>
              <a:spcAft>
                <a:spcPts val="1200"/>
              </a:spcAft>
              <a:defRPr sz="1800">
                <a:solidFill>
                  <a:srgbClr val="1D1D1F"/>
                </a:solidFill>
                <a:latin typeface="Arial"/>
              </a:defRPr>
            </a:pPr>
            <a:r>
              <a:t>•  YD427 2차 PF 4.5조 원 조달</a:t>
            </a:r>
          </a:p>
          <a:p>
            <a:pPr>
              <a:lnSpc>
                <a:spcPct val="130000"/>
              </a:lnSpc>
              <a:spcAft>
                <a:spcPts val="1200"/>
              </a:spcAft>
              <a:defRPr sz="1800">
                <a:solidFill>
                  <a:srgbClr val="1D1D1F"/>
                </a:solidFill>
                <a:latin typeface="Arial"/>
              </a:defRPr>
            </a:pPr>
            <a:r>
              <a:t>•  Successful Execution</a:t>
            </a:r>
          </a:p>
          <a:p>
            <a:pPr>
              <a:lnSpc>
                <a:spcPct val="130000"/>
              </a:lnSpc>
              <a:spcAft>
                <a:spcPts val="1200"/>
              </a:spcAft>
              <a:defRPr sz="1800">
                <a:solidFill>
                  <a:srgbClr val="1D1D1F"/>
                </a:solidFill>
                <a:latin typeface="Arial"/>
              </a:defRPr>
            </a:pPr>
            <a:r>
              <a:t>•  IGIS DC REIT 분사 상장 준비 및 시니어 REIT 첫 자산 풀 구축</a:t>
            </a:r>
          </a:p>
          <a:p>
            <a:pPr>
              <a:lnSpc>
                <a:spcPct val="130000"/>
              </a:lnSpc>
              <a:spcAft>
                <a:spcPts val="1200"/>
              </a:spcAft>
              <a:defRPr sz="1800">
                <a:solidFill>
                  <a:srgbClr val="1D1D1F"/>
                </a:solidFill>
                <a:latin typeface="Arial"/>
              </a:defRPr>
            </a:pPr>
            <a:r>
              <a:t>•  이지스 1호 글로벌 코밍글드 펀드 $1B USD 1차 클로징</a:t>
            </a:r>
          </a:p>
          <a:p>
            <a:pPr>
              <a:lnSpc>
                <a:spcPct val="130000"/>
              </a:lnSpc>
              <a:spcAft>
                <a:spcPts val="1200"/>
              </a:spcAft>
              <a:defRPr sz="1800">
                <a:solidFill>
                  <a:srgbClr val="1D1D1F"/>
                </a:solidFill>
                <a:latin typeface="Arial"/>
              </a:defRPr>
            </a:pPr>
            <a:r>
              <a:t>•  장기</a:t>
            </a:r>
          </a:p>
          <a:p>
            <a:pPr>
              <a:lnSpc>
                <a:spcPct val="130000"/>
              </a:lnSpc>
              <a:spcAft>
                <a:spcPts val="1200"/>
              </a:spcAft>
              <a:defRPr sz="1800">
                <a:solidFill>
                  <a:srgbClr val="1D1D1F"/>
                </a:solidFill>
                <a:latin typeface="Arial"/>
              </a:defRPr>
            </a:pPr>
            <a:r>
              <a:t>•  (2029 ~ 2031)</a:t>
            </a:r>
          </a:p>
          <a:p>
            <a:pPr>
              <a:lnSpc>
                <a:spcPct val="130000"/>
              </a:lnSpc>
              <a:spcAft>
                <a:spcPts val="1200"/>
              </a:spcAft>
              <a:defRPr sz="1800">
                <a:solidFill>
                  <a:srgbClr val="1D1D1F"/>
                </a:solidFill>
                <a:latin typeface="Arial"/>
              </a:defRPr>
            </a:pPr>
            <a:r>
              <a:t>•  IOTA 1·2 단계적 준공</a:t>
            </a:r>
          </a:p>
          <a:p>
            <a:pPr>
              <a:lnSpc>
                <a:spcPct val="130000"/>
              </a:lnSpc>
              <a:spcAft>
                <a:spcPts val="1200"/>
              </a:spcAft>
              <a:defRPr sz="1800">
                <a:solidFill>
                  <a:srgbClr val="1D1D1F"/>
                </a:solidFill>
                <a:latin typeface="Arial"/>
              </a:defRPr>
            </a:pPr>
            <a:r>
              <a:t>•  및 트로피 시리즈 2호(YIBD 또는 잠실) Launch</a:t>
            </a:r>
          </a:p>
          <a:p>
            <a:pPr>
              <a:lnSpc>
                <a:spcPct val="130000"/>
              </a:lnSpc>
              <a:spcAft>
                <a:spcPts val="1200"/>
              </a:spcAft>
              <a:defRPr sz="1800">
                <a:solidFill>
                  <a:srgbClr val="1D1D1F"/>
                </a:solidFill>
                <a:latin typeface="Arial"/>
              </a:defRPr>
            </a:pPr>
            <a:r>
              <a:t>•  글로벌 LP 베이스 30%+로 확장 및 AUM 100조 원 돌파</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731520"/>
            <a:ext cx="10362895" cy="2011680"/>
          </a:xfrm>
          <a:prstGeom prst="rect">
            <a:avLst/>
          </a:prstGeom>
          <a:noFill/>
        </p:spPr>
        <p:txBody>
          <a:bodyPr wrap="square" lIns="0" rIns="0" tIns="0" bIns="0">
            <a:spAutoFit/>
          </a:bodyPr>
          <a:lstStyle/>
          <a:p>
            <a:pPr>
              <a:defRPr sz="1600" b="1">
                <a:solidFill>
                  <a:srgbClr val="888888"/>
                </a:solidFill>
                <a:latin typeface="Arial"/>
              </a:defRPr>
            </a:pPr>
            <a:r>
              <a:t>Core Metric Tracking</a:t>
            </a:r>
          </a:p>
          <a:p>
            <a:pPr>
              <a:spcBef>
                <a:spcPts val="1200"/>
              </a:spcBef>
              <a:defRPr sz="3200" b="1">
                <a:solidFill>
                  <a:srgbClr val="1D1D1F"/>
                </a:solidFill>
                <a:latin typeface="Arial"/>
              </a:defRPr>
            </a:pPr>
            <a:r>
              <a:t>3 Key Monitoring Metrics for Long-term Strategy Success</a:t>
            </a:r>
          </a:p>
        </p:txBody>
      </p:sp>
      <p:sp>
        <p:nvSpPr>
          <p:cNvPr id="3" name="TextBox 2"/>
          <p:cNvSpPr txBox="1"/>
          <p:nvPr/>
        </p:nvSpPr>
        <p:spPr>
          <a:xfrm>
            <a:off x="1371600" y="2926080"/>
            <a:ext cx="9448495" cy="3200400"/>
          </a:xfrm>
          <a:prstGeom prst="rect">
            <a:avLst/>
          </a:prstGeom>
          <a:noFill/>
        </p:spPr>
        <p:txBody>
          <a:bodyPr wrap="square" lIns="0" rIns="0" tIns="0" bIns="0">
            <a:spAutoFit/>
          </a:bodyPr>
          <a:lstStyle/>
          <a:p>
            <a:pPr>
              <a:lnSpc>
                <a:spcPct val="130000"/>
              </a:lnSpc>
              <a:spcAft>
                <a:spcPts val="1200"/>
              </a:spcAft>
              <a:defRPr sz="1800">
                <a:solidFill>
                  <a:srgbClr val="1D1D1F"/>
                </a:solidFill>
                <a:latin typeface="Arial"/>
              </a:defRPr>
            </a:pPr>
            <a:r>
              <a:t>•  거시 (Macro)</a:t>
            </a:r>
          </a:p>
          <a:p>
            <a:pPr>
              <a:lnSpc>
                <a:spcPct val="130000"/>
              </a:lnSpc>
              <a:spcAft>
                <a:spcPts val="1200"/>
              </a:spcAft>
              <a:defRPr sz="1800">
                <a:solidFill>
                  <a:srgbClr val="1D1D1F"/>
                </a:solidFill>
                <a:latin typeface="Arial"/>
              </a:defRPr>
            </a:pPr>
            <a:r>
              <a:t>•  KOSPI 5,000~6,000 유지 여부</a:t>
            </a:r>
          </a:p>
          <a:p>
            <a:pPr>
              <a:lnSpc>
                <a:spcPct val="130000"/>
              </a:lnSpc>
              <a:spcAft>
                <a:spcPts val="1200"/>
              </a:spcAft>
              <a:defRPr sz="1800">
                <a:solidFill>
                  <a:srgbClr val="1D1D1F"/>
                </a:solidFill>
                <a:latin typeface="Arial"/>
              </a:defRPr>
            </a:pPr>
            <a:r>
              <a:t>•  기준금리 경로</a:t>
            </a:r>
          </a:p>
          <a:p>
            <a:pPr>
              <a:lnSpc>
                <a:spcPct val="130000"/>
              </a:lnSpc>
              <a:spcAft>
                <a:spcPts val="1200"/>
              </a:spcAft>
              <a:defRPr sz="1800">
                <a:solidFill>
                  <a:srgbClr val="1D1D1F"/>
                </a:solidFill>
                <a:latin typeface="Arial"/>
              </a:defRPr>
            </a:pPr>
            <a:r>
              <a:t>•  (PF 자본 비용)</a:t>
            </a:r>
          </a:p>
          <a:p>
            <a:pPr>
              <a:lnSpc>
                <a:spcPct val="130000"/>
              </a:lnSpc>
              <a:spcAft>
                <a:spcPts val="1200"/>
              </a:spcAft>
              <a:defRPr sz="1800">
                <a:solidFill>
                  <a:srgbClr val="1D1D1F"/>
                </a:solidFill>
                <a:latin typeface="Arial"/>
              </a:defRPr>
            </a:pPr>
            <a:r>
              <a:t>•  KRW/USD</a:t>
            </a:r>
          </a:p>
          <a:p>
            <a:pPr>
              <a:lnSpc>
                <a:spcPct val="130000"/>
              </a:lnSpc>
              <a:spcAft>
                <a:spcPts val="1200"/>
              </a:spcAft>
              <a:defRPr sz="1800">
                <a:solidFill>
                  <a:srgbClr val="1D1D1F"/>
                </a:solidFill>
                <a:latin typeface="Arial"/>
              </a:defRPr>
            </a:pPr>
            <a:r>
              <a:t>•  (글로벌 LP capital flow)</a:t>
            </a:r>
          </a:p>
          <a:p>
            <a:pPr>
              <a:lnSpc>
                <a:spcPct val="130000"/>
              </a:lnSpc>
              <a:spcAft>
                <a:spcPts val="1200"/>
              </a:spcAft>
              <a:defRPr sz="1800">
                <a:solidFill>
                  <a:srgbClr val="1D1D1F"/>
                </a:solidFill>
                <a:latin typeface="Arial"/>
              </a:defRPr>
            </a:pPr>
            <a:r>
              <a:t>•  한국 GDP 성장률 2%</a:t>
            </a:r>
          </a:p>
          <a:p>
            <a:pPr>
              <a:lnSpc>
                <a:spcPct val="130000"/>
              </a:lnSpc>
              <a:spcAft>
                <a:spcPts val="1200"/>
              </a:spcAft>
              <a:defRPr sz="1800">
                <a:solidFill>
                  <a:srgbClr val="1D1D1F"/>
                </a:solidFill>
                <a:latin typeface="Arial"/>
              </a:defRPr>
            </a:pPr>
            <a:r>
              <a:t>•  유지 여부</a:t>
            </a:r>
          </a:p>
          <a:p>
            <a:pPr>
              <a:lnSpc>
                <a:spcPct val="130000"/>
              </a:lnSpc>
              <a:spcAft>
                <a:spcPts val="1200"/>
              </a:spcAft>
              <a:defRPr sz="1800">
                <a:solidFill>
                  <a:srgbClr val="1D1D1F"/>
                </a:solidFill>
                <a:latin typeface="Arial"/>
              </a:defRPr>
            </a:pPr>
            <a:r>
              <a:t>•  시장 (Market)</a:t>
            </a:r>
          </a:p>
          <a:p>
            <a:pPr>
              <a:lnSpc>
                <a:spcPct val="130000"/>
              </a:lnSpc>
              <a:spcAft>
                <a:spcPts val="1200"/>
              </a:spcAft>
              <a:defRPr sz="1800">
                <a:solidFill>
                  <a:srgbClr val="1D1D1F"/>
                </a:solidFill>
                <a:latin typeface="Arial"/>
              </a:defRPr>
            </a:pPr>
            <a:r>
              <a:t>•  서울 프라임 오피스 공실률 4%</a:t>
            </a:r>
          </a:p>
          <a:p>
            <a:pPr>
              <a:lnSpc>
                <a:spcPct val="130000"/>
              </a:lnSpc>
              <a:spcAft>
                <a:spcPts val="1200"/>
              </a:spcAft>
              <a:defRPr sz="1800">
                <a:solidFill>
                  <a:srgbClr val="1D1D1F"/>
                </a:solidFill>
                <a:latin typeface="Arial"/>
              </a:defRPr>
            </a:pPr>
            <a:r>
              <a:t>•  이하 유지</a:t>
            </a:r>
          </a:p>
          <a:p>
            <a:pPr>
              <a:lnSpc>
                <a:spcPct val="130000"/>
              </a:lnSpc>
              <a:spcAft>
                <a:spcPts val="1200"/>
              </a:spcAft>
              <a:defRPr sz="1800">
                <a:solidFill>
                  <a:srgbClr val="1D1D1F"/>
                </a:solidFill>
                <a:latin typeface="Arial"/>
              </a:defRPr>
            </a:pPr>
            <a:r>
              <a:t>•  임대료 평당 15만 원 돌파</a:t>
            </a:r>
          </a:p>
          <a:p>
            <a:pPr>
              <a:lnSpc>
                <a:spcPct val="130000"/>
              </a:lnSpc>
              <a:spcAft>
                <a:spcPts val="1200"/>
              </a:spcAft>
              <a:defRPr sz="1800">
                <a:solidFill>
                  <a:srgbClr val="1D1D1F"/>
                </a:solidFill>
                <a:latin typeface="Arial"/>
              </a:defRPr>
            </a:pPr>
            <a:r>
              <a:t>•  시점 (GBD 기준)</a:t>
            </a:r>
          </a:p>
          <a:p>
            <a:pPr>
              <a:lnSpc>
                <a:spcPct val="130000"/>
              </a:lnSpc>
              <a:spcAft>
                <a:spcPts val="1200"/>
              </a:spcAft>
              <a:defRPr sz="1800">
                <a:solidFill>
                  <a:srgbClr val="1D1D1F"/>
                </a:solidFill>
                <a:latin typeface="Arial"/>
              </a:defRPr>
            </a:pPr>
            <a:r>
              <a:t>•  거래량 30조 원</a:t>
            </a:r>
          </a:p>
          <a:p>
            <a:pPr>
              <a:lnSpc>
                <a:spcPct val="130000"/>
              </a:lnSpc>
              <a:spcAft>
                <a:spcPts val="1200"/>
              </a:spcAft>
              <a:defRPr sz="1800">
                <a:solidFill>
                  <a:srgbClr val="1D1D1F"/>
                </a:solidFill>
                <a:latin typeface="Arial"/>
              </a:defRPr>
            </a:pPr>
            <a:r>
              <a:t>•  이상 유지</a:t>
            </a:r>
          </a:p>
          <a:p>
            <a:pPr>
              <a:lnSpc>
                <a:spcPct val="130000"/>
              </a:lnSpc>
              <a:spcAft>
                <a:spcPts val="1200"/>
              </a:spcAft>
              <a:defRPr sz="1800">
                <a:solidFill>
                  <a:srgbClr val="1D1D1F"/>
                </a:solidFill>
                <a:latin typeface="Arial"/>
              </a:defRPr>
            </a:pPr>
            <a:r>
              <a:t>•  외국인 자본 유입 비중 25%+</a:t>
            </a:r>
          </a:p>
          <a:p>
            <a:pPr>
              <a:lnSpc>
                <a:spcPct val="130000"/>
              </a:lnSpc>
              <a:spcAft>
                <a:spcPts val="1200"/>
              </a:spcAft>
              <a:defRPr sz="1800">
                <a:solidFill>
                  <a:srgbClr val="1D1D1F"/>
                </a:solidFill>
                <a:latin typeface="Arial"/>
              </a:defRPr>
            </a:pPr>
            <a:r>
              <a:t>•  도달</a:t>
            </a:r>
          </a:p>
          <a:p>
            <a:pPr>
              <a:lnSpc>
                <a:spcPct val="130000"/>
              </a:lnSpc>
              <a:spcAft>
                <a:spcPts val="1200"/>
              </a:spcAft>
              <a:defRPr sz="1800">
                <a:solidFill>
                  <a:srgbClr val="1D1D1F"/>
                </a:solidFill>
                <a:latin typeface="Arial"/>
              </a:defRPr>
            </a:pPr>
            <a:r>
              <a:t>•  이지스 (IGIS)</a:t>
            </a:r>
          </a:p>
          <a:p>
            <a:pPr>
              <a:lnSpc>
                <a:spcPct val="130000"/>
              </a:lnSpc>
              <a:spcAft>
                <a:spcPts val="1200"/>
              </a:spcAft>
              <a:defRPr sz="1800">
                <a:solidFill>
                  <a:srgbClr val="1D1D1F"/>
                </a:solidFill>
                <a:latin typeface="Arial"/>
              </a:defRPr>
            </a:pPr>
            <a:r>
              <a:t>•  AUM 분기 성장률</a:t>
            </a:r>
          </a:p>
          <a:p>
            <a:pPr>
              <a:lnSpc>
                <a:spcPct val="130000"/>
              </a:lnSpc>
              <a:spcAft>
                <a:spcPts val="1200"/>
              </a:spcAft>
              <a:defRPr sz="1800">
                <a:solidFill>
                  <a:srgbClr val="1D1D1F"/>
                </a:solidFill>
                <a:latin typeface="Arial"/>
              </a:defRPr>
            </a:pPr>
            <a:r>
              <a:t>•  글로벌 LP 비중</a:t>
            </a:r>
          </a:p>
          <a:p>
            <a:pPr>
              <a:lnSpc>
                <a:spcPct val="130000"/>
              </a:lnSpc>
              <a:spcAft>
                <a:spcPts val="1200"/>
              </a:spcAft>
              <a:defRPr sz="1800">
                <a:solidFill>
                  <a:srgbClr val="1D1D1F"/>
                </a:solidFill>
                <a:latin typeface="Arial"/>
              </a:defRPr>
            </a:pPr>
            <a:r>
              <a:t>•  운용 수수료 마진</a:t>
            </a:r>
          </a:p>
          <a:p>
            <a:pPr>
              <a:lnSpc>
                <a:spcPct val="130000"/>
              </a:lnSpc>
              <a:spcAft>
                <a:spcPts val="1200"/>
              </a:spcAft>
              <a:defRPr sz="1800">
                <a:solidFill>
                  <a:srgbClr val="1D1D1F"/>
                </a:solidFill>
                <a:latin typeface="Arial"/>
              </a:defRPr>
            </a:pPr>
            <a:r>
              <a:t>•  인재 retention rate</a:t>
            </a:r>
          </a:p>
          <a:p>
            <a:pPr>
              <a:lnSpc>
                <a:spcPct val="130000"/>
              </a:lnSpc>
              <a:spcAft>
                <a:spcPts val="1200"/>
              </a:spcAft>
              <a:defRPr sz="1800">
                <a:solidFill>
                  <a:srgbClr val="1D1D1F"/>
                </a:solidFill>
                <a:latin typeface="Arial"/>
              </a:defRPr>
            </a:pPr>
            <a:r>
              <a:t>•  IPR 본 PF 클로징 마일스톤</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lIns="0" rIns="0" tIns="0" bIns="0">
            <a:spAutoFit/>
          </a:bodyPr>
          <a:lstStyle/>
          <a:p>
            <a:pPr algn="ctr">
              <a:defRPr sz="1600" b="1">
                <a:solidFill>
                  <a:srgbClr val="888888"/>
                </a:solidFill>
                <a:latin typeface="Arial"/>
              </a:defRPr>
            </a:pPr>
            <a:r>
              <a:t>Conclusion.</a:t>
            </a:r>
          </a:p>
          <a:p>
            <a:pPr algn="ctr">
              <a:spcBef>
                <a:spcPts val="1200"/>
              </a:spcBef>
              <a:defRPr sz="3200" b="1">
                <a:solidFill>
                  <a:srgbClr val="1D1D1F"/>
                </a:solidFill>
                <a:latin typeface="Arial"/>
              </a:defRPr>
            </a:pPr>
            <a:r>
              <a:t>( When the Korean economy first surpassed the $1 trillion mark in 2007, IFC Seoul had just broken ground. It is no mere coincidence, but the rhythm of history, that IOTA Seoul will close its main PF and begin full-scale construction just before surpassing $2 trillion in 2027. It is the same rhythm that IOTA will be completed and generate stabilized cash flows when the $3 trillion era (2035-2040) arrives.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